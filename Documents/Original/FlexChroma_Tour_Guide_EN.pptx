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  <p:sldId id="263" r:id="rId6"/>
    <p:sldId id="264" r:id="rId7"/>
    <p:sldId id="262" r:id="rId8"/>
  </p:sldIdLst>
  <p:sldSz cx="6858000" cy="9144000" type="screen4x3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5800E1"/>
    <a:srgbClr val="AE00F4"/>
    <a:srgbClr val="0086D6"/>
    <a:srgbClr val="FF00FF"/>
    <a:srgbClr val="EC008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934" autoAdjust="0"/>
    <p:restoredTop sz="94660"/>
  </p:normalViewPr>
  <p:slideViewPr>
    <p:cSldViewPr snapToGrid="0">
      <p:cViewPr varScale="1">
        <p:scale>
          <a:sx n="79" d="100"/>
          <a:sy n="79" d="100"/>
        </p:scale>
        <p:origin x="26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496484"/>
            <a:ext cx="5829300" cy="31834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4802717"/>
            <a:ext cx="5143500" cy="220768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19368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55561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279653"/>
            <a:ext cx="5915025" cy="3803649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119286"/>
            <a:ext cx="5915025" cy="200024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482642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434167"/>
            <a:ext cx="2914650" cy="58017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434167"/>
            <a:ext cx="2914650" cy="58017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753382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86836"/>
            <a:ext cx="5915025" cy="1767417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241551"/>
            <a:ext cx="2901255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340100"/>
            <a:ext cx="2901255" cy="49127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241551"/>
            <a:ext cx="2915543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340100"/>
            <a:ext cx="2915543" cy="49127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585400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376062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484558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316569"/>
            <a:ext cx="3471863" cy="6498167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17639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316569"/>
            <a:ext cx="3471863" cy="6498167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60671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0933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86834"/>
            <a:ext cx="1478756" cy="7749117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86834"/>
            <a:ext cx="4350544" cy="7749117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072397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44194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emf"/></Relationships>
</file>

<file path=ppt/slides/_rels/slide7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2.emf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AA41A86-A2F3-1D06-7116-45400082F3B6}"/>
              </a:ext>
            </a:extLst>
          </p:cNvPr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gradFill>
            <a:gsLst>
              <a:gs pos="60000">
                <a:srgbClr val="5800E1"/>
              </a:gs>
              <a:gs pos="5000">
                <a:srgbClr val="EC008C"/>
              </a:gs>
              <a:gs pos="95000">
                <a:srgbClr val="0086D6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7CD271A-34A9-3E4B-032F-15C70AF19889}"/>
              </a:ext>
            </a:extLst>
          </p:cNvPr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73915448-3941-BA60-2C94-241A97D6CAC9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552EEC23-A78A-14A0-56DD-8CB91A02DD2F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733F6922-5537-D3C9-1E45-625FD880C031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F3EA9AD3-66B2-9EA5-5711-3C6A318F5512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705123BF-B9A2-835D-6FE4-689D9F62F382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D340CDC6-D787-7B25-2307-F3BA1042D402}"/>
              </a:ext>
            </a:extLst>
          </p:cNvPr>
          <p:cNvSpPr/>
          <p:nvPr/>
        </p:nvSpPr>
        <p:spPr>
          <a:xfrm>
            <a:off x="539999" y="431999"/>
            <a:ext cx="5785269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FF25BF82-13EE-2D0B-D376-F101E332C733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F8BCCC25-0C62-4E5D-0486-3F637C4A1C59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5CFE29C1-D44C-58E2-5EDB-51A8D3EC840E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1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457412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540A8-5932-22C2-7D48-A0EA57C30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FD7BBD50-91B1-398B-05F5-EF6FB391642D}"/>
              </a:ext>
            </a:extLst>
          </p:cNvPr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gradFill>
            <a:gsLst>
              <a:gs pos="60000">
                <a:srgbClr val="5800E1"/>
              </a:gs>
              <a:gs pos="5000">
                <a:srgbClr val="EC008C"/>
              </a:gs>
              <a:gs pos="95000">
                <a:srgbClr val="0086D6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B3C0006-8C0E-711B-ECD8-45CF7F1D1609}"/>
              </a:ext>
            </a:extLst>
          </p:cNvPr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9C59FD50-8143-8A52-2646-26C8BDBFFDD3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46770B46-C072-DF34-BD8D-2065F41808D5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C3E27AFA-EFCD-0428-55DA-15697DE6456A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C16363EA-88CD-F1FE-3650-7B24149569AE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6E68F704-A898-98C2-EE85-8B817126B2F6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2F960D99-6370-5724-453C-20AA9AC92D12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708601A0-5532-E890-C737-AF5B225E91D8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CCFBEBF-78FF-8FF9-3487-B087FB4F1A56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1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B06514E-2962-A9E0-36A8-FFA8ABD714B3}"/>
              </a:ext>
            </a:extLst>
          </p:cNvPr>
          <p:cNvSpPr txBox="1"/>
          <p:nvPr/>
        </p:nvSpPr>
        <p:spPr>
          <a:xfrm>
            <a:off x="968673" y="840586"/>
            <a:ext cx="49660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FlexChroma™</a:t>
            </a:r>
            <a:r>
              <a:rPr lang="en-US" altLang="ja-JP" sz="320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Tour Guide</a:t>
            </a:r>
            <a:endParaRPr kumimoji="1" lang="ja-JP" altLang="en-US" sz="32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236AB7EC-AB6F-585D-27FA-7CEA699B30B2}"/>
              </a:ext>
            </a:extLst>
          </p:cNvPr>
          <p:cNvSpPr txBox="1"/>
          <p:nvPr/>
        </p:nvSpPr>
        <p:spPr>
          <a:xfrm>
            <a:off x="2630544" y="1444411"/>
            <a:ext cx="139653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- Subtilte -</a:t>
            </a:r>
            <a:endParaRPr kumimoji="1" lang="ja-JP" altLang="en-US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F7D89FCF-AB59-9789-77D9-D36589CBE52A}"/>
              </a:ext>
            </a:extLst>
          </p:cNvPr>
          <p:cNvSpPr txBox="1"/>
          <p:nvPr/>
        </p:nvSpPr>
        <p:spPr>
          <a:xfrm>
            <a:off x="2381276" y="1883364"/>
            <a:ext cx="19527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Ver.1.10  2026.7.22</a:t>
            </a:r>
            <a:endParaRPr kumimoji="1" lang="ja-JP" altLang="en-US" sz="14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86E89BA8-E7B2-7AB3-7267-37838D435E76}"/>
              </a:ext>
            </a:extLst>
          </p:cNvPr>
          <p:cNvSpPr/>
          <p:nvPr/>
        </p:nvSpPr>
        <p:spPr>
          <a:xfrm>
            <a:off x="566175" y="3069491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CB797E49-CA37-4B2A-5187-03EC3007B3C7}"/>
              </a:ext>
            </a:extLst>
          </p:cNvPr>
          <p:cNvSpPr txBox="1"/>
          <p:nvPr/>
        </p:nvSpPr>
        <p:spPr>
          <a:xfrm>
            <a:off x="770844" y="3001606"/>
            <a:ext cx="20553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1. Introduction</a:t>
            </a:r>
            <a:endParaRPr kumimoji="1" lang="ja-JP" altLang="en-US" sz="20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0E5F4AF3-4FAB-E906-2281-AF56CB9A9F5F}"/>
              </a:ext>
            </a:extLst>
          </p:cNvPr>
          <p:cNvSpPr txBox="1"/>
          <p:nvPr/>
        </p:nvSpPr>
        <p:spPr>
          <a:xfrm>
            <a:off x="668508" y="3424546"/>
            <a:ext cx="564949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FlexChroma™</a:t>
            </a: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is a set of models designed to create filament itself by combining commercially available filaments. It consists of multiple Series, each designed for a different purpose. Within each Series, multiple Models are provided, along with different Profiles and Plates depending on size and usage.</a:t>
            </a:r>
            <a:endParaRPr kumimoji="1" lang="ja-JP" altLang="en-US" sz="105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64F690EF-7932-B480-4E0E-878C474B7FC9}"/>
              </a:ext>
            </a:extLst>
          </p:cNvPr>
          <p:cNvSpPr/>
          <p:nvPr/>
        </p:nvSpPr>
        <p:spPr>
          <a:xfrm>
            <a:off x="566175" y="4562351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FDE03A10-2964-5391-2223-CBCA00D23411}"/>
              </a:ext>
            </a:extLst>
          </p:cNvPr>
          <p:cNvSpPr txBox="1"/>
          <p:nvPr/>
        </p:nvSpPr>
        <p:spPr>
          <a:xfrm>
            <a:off x="770844" y="4494466"/>
            <a:ext cx="338906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2. How to Choose a Model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B96C8996-A004-2B6F-419A-B5C7EEF88FAF}"/>
              </a:ext>
            </a:extLst>
          </p:cNvPr>
          <p:cNvSpPr txBox="1"/>
          <p:nvPr/>
        </p:nvSpPr>
        <p:spPr>
          <a:xfrm>
            <a:off x="661239" y="4917406"/>
            <a:ext cx="564949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First, follow this quick selection flow to download and print the correct data.</a:t>
            </a:r>
            <a:endParaRPr kumimoji="1" lang="ja-JP" altLang="en-US" sz="105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pic>
        <p:nvPicPr>
          <p:cNvPr id="24" name="図 23">
            <a:extLst>
              <a:ext uri="{FF2B5EF4-FFF2-40B4-BE49-F238E27FC236}">
                <a16:creationId xmlns:a16="http://schemas.microsoft.com/office/drawing/2014/main" id="{6516A146-7FD4-4FEF-0035-48EC8599DF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490" y="5293717"/>
            <a:ext cx="5759241" cy="1144558"/>
          </a:xfrm>
          <a:prstGeom prst="rect">
            <a:avLst/>
          </a:prstGeom>
        </p:spPr>
      </p:pic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EBF7D3BD-1EF8-AC81-756A-94B848B80E13}"/>
              </a:ext>
            </a:extLst>
          </p:cNvPr>
          <p:cNvSpPr txBox="1"/>
          <p:nvPr/>
        </p:nvSpPr>
        <p:spPr>
          <a:xfrm>
            <a:off x="661238" y="6573178"/>
            <a:ext cx="5656761" cy="2580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When choosing a model, start by deciding what kind of filament you want to create.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F1B3E5E8-6526-8E6B-29D9-D104B66A6233}"/>
              </a:ext>
            </a:extLst>
          </p:cNvPr>
          <p:cNvSpPr txBox="1"/>
          <p:nvPr/>
        </p:nvSpPr>
        <p:spPr>
          <a:xfrm>
            <a:off x="770843" y="6836315"/>
            <a:ext cx="5554425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1. Select a Series: Blend Filament for mixed colors, Gradient Filament for color changes.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2. Select a Model size: Use an S4 Model for small objects, or an M1 Model for larger prints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requiring around 70g of filament.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3. Select a Profile and Plate: Choose the Plate that matches your desired mixing ratio or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pattern.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4. Assign filaments and slice: Use filaments with the same or similar material, assign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them, slice the model, and read the print notes before printing.</a:t>
            </a:r>
            <a:endParaRPr kumimoji="1" lang="ja-JP" altLang="en-US" sz="900" b="1" dirty="0">
              <a:latin typeface="IBM Plex Sans JP Light" panose="020B0403050203000203" pitchFamily="50" charset="-128"/>
              <a:ea typeface="IBM Plex Sans JP Light" panose="020B0403050203000203" pitchFamily="50" charset="-128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E5EE1833-E36C-633A-2CB5-AC9A3262046E}"/>
              </a:ext>
            </a:extLst>
          </p:cNvPr>
          <p:cNvSpPr txBox="1"/>
          <p:nvPr/>
        </p:nvSpPr>
        <p:spPr>
          <a:xfrm>
            <a:off x="770842" y="8115753"/>
            <a:ext cx="5464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900" dirty="0">
                <a:latin typeface="IBM Plex Sans JP Light" panose="020B0403050203000203" pitchFamily="50" charset="-128"/>
                <a:ea typeface="IBM Plex Sans JP Light" panose="020B0403050203000203" pitchFamily="50" charset="-128"/>
              </a:rPr>
              <a:t>*Note: In </a:t>
            </a:r>
            <a:r>
              <a:rPr lang="en-US" altLang="ja-JP" sz="900" dirty="0">
                <a:latin typeface="Segoe UI" panose="020B0502040204020203" pitchFamily="34" charset="0"/>
                <a:ea typeface="IBM Plex Sans JP Light" panose="020B0403050203000203" pitchFamily="50" charset="-128"/>
                <a:cs typeface="Segoe UI" panose="020B0502040204020203" pitchFamily="34" charset="0"/>
              </a:rPr>
              <a:t>FlexChroma</a:t>
            </a:r>
            <a:r>
              <a:rPr lang="en-US" altLang="ja-JP" sz="900" dirty="0">
                <a:latin typeface="IBM Plex Sans JP Light" panose="020B0403050203000203" pitchFamily="50" charset="-128"/>
                <a:ea typeface="IBM Plex Sans JP Light" panose="020B0403050203000203" pitchFamily="50" charset="-128"/>
              </a:rPr>
              <a:t>, “Profile” means a purpose-based classification, not different print settings.</a:t>
            </a:r>
            <a:endParaRPr kumimoji="1" lang="ja-JP" altLang="en-US" sz="900" b="1" dirty="0">
              <a:latin typeface="IBM Plex Sans JP Light" panose="020B0403050203000203" pitchFamily="50" charset="-128"/>
              <a:ea typeface="IBM Plex Sans JP Light" panose="020B0403050203000203" pitchFamily="50" charset="-128"/>
            </a:endParaRPr>
          </a:p>
        </p:txBody>
      </p:sp>
      <p:sp>
        <p:nvSpPr>
          <p:cNvPr id="13" name="フリーフォーム: 図形 12">
            <a:extLst>
              <a:ext uri="{FF2B5EF4-FFF2-40B4-BE49-F238E27FC236}">
                <a16:creationId xmlns:a16="http://schemas.microsoft.com/office/drawing/2014/main" id="{942C509F-7EBE-C17F-E1FD-04A0A489994D}"/>
              </a:ext>
            </a:extLst>
          </p:cNvPr>
          <p:cNvSpPr/>
          <p:nvPr/>
        </p:nvSpPr>
        <p:spPr>
          <a:xfrm>
            <a:off x="1042026" y="437296"/>
            <a:ext cx="4781214" cy="310036"/>
          </a:xfrm>
          <a:custGeom>
            <a:avLst/>
            <a:gdLst>
              <a:gd name="connsiteX0" fmla="*/ 155018 w 4781214"/>
              <a:gd name="connsiteY0" fmla="*/ 0 h 310036"/>
              <a:gd name="connsiteX1" fmla="*/ 4626196 w 4781214"/>
              <a:gd name="connsiteY1" fmla="*/ 0 h 310036"/>
              <a:gd name="connsiteX2" fmla="*/ 4781214 w 4781214"/>
              <a:gd name="connsiteY2" fmla="*/ 155018 h 310036"/>
              <a:gd name="connsiteX3" fmla="*/ 4781214 w 4781214"/>
              <a:gd name="connsiteY3" fmla="*/ 310036 h 310036"/>
              <a:gd name="connsiteX4" fmla="*/ 4778648 w 4781214"/>
              <a:gd name="connsiteY4" fmla="*/ 310036 h 310036"/>
              <a:gd name="connsiteX5" fmla="*/ 4765852 w 4781214"/>
              <a:gd name="connsiteY5" fmla="*/ 279145 h 310036"/>
              <a:gd name="connsiteX6" fmla="*/ 4728765 w 4781214"/>
              <a:gd name="connsiteY6" fmla="*/ 263783 h 310036"/>
              <a:gd name="connsiteX7" fmla="*/ 52449 w 4781214"/>
              <a:gd name="connsiteY7" fmla="*/ 263783 h 310036"/>
              <a:gd name="connsiteX8" fmla="*/ 15362 w 4781214"/>
              <a:gd name="connsiteY8" fmla="*/ 279145 h 310036"/>
              <a:gd name="connsiteX9" fmla="*/ 2567 w 4781214"/>
              <a:gd name="connsiteY9" fmla="*/ 310036 h 310036"/>
              <a:gd name="connsiteX10" fmla="*/ 0 w 4781214"/>
              <a:gd name="connsiteY10" fmla="*/ 310036 h 310036"/>
              <a:gd name="connsiteX11" fmla="*/ 0 w 4781214"/>
              <a:gd name="connsiteY11" fmla="*/ 155018 h 310036"/>
              <a:gd name="connsiteX12" fmla="*/ 155018 w 4781214"/>
              <a:gd name="connsiteY12" fmla="*/ 0 h 310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781214" h="310036">
                <a:moveTo>
                  <a:pt x="155018" y="0"/>
                </a:moveTo>
                <a:lnTo>
                  <a:pt x="4626196" y="0"/>
                </a:lnTo>
                <a:cubicBezTo>
                  <a:pt x="4711810" y="0"/>
                  <a:pt x="4781214" y="69404"/>
                  <a:pt x="4781214" y="155018"/>
                </a:cubicBezTo>
                <a:lnTo>
                  <a:pt x="4781214" y="310036"/>
                </a:lnTo>
                <a:lnTo>
                  <a:pt x="4778648" y="310036"/>
                </a:lnTo>
                <a:lnTo>
                  <a:pt x="4765852" y="279145"/>
                </a:lnTo>
                <a:cubicBezTo>
                  <a:pt x="4756361" y="269654"/>
                  <a:pt x="4743249" y="263783"/>
                  <a:pt x="4728765" y="263783"/>
                </a:cubicBezTo>
                <a:lnTo>
                  <a:pt x="52449" y="263783"/>
                </a:lnTo>
                <a:cubicBezTo>
                  <a:pt x="37966" y="263783"/>
                  <a:pt x="24853" y="269654"/>
                  <a:pt x="15362" y="279145"/>
                </a:cubicBezTo>
                <a:lnTo>
                  <a:pt x="2567" y="310036"/>
                </a:lnTo>
                <a:lnTo>
                  <a:pt x="0" y="310036"/>
                </a:lnTo>
                <a:lnTo>
                  <a:pt x="0" y="155018"/>
                </a:lnTo>
                <a:cubicBezTo>
                  <a:pt x="0" y="69404"/>
                  <a:pt x="69404" y="0"/>
                  <a:pt x="155018" y="0"/>
                </a:cubicBez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29" name="フリーフォーム: 図形 28">
            <a:extLst>
              <a:ext uri="{FF2B5EF4-FFF2-40B4-BE49-F238E27FC236}">
                <a16:creationId xmlns:a16="http://schemas.microsoft.com/office/drawing/2014/main" id="{A8D15E6E-F892-1A37-55F4-598808C42B8D}"/>
              </a:ext>
            </a:extLst>
          </p:cNvPr>
          <p:cNvSpPr/>
          <p:nvPr/>
        </p:nvSpPr>
        <p:spPr>
          <a:xfrm rot="10800000">
            <a:off x="1042026" y="2263487"/>
            <a:ext cx="4781214" cy="310036"/>
          </a:xfrm>
          <a:custGeom>
            <a:avLst/>
            <a:gdLst>
              <a:gd name="connsiteX0" fmla="*/ 155018 w 4781214"/>
              <a:gd name="connsiteY0" fmla="*/ 0 h 310036"/>
              <a:gd name="connsiteX1" fmla="*/ 4626196 w 4781214"/>
              <a:gd name="connsiteY1" fmla="*/ 0 h 310036"/>
              <a:gd name="connsiteX2" fmla="*/ 4781214 w 4781214"/>
              <a:gd name="connsiteY2" fmla="*/ 155018 h 310036"/>
              <a:gd name="connsiteX3" fmla="*/ 4781214 w 4781214"/>
              <a:gd name="connsiteY3" fmla="*/ 310036 h 310036"/>
              <a:gd name="connsiteX4" fmla="*/ 4778648 w 4781214"/>
              <a:gd name="connsiteY4" fmla="*/ 310036 h 310036"/>
              <a:gd name="connsiteX5" fmla="*/ 4765852 w 4781214"/>
              <a:gd name="connsiteY5" fmla="*/ 279145 h 310036"/>
              <a:gd name="connsiteX6" fmla="*/ 4728765 w 4781214"/>
              <a:gd name="connsiteY6" fmla="*/ 263783 h 310036"/>
              <a:gd name="connsiteX7" fmla="*/ 52449 w 4781214"/>
              <a:gd name="connsiteY7" fmla="*/ 263783 h 310036"/>
              <a:gd name="connsiteX8" fmla="*/ 15362 w 4781214"/>
              <a:gd name="connsiteY8" fmla="*/ 279145 h 310036"/>
              <a:gd name="connsiteX9" fmla="*/ 2567 w 4781214"/>
              <a:gd name="connsiteY9" fmla="*/ 310036 h 310036"/>
              <a:gd name="connsiteX10" fmla="*/ 0 w 4781214"/>
              <a:gd name="connsiteY10" fmla="*/ 310036 h 310036"/>
              <a:gd name="connsiteX11" fmla="*/ 0 w 4781214"/>
              <a:gd name="connsiteY11" fmla="*/ 155018 h 310036"/>
              <a:gd name="connsiteX12" fmla="*/ 155018 w 4781214"/>
              <a:gd name="connsiteY12" fmla="*/ 0 h 310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4781214" h="310036">
                <a:moveTo>
                  <a:pt x="155018" y="0"/>
                </a:moveTo>
                <a:lnTo>
                  <a:pt x="4626196" y="0"/>
                </a:lnTo>
                <a:cubicBezTo>
                  <a:pt x="4711810" y="0"/>
                  <a:pt x="4781214" y="69404"/>
                  <a:pt x="4781214" y="155018"/>
                </a:cubicBezTo>
                <a:lnTo>
                  <a:pt x="4781214" y="310036"/>
                </a:lnTo>
                <a:lnTo>
                  <a:pt x="4778648" y="310036"/>
                </a:lnTo>
                <a:lnTo>
                  <a:pt x="4765852" y="279145"/>
                </a:lnTo>
                <a:cubicBezTo>
                  <a:pt x="4756361" y="269654"/>
                  <a:pt x="4743249" y="263783"/>
                  <a:pt x="4728765" y="263783"/>
                </a:cubicBezTo>
                <a:lnTo>
                  <a:pt x="52449" y="263783"/>
                </a:lnTo>
                <a:cubicBezTo>
                  <a:pt x="37966" y="263783"/>
                  <a:pt x="24853" y="269654"/>
                  <a:pt x="15362" y="279145"/>
                </a:cubicBezTo>
                <a:lnTo>
                  <a:pt x="2567" y="310036"/>
                </a:lnTo>
                <a:lnTo>
                  <a:pt x="0" y="310036"/>
                </a:lnTo>
                <a:lnTo>
                  <a:pt x="0" y="155018"/>
                </a:lnTo>
                <a:cubicBezTo>
                  <a:pt x="0" y="69404"/>
                  <a:pt x="69404" y="0"/>
                  <a:pt x="155018" y="0"/>
                </a:cubicBezTo>
                <a:close/>
              </a:path>
            </a:pathLst>
          </a:cu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552732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0173C-59A2-2037-D73D-0E215B3139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ED81001E-B6D3-99C8-5E0B-F466D9B756A5}"/>
              </a:ext>
            </a:extLst>
          </p:cNvPr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gradFill>
            <a:gsLst>
              <a:gs pos="60000">
                <a:srgbClr val="5800E1"/>
              </a:gs>
              <a:gs pos="5000">
                <a:srgbClr val="EC008C"/>
              </a:gs>
              <a:gs pos="95000">
                <a:srgbClr val="0086D6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B787233-FA7E-25C9-AFC8-77DD3B8699E6}"/>
              </a:ext>
            </a:extLst>
          </p:cNvPr>
          <p:cNvSpPr/>
          <p:nvPr/>
        </p:nvSpPr>
        <p:spPr>
          <a:xfrm>
            <a:off x="4389" y="0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5EE023F3-4FCC-103D-2599-E4E8CA7BF60A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824B2131-6CC4-0BFA-B748-D810A3423268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A4011FAB-63C2-178C-29DE-33DA96F47618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42F3C5EA-2AFD-33E4-549C-0F84BFE77136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F3FA60BD-81FF-4E70-C88D-182A05D73C49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0F94DBC3-EEDB-BBD1-A314-ABB30EC10D4A}"/>
              </a:ext>
            </a:extLst>
          </p:cNvPr>
          <p:cNvSpPr/>
          <p:nvPr/>
        </p:nvSpPr>
        <p:spPr>
          <a:xfrm>
            <a:off x="554537" y="452468"/>
            <a:ext cx="5756193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F47E6663-8146-0675-09E7-BA77AF348350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C95B28A9-13D1-5C87-BC7B-361DB6DEDF54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465E0D04-137D-61B6-CDB3-C9B389BF921F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2</a:t>
            </a:r>
            <a:endParaRPr kumimoji="1" lang="ja-JP" altLang="en-US" dirty="0"/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598BECD0-FE21-7197-76A9-A35DBF75C26D}"/>
              </a:ext>
            </a:extLst>
          </p:cNvPr>
          <p:cNvSpPr/>
          <p:nvPr/>
        </p:nvSpPr>
        <p:spPr>
          <a:xfrm>
            <a:off x="566175" y="677902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1AA2F528-1AFC-8E42-75C8-73644041C22B}"/>
              </a:ext>
            </a:extLst>
          </p:cNvPr>
          <p:cNvSpPr txBox="1"/>
          <p:nvPr/>
        </p:nvSpPr>
        <p:spPr>
          <a:xfrm>
            <a:off x="770844" y="610017"/>
            <a:ext cx="26132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3. FlexChroma HUB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5DA2E9C-168B-3466-7614-65A6E3B87DA9}"/>
              </a:ext>
            </a:extLst>
          </p:cNvPr>
          <p:cNvSpPr txBox="1"/>
          <p:nvPr/>
        </p:nvSpPr>
        <p:spPr>
          <a:xfrm>
            <a:off x="668508" y="1032957"/>
            <a:ext cx="56494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</a:t>
            </a:r>
            <a:r>
              <a:rPr lang="en-US" altLang="ja-JP" sz="1000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 HUB </a:t>
            </a:r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is the main entry point on MakerWorld, providing access to all Series and external portals. If you are unsure where to start, open this model first.</a:t>
            </a:r>
            <a:endParaRPr kumimoji="1" lang="ja-JP" altLang="en-US" sz="5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1228AC35-8F16-7C9A-87A7-5D5AF44B4A45}"/>
              </a:ext>
            </a:extLst>
          </p:cNvPr>
          <p:cNvSpPr/>
          <p:nvPr/>
        </p:nvSpPr>
        <p:spPr>
          <a:xfrm>
            <a:off x="566175" y="2850671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9A74ED78-4D09-93B7-5187-266F72FE0C06}"/>
              </a:ext>
            </a:extLst>
          </p:cNvPr>
          <p:cNvSpPr txBox="1"/>
          <p:nvPr/>
        </p:nvSpPr>
        <p:spPr>
          <a:xfrm>
            <a:off x="770844" y="2782786"/>
            <a:ext cx="237917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4. Blend Filament</a:t>
            </a:r>
            <a:endParaRPr kumimoji="1" lang="ja-JP" altLang="en-US" sz="28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7BC3A39D-2C74-E00C-4387-9CC908F40D8B}"/>
              </a:ext>
            </a:extLst>
          </p:cNvPr>
          <p:cNvSpPr txBox="1"/>
          <p:nvPr/>
        </p:nvSpPr>
        <p:spPr>
          <a:xfrm>
            <a:off x="668509" y="3162437"/>
            <a:ext cx="564222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Blend Filament Series is the most basic FlexChroma lineup. It allows you to mix two filaments at various ratios to create your own custom color.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Each model supports blend ratios from 50% to 99.5</a:t>
            </a:r>
            <a:r>
              <a:rPr lang="en-US" altLang="ja-JP" sz="100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%. For ratios below 50%, simply swap Filament A and Filament B.</a:t>
            </a:r>
          </a:p>
          <a:p>
            <a:endParaRPr lang="en-US" altLang="ja-JP" sz="10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Example: To create a filament with 25% cyan mixed into yellow, read the Plate value as the ratio of Filament A, interpret it as 75% yellow, and slice the model accordingly.</a:t>
            </a:r>
            <a:endParaRPr kumimoji="1" lang="ja-JP" altLang="en-US" sz="10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45CC0883-1DA5-4A86-6756-80C64F8D1477}"/>
              </a:ext>
            </a:extLst>
          </p:cNvPr>
          <p:cNvSpPr txBox="1"/>
          <p:nvPr/>
        </p:nvSpPr>
        <p:spPr>
          <a:xfrm>
            <a:off x="675778" y="5274317"/>
            <a:ext cx="564222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following is the model configuration for Blend Filament.</a:t>
            </a:r>
          </a:p>
        </p:txBody>
      </p:sp>
      <p:pic>
        <p:nvPicPr>
          <p:cNvPr id="29" name="図 28">
            <a:extLst>
              <a:ext uri="{FF2B5EF4-FFF2-40B4-BE49-F238E27FC236}">
                <a16:creationId xmlns:a16="http://schemas.microsoft.com/office/drawing/2014/main" id="{7F6D8160-20C1-33BC-415D-25B50E830B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537" y="1452789"/>
            <a:ext cx="5770732" cy="1233898"/>
          </a:xfrm>
          <a:prstGeom prst="rect">
            <a:avLst/>
          </a:prstGeom>
        </p:spPr>
      </p:pic>
      <p:pic>
        <p:nvPicPr>
          <p:cNvPr id="31" name="図 30">
            <a:extLst>
              <a:ext uri="{FF2B5EF4-FFF2-40B4-BE49-F238E27FC236}">
                <a16:creationId xmlns:a16="http://schemas.microsoft.com/office/drawing/2014/main" id="{08263E98-8A17-21DA-72A0-4FFFE32AE3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537" y="4296577"/>
            <a:ext cx="5756193" cy="888877"/>
          </a:xfrm>
          <a:prstGeom prst="rect">
            <a:avLst/>
          </a:prstGeom>
        </p:spPr>
      </p:pic>
      <p:pic>
        <p:nvPicPr>
          <p:cNvPr id="33" name="図 32">
            <a:extLst>
              <a:ext uri="{FF2B5EF4-FFF2-40B4-BE49-F238E27FC236}">
                <a16:creationId xmlns:a16="http://schemas.microsoft.com/office/drawing/2014/main" id="{48D95018-44AF-5B79-3242-99208120D2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2060" y="5505815"/>
            <a:ext cx="5464000" cy="30485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89787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23065-C738-1975-C61A-347A71E91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1053F3CB-B9EE-984E-2589-EA35449EF839}"/>
              </a:ext>
            </a:extLst>
          </p:cNvPr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gradFill>
            <a:gsLst>
              <a:gs pos="60000">
                <a:srgbClr val="5800E1"/>
              </a:gs>
              <a:gs pos="5000">
                <a:srgbClr val="EC008C"/>
              </a:gs>
              <a:gs pos="95000">
                <a:srgbClr val="0086D6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DCDB3DB-81C6-2500-386E-779A7602240D}"/>
              </a:ext>
            </a:extLst>
          </p:cNvPr>
          <p:cNvSpPr/>
          <p:nvPr/>
        </p:nvSpPr>
        <p:spPr>
          <a:xfrm>
            <a:off x="4389" y="0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6809260A-E3A9-A10F-64B4-276376DBA937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1013BF5E-61A6-7F01-BF6F-0C6BB497C24C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981A98E8-4943-C462-95B6-FEF1CE8411FB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7634534E-96BD-2796-50AA-D46B14258839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98BDDABE-AF21-FAFC-C17E-390C8B630108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C31BB991-A1A7-FAE2-CB87-73D2777505EE}"/>
              </a:ext>
            </a:extLst>
          </p:cNvPr>
          <p:cNvSpPr/>
          <p:nvPr/>
        </p:nvSpPr>
        <p:spPr>
          <a:xfrm>
            <a:off x="554537" y="452468"/>
            <a:ext cx="5756193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33AFA6C5-4BF2-A033-32A4-BECDD4F86FD4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0B6597B8-6C80-13D9-C7AF-67EB68F224A8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AF623625-2DCF-7634-93D4-9344D0B367F8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2</a:t>
            </a:r>
            <a:endParaRPr kumimoji="1" lang="ja-JP" altLang="en-US" dirty="0"/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7D25B49B-E1C7-7FE3-F262-C6D12AEF1C2E}"/>
              </a:ext>
            </a:extLst>
          </p:cNvPr>
          <p:cNvSpPr/>
          <p:nvPr/>
        </p:nvSpPr>
        <p:spPr>
          <a:xfrm>
            <a:off x="566175" y="677902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72E9D853-4C50-6454-71B3-5C48ECA0EAD9}"/>
              </a:ext>
            </a:extLst>
          </p:cNvPr>
          <p:cNvSpPr txBox="1"/>
          <p:nvPr/>
        </p:nvSpPr>
        <p:spPr>
          <a:xfrm>
            <a:off x="770844" y="610017"/>
            <a:ext cx="27398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5. Gradient Filament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CCD7C32-49B9-6248-827D-772DCDA5E4CB}"/>
              </a:ext>
            </a:extLst>
          </p:cNvPr>
          <p:cNvSpPr txBox="1"/>
          <p:nvPr/>
        </p:nvSpPr>
        <p:spPr>
          <a:xfrm>
            <a:off x="668508" y="1032957"/>
            <a:ext cx="564949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Gradient Filament Series provides multiple color-changing Profiles and Plates with different cycle counts. Details vary by model, so please refer to each model’s description.</a:t>
            </a:r>
          </a:p>
          <a:p>
            <a:endParaRPr lang="en-US" altLang="ja-JP" sz="10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Example: To create a fast-cycle gradient filament using cyan and magenta, select an S4 Model, choose a 4-cycle Plate, and use the Vivid curve Profile due to the high color contrast.</a:t>
            </a:r>
            <a:endParaRPr kumimoji="1" lang="ja-JP" altLang="en-US" sz="10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BAF97127-F08A-576F-5EC3-785D677AF148}"/>
              </a:ext>
            </a:extLst>
          </p:cNvPr>
          <p:cNvSpPr txBox="1"/>
          <p:nvPr/>
        </p:nvSpPr>
        <p:spPr>
          <a:xfrm>
            <a:off x="675778" y="3011477"/>
            <a:ext cx="564222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following is the model configuration for Gradient Filament.</a:t>
            </a:r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80DBFA91-7DDA-D8B6-438A-A1F8AA48BC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9999" y="1823254"/>
            <a:ext cx="5695701" cy="1013806"/>
          </a:xfrm>
          <a:prstGeom prst="rect">
            <a:avLst/>
          </a:prstGeom>
        </p:spPr>
      </p:pic>
      <p:pic>
        <p:nvPicPr>
          <p:cNvPr id="12" name="図 11">
            <a:extLst>
              <a:ext uri="{FF2B5EF4-FFF2-40B4-BE49-F238E27FC236}">
                <a16:creationId xmlns:a16="http://schemas.microsoft.com/office/drawing/2014/main" id="{CBEF07CB-20DE-945B-B4BB-0251C141E3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323" y="3295319"/>
            <a:ext cx="5588622" cy="3853245"/>
          </a:xfrm>
          <a:prstGeom prst="rect">
            <a:avLst/>
          </a:prstGeom>
        </p:spPr>
      </p:pic>
      <p:sp>
        <p:nvSpPr>
          <p:cNvPr id="2" name="楕円 1">
            <a:extLst>
              <a:ext uri="{FF2B5EF4-FFF2-40B4-BE49-F238E27FC236}">
                <a16:creationId xmlns:a16="http://schemas.microsoft.com/office/drawing/2014/main" id="{F98466EE-556B-7D77-6461-4135277DD2E2}"/>
              </a:ext>
            </a:extLst>
          </p:cNvPr>
          <p:cNvSpPr/>
          <p:nvPr/>
        </p:nvSpPr>
        <p:spPr>
          <a:xfrm>
            <a:off x="546348" y="7301051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3502BD5F-204F-ADDD-3A77-54D9B2345EC1}"/>
              </a:ext>
            </a:extLst>
          </p:cNvPr>
          <p:cNvSpPr txBox="1"/>
          <p:nvPr/>
        </p:nvSpPr>
        <p:spPr>
          <a:xfrm>
            <a:off x="778114" y="7268269"/>
            <a:ext cx="1923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6. Update History</a:t>
            </a:r>
            <a:endParaRPr kumimoji="1" lang="ja-JP" altLang="en-US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20" name="テキスト ボックス 19">
            <a:extLst>
              <a:ext uri="{FF2B5EF4-FFF2-40B4-BE49-F238E27FC236}">
                <a16:creationId xmlns:a16="http://schemas.microsoft.com/office/drawing/2014/main" id="{73B718F9-0F82-AC1A-9FBD-6C3D9A4B48C3}"/>
              </a:ext>
            </a:extLst>
          </p:cNvPr>
          <p:cNvSpPr txBox="1"/>
          <p:nvPr/>
        </p:nvSpPr>
        <p:spPr>
          <a:xfrm>
            <a:off x="638323" y="7599215"/>
            <a:ext cx="5649491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9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Ver.1.00  2026-07-02  First Edition Published</a:t>
            </a:r>
          </a:p>
          <a:p>
            <a:r>
              <a:rPr lang="en-US" altLang="ja-JP" sz="9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Ver.1.10  2026-07-02  Revisions for Integrated Design</a:t>
            </a:r>
          </a:p>
          <a:p>
            <a:endParaRPr kumimoji="1" lang="ja-JP" altLang="en-US" sz="9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501890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DA673-1F6D-3E89-385D-51C4D771A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6EBA86A0-4EB7-A063-9D52-9D32ADB8F232}"/>
              </a:ext>
            </a:extLst>
          </p:cNvPr>
          <p:cNvSpPr/>
          <p:nvPr/>
        </p:nvSpPr>
        <p:spPr>
          <a:xfrm>
            <a:off x="33951" y="45268"/>
            <a:ext cx="6790099" cy="9053465"/>
          </a:xfrm>
          <a:prstGeom prst="rect">
            <a:avLst/>
          </a:prstGeom>
          <a:gradFill>
            <a:gsLst>
              <a:gs pos="60000">
                <a:srgbClr val="5800E1"/>
              </a:gs>
              <a:gs pos="5000">
                <a:srgbClr val="EC008C"/>
              </a:gs>
              <a:gs pos="95000">
                <a:srgbClr val="0086D6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7" name="フリーフォーム: 図形 36">
            <a:extLst>
              <a:ext uri="{FF2B5EF4-FFF2-40B4-BE49-F238E27FC236}">
                <a16:creationId xmlns:a16="http://schemas.microsoft.com/office/drawing/2014/main" id="{79E6D1D4-A113-BFE0-3263-F0A91EBC473E}"/>
              </a:ext>
            </a:extLst>
          </p:cNvPr>
          <p:cNvSpPr/>
          <p:nvPr/>
        </p:nvSpPr>
        <p:spPr>
          <a:xfrm>
            <a:off x="0" y="9938"/>
            <a:ext cx="6858000" cy="9144000"/>
          </a:xfrm>
          <a:custGeom>
            <a:avLst/>
            <a:gdLst>
              <a:gd name="connsiteX0" fmla="*/ 3734844 w 6858000"/>
              <a:gd name="connsiteY0" fmla="*/ 8661917 h 9144000"/>
              <a:gd name="connsiteX1" fmla="*/ 3734844 w 6858000"/>
              <a:gd name="connsiteY1" fmla="*/ 8715917 h 9144000"/>
              <a:gd name="connsiteX2" fmla="*/ 6326844 w 6858000"/>
              <a:gd name="connsiteY2" fmla="*/ 8715917 h 9144000"/>
              <a:gd name="connsiteX3" fmla="*/ 6326844 w 6858000"/>
              <a:gd name="connsiteY3" fmla="*/ 8661917 h 9144000"/>
              <a:gd name="connsiteX4" fmla="*/ 554538 w 6858000"/>
              <a:gd name="connsiteY4" fmla="*/ 8661917 h 9144000"/>
              <a:gd name="connsiteX5" fmla="*/ 554538 w 6858000"/>
              <a:gd name="connsiteY5" fmla="*/ 8715917 h 9144000"/>
              <a:gd name="connsiteX6" fmla="*/ 3146538 w 6858000"/>
              <a:gd name="connsiteY6" fmla="*/ 8715917 h 9144000"/>
              <a:gd name="connsiteX7" fmla="*/ 3146538 w 6858000"/>
              <a:gd name="connsiteY7" fmla="*/ 8661917 h 9144000"/>
              <a:gd name="connsiteX8" fmla="*/ 668510 w 6858000"/>
              <a:gd name="connsiteY8" fmla="*/ 4562351 h 9144000"/>
              <a:gd name="connsiteX9" fmla="*/ 566175 w 6858000"/>
              <a:gd name="connsiteY9" fmla="*/ 4664686 h 9144000"/>
              <a:gd name="connsiteX10" fmla="*/ 668510 w 6858000"/>
              <a:gd name="connsiteY10" fmla="*/ 4767021 h 9144000"/>
              <a:gd name="connsiteX11" fmla="*/ 770845 w 6858000"/>
              <a:gd name="connsiteY11" fmla="*/ 4664686 h 9144000"/>
              <a:gd name="connsiteX12" fmla="*/ 668510 w 6858000"/>
              <a:gd name="connsiteY12" fmla="*/ 4562351 h 9144000"/>
              <a:gd name="connsiteX13" fmla="*/ 668510 w 6858000"/>
              <a:gd name="connsiteY13" fmla="*/ 3069491 h 9144000"/>
              <a:gd name="connsiteX14" fmla="*/ 566175 w 6858000"/>
              <a:gd name="connsiteY14" fmla="*/ 3171826 h 9144000"/>
              <a:gd name="connsiteX15" fmla="*/ 668510 w 6858000"/>
              <a:gd name="connsiteY15" fmla="*/ 3274161 h 9144000"/>
              <a:gd name="connsiteX16" fmla="*/ 770845 w 6858000"/>
              <a:gd name="connsiteY16" fmla="*/ 3171826 h 9144000"/>
              <a:gd name="connsiteX17" fmla="*/ 668510 w 6858000"/>
              <a:gd name="connsiteY17" fmla="*/ 3069491 h 9144000"/>
              <a:gd name="connsiteX18" fmla="*/ 1042027 w 6858000"/>
              <a:gd name="connsiteY18" fmla="*/ 2161529 h 9144000"/>
              <a:gd name="connsiteX19" fmla="*/ 1042026 w 6858000"/>
              <a:gd name="connsiteY19" fmla="*/ 2308230 h 9144000"/>
              <a:gd name="connsiteX20" fmla="*/ 1188728 w 6858000"/>
              <a:gd name="connsiteY20" fmla="*/ 2454932 h 9144000"/>
              <a:gd name="connsiteX21" fmla="*/ 5676539 w 6858000"/>
              <a:gd name="connsiteY21" fmla="*/ 2454932 h 9144000"/>
              <a:gd name="connsiteX22" fmla="*/ 5823241 w 6858000"/>
              <a:gd name="connsiteY22" fmla="*/ 2308230 h 9144000"/>
              <a:gd name="connsiteX23" fmla="*/ 5823241 w 6858000"/>
              <a:gd name="connsiteY23" fmla="*/ 2163830 h 9144000"/>
              <a:gd name="connsiteX24" fmla="*/ 5760740 w 6858000"/>
              <a:gd name="connsiteY24" fmla="*/ 2226331 h 9144000"/>
              <a:gd name="connsiteX25" fmla="*/ 1104528 w 6858000"/>
              <a:gd name="connsiteY25" fmla="*/ 2226331 h 9144000"/>
              <a:gd name="connsiteX26" fmla="*/ 1042027 w 6858000"/>
              <a:gd name="connsiteY26" fmla="*/ 2163830 h 9144000"/>
              <a:gd name="connsiteX27" fmla="*/ 1188728 w 6858000"/>
              <a:gd name="connsiteY27" fmla="*/ 437295 h 9144000"/>
              <a:gd name="connsiteX28" fmla="*/ 1042026 w 6858000"/>
              <a:gd name="connsiteY28" fmla="*/ 583997 h 9144000"/>
              <a:gd name="connsiteX29" fmla="*/ 1042026 w 6858000"/>
              <a:gd name="connsiteY29" fmla="*/ 728397 h 9144000"/>
              <a:gd name="connsiteX30" fmla="*/ 1104527 w 6858000"/>
              <a:gd name="connsiteY30" fmla="*/ 665896 h 9144000"/>
              <a:gd name="connsiteX31" fmla="*/ 5760739 w 6858000"/>
              <a:gd name="connsiteY31" fmla="*/ 665896 h 9144000"/>
              <a:gd name="connsiteX32" fmla="*/ 5823240 w 6858000"/>
              <a:gd name="connsiteY32" fmla="*/ 728397 h 9144000"/>
              <a:gd name="connsiteX33" fmla="*/ 5823240 w 6858000"/>
              <a:gd name="connsiteY33" fmla="*/ 730698 h 9144000"/>
              <a:gd name="connsiteX34" fmla="*/ 5823241 w 6858000"/>
              <a:gd name="connsiteY34" fmla="*/ 583997 h 9144000"/>
              <a:gd name="connsiteX35" fmla="*/ 5676539 w 6858000"/>
              <a:gd name="connsiteY35" fmla="*/ 437295 h 9144000"/>
              <a:gd name="connsiteX36" fmla="*/ 0 w 6858000"/>
              <a:gd name="connsiteY36" fmla="*/ 0 h 9144000"/>
              <a:gd name="connsiteX37" fmla="*/ 6858000 w 6858000"/>
              <a:gd name="connsiteY37" fmla="*/ 0 h 9144000"/>
              <a:gd name="connsiteX38" fmla="*/ 6858000 w 6858000"/>
              <a:gd name="connsiteY38" fmla="*/ 9144000 h 9144000"/>
              <a:gd name="connsiteX39" fmla="*/ 0 w 6858000"/>
              <a:gd name="connsiteY39" fmla="*/ 9144000 h 914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6858000" h="9144000">
                <a:moveTo>
                  <a:pt x="3734844" y="8661917"/>
                </a:moveTo>
                <a:lnTo>
                  <a:pt x="3734844" y="8715917"/>
                </a:lnTo>
                <a:lnTo>
                  <a:pt x="6326844" y="8715917"/>
                </a:lnTo>
                <a:lnTo>
                  <a:pt x="6326844" y="8661917"/>
                </a:lnTo>
                <a:close/>
                <a:moveTo>
                  <a:pt x="554538" y="8661917"/>
                </a:moveTo>
                <a:lnTo>
                  <a:pt x="554538" y="8715917"/>
                </a:lnTo>
                <a:lnTo>
                  <a:pt x="3146538" y="8715917"/>
                </a:lnTo>
                <a:lnTo>
                  <a:pt x="3146538" y="8661917"/>
                </a:lnTo>
                <a:close/>
                <a:moveTo>
                  <a:pt x="668510" y="4562351"/>
                </a:moveTo>
                <a:cubicBezTo>
                  <a:pt x="611992" y="4562351"/>
                  <a:pt x="566175" y="4608168"/>
                  <a:pt x="566175" y="4664686"/>
                </a:cubicBezTo>
                <a:cubicBezTo>
                  <a:pt x="566175" y="4721204"/>
                  <a:pt x="611992" y="4767021"/>
                  <a:pt x="668510" y="4767021"/>
                </a:cubicBezTo>
                <a:cubicBezTo>
                  <a:pt x="725028" y="4767021"/>
                  <a:pt x="770845" y="4721204"/>
                  <a:pt x="770845" y="4664686"/>
                </a:cubicBezTo>
                <a:cubicBezTo>
                  <a:pt x="770845" y="4608168"/>
                  <a:pt x="725028" y="4562351"/>
                  <a:pt x="668510" y="4562351"/>
                </a:cubicBezTo>
                <a:close/>
                <a:moveTo>
                  <a:pt x="668510" y="3069491"/>
                </a:moveTo>
                <a:cubicBezTo>
                  <a:pt x="611992" y="3069491"/>
                  <a:pt x="566175" y="3115308"/>
                  <a:pt x="566175" y="3171826"/>
                </a:cubicBezTo>
                <a:cubicBezTo>
                  <a:pt x="566175" y="3228344"/>
                  <a:pt x="611992" y="3274161"/>
                  <a:pt x="668510" y="3274161"/>
                </a:cubicBezTo>
                <a:cubicBezTo>
                  <a:pt x="725028" y="3274161"/>
                  <a:pt x="770845" y="3228344"/>
                  <a:pt x="770845" y="3171826"/>
                </a:cubicBezTo>
                <a:cubicBezTo>
                  <a:pt x="770845" y="3115308"/>
                  <a:pt x="725028" y="3069491"/>
                  <a:pt x="668510" y="3069491"/>
                </a:cubicBezTo>
                <a:close/>
                <a:moveTo>
                  <a:pt x="1042027" y="2161529"/>
                </a:moveTo>
                <a:cubicBezTo>
                  <a:pt x="1042027" y="2210429"/>
                  <a:pt x="1042026" y="2259330"/>
                  <a:pt x="1042026" y="2308230"/>
                </a:cubicBezTo>
                <a:cubicBezTo>
                  <a:pt x="1042026" y="2389251"/>
                  <a:pt x="1107707" y="2454932"/>
                  <a:pt x="1188728" y="2454932"/>
                </a:cubicBezTo>
                <a:lnTo>
                  <a:pt x="5676539" y="2454932"/>
                </a:lnTo>
                <a:cubicBezTo>
                  <a:pt x="5757560" y="2454932"/>
                  <a:pt x="5823241" y="2389251"/>
                  <a:pt x="5823241" y="2308230"/>
                </a:cubicBezTo>
                <a:lnTo>
                  <a:pt x="5823241" y="2163830"/>
                </a:lnTo>
                <a:cubicBezTo>
                  <a:pt x="5823241" y="2198348"/>
                  <a:pt x="5795258" y="2226331"/>
                  <a:pt x="5760740" y="2226331"/>
                </a:cubicBezTo>
                <a:lnTo>
                  <a:pt x="1104528" y="2226331"/>
                </a:lnTo>
                <a:cubicBezTo>
                  <a:pt x="1070010" y="2226331"/>
                  <a:pt x="1042027" y="2198348"/>
                  <a:pt x="1042027" y="2163830"/>
                </a:cubicBezTo>
                <a:close/>
                <a:moveTo>
                  <a:pt x="1188728" y="437295"/>
                </a:moveTo>
                <a:cubicBezTo>
                  <a:pt x="1107707" y="437295"/>
                  <a:pt x="1042026" y="502976"/>
                  <a:pt x="1042026" y="583997"/>
                </a:cubicBezTo>
                <a:lnTo>
                  <a:pt x="1042026" y="728397"/>
                </a:lnTo>
                <a:cubicBezTo>
                  <a:pt x="1042026" y="693879"/>
                  <a:pt x="1070009" y="665896"/>
                  <a:pt x="1104527" y="665896"/>
                </a:cubicBezTo>
                <a:lnTo>
                  <a:pt x="5760739" y="665896"/>
                </a:lnTo>
                <a:cubicBezTo>
                  <a:pt x="5795257" y="665896"/>
                  <a:pt x="5823240" y="693879"/>
                  <a:pt x="5823240" y="728397"/>
                </a:cubicBezTo>
                <a:lnTo>
                  <a:pt x="5823240" y="730698"/>
                </a:lnTo>
                <a:cubicBezTo>
                  <a:pt x="5823240" y="681798"/>
                  <a:pt x="5823241" y="632897"/>
                  <a:pt x="5823241" y="583997"/>
                </a:cubicBezTo>
                <a:cubicBezTo>
                  <a:pt x="5823241" y="502976"/>
                  <a:pt x="5757560" y="437295"/>
                  <a:pt x="5676539" y="437295"/>
                </a:cubicBezTo>
                <a:close/>
                <a:moveTo>
                  <a:pt x="0" y="0"/>
                </a:moveTo>
                <a:lnTo>
                  <a:pt x="6858000" y="0"/>
                </a:lnTo>
                <a:lnTo>
                  <a:pt x="6858000" y="9144000"/>
                </a:lnTo>
                <a:lnTo>
                  <a:pt x="0" y="9144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F7724E97-9138-2231-87A0-68E3693C9BDD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1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37648C1-2F45-40CF-3D7A-6FB960705994}"/>
              </a:ext>
            </a:extLst>
          </p:cNvPr>
          <p:cNvSpPr txBox="1"/>
          <p:nvPr/>
        </p:nvSpPr>
        <p:spPr>
          <a:xfrm>
            <a:off x="968673" y="840586"/>
            <a:ext cx="49660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FlexChroma™</a:t>
            </a:r>
            <a:r>
              <a:rPr lang="en-US" altLang="ja-JP" sz="320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Tour Guide</a:t>
            </a:r>
            <a:endParaRPr kumimoji="1" lang="ja-JP" altLang="en-US" sz="32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B588B2EE-0B49-3321-079A-EAA300945E47}"/>
              </a:ext>
            </a:extLst>
          </p:cNvPr>
          <p:cNvSpPr txBox="1"/>
          <p:nvPr/>
        </p:nvSpPr>
        <p:spPr>
          <a:xfrm>
            <a:off x="1515655" y="1444411"/>
            <a:ext cx="38266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- Let's Explore FlexChroma's Models -</a:t>
            </a:r>
            <a:endParaRPr kumimoji="1" lang="ja-JP" altLang="en-US" sz="16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70F1A14B-8154-E747-C82B-183E692F092B}"/>
              </a:ext>
            </a:extLst>
          </p:cNvPr>
          <p:cNvSpPr txBox="1"/>
          <p:nvPr/>
        </p:nvSpPr>
        <p:spPr>
          <a:xfrm>
            <a:off x="2381276" y="1883364"/>
            <a:ext cx="19527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Ver.1.10  2026.7.22</a:t>
            </a:r>
            <a:endParaRPr kumimoji="1" lang="ja-JP" altLang="en-US" sz="14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B58B679E-EED2-37D5-F878-0982B577C9F1}"/>
              </a:ext>
            </a:extLst>
          </p:cNvPr>
          <p:cNvSpPr txBox="1"/>
          <p:nvPr/>
        </p:nvSpPr>
        <p:spPr>
          <a:xfrm>
            <a:off x="770844" y="3001606"/>
            <a:ext cx="20553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1. Introduction</a:t>
            </a:r>
            <a:endParaRPr kumimoji="1" lang="ja-JP" altLang="en-US" sz="20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C6DEFA1D-CF68-E4F9-BA2D-64447AA15B5D}"/>
              </a:ext>
            </a:extLst>
          </p:cNvPr>
          <p:cNvSpPr txBox="1"/>
          <p:nvPr/>
        </p:nvSpPr>
        <p:spPr>
          <a:xfrm>
            <a:off x="668508" y="3424546"/>
            <a:ext cx="564949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FlexChroma™</a:t>
            </a: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is a set of models designed to create filament itself by combining commercially available filaments. It consists of multiple Series, each designed for a different purpose. Within each Series, multiple Models are provided, along with different Profiles and Plates depending on size and usage.</a:t>
            </a:r>
            <a:endParaRPr kumimoji="1" lang="ja-JP" altLang="en-US" sz="105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904DB38D-B7D0-BAB7-C051-CE44D494214D}"/>
              </a:ext>
            </a:extLst>
          </p:cNvPr>
          <p:cNvSpPr txBox="1"/>
          <p:nvPr/>
        </p:nvSpPr>
        <p:spPr>
          <a:xfrm>
            <a:off x="770844" y="4494466"/>
            <a:ext cx="338906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2. How to Choose a Model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0D6CFBE2-A4A0-54C6-80FE-E0E055BADBAB}"/>
              </a:ext>
            </a:extLst>
          </p:cNvPr>
          <p:cNvSpPr txBox="1"/>
          <p:nvPr/>
        </p:nvSpPr>
        <p:spPr>
          <a:xfrm>
            <a:off x="661239" y="4917406"/>
            <a:ext cx="564949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First, follow this quick selection flow to download and print the correct data.</a:t>
            </a:r>
            <a:endParaRPr kumimoji="1" lang="ja-JP" altLang="en-US" sz="105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pic>
        <p:nvPicPr>
          <p:cNvPr id="24" name="図 23">
            <a:extLst>
              <a:ext uri="{FF2B5EF4-FFF2-40B4-BE49-F238E27FC236}">
                <a16:creationId xmlns:a16="http://schemas.microsoft.com/office/drawing/2014/main" id="{5F2979AD-644B-ADCD-5CC2-84EB3A4369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490" y="5293717"/>
            <a:ext cx="5759241" cy="1144558"/>
          </a:xfrm>
          <a:prstGeom prst="rect">
            <a:avLst/>
          </a:prstGeom>
        </p:spPr>
      </p:pic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08407871-7712-1714-53D0-42420BDF6422}"/>
              </a:ext>
            </a:extLst>
          </p:cNvPr>
          <p:cNvSpPr txBox="1"/>
          <p:nvPr/>
        </p:nvSpPr>
        <p:spPr>
          <a:xfrm>
            <a:off x="661238" y="6573178"/>
            <a:ext cx="5656761" cy="2580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When choosing a model, start by deciding what kind of filament you want to create.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54428E43-7065-CB5F-8C19-67DF85808B38}"/>
              </a:ext>
            </a:extLst>
          </p:cNvPr>
          <p:cNvSpPr txBox="1"/>
          <p:nvPr/>
        </p:nvSpPr>
        <p:spPr>
          <a:xfrm>
            <a:off x="770843" y="6836315"/>
            <a:ext cx="5554425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1. Select a Series: Blend Filament for mixed colors, Gradient Filament for color changes.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2. Select a Model size: Use an S4 Model for small objects, or an M1 Model for larger prints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requiring around 70g of filament.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3. Select a Profile and Plate: Choose the Plate that matches your desired mixing ratio or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pattern.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4. Assign filaments and slice: Use filaments with the same or similar material, assign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them, slice the model, and read the print notes before printing.</a:t>
            </a:r>
            <a:endParaRPr kumimoji="1" lang="ja-JP" altLang="en-US" sz="900" b="1" dirty="0">
              <a:latin typeface="IBM Plex Sans JP Light" panose="020B0403050203000203" pitchFamily="50" charset="-128"/>
              <a:ea typeface="IBM Plex Sans JP Light" panose="020B0403050203000203" pitchFamily="50" charset="-128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DE739D59-FAEF-B68A-41EA-3512C3BC39FD}"/>
              </a:ext>
            </a:extLst>
          </p:cNvPr>
          <p:cNvSpPr txBox="1"/>
          <p:nvPr/>
        </p:nvSpPr>
        <p:spPr>
          <a:xfrm>
            <a:off x="770842" y="8115753"/>
            <a:ext cx="5464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900" dirty="0">
                <a:latin typeface="IBM Plex Sans JP Light" panose="020B0403050203000203" pitchFamily="50" charset="-128"/>
                <a:ea typeface="IBM Plex Sans JP Light" panose="020B0403050203000203" pitchFamily="50" charset="-128"/>
              </a:rPr>
              <a:t>*Note: In </a:t>
            </a:r>
            <a:r>
              <a:rPr lang="en-US" altLang="ja-JP" sz="900" dirty="0">
                <a:latin typeface="Segoe UI" panose="020B0502040204020203" pitchFamily="34" charset="0"/>
                <a:ea typeface="IBM Plex Sans JP Light" panose="020B0403050203000203" pitchFamily="50" charset="-128"/>
                <a:cs typeface="Segoe UI" panose="020B0502040204020203" pitchFamily="34" charset="0"/>
              </a:rPr>
              <a:t>FlexChroma</a:t>
            </a:r>
            <a:r>
              <a:rPr lang="en-US" altLang="ja-JP" sz="900" dirty="0">
                <a:latin typeface="IBM Plex Sans JP Light" panose="020B0403050203000203" pitchFamily="50" charset="-128"/>
                <a:ea typeface="IBM Plex Sans JP Light" panose="020B0403050203000203" pitchFamily="50" charset="-128"/>
              </a:rPr>
              <a:t>, “Profile” means a purpose-based classification, not different print settings.</a:t>
            </a:r>
            <a:endParaRPr kumimoji="1" lang="ja-JP" altLang="en-US" sz="900" b="1" dirty="0">
              <a:latin typeface="IBM Plex Sans JP Light" panose="020B0403050203000203" pitchFamily="50" charset="-128"/>
              <a:ea typeface="IBM Plex Sans JP Light" panose="020B0403050203000203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3672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D8CF6-698C-0611-6FE9-D8447E17F7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CC74F156-4B5C-E445-A645-2E2ACF34FAFE}"/>
              </a:ext>
            </a:extLst>
          </p:cNvPr>
          <p:cNvSpPr/>
          <p:nvPr/>
        </p:nvSpPr>
        <p:spPr>
          <a:xfrm>
            <a:off x="33951" y="45268"/>
            <a:ext cx="6790099" cy="9053465"/>
          </a:xfrm>
          <a:prstGeom prst="rect">
            <a:avLst/>
          </a:prstGeom>
          <a:gradFill>
            <a:gsLst>
              <a:gs pos="60000">
                <a:srgbClr val="5800E1"/>
              </a:gs>
              <a:gs pos="5000">
                <a:srgbClr val="EC008C"/>
              </a:gs>
              <a:gs pos="95000">
                <a:srgbClr val="0086D6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フリーフォーム: 図形 34">
            <a:extLst>
              <a:ext uri="{FF2B5EF4-FFF2-40B4-BE49-F238E27FC236}">
                <a16:creationId xmlns:a16="http://schemas.microsoft.com/office/drawing/2014/main" id="{3AFC7783-D5E1-ECCC-D344-D4ECFBFDECDF}"/>
              </a:ext>
            </a:extLst>
          </p:cNvPr>
          <p:cNvSpPr/>
          <p:nvPr/>
        </p:nvSpPr>
        <p:spPr>
          <a:xfrm>
            <a:off x="-4389" y="0"/>
            <a:ext cx="6862389" cy="9144000"/>
          </a:xfrm>
          <a:custGeom>
            <a:avLst/>
            <a:gdLst>
              <a:gd name="connsiteX0" fmla="*/ 3739233 w 6862389"/>
              <a:gd name="connsiteY0" fmla="*/ 8661917 h 9144000"/>
              <a:gd name="connsiteX1" fmla="*/ 3739233 w 6862389"/>
              <a:gd name="connsiteY1" fmla="*/ 8715917 h 9144000"/>
              <a:gd name="connsiteX2" fmla="*/ 6331233 w 6862389"/>
              <a:gd name="connsiteY2" fmla="*/ 8715917 h 9144000"/>
              <a:gd name="connsiteX3" fmla="*/ 6331233 w 6862389"/>
              <a:gd name="connsiteY3" fmla="*/ 8661917 h 9144000"/>
              <a:gd name="connsiteX4" fmla="*/ 558927 w 6862389"/>
              <a:gd name="connsiteY4" fmla="*/ 8661917 h 9144000"/>
              <a:gd name="connsiteX5" fmla="*/ 558927 w 6862389"/>
              <a:gd name="connsiteY5" fmla="*/ 8715917 h 9144000"/>
              <a:gd name="connsiteX6" fmla="*/ 3150927 w 6862389"/>
              <a:gd name="connsiteY6" fmla="*/ 8715917 h 9144000"/>
              <a:gd name="connsiteX7" fmla="*/ 3150927 w 6862389"/>
              <a:gd name="connsiteY7" fmla="*/ 8661917 h 9144000"/>
              <a:gd name="connsiteX8" fmla="*/ 672899 w 6862389"/>
              <a:gd name="connsiteY8" fmla="*/ 2635259 h 9144000"/>
              <a:gd name="connsiteX9" fmla="*/ 570564 w 6862389"/>
              <a:gd name="connsiteY9" fmla="*/ 2737594 h 9144000"/>
              <a:gd name="connsiteX10" fmla="*/ 672899 w 6862389"/>
              <a:gd name="connsiteY10" fmla="*/ 2839929 h 9144000"/>
              <a:gd name="connsiteX11" fmla="*/ 775234 w 6862389"/>
              <a:gd name="connsiteY11" fmla="*/ 2737594 h 9144000"/>
              <a:gd name="connsiteX12" fmla="*/ 672899 w 6862389"/>
              <a:gd name="connsiteY12" fmla="*/ 2635259 h 9144000"/>
              <a:gd name="connsiteX13" fmla="*/ 672899 w 6862389"/>
              <a:gd name="connsiteY13" fmla="*/ 671552 h 9144000"/>
              <a:gd name="connsiteX14" fmla="*/ 570564 w 6862389"/>
              <a:gd name="connsiteY14" fmla="*/ 773887 h 9144000"/>
              <a:gd name="connsiteX15" fmla="*/ 672899 w 6862389"/>
              <a:gd name="connsiteY15" fmla="*/ 876222 h 9144000"/>
              <a:gd name="connsiteX16" fmla="*/ 775234 w 6862389"/>
              <a:gd name="connsiteY16" fmla="*/ 773887 h 9144000"/>
              <a:gd name="connsiteX17" fmla="*/ 672899 w 6862389"/>
              <a:gd name="connsiteY17" fmla="*/ 671552 h 9144000"/>
              <a:gd name="connsiteX18" fmla="*/ 558926 w 6862389"/>
              <a:gd name="connsiteY18" fmla="*/ 452468 h 9144000"/>
              <a:gd name="connsiteX19" fmla="*/ 558926 w 6862389"/>
              <a:gd name="connsiteY19" fmla="*/ 506468 h 9144000"/>
              <a:gd name="connsiteX20" fmla="*/ 6315119 w 6862389"/>
              <a:gd name="connsiteY20" fmla="*/ 506468 h 9144000"/>
              <a:gd name="connsiteX21" fmla="*/ 6315119 w 6862389"/>
              <a:gd name="connsiteY21" fmla="*/ 452468 h 9144000"/>
              <a:gd name="connsiteX22" fmla="*/ 0 w 6862389"/>
              <a:gd name="connsiteY22" fmla="*/ 0 h 9144000"/>
              <a:gd name="connsiteX23" fmla="*/ 6862389 w 6862389"/>
              <a:gd name="connsiteY23" fmla="*/ 0 h 9144000"/>
              <a:gd name="connsiteX24" fmla="*/ 6862389 w 6862389"/>
              <a:gd name="connsiteY24" fmla="*/ 9144000 h 9144000"/>
              <a:gd name="connsiteX25" fmla="*/ 0 w 6862389"/>
              <a:gd name="connsiteY25" fmla="*/ 9144000 h 914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6862389" h="9144000">
                <a:moveTo>
                  <a:pt x="3739233" y="8661917"/>
                </a:moveTo>
                <a:lnTo>
                  <a:pt x="3739233" y="8715917"/>
                </a:lnTo>
                <a:lnTo>
                  <a:pt x="6331233" y="8715917"/>
                </a:lnTo>
                <a:lnTo>
                  <a:pt x="6331233" y="8661917"/>
                </a:lnTo>
                <a:close/>
                <a:moveTo>
                  <a:pt x="558927" y="8661917"/>
                </a:moveTo>
                <a:lnTo>
                  <a:pt x="558927" y="8715917"/>
                </a:lnTo>
                <a:lnTo>
                  <a:pt x="3150927" y="8715917"/>
                </a:lnTo>
                <a:lnTo>
                  <a:pt x="3150927" y="8661917"/>
                </a:lnTo>
                <a:close/>
                <a:moveTo>
                  <a:pt x="672899" y="2635259"/>
                </a:moveTo>
                <a:cubicBezTo>
                  <a:pt x="616381" y="2635259"/>
                  <a:pt x="570564" y="2681076"/>
                  <a:pt x="570564" y="2737594"/>
                </a:cubicBezTo>
                <a:cubicBezTo>
                  <a:pt x="570564" y="2794112"/>
                  <a:pt x="616381" y="2839929"/>
                  <a:pt x="672899" y="2839929"/>
                </a:cubicBezTo>
                <a:cubicBezTo>
                  <a:pt x="729417" y="2839929"/>
                  <a:pt x="775234" y="2794112"/>
                  <a:pt x="775234" y="2737594"/>
                </a:cubicBezTo>
                <a:cubicBezTo>
                  <a:pt x="775234" y="2681076"/>
                  <a:pt x="729417" y="2635259"/>
                  <a:pt x="672899" y="2635259"/>
                </a:cubicBezTo>
                <a:close/>
                <a:moveTo>
                  <a:pt x="672899" y="671552"/>
                </a:moveTo>
                <a:cubicBezTo>
                  <a:pt x="616381" y="671552"/>
                  <a:pt x="570564" y="717369"/>
                  <a:pt x="570564" y="773887"/>
                </a:cubicBezTo>
                <a:cubicBezTo>
                  <a:pt x="570564" y="830405"/>
                  <a:pt x="616381" y="876222"/>
                  <a:pt x="672899" y="876222"/>
                </a:cubicBezTo>
                <a:cubicBezTo>
                  <a:pt x="729417" y="876222"/>
                  <a:pt x="775234" y="830405"/>
                  <a:pt x="775234" y="773887"/>
                </a:cubicBezTo>
                <a:cubicBezTo>
                  <a:pt x="775234" y="717369"/>
                  <a:pt x="729417" y="671552"/>
                  <a:pt x="672899" y="671552"/>
                </a:cubicBezTo>
                <a:close/>
                <a:moveTo>
                  <a:pt x="558926" y="452468"/>
                </a:moveTo>
                <a:lnTo>
                  <a:pt x="558926" y="506468"/>
                </a:lnTo>
                <a:lnTo>
                  <a:pt x="6315119" y="506468"/>
                </a:lnTo>
                <a:lnTo>
                  <a:pt x="6315119" y="452468"/>
                </a:lnTo>
                <a:close/>
                <a:moveTo>
                  <a:pt x="0" y="0"/>
                </a:moveTo>
                <a:lnTo>
                  <a:pt x="6862389" y="0"/>
                </a:lnTo>
                <a:lnTo>
                  <a:pt x="6862389" y="9144000"/>
                </a:lnTo>
                <a:lnTo>
                  <a:pt x="0" y="9144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981E22E0-F0C3-8FD5-9B53-0AE823C53A48}"/>
              </a:ext>
            </a:extLst>
          </p:cNvPr>
          <p:cNvSpPr txBox="1"/>
          <p:nvPr/>
        </p:nvSpPr>
        <p:spPr>
          <a:xfrm>
            <a:off x="3150021" y="8521283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2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9D719DD-DE7E-DED6-A18B-B084A027B2DE}"/>
              </a:ext>
            </a:extLst>
          </p:cNvPr>
          <p:cNvSpPr txBox="1"/>
          <p:nvPr/>
        </p:nvSpPr>
        <p:spPr>
          <a:xfrm>
            <a:off x="770844" y="610017"/>
            <a:ext cx="26132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3. FlexChroma HUB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F86F671-02C9-9E9B-5F0D-DC2FAC11DD2F}"/>
              </a:ext>
            </a:extLst>
          </p:cNvPr>
          <p:cNvSpPr txBox="1"/>
          <p:nvPr/>
        </p:nvSpPr>
        <p:spPr>
          <a:xfrm>
            <a:off x="668508" y="950188"/>
            <a:ext cx="56494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</a:t>
            </a:r>
            <a:r>
              <a:rPr lang="en-US" altLang="ja-JP" sz="1000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 HUB </a:t>
            </a:r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is the main entry point on MakerWorld, providing access to all Series and external portals. If you are unsure where to start, open this model first.</a:t>
            </a:r>
            <a:endParaRPr kumimoji="1" lang="ja-JP" altLang="en-US" sz="5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9331D375-CC72-3463-7EBE-AD9BD8A9AFDD}"/>
              </a:ext>
            </a:extLst>
          </p:cNvPr>
          <p:cNvSpPr txBox="1"/>
          <p:nvPr/>
        </p:nvSpPr>
        <p:spPr>
          <a:xfrm>
            <a:off x="770844" y="2574192"/>
            <a:ext cx="237917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4. Blend Filament</a:t>
            </a:r>
            <a:endParaRPr kumimoji="1" lang="ja-JP" altLang="en-US" sz="28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53F77DD3-6423-8DE1-AC87-0DD7AF777795}"/>
              </a:ext>
            </a:extLst>
          </p:cNvPr>
          <p:cNvSpPr txBox="1"/>
          <p:nvPr/>
        </p:nvSpPr>
        <p:spPr>
          <a:xfrm>
            <a:off x="668509" y="2953843"/>
            <a:ext cx="564222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Blend Filament Series is the most basic FlexChroma lineup. It allows you to mix two filaments at various ratios to create your own custom color.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Each model supports blend ratios from 50% to 99.5</a:t>
            </a:r>
            <a:r>
              <a:rPr lang="en-US" altLang="ja-JP" sz="100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%. For ratios below 50%, simply swap Filament A and Filament B.</a:t>
            </a:r>
          </a:p>
          <a:p>
            <a:endParaRPr lang="en-US" altLang="ja-JP" sz="10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Example: To create a filament with 25% cyan mixed into yellow, read the Plate value as the ratio of Filament A, interpret it as 75% yellow, and slice the model accordingly.</a:t>
            </a:r>
            <a:endParaRPr kumimoji="1" lang="ja-JP" altLang="en-US" sz="10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4115F0A8-4267-0FEB-9B1F-41BC20F962C4}"/>
              </a:ext>
            </a:extLst>
          </p:cNvPr>
          <p:cNvSpPr txBox="1"/>
          <p:nvPr/>
        </p:nvSpPr>
        <p:spPr>
          <a:xfrm>
            <a:off x="668508" y="5046262"/>
            <a:ext cx="564222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following is the model configuration for Blend Filament.</a:t>
            </a:r>
          </a:p>
        </p:txBody>
      </p:sp>
      <p:pic>
        <p:nvPicPr>
          <p:cNvPr id="26" name="図 25">
            <a:extLst>
              <a:ext uri="{FF2B5EF4-FFF2-40B4-BE49-F238E27FC236}">
                <a16:creationId xmlns:a16="http://schemas.microsoft.com/office/drawing/2014/main" id="{D599B3A6-5BF1-475A-455C-4CE1606652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0844" y="5325050"/>
            <a:ext cx="5264196" cy="32703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E2340787-D511-DF21-3720-E71FFAD3D13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884" y="4100534"/>
            <a:ext cx="5325156" cy="831813"/>
          </a:xfrm>
          <a:prstGeom prst="rect">
            <a:avLst/>
          </a:prstGeom>
        </p:spPr>
      </p:pic>
      <p:pic>
        <p:nvPicPr>
          <p:cNvPr id="38" name="図 37">
            <a:extLst>
              <a:ext uri="{FF2B5EF4-FFF2-40B4-BE49-F238E27FC236}">
                <a16:creationId xmlns:a16="http://schemas.microsoft.com/office/drawing/2014/main" id="{24EE4D19-C95F-DECA-987F-D6FD0CAF2F6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47" r="2095" b="10009"/>
          <a:stretch>
            <a:fillRect/>
          </a:stretch>
        </p:blipFill>
        <p:spPr bwMode="auto">
          <a:xfrm>
            <a:off x="1091915" y="1374795"/>
            <a:ext cx="4561094" cy="10147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19239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9E812-8D39-99F5-1D23-0E1A450CC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30FDF44E-2E29-DC94-EB39-45531D05C652}"/>
              </a:ext>
            </a:extLst>
          </p:cNvPr>
          <p:cNvSpPr/>
          <p:nvPr/>
        </p:nvSpPr>
        <p:spPr>
          <a:xfrm>
            <a:off x="33951" y="45268"/>
            <a:ext cx="6790099" cy="9053465"/>
          </a:xfrm>
          <a:prstGeom prst="rect">
            <a:avLst/>
          </a:prstGeom>
          <a:gradFill>
            <a:gsLst>
              <a:gs pos="60000">
                <a:srgbClr val="5800E1"/>
              </a:gs>
              <a:gs pos="5000">
                <a:srgbClr val="EC008C"/>
              </a:gs>
              <a:gs pos="95000">
                <a:srgbClr val="0086D6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フリーフォーム: 図形 6">
            <a:extLst>
              <a:ext uri="{FF2B5EF4-FFF2-40B4-BE49-F238E27FC236}">
                <a16:creationId xmlns:a16="http://schemas.microsoft.com/office/drawing/2014/main" id="{EBB0D2A0-3A2E-56E5-5FE5-78980A9D36F4}"/>
              </a:ext>
            </a:extLst>
          </p:cNvPr>
          <p:cNvSpPr/>
          <p:nvPr/>
        </p:nvSpPr>
        <p:spPr>
          <a:xfrm>
            <a:off x="-3231" y="0"/>
            <a:ext cx="6861231" cy="9144000"/>
          </a:xfrm>
          <a:custGeom>
            <a:avLst/>
            <a:gdLst>
              <a:gd name="connsiteX0" fmla="*/ 3739836 w 6861231"/>
              <a:gd name="connsiteY0" fmla="*/ 8661917 h 9144000"/>
              <a:gd name="connsiteX1" fmla="*/ 3739836 w 6861231"/>
              <a:gd name="connsiteY1" fmla="*/ 8715917 h 9144000"/>
              <a:gd name="connsiteX2" fmla="*/ 6333058 w 6861231"/>
              <a:gd name="connsiteY2" fmla="*/ 8715917 h 9144000"/>
              <a:gd name="connsiteX3" fmla="*/ 6333058 w 6861231"/>
              <a:gd name="connsiteY3" fmla="*/ 8661917 h 9144000"/>
              <a:gd name="connsiteX4" fmla="*/ 558032 w 6861231"/>
              <a:gd name="connsiteY4" fmla="*/ 8661917 h 9144000"/>
              <a:gd name="connsiteX5" fmla="*/ 558032 w 6861231"/>
              <a:gd name="connsiteY5" fmla="*/ 8715917 h 9144000"/>
              <a:gd name="connsiteX6" fmla="*/ 3151253 w 6861231"/>
              <a:gd name="connsiteY6" fmla="*/ 8715917 h 9144000"/>
              <a:gd name="connsiteX7" fmla="*/ 3151253 w 6861231"/>
              <a:gd name="connsiteY7" fmla="*/ 8661917 h 9144000"/>
              <a:gd name="connsiteX8" fmla="*/ 651915 w 6861231"/>
              <a:gd name="connsiteY8" fmla="*/ 7301051 h 9144000"/>
              <a:gd name="connsiteX9" fmla="*/ 549580 w 6861231"/>
              <a:gd name="connsiteY9" fmla="*/ 7403386 h 9144000"/>
              <a:gd name="connsiteX10" fmla="*/ 651915 w 6861231"/>
              <a:gd name="connsiteY10" fmla="*/ 7505721 h 9144000"/>
              <a:gd name="connsiteX11" fmla="*/ 754250 w 6861231"/>
              <a:gd name="connsiteY11" fmla="*/ 7403386 h 9144000"/>
              <a:gd name="connsiteX12" fmla="*/ 651915 w 6861231"/>
              <a:gd name="connsiteY12" fmla="*/ 7301051 h 9144000"/>
              <a:gd name="connsiteX13" fmla="*/ 672058 w 6861231"/>
              <a:gd name="connsiteY13" fmla="*/ 677902 h 9144000"/>
              <a:gd name="connsiteX14" fmla="*/ 569674 w 6861231"/>
              <a:gd name="connsiteY14" fmla="*/ 780237 h 9144000"/>
              <a:gd name="connsiteX15" fmla="*/ 672058 w 6861231"/>
              <a:gd name="connsiteY15" fmla="*/ 882572 h 9144000"/>
              <a:gd name="connsiteX16" fmla="*/ 774441 w 6861231"/>
              <a:gd name="connsiteY16" fmla="*/ 780237 h 9144000"/>
              <a:gd name="connsiteX17" fmla="*/ 672058 w 6861231"/>
              <a:gd name="connsiteY17" fmla="*/ 677902 h 9144000"/>
              <a:gd name="connsiteX18" fmla="*/ 558031 w 6861231"/>
              <a:gd name="connsiteY18" fmla="*/ 452468 h 9144000"/>
              <a:gd name="connsiteX19" fmla="*/ 558031 w 6861231"/>
              <a:gd name="connsiteY19" fmla="*/ 506468 h 9144000"/>
              <a:gd name="connsiteX20" fmla="*/ 6316936 w 6861231"/>
              <a:gd name="connsiteY20" fmla="*/ 506468 h 9144000"/>
              <a:gd name="connsiteX21" fmla="*/ 6316936 w 6861231"/>
              <a:gd name="connsiteY21" fmla="*/ 452468 h 9144000"/>
              <a:gd name="connsiteX22" fmla="*/ 0 w 6861231"/>
              <a:gd name="connsiteY22" fmla="*/ 0 h 9144000"/>
              <a:gd name="connsiteX23" fmla="*/ 6861231 w 6861231"/>
              <a:gd name="connsiteY23" fmla="*/ 0 h 9144000"/>
              <a:gd name="connsiteX24" fmla="*/ 6861231 w 6861231"/>
              <a:gd name="connsiteY24" fmla="*/ 9144000 h 9144000"/>
              <a:gd name="connsiteX25" fmla="*/ 0 w 6861231"/>
              <a:gd name="connsiteY25" fmla="*/ 9144000 h 914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6861231" h="9144000">
                <a:moveTo>
                  <a:pt x="3739836" y="8661917"/>
                </a:moveTo>
                <a:lnTo>
                  <a:pt x="3739836" y="8715917"/>
                </a:lnTo>
                <a:lnTo>
                  <a:pt x="6333058" y="8715917"/>
                </a:lnTo>
                <a:lnTo>
                  <a:pt x="6333058" y="8661917"/>
                </a:lnTo>
                <a:close/>
                <a:moveTo>
                  <a:pt x="558032" y="8661917"/>
                </a:moveTo>
                <a:lnTo>
                  <a:pt x="558032" y="8715917"/>
                </a:lnTo>
                <a:lnTo>
                  <a:pt x="3151253" y="8715917"/>
                </a:lnTo>
                <a:lnTo>
                  <a:pt x="3151253" y="8661917"/>
                </a:lnTo>
                <a:close/>
                <a:moveTo>
                  <a:pt x="651915" y="7301051"/>
                </a:moveTo>
                <a:cubicBezTo>
                  <a:pt x="595397" y="7301051"/>
                  <a:pt x="549580" y="7346868"/>
                  <a:pt x="549580" y="7403386"/>
                </a:cubicBezTo>
                <a:cubicBezTo>
                  <a:pt x="549580" y="7459904"/>
                  <a:pt x="595397" y="7505721"/>
                  <a:pt x="651915" y="7505721"/>
                </a:cubicBezTo>
                <a:cubicBezTo>
                  <a:pt x="708433" y="7505721"/>
                  <a:pt x="754250" y="7459904"/>
                  <a:pt x="754250" y="7403386"/>
                </a:cubicBezTo>
                <a:cubicBezTo>
                  <a:pt x="754250" y="7346868"/>
                  <a:pt x="708433" y="7301051"/>
                  <a:pt x="651915" y="7301051"/>
                </a:cubicBezTo>
                <a:close/>
                <a:moveTo>
                  <a:pt x="672058" y="677902"/>
                </a:moveTo>
                <a:cubicBezTo>
                  <a:pt x="615513" y="677902"/>
                  <a:pt x="569674" y="723719"/>
                  <a:pt x="569674" y="780237"/>
                </a:cubicBezTo>
                <a:cubicBezTo>
                  <a:pt x="569674" y="836755"/>
                  <a:pt x="615513" y="882572"/>
                  <a:pt x="672058" y="882572"/>
                </a:cubicBezTo>
                <a:cubicBezTo>
                  <a:pt x="728602" y="882572"/>
                  <a:pt x="774441" y="836755"/>
                  <a:pt x="774441" y="780237"/>
                </a:cubicBezTo>
                <a:cubicBezTo>
                  <a:pt x="774441" y="723719"/>
                  <a:pt x="728602" y="677902"/>
                  <a:pt x="672058" y="677902"/>
                </a:cubicBezTo>
                <a:close/>
                <a:moveTo>
                  <a:pt x="558031" y="452468"/>
                </a:moveTo>
                <a:lnTo>
                  <a:pt x="558031" y="506468"/>
                </a:lnTo>
                <a:lnTo>
                  <a:pt x="6316936" y="506468"/>
                </a:lnTo>
                <a:lnTo>
                  <a:pt x="6316936" y="452468"/>
                </a:lnTo>
                <a:close/>
                <a:moveTo>
                  <a:pt x="0" y="0"/>
                </a:moveTo>
                <a:lnTo>
                  <a:pt x="6861231" y="0"/>
                </a:lnTo>
                <a:lnTo>
                  <a:pt x="6861231" y="9144000"/>
                </a:lnTo>
                <a:lnTo>
                  <a:pt x="0" y="9144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DDFACC84-E7FE-11C7-6620-F3DEFEB06920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3</a:t>
            </a:r>
            <a:endParaRPr kumimoji="1" lang="ja-JP" altLang="en-US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AEF844E9-5EE0-D507-0BE6-EA50C139ECC5}"/>
              </a:ext>
            </a:extLst>
          </p:cNvPr>
          <p:cNvSpPr txBox="1"/>
          <p:nvPr/>
        </p:nvSpPr>
        <p:spPr>
          <a:xfrm>
            <a:off x="770844" y="610017"/>
            <a:ext cx="27398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5. Gradient Filament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9E1405D-DAD0-B18A-CDD6-7E8756624CA9}"/>
              </a:ext>
            </a:extLst>
          </p:cNvPr>
          <p:cNvSpPr txBox="1"/>
          <p:nvPr/>
        </p:nvSpPr>
        <p:spPr>
          <a:xfrm>
            <a:off x="668508" y="1032957"/>
            <a:ext cx="564949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Gradient Filament Series provides multiple color-changing Profiles and Plates with different cycle counts. Details vary by model, so please refer to each model’s description.</a:t>
            </a:r>
          </a:p>
          <a:p>
            <a:endParaRPr lang="en-US" altLang="ja-JP" sz="10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Example: To create a fast-cycle gradient filament using cyan and magenta, select an S4 Model, choose a 4-cycle Plate, and use the Vivid curve Profile due to the high color contrast.</a:t>
            </a:r>
            <a:endParaRPr kumimoji="1" lang="ja-JP" altLang="en-US" sz="10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7ED3E711-A061-E5B5-882E-75E8B78F5498}"/>
              </a:ext>
            </a:extLst>
          </p:cNvPr>
          <p:cNvSpPr txBox="1"/>
          <p:nvPr/>
        </p:nvSpPr>
        <p:spPr>
          <a:xfrm>
            <a:off x="675778" y="3011477"/>
            <a:ext cx="564222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following is the model configuration for Gradient Filament.</a:t>
            </a:r>
          </a:p>
        </p:txBody>
      </p:sp>
      <p:pic>
        <p:nvPicPr>
          <p:cNvPr id="12" name="図 11">
            <a:extLst>
              <a:ext uri="{FF2B5EF4-FFF2-40B4-BE49-F238E27FC236}">
                <a16:creationId xmlns:a16="http://schemas.microsoft.com/office/drawing/2014/main" id="{A6014F56-C02A-5FD8-08B8-C99834BE597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5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638323" y="3295319"/>
            <a:ext cx="5588622" cy="3853245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6940E87-7400-BF59-728F-D232492BBE36}"/>
              </a:ext>
            </a:extLst>
          </p:cNvPr>
          <p:cNvSpPr txBox="1"/>
          <p:nvPr/>
        </p:nvSpPr>
        <p:spPr>
          <a:xfrm>
            <a:off x="778114" y="7268269"/>
            <a:ext cx="1923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6. Update History</a:t>
            </a:r>
            <a:endParaRPr kumimoji="1" lang="ja-JP" altLang="en-US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72E1925-419D-E6C3-9438-BD98D2BBDD58}"/>
              </a:ext>
            </a:extLst>
          </p:cNvPr>
          <p:cNvSpPr txBox="1"/>
          <p:nvPr/>
        </p:nvSpPr>
        <p:spPr>
          <a:xfrm>
            <a:off x="638323" y="7599215"/>
            <a:ext cx="5649491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9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Ver.1.00  2026-07-02  First Edition Published</a:t>
            </a:r>
          </a:p>
          <a:p>
            <a:r>
              <a:rPr lang="en-US" altLang="ja-JP" sz="9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Ver.1.10  2026-07-02  Revisions for Integrated Design</a:t>
            </a:r>
          </a:p>
          <a:p>
            <a:endParaRPr kumimoji="1" lang="ja-JP" altLang="en-US" sz="9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pic>
        <p:nvPicPr>
          <p:cNvPr id="2" name="図 1">
            <a:extLst>
              <a:ext uri="{FF2B5EF4-FFF2-40B4-BE49-F238E27FC236}">
                <a16:creationId xmlns:a16="http://schemas.microsoft.com/office/drawing/2014/main" id="{09F0FDF5-AAE0-F652-01A1-9A4F73C8F0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3073" y="1909692"/>
            <a:ext cx="5588622" cy="913760"/>
          </a:xfrm>
          <a:prstGeom prst="rect">
            <a:avLst/>
          </a:prstGeom>
        </p:spPr>
      </p:pic>
      <p:pic>
        <p:nvPicPr>
          <p:cNvPr id="8" name="図 7">
            <a:extLst>
              <a:ext uri="{FF2B5EF4-FFF2-40B4-BE49-F238E27FC236}">
                <a16:creationId xmlns:a16="http://schemas.microsoft.com/office/drawing/2014/main" id="{3CA4C0E2-35C7-1340-C094-C4C5C416A18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545" y="3188861"/>
            <a:ext cx="5679677" cy="40025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590342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テーマ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168</TotalTime>
  <Words>934</Words>
  <Application>Microsoft Office PowerPoint</Application>
  <PresentationFormat>画面に合わせる (4:3)</PresentationFormat>
  <Paragraphs>71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8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6" baseType="lpstr">
      <vt:lpstr>IBM Plex Sans JP</vt:lpstr>
      <vt:lpstr>IBM Plex Sans JP Light</vt:lpstr>
      <vt:lpstr>IBM Plex Sans JP SemiBold</vt:lpstr>
      <vt:lpstr>Aptos</vt:lpstr>
      <vt:lpstr>Aptos Display</vt:lpstr>
      <vt:lpstr>Arial</vt:lpstr>
      <vt:lpstr>Segoe UI</vt:lpstr>
      <vt:lpstr>Segoe UI Semibold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MAKOTO YAZAKI (矢﨑 誠)</dc:creator>
  <cp:lastModifiedBy>MAKOTO YAZAKI (矢﨑 誠)</cp:lastModifiedBy>
  <cp:revision>9</cp:revision>
  <cp:lastPrinted>2026-07-22T05:45:13Z</cp:lastPrinted>
  <dcterms:created xsi:type="dcterms:W3CDTF">2026-07-22T02:46:18Z</dcterms:created>
  <dcterms:modified xsi:type="dcterms:W3CDTF">2026-07-22T05:45:14Z</dcterms:modified>
</cp:coreProperties>
</file>