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1"/>
  </p:sldMasterIdLst>
  <p:sldIdLst>
    <p:sldId id="256" r:id="rId2"/>
    <p:sldId id="257" r:id="rId3"/>
    <p:sldId id="258" r:id="rId4"/>
    <p:sldId id="259" r:id="rId5"/>
    <p:sldId id="263" r:id="rId6"/>
    <p:sldId id="264" r:id="rId7"/>
    <p:sldId id="262" r:id="rId8"/>
  </p:sldIdLst>
  <p:sldSz cx="6858000" cy="9144000" type="screen4x3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95E5"/>
    <a:srgbClr val="6200E8"/>
    <a:srgbClr val="EE00B0"/>
    <a:srgbClr val="0086D6"/>
    <a:srgbClr val="FF00FF"/>
    <a:srgbClr val="AE00F4"/>
    <a:srgbClr val="5800E1"/>
    <a:srgbClr val="EC008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9178" autoAdjust="0"/>
    <p:restoredTop sz="94660"/>
  </p:normalViewPr>
  <p:slideViewPr>
    <p:cSldViewPr snapToGrid="0">
      <p:cViewPr>
        <p:scale>
          <a:sx n="125" d="100"/>
          <a:sy n="125" d="100"/>
        </p:scale>
        <p:origin x="1230" y="-12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496484"/>
            <a:ext cx="5829300" cy="3183467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4802717"/>
            <a:ext cx="5143500" cy="2207683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419368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255561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279653"/>
            <a:ext cx="5915025" cy="3803649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119286"/>
            <a:ext cx="5915025" cy="2000249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82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82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4826424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434167"/>
            <a:ext cx="2914650" cy="5801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7533822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486836"/>
            <a:ext cx="5915025" cy="176741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241551"/>
            <a:ext cx="2901255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340100"/>
            <a:ext cx="2901255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241551"/>
            <a:ext cx="2915543" cy="1098549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340100"/>
            <a:ext cx="2915543" cy="4912784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585400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3760624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4845581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316569"/>
            <a:ext cx="3471863" cy="6498167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017639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09600"/>
            <a:ext cx="2211884" cy="21336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316569"/>
            <a:ext cx="3471863" cy="6498167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743200"/>
            <a:ext cx="2211884" cy="508211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8606715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093333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486834"/>
            <a:ext cx="1478756" cy="7749117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486834"/>
            <a:ext cx="4350544" cy="7749117"/>
          </a:xfrm>
        </p:spPr>
        <p:txBody>
          <a:bodyPr vert="eaVert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1072397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486836"/>
            <a:ext cx="5915025" cy="176741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434167"/>
            <a:ext cx="5915025" cy="580178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132294-360C-4425-B294-91EF6E97A591}" type="datetimeFigureOut">
              <a:rPr kumimoji="1" lang="ja-JP" altLang="en-US" smtClean="0"/>
              <a:t>2026/7/22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8475136"/>
            <a:ext cx="2314575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8475136"/>
            <a:ext cx="1543050" cy="48683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A6D0D1E-ED99-4718-8602-49CD12995A57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944194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kumimoji="1"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kumimoji="1"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kumimoji="1"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emf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emf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emf"/><Relationship Id="rId2" Type="http://schemas.openxmlformats.org/officeDocument/2006/relationships/image" Target="../media/image2.emf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emf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emf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正方形/長方形 3">
            <a:extLst>
              <a:ext uri="{FF2B5EF4-FFF2-40B4-BE49-F238E27FC236}">
                <a16:creationId xmlns:a16="http://schemas.microsoft.com/office/drawing/2014/main" id="{5AA41A86-A2F3-1D06-7116-45400082F3B6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97CD271A-34A9-3E4B-032F-15C70AF19889}"/>
              </a:ext>
            </a:extLst>
          </p:cNvPr>
          <p:cNvSpPr/>
          <p:nvPr/>
        </p:nvSpPr>
        <p:spPr>
          <a:xfrm>
            <a:off x="16975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73915448-3941-BA60-2C94-241A97D6CAC9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552EEC23-A78A-14A0-56DD-8CB91A02DD2F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733F6922-5537-D3C9-1E45-625FD880C031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F3EA9AD3-66B2-9EA5-5711-3C6A318F5512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705123BF-B9A2-835D-6FE4-689D9F62F382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D340CDC6-D787-7B25-2307-F3BA1042D402}"/>
              </a:ext>
            </a:extLst>
          </p:cNvPr>
          <p:cNvSpPr/>
          <p:nvPr/>
        </p:nvSpPr>
        <p:spPr>
          <a:xfrm>
            <a:off x="539999" y="431999"/>
            <a:ext cx="5785269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F25BF82-13EE-2D0B-D376-F101E332C733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F8BCCC25-0C62-4E5D-0486-3F637C4A1C59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5CFE29C1-D44C-58E2-5EDB-51A8D3EC840E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245741207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A540A8-5932-22C2-7D48-A0EA57C305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正方形/長方形 31">
            <a:extLst>
              <a:ext uri="{FF2B5EF4-FFF2-40B4-BE49-F238E27FC236}">
                <a16:creationId xmlns:a16="http://schemas.microsoft.com/office/drawing/2014/main" id="{CD9029B2-D1D6-26F4-0BA3-DE439C520D10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7B3C0006-8C0E-711B-ECD8-45CF7F1D1609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9C59FD50-8143-8A52-2646-26C8BDBFFDD3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46770B46-C072-DF34-BD8D-2065F41808D5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C3E27AFA-EFCD-0428-55DA-15697DE6456A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C16363EA-88CD-F1FE-3650-7B24149569AE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6E68F704-A898-98C2-EE85-8B817126B2F6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2F960D99-6370-5724-453C-20AA9AC92D12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708601A0-5532-E890-C737-AF5B225E91D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2CCFBEBF-78FF-8FF9-3487-B087FB4F1A56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AB06514E-2962-A9E0-36A8-FFA8ABD714B3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86E89BA8-E7B2-7AB3-7267-37838D435E76}"/>
              </a:ext>
            </a:extLst>
          </p:cNvPr>
          <p:cNvSpPr/>
          <p:nvPr/>
        </p:nvSpPr>
        <p:spPr>
          <a:xfrm>
            <a:off x="566175" y="306949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CB797E49-CA37-4B2A-5187-03EC3007B3C7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0E5F4AF3-4FAB-E906-2281-AF56CB9A9F5F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64F690EF-7932-B480-4E0E-878C474B7FC9}"/>
              </a:ext>
            </a:extLst>
          </p:cNvPr>
          <p:cNvSpPr/>
          <p:nvPr/>
        </p:nvSpPr>
        <p:spPr>
          <a:xfrm>
            <a:off x="566175" y="45623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FDE03A10-2964-5391-2223-CBCA00D23411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B96C8996-A004-2B6F-419A-B5C7EEF88FAF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EBF7D3BD-1EF8-AC81-756A-94B848B80E13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F1B3E5E8-6526-8E6B-29D9-D104B66A6233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E5EE1833-E36C-633A-2CB5-AC9A3262046E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pic>
        <p:nvPicPr>
          <p:cNvPr id="33" name="図 32">
            <a:extLst>
              <a:ext uri="{FF2B5EF4-FFF2-40B4-BE49-F238E27FC236}">
                <a16:creationId xmlns:a16="http://schemas.microsoft.com/office/drawing/2014/main" id="{373E7CFB-7ECE-1E91-69A3-DE952354F20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grpSp>
        <p:nvGrpSpPr>
          <p:cNvPr id="23" name="グループ化 22">
            <a:extLst>
              <a:ext uri="{FF2B5EF4-FFF2-40B4-BE49-F238E27FC236}">
                <a16:creationId xmlns:a16="http://schemas.microsoft.com/office/drawing/2014/main" id="{8F15D30C-9810-6554-3F9D-C666664BC62E}"/>
              </a:ext>
            </a:extLst>
          </p:cNvPr>
          <p:cNvGrpSpPr/>
          <p:nvPr/>
        </p:nvGrpSpPr>
        <p:grpSpPr>
          <a:xfrm>
            <a:off x="1042026" y="441445"/>
            <a:ext cx="4781214" cy="377792"/>
            <a:chOff x="1042026" y="430737"/>
            <a:chExt cx="4781214" cy="377792"/>
          </a:xfrm>
        </p:grpSpPr>
        <p:sp>
          <p:nvSpPr>
            <p:cNvPr id="3" name="四角形: 上の 2 つの角を丸める 2">
              <a:extLst>
                <a:ext uri="{FF2B5EF4-FFF2-40B4-BE49-F238E27FC236}">
                  <a16:creationId xmlns:a16="http://schemas.microsoft.com/office/drawing/2014/main" id="{3A18D7FF-2AB7-9784-CFCF-AD9569D61BBD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4" name="四角形: 上の 2 つの角を丸める 3">
              <a:extLst>
                <a:ext uri="{FF2B5EF4-FFF2-40B4-BE49-F238E27FC236}">
                  <a16:creationId xmlns:a16="http://schemas.microsoft.com/office/drawing/2014/main" id="{A7264CEB-0E02-D992-7F98-46154D03A20F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grpSp>
        <p:nvGrpSpPr>
          <p:cNvPr id="24" name="グループ化 23">
            <a:extLst>
              <a:ext uri="{FF2B5EF4-FFF2-40B4-BE49-F238E27FC236}">
                <a16:creationId xmlns:a16="http://schemas.microsoft.com/office/drawing/2014/main" id="{1E64D689-16FA-4459-27D6-5C841CAA4722}"/>
              </a:ext>
            </a:extLst>
          </p:cNvPr>
          <p:cNvGrpSpPr/>
          <p:nvPr/>
        </p:nvGrpSpPr>
        <p:grpSpPr>
          <a:xfrm rot="10800000">
            <a:off x="1042026" y="2224673"/>
            <a:ext cx="4781214" cy="377792"/>
            <a:chOff x="1042026" y="430737"/>
            <a:chExt cx="4781214" cy="377792"/>
          </a:xfrm>
        </p:grpSpPr>
        <p:sp>
          <p:nvSpPr>
            <p:cNvPr id="28" name="四角形: 上の 2 つの角を丸める 27">
              <a:extLst>
                <a:ext uri="{FF2B5EF4-FFF2-40B4-BE49-F238E27FC236}">
                  <a16:creationId xmlns:a16="http://schemas.microsoft.com/office/drawing/2014/main" id="{F8DF8492-C361-427B-2DE1-AE4499E917C5}"/>
                </a:ext>
              </a:extLst>
            </p:cNvPr>
            <p:cNvSpPr/>
            <p:nvPr/>
          </p:nvSpPr>
          <p:spPr>
            <a:xfrm>
              <a:off x="1042026" y="430737"/>
              <a:ext cx="4781214" cy="377792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30" name="四角形: 上の 2 つの角を丸める 29">
              <a:extLst>
                <a:ext uri="{FF2B5EF4-FFF2-40B4-BE49-F238E27FC236}">
                  <a16:creationId xmlns:a16="http://schemas.microsoft.com/office/drawing/2014/main" id="{B525C316-F63D-33F0-D18C-D441893CBA9D}"/>
                </a:ext>
              </a:extLst>
            </p:cNvPr>
            <p:cNvSpPr/>
            <p:nvPr/>
          </p:nvSpPr>
          <p:spPr>
            <a:xfrm>
              <a:off x="1042026" y="697920"/>
              <a:ext cx="4781214" cy="110609"/>
            </a:xfrm>
            <a:prstGeom prst="round2SameRect">
              <a:avLst>
                <a:gd name="adj1" fmla="val 50000"/>
                <a:gd name="adj2" fmla="val 0"/>
              </a:avLst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15D7F160-5868-F96D-EF8B-282D37A34400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CCF6AA1D-A904-DA76-F915-872BDAEB9106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3552732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D60173C-59A2-2037-D73D-0E215B3139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10A76A69-7EBA-24AD-3805-2A372CFEEAE8}"/>
              </a:ext>
            </a:extLst>
          </p:cNvPr>
          <p:cNvSpPr/>
          <p:nvPr/>
        </p:nvSpPr>
        <p:spPr>
          <a:xfrm>
            <a:off x="0" y="0"/>
            <a:ext cx="6858000" cy="9144000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5B787233-FA7E-25C9-AFC8-77DD3B8699E6}"/>
              </a:ext>
            </a:extLst>
          </p:cNvPr>
          <p:cNvSpPr/>
          <p:nvPr/>
        </p:nvSpPr>
        <p:spPr>
          <a:xfrm>
            <a:off x="7269" y="0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5EE023F3-4FCC-103D-2599-E4E8CA7BF60A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824B2131-6CC4-0BFA-B748-D810A3423268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A4011FAB-63C2-178C-29DE-33DA96F47618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42F3C5EA-2AFD-33E4-549C-0F84BFE77136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F3FA60BD-81FF-4E70-C88D-182A05D73C49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0F94DBC3-EEDB-BBD1-A314-ABB30EC10D4A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F47E6663-8146-0675-09E7-BA77AF348350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C95B28A9-13D1-5C87-BC7B-361DB6DEDF54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465E0D04-137D-61B6-CDB3-C9B389BF921F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598BECD0-FE21-7197-76A9-A35DBF75C26D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0" name="楕円 19">
            <a:extLst>
              <a:ext uri="{FF2B5EF4-FFF2-40B4-BE49-F238E27FC236}">
                <a16:creationId xmlns:a16="http://schemas.microsoft.com/office/drawing/2014/main" id="{1228AC35-8F16-7C9A-87A7-5D5AF44B4A45}"/>
              </a:ext>
            </a:extLst>
          </p:cNvPr>
          <p:cNvSpPr/>
          <p:nvPr/>
        </p:nvSpPr>
        <p:spPr>
          <a:xfrm>
            <a:off x="566175" y="2644750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E721B25-AF01-358E-3AF5-DD53E680BEA4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A4E1C011-7C36-5F21-4954-43ED394E75BA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C2FB48DC-10F4-2185-6930-78B6977A0BD2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83844719-2CDC-AB32-6FBF-9DC0B5690794}"/>
              </a:ext>
            </a:extLst>
          </p:cNvPr>
          <p:cNvSpPr txBox="1"/>
          <p:nvPr/>
        </p:nvSpPr>
        <p:spPr>
          <a:xfrm>
            <a:off x="668509" y="2953843"/>
            <a:ext cx="5642222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2FB90F5E-7734-F19F-FF8C-E8AC00A4C515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23874BB3-E688-0DEB-EE2D-8445FA682C7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EBD6A209-2D06-7463-8165-69E2412B2F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9884" y="4100534"/>
            <a:ext cx="5325156" cy="831813"/>
          </a:xfrm>
          <a:prstGeom prst="rect">
            <a:avLst/>
          </a:prstGeom>
        </p:spPr>
      </p:pic>
      <p:pic>
        <p:nvPicPr>
          <p:cNvPr id="28" name="図 27">
            <a:extLst>
              <a:ext uri="{FF2B5EF4-FFF2-40B4-BE49-F238E27FC236}">
                <a16:creationId xmlns:a16="http://schemas.microsoft.com/office/drawing/2014/main" id="{1382655B-80C9-15F1-61E0-4D073DBA166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89787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A23065-C738-1975-C61A-347A71E91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正方形/長方形 29">
            <a:extLst>
              <a:ext uri="{FF2B5EF4-FFF2-40B4-BE49-F238E27FC236}">
                <a16:creationId xmlns:a16="http://schemas.microsoft.com/office/drawing/2014/main" id="{76991F79-EF9D-214D-22CC-3EE4375C1316}"/>
              </a:ext>
            </a:extLst>
          </p:cNvPr>
          <p:cNvSpPr/>
          <p:nvPr/>
        </p:nvSpPr>
        <p:spPr>
          <a:xfrm>
            <a:off x="51086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ADCDB3DB-81C6-2500-386E-779A7602240D}"/>
              </a:ext>
            </a:extLst>
          </p:cNvPr>
          <p:cNvSpPr/>
          <p:nvPr/>
        </p:nvSpPr>
        <p:spPr>
          <a:xfrm>
            <a:off x="17051" y="5531"/>
            <a:ext cx="6858000" cy="9144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grpSp>
        <p:nvGrpSpPr>
          <p:cNvPr id="10" name="グループ化 9">
            <a:extLst>
              <a:ext uri="{FF2B5EF4-FFF2-40B4-BE49-F238E27FC236}">
                <a16:creationId xmlns:a16="http://schemas.microsoft.com/office/drawing/2014/main" id="{6809260A-E3A9-A10F-64B4-276376DBA937}"/>
              </a:ext>
            </a:extLst>
          </p:cNvPr>
          <p:cNvGrpSpPr/>
          <p:nvPr/>
        </p:nvGrpSpPr>
        <p:grpSpPr>
          <a:xfrm>
            <a:off x="0" y="0"/>
            <a:ext cx="6865269" cy="9144001"/>
            <a:chOff x="0" y="0"/>
            <a:chExt cx="6865269" cy="9144001"/>
          </a:xfrm>
        </p:grpSpPr>
        <p:sp>
          <p:nvSpPr>
            <p:cNvPr id="6" name="正方形/長方形 5">
              <a:extLst>
                <a:ext uri="{FF2B5EF4-FFF2-40B4-BE49-F238E27FC236}">
                  <a16:creationId xmlns:a16="http://schemas.microsoft.com/office/drawing/2014/main" id="{1013BF5E-61A6-7F01-BF6F-0C6BB497C24C}"/>
                </a:ext>
              </a:extLst>
            </p:cNvPr>
            <p:cNvSpPr/>
            <p:nvPr/>
          </p:nvSpPr>
          <p:spPr>
            <a:xfrm>
              <a:off x="0" y="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7" name="正方形/長方形 6">
              <a:extLst>
                <a:ext uri="{FF2B5EF4-FFF2-40B4-BE49-F238E27FC236}">
                  <a16:creationId xmlns:a16="http://schemas.microsoft.com/office/drawing/2014/main" id="{981A98E8-4943-C462-95B6-FEF1CE8411FB}"/>
                </a:ext>
              </a:extLst>
            </p:cNvPr>
            <p:cNvSpPr/>
            <p:nvPr/>
          </p:nvSpPr>
          <p:spPr>
            <a:xfrm>
              <a:off x="0" y="8712000"/>
              <a:ext cx="6858000" cy="432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  <p:sp>
          <p:nvSpPr>
            <p:cNvPr id="8" name="正方形/長方形 7">
              <a:extLst>
                <a:ext uri="{FF2B5EF4-FFF2-40B4-BE49-F238E27FC236}">
                  <a16:creationId xmlns:a16="http://schemas.microsoft.com/office/drawing/2014/main" id="{7634534E-96BD-2796-50AA-D46B14258839}"/>
                </a:ext>
              </a:extLst>
            </p:cNvPr>
            <p:cNvSpPr/>
            <p:nvPr/>
          </p:nvSpPr>
          <p:spPr>
            <a:xfrm>
              <a:off x="0" y="1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 dirty="0"/>
            </a:p>
          </p:txBody>
        </p:sp>
        <p:sp>
          <p:nvSpPr>
            <p:cNvPr id="9" name="正方形/長方形 8">
              <a:extLst>
                <a:ext uri="{FF2B5EF4-FFF2-40B4-BE49-F238E27FC236}">
                  <a16:creationId xmlns:a16="http://schemas.microsoft.com/office/drawing/2014/main" id="{98BDDABE-AF21-FAFC-C17E-390C8B630108}"/>
                </a:ext>
              </a:extLst>
            </p:cNvPr>
            <p:cNvSpPr/>
            <p:nvPr/>
          </p:nvSpPr>
          <p:spPr>
            <a:xfrm>
              <a:off x="6325269" y="0"/>
              <a:ext cx="540000" cy="9144000"/>
            </a:xfrm>
            <a:prstGeom prst="rect">
              <a:avLst/>
            </a:prstGeom>
            <a:solidFill>
              <a:schemeClr val="accent2">
                <a:lumMod val="60000"/>
                <a:lumOff val="40000"/>
                <a:alpha val="10000"/>
              </a:schemeClr>
            </a:solidFill>
            <a:ln>
              <a:solidFill>
                <a:schemeClr val="accent2">
                  <a:lumMod val="50000"/>
                </a:schemeClr>
              </a:solidFill>
              <a:prstDash val="dash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kumimoji="1" lang="ja-JP" altLang="en-US"/>
            </a:p>
          </p:txBody>
        </p:sp>
      </p:grpSp>
      <p:sp>
        <p:nvSpPr>
          <p:cNvPr id="13" name="正方形/長方形 12">
            <a:extLst>
              <a:ext uri="{FF2B5EF4-FFF2-40B4-BE49-F238E27FC236}">
                <a16:creationId xmlns:a16="http://schemas.microsoft.com/office/drawing/2014/main" id="{C31BB991-A1A7-FAE2-CB87-73D2777505EE}"/>
              </a:ext>
            </a:extLst>
          </p:cNvPr>
          <p:cNvSpPr/>
          <p:nvPr/>
        </p:nvSpPr>
        <p:spPr>
          <a:xfrm>
            <a:off x="554537" y="452468"/>
            <a:ext cx="5756193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5" name="正方形/長方形 14">
            <a:extLst>
              <a:ext uri="{FF2B5EF4-FFF2-40B4-BE49-F238E27FC236}">
                <a16:creationId xmlns:a16="http://schemas.microsoft.com/office/drawing/2014/main" id="{33AFA6C5-4BF2-A033-32A4-BECDD4F86FD4}"/>
              </a:ext>
            </a:extLst>
          </p:cNvPr>
          <p:cNvSpPr/>
          <p:nvPr/>
        </p:nvSpPr>
        <p:spPr>
          <a:xfrm>
            <a:off x="554538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0B6597B8-6C80-13D9-C7AF-67EB68F224A8}"/>
              </a:ext>
            </a:extLst>
          </p:cNvPr>
          <p:cNvSpPr/>
          <p:nvPr/>
        </p:nvSpPr>
        <p:spPr>
          <a:xfrm>
            <a:off x="3734844" y="8661917"/>
            <a:ext cx="2592000" cy="54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AF623625-2DCF-7634-93D4-9344D0B367F8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14" name="楕円 13">
            <a:extLst>
              <a:ext uri="{FF2B5EF4-FFF2-40B4-BE49-F238E27FC236}">
                <a16:creationId xmlns:a16="http://schemas.microsoft.com/office/drawing/2014/main" id="{7D25B49B-E1C7-7FE3-F262-C6D12AEF1C2E}"/>
              </a:ext>
            </a:extLst>
          </p:cNvPr>
          <p:cNvSpPr/>
          <p:nvPr/>
        </p:nvSpPr>
        <p:spPr>
          <a:xfrm>
            <a:off x="566175" y="677902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楕円 1">
            <a:extLst>
              <a:ext uri="{FF2B5EF4-FFF2-40B4-BE49-F238E27FC236}">
                <a16:creationId xmlns:a16="http://schemas.microsoft.com/office/drawing/2014/main" id="{F98466EE-556B-7D77-6461-4135277DD2E2}"/>
              </a:ext>
            </a:extLst>
          </p:cNvPr>
          <p:cNvSpPr/>
          <p:nvPr/>
        </p:nvSpPr>
        <p:spPr>
          <a:xfrm>
            <a:off x="546348" y="7301051"/>
            <a:ext cx="204669" cy="204669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31" name="テキスト ボックス 30">
            <a:extLst>
              <a:ext uri="{FF2B5EF4-FFF2-40B4-BE49-F238E27FC236}">
                <a16:creationId xmlns:a16="http://schemas.microsoft.com/office/drawing/2014/main" id="{48078D51-1E2C-A979-AB68-98E18890C6F1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2" name="テキスト ボックス 31">
            <a:extLst>
              <a:ext uri="{FF2B5EF4-FFF2-40B4-BE49-F238E27FC236}">
                <a16:creationId xmlns:a16="http://schemas.microsoft.com/office/drawing/2014/main" id="{F974243A-BE39-3111-BDC0-1688AF9439B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33" name="テキスト ボックス 32">
            <a:extLst>
              <a:ext uri="{FF2B5EF4-FFF2-40B4-BE49-F238E27FC236}">
                <a16:creationId xmlns:a16="http://schemas.microsoft.com/office/drawing/2014/main" id="{117BFD2F-556D-35B9-3D3B-9934FD82183A}"/>
              </a:ext>
            </a:extLst>
          </p:cNvPr>
          <p:cNvSpPr txBox="1"/>
          <p:nvPr/>
        </p:nvSpPr>
        <p:spPr>
          <a:xfrm>
            <a:off x="675778" y="3011477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34" name="テキスト ボックス 33">
            <a:extLst>
              <a:ext uri="{FF2B5EF4-FFF2-40B4-BE49-F238E27FC236}">
                <a16:creationId xmlns:a16="http://schemas.microsoft.com/office/drawing/2014/main" id="{2D9D80EE-7B63-AF1B-1B3A-EA5DC86D069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D11D4DCF-F707-995B-6436-8A7DA1522C33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36" name="図 35">
            <a:extLst>
              <a:ext uri="{FF2B5EF4-FFF2-40B4-BE49-F238E27FC236}">
                <a16:creationId xmlns:a16="http://schemas.microsoft.com/office/drawing/2014/main" id="{4A2E15D4-B4F1-FC30-49B0-998127E330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3073" y="1909692"/>
            <a:ext cx="5588622" cy="913760"/>
          </a:xfrm>
          <a:prstGeom prst="rect">
            <a:avLst/>
          </a:prstGeom>
        </p:spPr>
      </p:pic>
      <p:pic>
        <p:nvPicPr>
          <p:cNvPr id="37" name="図 36">
            <a:extLst>
              <a:ext uri="{FF2B5EF4-FFF2-40B4-BE49-F238E27FC236}">
                <a16:creationId xmlns:a16="http://schemas.microsoft.com/office/drawing/2014/main" id="{B45BD161-DA0D-5CE8-8162-DC38C4F2F31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7545" y="3188861"/>
            <a:ext cx="5679677" cy="40025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5018908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5DA673-1F6D-3E89-385D-51C4D771A7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1DEFF187-2596-B65B-91B7-01BEB260E707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7" name="フリーフォーム: 図形 36">
            <a:extLst>
              <a:ext uri="{FF2B5EF4-FFF2-40B4-BE49-F238E27FC236}">
                <a16:creationId xmlns:a16="http://schemas.microsoft.com/office/drawing/2014/main" id="{79E6D1D4-A113-BFE0-3263-F0A91EBC473E}"/>
              </a:ext>
            </a:extLst>
          </p:cNvPr>
          <p:cNvSpPr/>
          <p:nvPr/>
        </p:nvSpPr>
        <p:spPr>
          <a:xfrm>
            <a:off x="-1" y="9938"/>
            <a:ext cx="6858000" cy="9144000"/>
          </a:xfrm>
          <a:custGeom>
            <a:avLst/>
            <a:gdLst>
              <a:gd name="connsiteX0" fmla="*/ 3734844 w 6858000"/>
              <a:gd name="connsiteY0" fmla="*/ 8661917 h 9144000"/>
              <a:gd name="connsiteX1" fmla="*/ 3734844 w 6858000"/>
              <a:gd name="connsiteY1" fmla="*/ 8715917 h 9144000"/>
              <a:gd name="connsiteX2" fmla="*/ 6326844 w 6858000"/>
              <a:gd name="connsiteY2" fmla="*/ 8715917 h 9144000"/>
              <a:gd name="connsiteX3" fmla="*/ 6326844 w 6858000"/>
              <a:gd name="connsiteY3" fmla="*/ 8661917 h 9144000"/>
              <a:gd name="connsiteX4" fmla="*/ 554538 w 6858000"/>
              <a:gd name="connsiteY4" fmla="*/ 8661917 h 9144000"/>
              <a:gd name="connsiteX5" fmla="*/ 554538 w 6858000"/>
              <a:gd name="connsiteY5" fmla="*/ 8715917 h 9144000"/>
              <a:gd name="connsiteX6" fmla="*/ 3146538 w 6858000"/>
              <a:gd name="connsiteY6" fmla="*/ 8715917 h 9144000"/>
              <a:gd name="connsiteX7" fmla="*/ 3146538 w 6858000"/>
              <a:gd name="connsiteY7" fmla="*/ 8661917 h 9144000"/>
              <a:gd name="connsiteX8" fmla="*/ 668510 w 6858000"/>
              <a:gd name="connsiteY8" fmla="*/ 4562351 h 9144000"/>
              <a:gd name="connsiteX9" fmla="*/ 566175 w 6858000"/>
              <a:gd name="connsiteY9" fmla="*/ 4664686 h 9144000"/>
              <a:gd name="connsiteX10" fmla="*/ 668510 w 6858000"/>
              <a:gd name="connsiteY10" fmla="*/ 4767021 h 9144000"/>
              <a:gd name="connsiteX11" fmla="*/ 770845 w 6858000"/>
              <a:gd name="connsiteY11" fmla="*/ 4664686 h 9144000"/>
              <a:gd name="connsiteX12" fmla="*/ 668510 w 6858000"/>
              <a:gd name="connsiteY12" fmla="*/ 4562351 h 9144000"/>
              <a:gd name="connsiteX13" fmla="*/ 668510 w 6858000"/>
              <a:gd name="connsiteY13" fmla="*/ 3069491 h 9144000"/>
              <a:gd name="connsiteX14" fmla="*/ 566175 w 6858000"/>
              <a:gd name="connsiteY14" fmla="*/ 3171826 h 9144000"/>
              <a:gd name="connsiteX15" fmla="*/ 668510 w 6858000"/>
              <a:gd name="connsiteY15" fmla="*/ 3274161 h 9144000"/>
              <a:gd name="connsiteX16" fmla="*/ 770845 w 6858000"/>
              <a:gd name="connsiteY16" fmla="*/ 3171826 h 9144000"/>
              <a:gd name="connsiteX17" fmla="*/ 668510 w 6858000"/>
              <a:gd name="connsiteY17" fmla="*/ 3069491 h 9144000"/>
              <a:gd name="connsiteX18" fmla="*/ 1042027 w 6858000"/>
              <a:gd name="connsiteY18" fmla="*/ 2161529 h 9144000"/>
              <a:gd name="connsiteX19" fmla="*/ 1042026 w 6858000"/>
              <a:gd name="connsiteY19" fmla="*/ 2308230 h 9144000"/>
              <a:gd name="connsiteX20" fmla="*/ 1188728 w 6858000"/>
              <a:gd name="connsiteY20" fmla="*/ 2454932 h 9144000"/>
              <a:gd name="connsiteX21" fmla="*/ 5676539 w 6858000"/>
              <a:gd name="connsiteY21" fmla="*/ 2454932 h 9144000"/>
              <a:gd name="connsiteX22" fmla="*/ 5823241 w 6858000"/>
              <a:gd name="connsiteY22" fmla="*/ 2308230 h 9144000"/>
              <a:gd name="connsiteX23" fmla="*/ 5823241 w 6858000"/>
              <a:gd name="connsiteY23" fmla="*/ 2163830 h 9144000"/>
              <a:gd name="connsiteX24" fmla="*/ 5760740 w 6858000"/>
              <a:gd name="connsiteY24" fmla="*/ 2226331 h 9144000"/>
              <a:gd name="connsiteX25" fmla="*/ 1104528 w 6858000"/>
              <a:gd name="connsiteY25" fmla="*/ 2226331 h 9144000"/>
              <a:gd name="connsiteX26" fmla="*/ 1042027 w 6858000"/>
              <a:gd name="connsiteY26" fmla="*/ 2163830 h 9144000"/>
              <a:gd name="connsiteX27" fmla="*/ 1188728 w 6858000"/>
              <a:gd name="connsiteY27" fmla="*/ 437295 h 9144000"/>
              <a:gd name="connsiteX28" fmla="*/ 1042026 w 6858000"/>
              <a:gd name="connsiteY28" fmla="*/ 583997 h 9144000"/>
              <a:gd name="connsiteX29" fmla="*/ 1042026 w 6858000"/>
              <a:gd name="connsiteY29" fmla="*/ 728397 h 9144000"/>
              <a:gd name="connsiteX30" fmla="*/ 1104527 w 6858000"/>
              <a:gd name="connsiteY30" fmla="*/ 665896 h 9144000"/>
              <a:gd name="connsiteX31" fmla="*/ 5760739 w 6858000"/>
              <a:gd name="connsiteY31" fmla="*/ 665896 h 9144000"/>
              <a:gd name="connsiteX32" fmla="*/ 5823240 w 6858000"/>
              <a:gd name="connsiteY32" fmla="*/ 728397 h 9144000"/>
              <a:gd name="connsiteX33" fmla="*/ 5823240 w 6858000"/>
              <a:gd name="connsiteY33" fmla="*/ 730698 h 9144000"/>
              <a:gd name="connsiteX34" fmla="*/ 5823241 w 6858000"/>
              <a:gd name="connsiteY34" fmla="*/ 583997 h 9144000"/>
              <a:gd name="connsiteX35" fmla="*/ 5676539 w 6858000"/>
              <a:gd name="connsiteY35" fmla="*/ 437295 h 9144000"/>
              <a:gd name="connsiteX36" fmla="*/ 0 w 6858000"/>
              <a:gd name="connsiteY36" fmla="*/ 0 h 9144000"/>
              <a:gd name="connsiteX37" fmla="*/ 6858000 w 6858000"/>
              <a:gd name="connsiteY37" fmla="*/ 0 h 9144000"/>
              <a:gd name="connsiteX38" fmla="*/ 6858000 w 6858000"/>
              <a:gd name="connsiteY38" fmla="*/ 9144000 h 9144000"/>
              <a:gd name="connsiteX39" fmla="*/ 0 w 6858000"/>
              <a:gd name="connsiteY39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</a:cxnLst>
            <a:rect l="l" t="t" r="r" b="b"/>
            <a:pathLst>
              <a:path w="6858000" h="9144000">
                <a:moveTo>
                  <a:pt x="3734844" y="8661917"/>
                </a:moveTo>
                <a:lnTo>
                  <a:pt x="3734844" y="8715917"/>
                </a:lnTo>
                <a:lnTo>
                  <a:pt x="6326844" y="8715917"/>
                </a:lnTo>
                <a:lnTo>
                  <a:pt x="6326844" y="8661917"/>
                </a:lnTo>
                <a:close/>
                <a:moveTo>
                  <a:pt x="554538" y="8661917"/>
                </a:moveTo>
                <a:lnTo>
                  <a:pt x="554538" y="8715917"/>
                </a:lnTo>
                <a:lnTo>
                  <a:pt x="3146538" y="8715917"/>
                </a:lnTo>
                <a:lnTo>
                  <a:pt x="3146538" y="8661917"/>
                </a:lnTo>
                <a:close/>
                <a:moveTo>
                  <a:pt x="668510" y="4562351"/>
                </a:moveTo>
                <a:cubicBezTo>
                  <a:pt x="611992" y="4562351"/>
                  <a:pt x="566175" y="4608168"/>
                  <a:pt x="566175" y="4664686"/>
                </a:cubicBezTo>
                <a:cubicBezTo>
                  <a:pt x="566175" y="4721204"/>
                  <a:pt x="611992" y="4767021"/>
                  <a:pt x="668510" y="4767021"/>
                </a:cubicBezTo>
                <a:cubicBezTo>
                  <a:pt x="725028" y="4767021"/>
                  <a:pt x="770845" y="4721204"/>
                  <a:pt x="770845" y="4664686"/>
                </a:cubicBezTo>
                <a:cubicBezTo>
                  <a:pt x="770845" y="4608168"/>
                  <a:pt x="725028" y="4562351"/>
                  <a:pt x="668510" y="4562351"/>
                </a:cubicBezTo>
                <a:close/>
                <a:moveTo>
                  <a:pt x="668510" y="3069491"/>
                </a:moveTo>
                <a:cubicBezTo>
                  <a:pt x="611992" y="3069491"/>
                  <a:pt x="566175" y="3115308"/>
                  <a:pt x="566175" y="3171826"/>
                </a:cubicBezTo>
                <a:cubicBezTo>
                  <a:pt x="566175" y="3228344"/>
                  <a:pt x="611992" y="3274161"/>
                  <a:pt x="668510" y="3274161"/>
                </a:cubicBezTo>
                <a:cubicBezTo>
                  <a:pt x="725028" y="3274161"/>
                  <a:pt x="770845" y="3228344"/>
                  <a:pt x="770845" y="3171826"/>
                </a:cubicBezTo>
                <a:cubicBezTo>
                  <a:pt x="770845" y="3115308"/>
                  <a:pt x="725028" y="3069491"/>
                  <a:pt x="668510" y="3069491"/>
                </a:cubicBezTo>
                <a:close/>
                <a:moveTo>
                  <a:pt x="1042027" y="2161529"/>
                </a:moveTo>
                <a:cubicBezTo>
                  <a:pt x="1042027" y="2210429"/>
                  <a:pt x="1042026" y="2259330"/>
                  <a:pt x="1042026" y="2308230"/>
                </a:cubicBezTo>
                <a:cubicBezTo>
                  <a:pt x="1042026" y="2389251"/>
                  <a:pt x="1107707" y="2454932"/>
                  <a:pt x="1188728" y="2454932"/>
                </a:cubicBezTo>
                <a:lnTo>
                  <a:pt x="5676539" y="2454932"/>
                </a:lnTo>
                <a:cubicBezTo>
                  <a:pt x="5757560" y="2454932"/>
                  <a:pt x="5823241" y="2389251"/>
                  <a:pt x="5823241" y="2308230"/>
                </a:cubicBezTo>
                <a:lnTo>
                  <a:pt x="5823241" y="2163830"/>
                </a:lnTo>
                <a:cubicBezTo>
                  <a:pt x="5823241" y="2198348"/>
                  <a:pt x="5795258" y="2226331"/>
                  <a:pt x="5760740" y="2226331"/>
                </a:cubicBezTo>
                <a:lnTo>
                  <a:pt x="1104528" y="2226331"/>
                </a:lnTo>
                <a:cubicBezTo>
                  <a:pt x="1070010" y="2226331"/>
                  <a:pt x="1042027" y="2198348"/>
                  <a:pt x="1042027" y="2163830"/>
                </a:cubicBezTo>
                <a:close/>
                <a:moveTo>
                  <a:pt x="1188728" y="437295"/>
                </a:moveTo>
                <a:cubicBezTo>
                  <a:pt x="1107707" y="437295"/>
                  <a:pt x="1042026" y="502976"/>
                  <a:pt x="1042026" y="583997"/>
                </a:cubicBezTo>
                <a:lnTo>
                  <a:pt x="1042026" y="728397"/>
                </a:lnTo>
                <a:cubicBezTo>
                  <a:pt x="1042026" y="693879"/>
                  <a:pt x="1070009" y="665896"/>
                  <a:pt x="1104527" y="665896"/>
                </a:cubicBezTo>
                <a:lnTo>
                  <a:pt x="5760739" y="665896"/>
                </a:lnTo>
                <a:cubicBezTo>
                  <a:pt x="5795257" y="665896"/>
                  <a:pt x="5823240" y="693879"/>
                  <a:pt x="5823240" y="728397"/>
                </a:cubicBezTo>
                <a:lnTo>
                  <a:pt x="5823240" y="730698"/>
                </a:lnTo>
                <a:cubicBezTo>
                  <a:pt x="5823240" y="681798"/>
                  <a:pt x="5823241" y="632897"/>
                  <a:pt x="5823241" y="583997"/>
                </a:cubicBezTo>
                <a:cubicBezTo>
                  <a:pt x="5823241" y="502976"/>
                  <a:pt x="5757560" y="437295"/>
                  <a:pt x="5676539" y="437295"/>
                </a:cubicBezTo>
                <a:close/>
                <a:moveTo>
                  <a:pt x="0" y="0"/>
                </a:moveTo>
                <a:lnTo>
                  <a:pt x="6858000" y="0"/>
                </a:lnTo>
                <a:lnTo>
                  <a:pt x="6858000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F7724E97-9138-2231-87A0-68E3693C9BDD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1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037648C1-2F45-40CF-3D7A-6FB960705994}"/>
              </a:ext>
            </a:extLst>
          </p:cNvPr>
          <p:cNvSpPr txBox="1"/>
          <p:nvPr/>
        </p:nvSpPr>
        <p:spPr>
          <a:xfrm>
            <a:off x="968673" y="840586"/>
            <a:ext cx="4966039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3200" b="1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32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Tour Guide</a:t>
            </a:r>
            <a:endParaRPr kumimoji="1" lang="ja-JP" altLang="en-US" sz="32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B588B2EE-0B49-3321-079A-EAA300945E47}"/>
              </a:ext>
            </a:extLst>
          </p:cNvPr>
          <p:cNvSpPr txBox="1"/>
          <p:nvPr/>
        </p:nvSpPr>
        <p:spPr>
          <a:xfrm>
            <a:off x="1515655" y="1444411"/>
            <a:ext cx="382668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- Let's Explore FlexChroma's Models -</a:t>
            </a:r>
            <a:endParaRPr kumimoji="1" lang="ja-JP" altLang="en-US" sz="1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70F1A14B-8154-E747-C82B-183E692F092B}"/>
              </a:ext>
            </a:extLst>
          </p:cNvPr>
          <p:cNvSpPr txBox="1"/>
          <p:nvPr/>
        </p:nvSpPr>
        <p:spPr>
          <a:xfrm>
            <a:off x="2381276" y="1883364"/>
            <a:ext cx="195277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4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2026.7.22</a:t>
            </a:r>
            <a:endParaRPr kumimoji="1" lang="ja-JP" altLang="en-US" sz="14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B58B679E-EED2-37D5-F878-0982B577C9F1}"/>
              </a:ext>
            </a:extLst>
          </p:cNvPr>
          <p:cNvSpPr txBox="1"/>
          <p:nvPr/>
        </p:nvSpPr>
        <p:spPr>
          <a:xfrm>
            <a:off x="770844" y="3001606"/>
            <a:ext cx="205537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1. Introduction</a:t>
            </a:r>
            <a:endParaRPr kumimoji="1" lang="ja-JP" altLang="en-US" sz="20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C6DEFA1D-CF68-E4F9-BA2D-64447AA15B5D}"/>
              </a:ext>
            </a:extLst>
          </p:cNvPr>
          <p:cNvSpPr txBox="1"/>
          <p:nvPr/>
        </p:nvSpPr>
        <p:spPr>
          <a:xfrm>
            <a:off x="668508" y="3424546"/>
            <a:ext cx="5649491" cy="7386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FlexChroma™</a:t>
            </a:r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is a set of models designed to create filament itself by combining commercially available filaments. It consists of multiple Series, each designed for a different purpose. Within each Series, multiple Models are provided, along with different Profiles and Plates depending on size and usage.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1" name="テキスト ボックス 20">
            <a:extLst>
              <a:ext uri="{FF2B5EF4-FFF2-40B4-BE49-F238E27FC236}">
                <a16:creationId xmlns:a16="http://schemas.microsoft.com/office/drawing/2014/main" id="{904DB38D-B7D0-BAB7-C051-CE44D494214D}"/>
              </a:ext>
            </a:extLst>
          </p:cNvPr>
          <p:cNvSpPr txBox="1"/>
          <p:nvPr/>
        </p:nvSpPr>
        <p:spPr>
          <a:xfrm>
            <a:off x="770844" y="4494466"/>
            <a:ext cx="3389069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2. How to Choose a Model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22" name="テキスト ボックス 21">
            <a:extLst>
              <a:ext uri="{FF2B5EF4-FFF2-40B4-BE49-F238E27FC236}">
                <a16:creationId xmlns:a16="http://schemas.microsoft.com/office/drawing/2014/main" id="{0D6CFBE2-A4A0-54C6-80FE-E0E055BADBAB}"/>
              </a:ext>
            </a:extLst>
          </p:cNvPr>
          <p:cNvSpPr txBox="1"/>
          <p:nvPr/>
        </p:nvSpPr>
        <p:spPr>
          <a:xfrm>
            <a:off x="661239" y="4917406"/>
            <a:ext cx="5649492" cy="25391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First, follow this quick selection flow to download and print the correct data.</a:t>
            </a:r>
            <a:endParaRPr kumimoji="1" lang="ja-JP" altLang="en-US" sz="105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24" name="図 23">
            <a:extLst>
              <a:ext uri="{FF2B5EF4-FFF2-40B4-BE49-F238E27FC236}">
                <a16:creationId xmlns:a16="http://schemas.microsoft.com/office/drawing/2014/main" id="{5F2979AD-644B-ADCD-5CC2-84EB3A4369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490" y="5293717"/>
            <a:ext cx="5759241" cy="1144558"/>
          </a:xfrm>
          <a:prstGeom prst="rect">
            <a:avLst/>
          </a:prstGeom>
        </p:spPr>
      </p:pic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08407871-7712-1714-53D0-42420BDF6422}"/>
              </a:ext>
            </a:extLst>
          </p:cNvPr>
          <p:cNvSpPr txBox="1"/>
          <p:nvPr/>
        </p:nvSpPr>
        <p:spPr>
          <a:xfrm>
            <a:off x="661238" y="6573178"/>
            <a:ext cx="5656761" cy="2580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5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When choosing a model, start by deciding what kind of filament you want to create.</a:t>
            </a: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54428E43-7065-CB5F-8C19-67DF85808B38}"/>
              </a:ext>
            </a:extLst>
          </p:cNvPr>
          <p:cNvSpPr txBox="1"/>
          <p:nvPr/>
        </p:nvSpPr>
        <p:spPr>
          <a:xfrm>
            <a:off x="770843" y="6836315"/>
            <a:ext cx="5554425" cy="11695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1. Select a Series: Blend Filament for mixed colors, Gradient Filament for color changes.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2. Select a Model size: Use an S4 Model for small objects, or an M1 Model for larger prints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requiring around 70g of filament.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3. Select a Profile and Plate: Choose the Plate that matches your desired mixing ratio or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pattern.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4. Assign filaments and slice: Use filaments with the same or similar material, assign 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     them, slice the model, and read the print notes before printing.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  <p:sp>
        <p:nvSpPr>
          <p:cNvPr id="27" name="テキスト ボックス 26">
            <a:extLst>
              <a:ext uri="{FF2B5EF4-FFF2-40B4-BE49-F238E27FC236}">
                <a16:creationId xmlns:a16="http://schemas.microsoft.com/office/drawing/2014/main" id="{DE739D59-FAEF-B68A-41EA-3512C3BC39FD}"/>
              </a:ext>
            </a:extLst>
          </p:cNvPr>
          <p:cNvSpPr txBox="1"/>
          <p:nvPr/>
        </p:nvSpPr>
        <p:spPr>
          <a:xfrm>
            <a:off x="770842" y="8115753"/>
            <a:ext cx="5464000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*Note: In </a:t>
            </a:r>
            <a:r>
              <a:rPr lang="en-US" altLang="ja-JP" sz="900" dirty="0">
                <a:latin typeface="Segoe UI" panose="020B0502040204020203" pitchFamily="34" charset="0"/>
                <a:ea typeface="IBM Plex Sans JP Light" panose="020B0403050203000203" pitchFamily="50" charset="-128"/>
                <a:cs typeface="Segoe UI" panose="020B0502040204020203" pitchFamily="34" charset="0"/>
              </a:rPr>
              <a:t>FlexChroma</a:t>
            </a:r>
            <a:r>
              <a:rPr lang="en-US" altLang="ja-JP" sz="900" dirty="0">
                <a:latin typeface="IBM Plex Sans JP Light" panose="020B0403050203000203" pitchFamily="50" charset="-128"/>
                <a:ea typeface="IBM Plex Sans JP Light" panose="020B0403050203000203" pitchFamily="50" charset="-128"/>
              </a:rPr>
              <a:t>, “Profile” means a purpose-based classification, not different print settings.</a:t>
            </a:r>
            <a:endParaRPr kumimoji="1" lang="ja-JP" altLang="en-US" sz="900" b="1" dirty="0">
              <a:latin typeface="IBM Plex Sans JP Light" panose="020B0403050203000203" pitchFamily="50" charset="-128"/>
              <a:ea typeface="IBM Plex Sans JP Light" panose="020B0403050203000203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736720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ED8CF6-698C-0611-6FE9-D8447E17F7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5776EC83-5487-B904-9A4C-0C56AF1763D8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35" name="フリーフォーム: 図形 34">
            <a:extLst>
              <a:ext uri="{FF2B5EF4-FFF2-40B4-BE49-F238E27FC236}">
                <a16:creationId xmlns:a16="http://schemas.microsoft.com/office/drawing/2014/main" id="{3AFC7783-D5E1-ECCC-D344-D4ECFBFDECDF}"/>
              </a:ext>
            </a:extLst>
          </p:cNvPr>
          <p:cNvSpPr/>
          <p:nvPr/>
        </p:nvSpPr>
        <p:spPr>
          <a:xfrm>
            <a:off x="-2195" y="0"/>
            <a:ext cx="6862389" cy="9144000"/>
          </a:xfrm>
          <a:custGeom>
            <a:avLst/>
            <a:gdLst>
              <a:gd name="connsiteX0" fmla="*/ 3739233 w 6862389"/>
              <a:gd name="connsiteY0" fmla="*/ 8661917 h 9144000"/>
              <a:gd name="connsiteX1" fmla="*/ 3739233 w 6862389"/>
              <a:gd name="connsiteY1" fmla="*/ 8715917 h 9144000"/>
              <a:gd name="connsiteX2" fmla="*/ 6331233 w 6862389"/>
              <a:gd name="connsiteY2" fmla="*/ 8715917 h 9144000"/>
              <a:gd name="connsiteX3" fmla="*/ 6331233 w 6862389"/>
              <a:gd name="connsiteY3" fmla="*/ 8661917 h 9144000"/>
              <a:gd name="connsiteX4" fmla="*/ 558927 w 6862389"/>
              <a:gd name="connsiteY4" fmla="*/ 8661917 h 9144000"/>
              <a:gd name="connsiteX5" fmla="*/ 558927 w 6862389"/>
              <a:gd name="connsiteY5" fmla="*/ 8715917 h 9144000"/>
              <a:gd name="connsiteX6" fmla="*/ 3150927 w 6862389"/>
              <a:gd name="connsiteY6" fmla="*/ 8715917 h 9144000"/>
              <a:gd name="connsiteX7" fmla="*/ 3150927 w 6862389"/>
              <a:gd name="connsiteY7" fmla="*/ 8661917 h 9144000"/>
              <a:gd name="connsiteX8" fmla="*/ 672899 w 6862389"/>
              <a:gd name="connsiteY8" fmla="*/ 2635259 h 9144000"/>
              <a:gd name="connsiteX9" fmla="*/ 570564 w 6862389"/>
              <a:gd name="connsiteY9" fmla="*/ 2737594 h 9144000"/>
              <a:gd name="connsiteX10" fmla="*/ 672899 w 6862389"/>
              <a:gd name="connsiteY10" fmla="*/ 2839929 h 9144000"/>
              <a:gd name="connsiteX11" fmla="*/ 775234 w 6862389"/>
              <a:gd name="connsiteY11" fmla="*/ 2737594 h 9144000"/>
              <a:gd name="connsiteX12" fmla="*/ 672899 w 6862389"/>
              <a:gd name="connsiteY12" fmla="*/ 2635259 h 9144000"/>
              <a:gd name="connsiteX13" fmla="*/ 672899 w 6862389"/>
              <a:gd name="connsiteY13" fmla="*/ 671552 h 9144000"/>
              <a:gd name="connsiteX14" fmla="*/ 570564 w 6862389"/>
              <a:gd name="connsiteY14" fmla="*/ 773887 h 9144000"/>
              <a:gd name="connsiteX15" fmla="*/ 672899 w 6862389"/>
              <a:gd name="connsiteY15" fmla="*/ 876222 h 9144000"/>
              <a:gd name="connsiteX16" fmla="*/ 775234 w 6862389"/>
              <a:gd name="connsiteY16" fmla="*/ 773887 h 9144000"/>
              <a:gd name="connsiteX17" fmla="*/ 672899 w 6862389"/>
              <a:gd name="connsiteY17" fmla="*/ 671552 h 9144000"/>
              <a:gd name="connsiteX18" fmla="*/ 558926 w 6862389"/>
              <a:gd name="connsiteY18" fmla="*/ 452468 h 9144000"/>
              <a:gd name="connsiteX19" fmla="*/ 558926 w 6862389"/>
              <a:gd name="connsiteY19" fmla="*/ 506468 h 9144000"/>
              <a:gd name="connsiteX20" fmla="*/ 6315119 w 6862389"/>
              <a:gd name="connsiteY20" fmla="*/ 506468 h 9144000"/>
              <a:gd name="connsiteX21" fmla="*/ 6315119 w 6862389"/>
              <a:gd name="connsiteY21" fmla="*/ 452468 h 9144000"/>
              <a:gd name="connsiteX22" fmla="*/ 0 w 6862389"/>
              <a:gd name="connsiteY22" fmla="*/ 0 h 9144000"/>
              <a:gd name="connsiteX23" fmla="*/ 6862389 w 6862389"/>
              <a:gd name="connsiteY23" fmla="*/ 0 h 9144000"/>
              <a:gd name="connsiteX24" fmla="*/ 6862389 w 6862389"/>
              <a:gd name="connsiteY24" fmla="*/ 9144000 h 9144000"/>
              <a:gd name="connsiteX25" fmla="*/ 0 w 6862389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2389" h="9144000">
                <a:moveTo>
                  <a:pt x="3739233" y="8661917"/>
                </a:moveTo>
                <a:lnTo>
                  <a:pt x="3739233" y="8715917"/>
                </a:lnTo>
                <a:lnTo>
                  <a:pt x="6331233" y="8715917"/>
                </a:lnTo>
                <a:lnTo>
                  <a:pt x="6331233" y="8661917"/>
                </a:lnTo>
                <a:close/>
                <a:moveTo>
                  <a:pt x="558927" y="8661917"/>
                </a:moveTo>
                <a:lnTo>
                  <a:pt x="558927" y="8715917"/>
                </a:lnTo>
                <a:lnTo>
                  <a:pt x="3150927" y="8715917"/>
                </a:lnTo>
                <a:lnTo>
                  <a:pt x="3150927" y="8661917"/>
                </a:lnTo>
                <a:close/>
                <a:moveTo>
                  <a:pt x="672899" y="2635259"/>
                </a:moveTo>
                <a:cubicBezTo>
                  <a:pt x="616381" y="2635259"/>
                  <a:pt x="570564" y="2681076"/>
                  <a:pt x="570564" y="2737594"/>
                </a:cubicBezTo>
                <a:cubicBezTo>
                  <a:pt x="570564" y="2794112"/>
                  <a:pt x="616381" y="2839929"/>
                  <a:pt x="672899" y="2839929"/>
                </a:cubicBezTo>
                <a:cubicBezTo>
                  <a:pt x="729417" y="2839929"/>
                  <a:pt x="775234" y="2794112"/>
                  <a:pt x="775234" y="2737594"/>
                </a:cubicBezTo>
                <a:cubicBezTo>
                  <a:pt x="775234" y="2681076"/>
                  <a:pt x="729417" y="2635259"/>
                  <a:pt x="672899" y="2635259"/>
                </a:cubicBezTo>
                <a:close/>
                <a:moveTo>
                  <a:pt x="672899" y="671552"/>
                </a:moveTo>
                <a:cubicBezTo>
                  <a:pt x="616381" y="671552"/>
                  <a:pt x="570564" y="717369"/>
                  <a:pt x="570564" y="773887"/>
                </a:cubicBezTo>
                <a:cubicBezTo>
                  <a:pt x="570564" y="830405"/>
                  <a:pt x="616381" y="876222"/>
                  <a:pt x="672899" y="876222"/>
                </a:cubicBezTo>
                <a:cubicBezTo>
                  <a:pt x="729417" y="876222"/>
                  <a:pt x="775234" y="830405"/>
                  <a:pt x="775234" y="773887"/>
                </a:cubicBezTo>
                <a:cubicBezTo>
                  <a:pt x="775234" y="717369"/>
                  <a:pt x="729417" y="671552"/>
                  <a:pt x="672899" y="671552"/>
                </a:cubicBezTo>
                <a:close/>
                <a:moveTo>
                  <a:pt x="558926" y="452468"/>
                </a:moveTo>
                <a:lnTo>
                  <a:pt x="558926" y="506468"/>
                </a:lnTo>
                <a:lnTo>
                  <a:pt x="6315119" y="506468"/>
                </a:lnTo>
                <a:lnTo>
                  <a:pt x="6315119" y="452468"/>
                </a:lnTo>
                <a:close/>
                <a:moveTo>
                  <a:pt x="0" y="0"/>
                </a:moveTo>
                <a:lnTo>
                  <a:pt x="6862389" y="0"/>
                </a:lnTo>
                <a:lnTo>
                  <a:pt x="6862389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981E22E0-F0C3-8FD5-9B53-0AE823C53A48}"/>
              </a:ext>
            </a:extLst>
          </p:cNvPr>
          <p:cNvSpPr txBox="1"/>
          <p:nvPr/>
        </p:nvSpPr>
        <p:spPr>
          <a:xfrm>
            <a:off x="3150021" y="8521283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2</a:t>
            </a:r>
            <a:endParaRPr kumimoji="1" lang="ja-JP" altLang="en-US" dirty="0"/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9D719DD-DE7E-DED6-A18B-B084A027B2DE}"/>
              </a:ext>
            </a:extLst>
          </p:cNvPr>
          <p:cNvSpPr txBox="1"/>
          <p:nvPr/>
        </p:nvSpPr>
        <p:spPr>
          <a:xfrm>
            <a:off x="770844" y="610017"/>
            <a:ext cx="261321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3. FlexChroma HUB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9F86F671-02C9-9E9B-5F0D-DC2FAC11DD2F}"/>
              </a:ext>
            </a:extLst>
          </p:cNvPr>
          <p:cNvSpPr txBox="1"/>
          <p:nvPr/>
        </p:nvSpPr>
        <p:spPr>
          <a:xfrm>
            <a:off x="668508" y="950188"/>
            <a:ext cx="564949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</a:t>
            </a:r>
            <a:r>
              <a:rPr lang="en-US" altLang="ja-JP" sz="1000" dirty="0">
                <a:latin typeface="Segoe UI Semibold" panose="020B0702040204020203" pitchFamily="34" charset="0"/>
                <a:ea typeface="IBM Plex Sans JP" panose="020B0503050203000203" pitchFamily="50" charset="-128"/>
                <a:cs typeface="Segoe UI Semibold" panose="020B0702040204020203" pitchFamily="34" charset="0"/>
              </a:rPr>
              <a:t>FlexChroma HUB </a:t>
            </a:r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is the main entry point on MakerWorld, providing access to all Series and external portals. If you are unsure where to start, open this model first.</a:t>
            </a:r>
            <a:endParaRPr kumimoji="1" lang="ja-JP" altLang="en-US" sz="5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9331D375-CC72-3463-7EBE-AD9BD8A9AFDD}"/>
              </a:ext>
            </a:extLst>
          </p:cNvPr>
          <p:cNvSpPr txBox="1"/>
          <p:nvPr/>
        </p:nvSpPr>
        <p:spPr>
          <a:xfrm>
            <a:off x="770844" y="2574192"/>
            <a:ext cx="2379177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4. Blend Filament</a:t>
            </a:r>
            <a:endParaRPr kumimoji="1" lang="ja-JP" altLang="en-US" sz="28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2" name="テキスト ボックス 11">
            <a:extLst>
              <a:ext uri="{FF2B5EF4-FFF2-40B4-BE49-F238E27FC236}">
                <a16:creationId xmlns:a16="http://schemas.microsoft.com/office/drawing/2014/main" id="{53F77DD3-6423-8DE1-AC87-0DD7AF777795}"/>
              </a:ext>
            </a:extLst>
          </p:cNvPr>
          <p:cNvSpPr txBox="1"/>
          <p:nvPr/>
        </p:nvSpPr>
        <p:spPr>
          <a:xfrm>
            <a:off x="668509" y="2953843"/>
            <a:ext cx="5642222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Blend Filament Series is the most basic FlexChroma lineup. It allows you to mix two filaments at various ratios to create your own custom color.</a:t>
            </a: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Each model supports blend ratios from 50% to 99.5</a:t>
            </a:r>
            <a:r>
              <a:rPr lang="en-US" altLang="ja-JP" sz="1000" b="1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%. For ratios below 50%, simply swap Filament A and Filament B.</a:t>
            </a:r>
          </a:p>
          <a:p>
            <a:endParaRPr lang="en-US" altLang="ja-JP" sz="6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filament with 25% cyan mixed into yellow, read the Plate value as the ratio of Filament A, interpret it as 75% yellow, and slice the model accordingly.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3" name="テキスト ボックス 22">
            <a:extLst>
              <a:ext uri="{FF2B5EF4-FFF2-40B4-BE49-F238E27FC236}">
                <a16:creationId xmlns:a16="http://schemas.microsoft.com/office/drawing/2014/main" id="{4115F0A8-4267-0FEB-9B1F-41BC20F962C4}"/>
              </a:ext>
            </a:extLst>
          </p:cNvPr>
          <p:cNvSpPr txBox="1"/>
          <p:nvPr/>
        </p:nvSpPr>
        <p:spPr>
          <a:xfrm>
            <a:off x="668508" y="5046262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Blend Filament.</a:t>
            </a:r>
          </a:p>
        </p:txBody>
      </p:sp>
      <p:pic>
        <p:nvPicPr>
          <p:cNvPr id="26" name="図 25">
            <a:extLst>
              <a:ext uri="{FF2B5EF4-FFF2-40B4-BE49-F238E27FC236}">
                <a16:creationId xmlns:a16="http://schemas.microsoft.com/office/drawing/2014/main" id="{D599B3A6-5BF1-475A-455C-4CE16066520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70844" y="5325050"/>
            <a:ext cx="5264196" cy="32703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8" name="図 37">
            <a:extLst>
              <a:ext uri="{FF2B5EF4-FFF2-40B4-BE49-F238E27FC236}">
                <a16:creationId xmlns:a16="http://schemas.microsoft.com/office/drawing/2014/main" id="{24EE4D19-C95F-DECA-987F-D6FD0CAF2F6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747" r="2095" b="10009"/>
          <a:stretch>
            <a:fillRect/>
          </a:stretch>
        </p:blipFill>
        <p:spPr bwMode="auto">
          <a:xfrm>
            <a:off x="1091915" y="1374795"/>
            <a:ext cx="4561094" cy="101472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図 3">
            <a:extLst>
              <a:ext uri="{FF2B5EF4-FFF2-40B4-BE49-F238E27FC236}">
                <a16:creationId xmlns:a16="http://schemas.microsoft.com/office/drawing/2014/main" id="{31322046-DA05-E453-193E-B1947F2711C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626" y="4065069"/>
            <a:ext cx="5529865" cy="8638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119239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D99E812-8D39-99F5-1D23-0E1A450CC1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正方形/長方形 2">
            <a:extLst>
              <a:ext uri="{FF2B5EF4-FFF2-40B4-BE49-F238E27FC236}">
                <a16:creationId xmlns:a16="http://schemas.microsoft.com/office/drawing/2014/main" id="{6D89B353-9D95-712D-2512-32F299577803}"/>
              </a:ext>
            </a:extLst>
          </p:cNvPr>
          <p:cNvSpPr/>
          <p:nvPr/>
        </p:nvSpPr>
        <p:spPr>
          <a:xfrm>
            <a:off x="33951" y="45268"/>
            <a:ext cx="6790099" cy="9053465"/>
          </a:xfrm>
          <a:prstGeom prst="rect">
            <a:avLst/>
          </a:prstGeom>
          <a:gradFill>
            <a:gsLst>
              <a:gs pos="50000">
                <a:srgbClr val="6200E8"/>
              </a:gs>
              <a:gs pos="10000">
                <a:srgbClr val="EE00B0"/>
              </a:gs>
              <a:gs pos="90000">
                <a:srgbClr val="0095E5"/>
              </a:gs>
            </a:gsLst>
            <a:lin ang="1800000" scaled="0"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 dirty="0"/>
          </a:p>
        </p:txBody>
      </p:sp>
      <p:sp>
        <p:nvSpPr>
          <p:cNvPr id="7" name="フリーフォーム: 図形 6">
            <a:extLst>
              <a:ext uri="{FF2B5EF4-FFF2-40B4-BE49-F238E27FC236}">
                <a16:creationId xmlns:a16="http://schemas.microsoft.com/office/drawing/2014/main" id="{EBB0D2A0-3A2E-56E5-5FE5-78980A9D36F4}"/>
              </a:ext>
            </a:extLst>
          </p:cNvPr>
          <p:cNvSpPr/>
          <p:nvPr/>
        </p:nvSpPr>
        <p:spPr>
          <a:xfrm>
            <a:off x="-3233" y="0"/>
            <a:ext cx="6861231" cy="9144000"/>
          </a:xfrm>
          <a:custGeom>
            <a:avLst/>
            <a:gdLst>
              <a:gd name="connsiteX0" fmla="*/ 3739836 w 6861231"/>
              <a:gd name="connsiteY0" fmla="*/ 8661917 h 9144000"/>
              <a:gd name="connsiteX1" fmla="*/ 3739836 w 6861231"/>
              <a:gd name="connsiteY1" fmla="*/ 8715917 h 9144000"/>
              <a:gd name="connsiteX2" fmla="*/ 6333058 w 6861231"/>
              <a:gd name="connsiteY2" fmla="*/ 8715917 h 9144000"/>
              <a:gd name="connsiteX3" fmla="*/ 6333058 w 6861231"/>
              <a:gd name="connsiteY3" fmla="*/ 8661917 h 9144000"/>
              <a:gd name="connsiteX4" fmla="*/ 558032 w 6861231"/>
              <a:gd name="connsiteY4" fmla="*/ 8661917 h 9144000"/>
              <a:gd name="connsiteX5" fmla="*/ 558032 w 6861231"/>
              <a:gd name="connsiteY5" fmla="*/ 8715917 h 9144000"/>
              <a:gd name="connsiteX6" fmla="*/ 3151253 w 6861231"/>
              <a:gd name="connsiteY6" fmla="*/ 8715917 h 9144000"/>
              <a:gd name="connsiteX7" fmla="*/ 3151253 w 6861231"/>
              <a:gd name="connsiteY7" fmla="*/ 8661917 h 9144000"/>
              <a:gd name="connsiteX8" fmla="*/ 651915 w 6861231"/>
              <a:gd name="connsiteY8" fmla="*/ 7301051 h 9144000"/>
              <a:gd name="connsiteX9" fmla="*/ 549580 w 6861231"/>
              <a:gd name="connsiteY9" fmla="*/ 7403386 h 9144000"/>
              <a:gd name="connsiteX10" fmla="*/ 651915 w 6861231"/>
              <a:gd name="connsiteY10" fmla="*/ 7505721 h 9144000"/>
              <a:gd name="connsiteX11" fmla="*/ 754250 w 6861231"/>
              <a:gd name="connsiteY11" fmla="*/ 7403386 h 9144000"/>
              <a:gd name="connsiteX12" fmla="*/ 651915 w 6861231"/>
              <a:gd name="connsiteY12" fmla="*/ 7301051 h 9144000"/>
              <a:gd name="connsiteX13" fmla="*/ 672058 w 6861231"/>
              <a:gd name="connsiteY13" fmla="*/ 677902 h 9144000"/>
              <a:gd name="connsiteX14" fmla="*/ 569674 w 6861231"/>
              <a:gd name="connsiteY14" fmla="*/ 780237 h 9144000"/>
              <a:gd name="connsiteX15" fmla="*/ 672058 w 6861231"/>
              <a:gd name="connsiteY15" fmla="*/ 882572 h 9144000"/>
              <a:gd name="connsiteX16" fmla="*/ 774441 w 6861231"/>
              <a:gd name="connsiteY16" fmla="*/ 780237 h 9144000"/>
              <a:gd name="connsiteX17" fmla="*/ 672058 w 6861231"/>
              <a:gd name="connsiteY17" fmla="*/ 677902 h 9144000"/>
              <a:gd name="connsiteX18" fmla="*/ 558031 w 6861231"/>
              <a:gd name="connsiteY18" fmla="*/ 452468 h 9144000"/>
              <a:gd name="connsiteX19" fmla="*/ 558031 w 6861231"/>
              <a:gd name="connsiteY19" fmla="*/ 506468 h 9144000"/>
              <a:gd name="connsiteX20" fmla="*/ 6316936 w 6861231"/>
              <a:gd name="connsiteY20" fmla="*/ 506468 h 9144000"/>
              <a:gd name="connsiteX21" fmla="*/ 6316936 w 6861231"/>
              <a:gd name="connsiteY21" fmla="*/ 452468 h 9144000"/>
              <a:gd name="connsiteX22" fmla="*/ 0 w 6861231"/>
              <a:gd name="connsiteY22" fmla="*/ 0 h 9144000"/>
              <a:gd name="connsiteX23" fmla="*/ 6861231 w 6861231"/>
              <a:gd name="connsiteY23" fmla="*/ 0 h 9144000"/>
              <a:gd name="connsiteX24" fmla="*/ 6861231 w 6861231"/>
              <a:gd name="connsiteY24" fmla="*/ 9144000 h 9144000"/>
              <a:gd name="connsiteX25" fmla="*/ 0 w 6861231"/>
              <a:gd name="connsiteY25" fmla="*/ 9144000 h 9144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</a:cxnLst>
            <a:rect l="l" t="t" r="r" b="b"/>
            <a:pathLst>
              <a:path w="6861231" h="9144000">
                <a:moveTo>
                  <a:pt x="3739836" y="8661917"/>
                </a:moveTo>
                <a:lnTo>
                  <a:pt x="3739836" y="8715917"/>
                </a:lnTo>
                <a:lnTo>
                  <a:pt x="6333058" y="8715917"/>
                </a:lnTo>
                <a:lnTo>
                  <a:pt x="6333058" y="8661917"/>
                </a:lnTo>
                <a:close/>
                <a:moveTo>
                  <a:pt x="558032" y="8661917"/>
                </a:moveTo>
                <a:lnTo>
                  <a:pt x="558032" y="8715917"/>
                </a:lnTo>
                <a:lnTo>
                  <a:pt x="3151253" y="8715917"/>
                </a:lnTo>
                <a:lnTo>
                  <a:pt x="3151253" y="8661917"/>
                </a:lnTo>
                <a:close/>
                <a:moveTo>
                  <a:pt x="651915" y="7301051"/>
                </a:moveTo>
                <a:cubicBezTo>
                  <a:pt x="595397" y="7301051"/>
                  <a:pt x="549580" y="7346868"/>
                  <a:pt x="549580" y="7403386"/>
                </a:cubicBezTo>
                <a:cubicBezTo>
                  <a:pt x="549580" y="7459904"/>
                  <a:pt x="595397" y="7505721"/>
                  <a:pt x="651915" y="7505721"/>
                </a:cubicBezTo>
                <a:cubicBezTo>
                  <a:pt x="708433" y="7505721"/>
                  <a:pt x="754250" y="7459904"/>
                  <a:pt x="754250" y="7403386"/>
                </a:cubicBezTo>
                <a:cubicBezTo>
                  <a:pt x="754250" y="7346868"/>
                  <a:pt x="708433" y="7301051"/>
                  <a:pt x="651915" y="7301051"/>
                </a:cubicBezTo>
                <a:close/>
                <a:moveTo>
                  <a:pt x="672058" y="677902"/>
                </a:moveTo>
                <a:cubicBezTo>
                  <a:pt x="615513" y="677902"/>
                  <a:pt x="569674" y="723719"/>
                  <a:pt x="569674" y="780237"/>
                </a:cubicBezTo>
                <a:cubicBezTo>
                  <a:pt x="569674" y="836755"/>
                  <a:pt x="615513" y="882572"/>
                  <a:pt x="672058" y="882572"/>
                </a:cubicBezTo>
                <a:cubicBezTo>
                  <a:pt x="728602" y="882572"/>
                  <a:pt x="774441" y="836755"/>
                  <a:pt x="774441" y="780237"/>
                </a:cubicBezTo>
                <a:cubicBezTo>
                  <a:pt x="774441" y="723719"/>
                  <a:pt x="728602" y="677902"/>
                  <a:pt x="672058" y="677902"/>
                </a:cubicBezTo>
                <a:close/>
                <a:moveTo>
                  <a:pt x="558031" y="452468"/>
                </a:moveTo>
                <a:lnTo>
                  <a:pt x="558031" y="506468"/>
                </a:lnTo>
                <a:lnTo>
                  <a:pt x="6316936" y="506468"/>
                </a:lnTo>
                <a:lnTo>
                  <a:pt x="6316936" y="452468"/>
                </a:lnTo>
                <a:close/>
                <a:moveTo>
                  <a:pt x="0" y="0"/>
                </a:moveTo>
                <a:lnTo>
                  <a:pt x="6861231" y="0"/>
                </a:lnTo>
                <a:lnTo>
                  <a:pt x="6861231" y="9144000"/>
                </a:lnTo>
                <a:lnTo>
                  <a:pt x="0" y="9144000"/>
                </a:lnTo>
                <a:close/>
              </a:path>
            </a:pathLst>
          </a:cu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kumimoji="1" lang="ja-JP" altLang="en-US"/>
          </a:p>
        </p:txBody>
      </p:sp>
      <p:pic>
        <p:nvPicPr>
          <p:cNvPr id="4" name="図 3">
            <a:extLst>
              <a:ext uri="{FF2B5EF4-FFF2-40B4-BE49-F238E27FC236}">
                <a16:creationId xmlns:a16="http://schemas.microsoft.com/office/drawing/2014/main" id="{65EBD496-4320-F95D-E4F6-46AE1204BBF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3074" y="1909692"/>
            <a:ext cx="5636600" cy="9190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" name="テキスト ボックス 16">
            <a:extLst>
              <a:ext uri="{FF2B5EF4-FFF2-40B4-BE49-F238E27FC236}">
                <a16:creationId xmlns:a16="http://schemas.microsoft.com/office/drawing/2014/main" id="{DDFACC84-E7FE-11C7-6620-F3DEFEB06920}"/>
              </a:ext>
            </a:extLst>
          </p:cNvPr>
          <p:cNvSpPr txBox="1"/>
          <p:nvPr/>
        </p:nvSpPr>
        <p:spPr>
          <a:xfrm>
            <a:off x="3163826" y="8511531"/>
            <a:ext cx="575734" cy="369332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kumimoji="1" lang="en-US" altLang="ja-JP" dirty="0"/>
              <a:t>3</a:t>
            </a:r>
            <a:endParaRPr kumimoji="1" lang="ja-JP" altLang="en-US" dirty="0"/>
          </a:p>
        </p:txBody>
      </p:sp>
      <p:sp>
        <p:nvSpPr>
          <p:cNvPr id="18" name="テキスト ボックス 17">
            <a:extLst>
              <a:ext uri="{FF2B5EF4-FFF2-40B4-BE49-F238E27FC236}">
                <a16:creationId xmlns:a16="http://schemas.microsoft.com/office/drawing/2014/main" id="{AEF844E9-5EE0-D507-0BE6-EA50C139ECC5}"/>
              </a:ext>
            </a:extLst>
          </p:cNvPr>
          <p:cNvSpPr txBox="1"/>
          <p:nvPr/>
        </p:nvSpPr>
        <p:spPr>
          <a:xfrm>
            <a:off x="770844" y="610017"/>
            <a:ext cx="2739853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20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5. Gradient Filament</a:t>
            </a:r>
            <a:endParaRPr kumimoji="1" lang="ja-JP" altLang="en-US" sz="2400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19" name="テキスト ボックス 18">
            <a:extLst>
              <a:ext uri="{FF2B5EF4-FFF2-40B4-BE49-F238E27FC236}">
                <a16:creationId xmlns:a16="http://schemas.microsoft.com/office/drawing/2014/main" id="{79E1405D-DAD0-B18A-CDD6-7E8756624CA9}"/>
              </a:ext>
            </a:extLst>
          </p:cNvPr>
          <p:cNvSpPr txBox="1"/>
          <p:nvPr/>
        </p:nvSpPr>
        <p:spPr>
          <a:xfrm>
            <a:off x="668508" y="1032957"/>
            <a:ext cx="5649491" cy="86177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Gradient Filament Series provides multiple color-changing Profiles and Plates with different cycle counts. Details vary by model, so please refer to each model’s description.</a:t>
            </a:r>
          </a:p>
          <a:p>
            <a:endParaRPr lang="en-US" altLang="ja-JP" sz="1000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Example: To create a fast-cycle gradient filament using cyan and magenta, select an S4 Model, choose a 4-cycle Plate, and use the Vivid curve Profile due to the high color contrast.</a:t>
            </a:r>
            <a:endParaRPr kumimoji="1" lang="ja-JP" altLang="en-US" sz="10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7ED3E711-A061-E5B5-882E-75E8B78F5498}"/>
              </a:ext>
            </a:extLst>
          </p:cNvPr>
          <p:cNvSpPr txBox="1"/>
          <p:nvPr/>
        </p:nvSpPr>
        <p:spPr>
          <a:xfrm>
            <a:off x="675778" y="2965281"/>
            <a:ext cx="5642222" cy="24622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0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The following is the model configuration for Gradient Filament.</a:t>
            </a:r>
          </a:p>
        </p:txBody>
      </p:sp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46940E87-7400-BF59-728F-D232492BBE36}"/>
              </a:ext>
            </a:extLst>
          </p:cNvPr>
          <p:cNvSpPr txBox="1"/>
          <p:nvPr/>
        </p:nvSpPr>
        <p:spPr>
          <a:xfrm>
            <a:off x="778114" y="7268269"/>
            <a:ext cx="19239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1600" dirty="0">
                <a:latin typeface="IBM Plex Sans JP SemiBold" panose="020B0703050203000203" pitchFamily="50" charset="-128"/>
                <a:ea typeface="IBM Plex Sans JP SemiBold" panose="020B0703050203000203" pitchFamily="50" charset="-128"/>
              </a:rPr>
              <a:t>6. Update History</a:t>
            </a:r>
            <a:endParaRPr kumimoji="1" lang="ja-JP" altLang="en-US" b="1" dirty="0">
              <a:latin typeface="IBM Plex Sans JP SemiBold" panose="020B0703050203000203" pitchFamily="50" charset="-128"/>
              <a:ea typeface="IBM Plex Sans JP SemiBold" panose="020B0703050203000203" pitchFamily="50" charset="-128"/>
            </a:endParaRPr>
          </a:p>
        </p:txBody>
      </p:sp>
      <p:sp>
        <p:nvSpPr>
          <p:cNvPr id="6" name="テキスト ボックス 5">
            <a:extLst>
              <a:ext uri="{FF2B5EF4-FFF2-40B4-BE49-F238E27FC236}">
                <a16:creationId xmlns:a16="http://schemas.microsoft.com/office/drawing/2014/main" id="{772E1925-419D-E6C3-9438-BD98D2BBDD58}"/>
              </a:ext>
            </a:extLst>
          </p:cNvPr>
          <p:cNvSpPr txBox="1"/>
          <p:nvPr/>
        </p:nvSpPr>
        <p:spPr>
          <a:xfrm>
            <a:off x="638323" y="7599215"/>
            <a:ext cx="5649491" cy="5078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Ver.1.00  2026-07-02  First Edition Published</a:t>
            </a:r>
          </a:p>
          <a:p>
            <a:r>
              <a:rPr lang="en-US" altLang="ja-JP" sz="900" dirty="0">
                <a:latin typeface="IBM Plex Sans JP" panose="020B0503050203000203" pitchFamily="50" charset="-128"/>
                <a:ea typeface="IBM Plex Sans JP" panose="020B0503050203000203" pitchFamily="50" charset="-128"/>
              </a:rPr>
              <a:t>Ver.1.10  2026-07-02  Revisions for Integrated Design</a:t>
            </a:r>
          </a:p>
          <a:p>
            <a:endParaRPr kumimoji="1" lang="ja-JP" altLang="en-US" sz="900" b="1" dirty="0">
              <a:latin typeface="IBM Plex Sans JP" panose="020B0503050203000203" pitchFamily="50" charset="-128"/>
              <a:ea typeface="IBM Plex Sans JP" panose="020B0503050203000203" pitchFamily="50" charset="-128"/>
            </a:endParaRPr>
          </a:p>
        </p:txBody>
      </p:sp>
      <p:pic>
        <p:nvPicPr>
          <p:cNvPr id="9" name="図 8">
            <a:extLst>
              <a:ext uri="{FF2B5EF4-FFF2-40B4-BE49-F238E27FC236}">
                <a16:creationId xmlns:a16="http://schemas.microsoft.com/office/drawing/2014/main" id="{0012A0F4-0BEF-52F9-839A-7754F15453D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6614" y="3276700"/>
            <a:ext cx="5521536" cy="38745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903425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 テーマ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テーマ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テーマ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206</TotalTime>
  <Words>937</Words>
  <Application>Microsoft Office PowerPoint</Application>
  <PresentationFormat>画面に合わせる (4:3)</PresentationFormat>
  <Paragraphs>71</Paragraphs>
  <Slides>7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8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7</vt:i4>
      </vt:variant>
    </vt:vector>
  </HeadingPairs>
  <TitlesOfParts>
    <vt:vector size="16" baseType="lpstr">
      <vt:lpstr>IBM Plex Sans JP</vt:lpstr>
      <vt:lpstr>IBM Plex Sans JP Light</vt:lpstr>
      <vt:lpstr>IBM Plex Sans JP SemiBold</vt:lpstr>
      <vt:lpstr>Aptos</vt:lpstr>
      <vt:lpstr>Aptos Display</vt:lpstr>
      <vt:lpstr>Arial</vt:lpstr>
      <vt:lpstr>Segoe UI</vt:lpstr>
      <vt:lpstr>Segoe UI Semibold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MAKOTO YAZAKI (矢﨑 誠)</dc:creator>
  <cp:lastModifiedBy>MAKOTO YAZAKI (矢﨑 誠)</cp:lastModifiedBy>
  <cp:revision>13</cp:revision>
  <cp:lastPrinted>2026-07-22T07:43:19Z</cp:lastPrinted>
  <dcterms:created xsi:type="dcterms:W3CDTF">2026-07-22T02:46:18Z</dcterms:created>
  <dcterms:modified xsi:type="dcterms:W3CDTF">2026-07-22T08:11:58Z</dcterms:modified>
</cp:coreProperties>
</file>