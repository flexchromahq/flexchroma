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9" r:id="rId10"/>
  </p:sldIdLst>
  <p:sldSz cx="6858000" cy="9144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5E5"/>
    <a:srgbClr val="6200E8"/>
    <a:srgbClr val="EE00B0"/>
    <a:srgbClr val="0086D6"/>
    <a:srgbClr val="FF00FF"/>
    <a:srgbClr val="AE00F4"/>
    <a:srgbClr val="5800E1"/>
    <a:srgbClr val="EC0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78" autoAdjust="0"/>
    <p:restoredTop sz="94660"/>
  </p:normalViewPr>
  <p:slideViewPr>
    <p:cSldViewPr snapToGrid="0">
      <p:cViewPr varScale="1">
        <p:scale>
          <a:sx n="79" d="100"/>
          <a:sy n="79" d="100"/>
        </p:scale>
        <p:origin x="25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1936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556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826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338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854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60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8455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763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06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0933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32294-360C-4425-B294-91EF6E97A591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7239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132294-360C-4425-B294-91EF6E97A591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D0D1E-ED99-4718-8602-49CD12995A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419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AA41A86-A2F3-1D06-7116-45400082F3B6}"/>
              </a:ext>
            </a:extLst>
          </p:cNvPr>
          <p:cNvSpPr/>
          <p:nvPr/>
        </p:nvSpPr>
        <p:spPr>
          <a:xfrm>
            <a:off x="33951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7CD271A-34A9-3E4B-032F-15C70AF19889}"/>
              </a:ext>
            </a:extLst>
          </p:cNvPr>
          <p:cNvSpPr/>
          <p:nvPr/>
        </p:nvSpPr>
        <p:spPr>
          <a:xfrm>
            <a:off x="16975" y="0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3915448-3941-BA60-2C94-241A97D6CAC9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552EEC23-A78A-14A0-56DD-8CB91A02DD2F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733F6922-5537-D3C9-1E45-625FD880C031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F3EA9AD3-66B2-9EA5-5711-3C6A318F5512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05123BF-B9A2-835D-6FE4-689D9F62F382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340CDC6-D787-7B25-2307-F3BA1042D402}"/>
              </a:ext>
            </a:extLst>
          </p:cNvPr>
          <p:cNvSpPr/>
          <p:nvPr/>
        </p:nvSpPr>
        <p:spPr>
          <a:xfrm>
            <a:off x="539999" y="431999"/>
            <a:ext cx="5785269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F25BF82-13EE-2D0B-D376-F101E332C733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8BCCC25-0C62-4E5D-0486-3F637C4A1C59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CFE29C1-D44C-58E2-5EDB-51A8D3EC840E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7412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40A8-5932-22C2-7D48-A0EA57C30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D9029B2-D1D6-26F4-0BA3-DE439C520D10}"/>
              </a:ext>
            </a:extLst>
          </p:cNvPr>
          <p:cNvSpPr/>
          <p:nvPr/>
        </p:nvSpPr>
        <p:spPr>
          <a:xfrm>
            <a:off x="67565" y="90087"/>
            <a:ext cx="6722870" cy="8963827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3C0006-8C0E-711B-ECD8-45CF7F1D1609}"/>
              </a:ext>
            </a:extLst>
          </p:cNvPr>
          <p:cNvSpPr/>
          <p:nvPr/>
        </p:nvSpPr>
        <p:spPr>
          <a:xfrm>
            <a:off x="-7269" y="-9649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C59FD50-8143-8A52-2646-26C8BDBFFDD3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46770B46-C072-DF34-BD8D-2065F41808D5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C3E27AFA-EFCD-0428-55DA-15697DE6456A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C16363EA-88CD-F1FE-3650-7B24149569AE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6E68F704-A898-98C2-EE85-8B817126B2F6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F960D99-6370-5724-453C-20AA9AC92D12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08601A0-5532-E890-C737-AF5B225E91D8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CCFBEBF-78FF-8FF9-3487-B087FB4F1A56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latin typeface="Jost" pitchFamily="2" charset="0"/>
                <a:ea typeface="Jost" pitchFamily="2" charset="0"/>
              </a:rPr>
              <a:t>1</a:t>
            </a:r>
            <a:endParaRPr kumimoji="1" lang="ja-JP" altLang="en-US" dirty="0">
              <a:latin typeface="Jost" pitchFamily="2" charset="0"/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86E89BA8-E7B2-7AB3-7267-37838D435E76}"/>
              </a:ext>
            </a:extLst>
          </p:cNvPr>
          <p:cNvSpPr/>
          <p:nvPr/>
        </p:nvSpPr>
        <p:spPr>
          <a:xfrm>
            <a:off x="566175" y="3069491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B797E49-CA37-4B2A-5187-03EC3007B3C7}"/>
              </a:ext>
            </a:extLst>
          </p:cNvPr>
          <p:cNvSpPr txBox="1"/>
          <p:nvPr/>
        </p:nvSpPr>
        <p:spPr>
          <a:xfrm>
            <a:off x="770844" y="3001606"/>
            <a:ext cx="1739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Jost" pitchFamily="2" charset="0"/>
                <a:ea typeface="Jost" pitchFamily="2" charset="0"/>
              </a:rPr>
              <a:t>1. Introduction</a:t>
            </a:r>
            <a:endParaRPr kumimoji="1" lang="ja-JP" altLang="en-US" sz="2000" b="1" dirty="0">
              <a:latin typeface="Jost" pitchFamily="2" charset="0"/>
              <a:ea typeface="IBM Plex Sans JP SemiBold" panose="020B0703050203000203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E5F4AF3-4FAB-E906-2281-AF56CB9A9F5F}"/>
              </a:ext>
            </a:extLst>
          </p:cNvPr>
          <p:cNvSpPr txBox="1"/>
          <p:nvPr/>
        </p:nvSpPr>
        <p:spPr>
          <a:xfrm>
            <a:off x="668508" y="3424546"/>
            <a:ext cx="56494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latin typeface="Jost SemiBold" pitchFamily="2" charset="0"/>
                <a:ea typeface="Jost SemiBold" pitchFamily="2" charset="0"/>
                <a:cs typeface="Segoe UI Semibold" panose="020B0702040204020203" pitchFamily="34" charset="0"/>
              </a:rPr>
              <a:t>FlexChroma</a:t>
            </a:r>
            <a:r>
              <a:rPr lang="en-US" altLang="ja-JP" sz="1050" dirty="0">
                <a:latin typeface="Jost" pitchFamily="2" charset="0"/>
                <a:ea typeface="Jost" pitchFamily="2" charset="0"/>
                <a:cs typeface="Segoe UI Semibold" panose="020B0702040204020203" pitchFamily="34" charset="0"/>
              </a:rPr>
              <a:t>™</a:t>
            </a:r>
            <a:r>
              <a:rPr lang="en-US" altLang="ja-JP" sz="1050" dirty="0">
                <a:latin typeface="Jost" pitchFamily="2" charset="0"/>
                <a:ea typeface="Jost" pitchFamily="2" charset="0"/>
              </a:rPr>
              <a:t> is a set of models designed to create filament itself by combining commercially available filaments. It consists of multiple Series, each designed for a different purpose. Within each Series, multiple Models are provided, along with different Profiles and Plates depending on size and usage.</a:t>
            </a:r>
            <a:endParaRPr kumimoji="1" lang="ja-JP" altLang="en-US" sz="1050" b="1" dirty="0">
              <a:latin typeface="Jost" pitchFamily="2" charset="0"/>
              <a:ea typeface="IBM Plex Sans JP" panose="020B0503050203000203" pitchFamily="50" charset="-128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64F690EF-7932-B480-4E0E-878C474B7FC9}"/>
              </a:ext>
            </a:extLst>
          </p:cNvPr>
          <p:cNvSpPr/>
          <p:nvPr/>
        </p:nvSpPr>
        <p:spPr>
          <a:xfrm>
            <a:off x="566175" y="4562351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DE03A10-2964-5391-2223-CBCA00D23411}"/>
              </a:ext>
            </a:extLst>
          </p:cNvPr>
          <p:cNvSpPr txBox="1"/>
          <p:nvPr/>
        </p:nvSpPr>
        <p:spPr>
          <a:xfrm>
            <a:off x="770844" y="4494466"/>
            <a:ext cx="3118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Jost" pitchFamily="2" charset="0"/>
                <a:ea typeface="Jost" pitchFamily="2" charset="0"/>
              </a:rPr>
              <a:t>2. How to Choose a Model</a:t>
            </a:r>
            <a:endParaRPr kumimoji="1" lang="ja-JP" altLang="en-US" sz="2400" b="1" dirty="0">
              <a:latin typeface="Jost" pitchFamily="2" charset="0"/>
              <a:ea typeface="IBM Plex Sans JP SemiBold" panose="020B0703050203000203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96C8996-A004-2B6F-419A-B5C7EEF88FAF}"/>
              </a:ext>
            </a:extLst>
          </p:cNvPr>
          <p:cNvSpPr txBox="1"/>
          <p:nvPr/>
        </p:nvSpPr>
        <p:spPr>
          <a:xfrm>
            <a:off x="661239" y="4917406"/>
            <a:ext cx="56494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latin typeface="Jost" pitchFamily="2" charset="0"/>
                <a:ea typeface="Jost" pitchFamily="2" charset="0"/>
              </a:rPr>
              <a:t>First, follow this quick selection flow to download and print the correct data.</a:t>
            </a:r>
            <a:endParaRPr kumimoji="1" lang="ja-JP" altLang="en-US" sz="1050" b="1" dirty="0">
              <a:latin typeface="Jost" pitchFamily="2" charset="0"/>
              <a:ea typeface="IBM Plex Sans JP" panose="020B0503050203000203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BF7D3BD-1EF8-AC81-756A-94B848B80E13}"/>
              </a:ext>
            </a:extLst>
          </p:cNvPr>
          <p:cNvSpPr txBox="1"/>
          <p:nvPr/>
        </p:nvSpPr>
        <p:spPr>
          <a:xfrm>
            <a:off x="661238" y="6573178"/>
            <a:ext cx="5656761" cy="25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latin typeface="Jost" pitchFamily="2" charset="0"/>
                <a:ea typeface="Jost" pitchFamily="2" charset="0"/>
              </a:rPr>
              <a:t>When choosing a model, start by deciding what kind of filament you want to create.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1B3E5E8-6526-8E6B-29D9-D104B66A6233}"/>
              </a:ext>
            </a:extLst>
          </p:cNvPr>
          <p:cNvSpPr txBox="1"/>
          <p:nvPr/>
        </p:nvSpPr>
        <p:spPr>
          <a:xfrm>
            <a:off x="770843" y="6836315"/>
            <a:ext cx="55544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1. Select a Series: </a:t>
            </a:r>
            <a:r>
              <a:rPr lang="en-US" altLang="ja-JP" sz="1000" dirty="0">
                <a:latin typeface="Jost Medium" pitchFamily="2" charset="0"/>
                <a:ea typeface="Jost Medium" pitchFamily="2" charset="0"/>
              </a:rPr>
              <a:t>Blend Filament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 for mixed colors, </a:t>
            </a:r>
            <a:r>
              <a:rPr lang="en-US" altLang="ja-JP" sz="1000" dirty="0">
                <a:latin typeface="Jost Medium" pitchFamily="2" charset="0"/>
                <a:ea typeface="Jost Medium" pitchFamily="2" charset="0"/>
              </a:rPr>
              <a:t>Gradient Filament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 for color changes.</a:t>
            </a: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2. Select a Model size: Use an S4 Model for small objects, or an M1 Model for larger prints </a:t>
            </a: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     requiring around 70g of filament.</a:t>
            </a: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3. Select a Profile and Plate: Choose the Plate that matches your desired mixing ratio or </a:t>
            </a: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     pattern.</a:t>
            </a: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4. Assign filaments and slice: Use filaments with the same or similar material, assign </a:t>
            </a: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     them, slice the model, and read the print notes before printing.</a:t>
            </a:r>
            <a:endParaRPr kumimoji="1" lang="ja-JP" altLang="en-US" sz="900" b="1" dirty="0">
              <a:latin typeface="Jost" pitchFamily="2" charset="0"/>
              <a:ea typeface="IBM Plex Sans JP Light" panose="020B0403050203000203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5EE1833-E36C-633A-2CB5-AC9A3262046E}"/>
              </a:ext>
            </a:extLst>
          </p:cNvPr>
          <p:cNvSpPr txBox="1"/>
          <p:nvPr/>
        </p:nvSpPr>
        <p:spPr>
          <a:xfrm>
            <a:off x="770842" y="8115753"/>
            <a:ext cx="54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Jost" pitchFamily="2" charset="0"/>
                <a:ea typeface="Jost" pitchFamily="2" charset="0"/>
              </a:rPr>
              <a:t>*Note: In </a:t>
            </a:r>
            <a:r>
              <a:rPr lang="en-US" altLang="ja-JP" sz="900" dirty="0">
                <a:latin typeface="Jost SemiBold" pitchFamily="2" charset="0"/>
                <a:ea typeface="Jost SemiBold" pitchFamily="2" charset="0"/>
                <a:cs typeface="Segoe UI" panose="020B0502040204020203" pitchFamily="34" charset="0"/>
              </a:rPr>
              <a:t>FlexChroma</a:t>
            </a:r>
            <a:r>
              <a:rPr lang="en-US" altLang="ja-JP" sz="900" dirty="0">
                <a:latin typeface="Jost" pitchFamily="2" charset="0"/>
                <a:ea typeface="Jost" pitchFamily="2" charset="0"/>
              </a:rPr>
              <a:t>, “Profile” means a purpose-based classification, not different print settings.</a:t>
            </a:r>
            <a:endParaRPr kumimoji="1" lang="ja-JP" altLang="en-US" sz="900" b="1" dirty="0">
              <a:latin typeface="Jost" pitchFamily="2" charset="0"/>
              <a:ea typeface="IBM Plex Sans JP Light" panose="020B0403050203000203" pitchFamily="50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8F15D30C-9810-6554-3F9D-C666664BC62E}"/>
              </a:ext>
            </a:extLst>
          </p:cNvPr>
          <p:cNvGrpSpPr/>
          <p:nvPr/>
        </p:nvGrpSpPr>
        <p:grpSpPr>
          <a:xfrm>
            <a:off x="1054218" y="441445"/>
            <a:ext cx="4781214" cy="377792"/>
            <a:chOff x="1042026" y="430737"/>
            <a:chExt cx="4781214" cy="377792"/>
          </a:xfrm>
        </p:grpSpPr>
        <p:sp>
          <p:nvSpPr>
            <p:cNvPr id="3" name="四角形: 上の 2 つの角を丸める 2">
              <a:extLst>
                <a:ext uri="{FF2B5EF4-FFF2-40B4-BE49-F238E27FC236}">
                  <a16:creationId xmlns:a16="http://schemas.microsoft.com/office/drawing/2014/main" id="{3A18D7FF-2AB7-9784-CFCF-AD9569D61BBD}"/>
                </a:ext>
              </a:extLst>
            </p:cNvPr>
            <p:cNvSpPr/>
            <p:nvPr/>
          </p:nvSpPr>
          <p:spPr>
            <a:xfrm>
              <a:off x="1042026" y="430737"/>
              <a:ext cx="4781214" cy="377792"/>
            </a:xfrm>
            <a:prstGeom prst="round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四角形: 上の 2 つの角を丸める 3">
              <a:extLst>
                <a:ext uri="{FF2B5EF4-FFF2-40B4-BE49-F238E27FC236}">
                  <a16:creationId xmlns:a16="http://schemas.microsoft.com/office/drawing/2014/main" id="{A7264CEB-0E02-D992-7F98-46154D03A20F}"/>
                </a:ext>
              </a:extLst>
            </p:cNvPr>
            <p:cNvSpPr/>
            <p:nvPr/>
          </p:nvSpPr>
          <p:spPr>
            <a:xfrm>
              <a:off x="1042026" y="697920"/>
              <a:ext cx="4781214" cy="110609"/>
            </a:xfrm>
            <a:prstGeom prst="round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1E64D689-16FA-4459-27D6-5C841CAA4722}"/>
              </a:ext>
            </a:extLst>
          </p:cNvPr>
          <p:cNvGrpSpPr/>
          <p:nvPr/>
        </p:nvGrpSpPr>
        <p:grpSpPr>
          <a:xfrm rot="10800000">
            <a:off x="1054218" y="2224673"/>
            <a:ext cx="4781214" cy="377792"/>
            <a:chOff x="1042026" y="430737"/>
            <a:chExt cx="4781214" cy="377792"/>
          </a:xfrm>
        </p:grpSpPr>
        <p:sp>
          <p:nvSpPr>
            <p:cNvPr id="28" name="四角形: 上の 2 つの角を丸める 27">
              <a:extLst>
                <a:ext uri="{FF2B5EF4-FFF2-40B4-BE49-F238E27FC236}">
                  <a16:creationId xmlns:a16="http://schemas.microsoft.com/office/drawing/2014/main" id="{F8DF8492-C361-427B-2DE1-AE4499E917C5}"/>
                </a:ext>
              </a:extLst>
            </p:cNvPr>
            <p:cNvSpPr/>
            <p:nvPr/>
          </p:nvSpPr>
          <p:spPr>
            <a:xfrm>
              <a:off x="1042026" y="430737"/>
              <a:ext cx="4781214" cy="377792"/>
            </a:xfrm>
            <a:prstGeom prst="round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四角形: 上の 2 つの角を丸める 29">
              <a:extLst>
                <a:ext uri="{FF2B5EF4-FFF2-40B4-BE49-F238E27FC236}">
                  <a16:creationId xmlns:a16="http://schemas.microsoft.com/office/drawing/2014/main" id="{B525C316-F63D-33F0-D18C-D441893CBA9D}"/>
                </a:ext>
              </a:extLst>
            </p:cNvPr>
            <p:cNvSpPr/>
            <p:nvPr/>
          </p:nvSpPr>
          <p:spPr>
            <a:xfrm>
              <a:off x="1042026" y="697920"/>
              <a:ext cx="4781214" cy="110609"/>
            </a:xfrm>
            <a:prstGeom prst="round2SameRect">
              <a:avLst>
                <a:gd name="adj1" fmla="val 50000"/>
                <a:gd name="adj2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5D7F160-5868-F96D-EF8B-282D37A34400}"/>
              </a:ext>
            </a:extLst>
          </p:cNvPr>
          <p:cNvSpPr txBox="1"/>
          <p:nvPr/>
        </p:nvSpPr>
        <p:spPr>
          <a:xfrm>
            <a:off x="1515655" y="1444411"/>
            <a:ext cx="3448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Jost" pitchFamily="2" charset="0"/>
                <a:ea typeface="Jost" pitchFamily="2" charset="0"/>
              </a:rPr>
              <a:t>- Let's Explore </a:t>
            </a:r>
            <a:r>
              <a:rPr lang="en-US" altLang="ja-JP" sz="1600" dirty="0">
                <a:latin typeface="Jost SemiBold" pitchFamily="2" charset="0"/>
                <a:ea typeface="Jost SemiBold" pitchFamily="2" charset="0"/>
                <a:cs typeface="Segoe UI Semibold" panose="020B0702040204020203" pitchFamily="34" charset="0"/>
              </a:rPr>
              <a:t>FlexChroma</a:t>
            </a:r>
            <a:r>
              <a:rPr lang="en-US" altLang="ja-JP" sz="1600" dirty="0">
                <a:latin typeface="Jost" pitchFamily="2" charset="0"/>
                <a:ea typeface="Jost" pitchFamily="2" charset="0"/>
              </a:rPr>
              <a:t>'s Models -</a:t>
            </a:r>
            <a:endParaRPr kumimoji="1" lang="ja-JP" altLang="en-US" sz="1600" dirty="0">
              <a:latin typeface="Jost" pitchFamily="2" charset="0"/>
              <a:ea typeface="IBM Plex Sans JP" panose="020B0503050203000203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CF6AA1D-A904-DA76-F915-872BDAEB9106}"/>
              </a:ext>
            </a:extLst>
          </p:cNvPr>
          <p:cNvSpPr txBox="1"/>
          <p:nvPr/>
        </p:nvSpPr>
        <p:spPr>
          <a:xfrm>
            <a:off x="2381276" y="1883364"/>
            <a:ext cx="1737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Jost" pitchFamily="2" charset="0"/>
                <a:ea typeface="Jost" pitchFamily="2" charset="0"/>
              </a:rPr>
              <a:t>Ver.1.12  2026.9.16</a:t>
            </a:r>
            <a:endParaRPr kumimoji="1" lang="ja-JP" altLang="en-US" sz="1400" dirty="0">
              <a:latin typeface="Jost" pitchFamily="2" charset="0"/>
              <a:ea typeface="IBM Plex Sans JP" panose="020B0503050203000203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29C610CC-9A58-FD90-CF1C-B08643840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184" y="5309114"/>
            <a:ext cx="5649629" cy="110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425A56F-910B-B024-A78D-EFAC18825D1C}"/>
              </a:ext>
            </a:extLst>
          </p:cNvPr>
          <p:cNvSpPr txBox="1"/>
          <p:nvPr/>
        </p:nvSpPr>
        <p:spPr>
          <a:xfrm>
            <a:off x="1484323" y="840586"/>
            <a:ext cx="43957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latin typeface="Jost SemiBold" pitchFamily="2" charset="0"/>
                <a:ea typeface="Jost SemiBold" pitchFamily="2" charset="0"/>
                <a:cs typeface="Segoe UI Semibold" panose="020B0702040204020203" pitchFamily="34" charset="0"/>
              </a:rPr>
              <a:t>FlexChroma</a:t>
            </a:r>
            <a:r>
              <a:rPr lang="en-US" altLang="ja-JP" sz="3200" dirty="0">
                <a:latin typeface="Jost Medium" pitchFamily="2" charset="0"/>
                <a:ea typeface="Jost Medium" pitchFamily="2" charset="0"/>
              </a:rPr>
              <a:t> </a:t>
            </a:r>
            <a:r>
              <a:rPr lang="en-US" altLang="ja-JP" sz="3000" dirty="0">
                <a:latin typeface="Jost Medium" pitchFamily="2" charset="0"/>
                <a:ea typeface="Jost Medium" pitchFamily="2" charset="0"/>
              </a:rPr>
              <a:t>Tour Guide</a:t>
            </a:r>
            <a:endParaRPr kumimoji="1" lang="ja-JP" altLang="en-US" sz="3000" dirty="0">
              <a:latin typeface="Jost Medium" pitchFamily="2" charset="0"/>
              <a:ea typeface="IBM Plex Sans JP" panose="020B0503050203000203" pitchFamily="50" charset="-128"/>
            </a:endParaRPr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CC1B772D-A2DC-95B6-0C31-F976607EB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04" y="905041"/>
            <a:ext cx="406869" cy="39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73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0173C-59A2-2037-D73D-0E215B31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0A76A69-7EBA-24AD-3805-2A372CFEEAE8}"/>
              </a:ext>
            </a:extLst>
          </p:cNvPr>
          <p:cNvSpPr/>
          <p:nvPr/>
        </p:nvSpPr>
        <p:spPr>
          <a:xfrm>
            <a:off x="67565" y="90087"/>
            <a:ext cx="6722870" cy="8963827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B787233-FA7E-25C9-AFC8-77DD3B8699E6}"/>
              </a:ext>
            </a:extLst>
          </p:cNvPr>
          <p:cNvSpPr/>
          <p:nvPr/>
        </p:nvSpPr>
        <p:spPr>
          <a:xfrm>
            <a:off x="-7269" y="-1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EE023F3-4FCC-103D-2599-E4E8CA7BF60A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824B2131-6CC4-0BFA-B748-D810A3423268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A4011FAB-63C2-178C-29DE-33DA96F47618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42F3C5EA-2AFD-33E4-549C-0F84BFE77136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F3FA60BD-81FF-4E70-C88D-182A05D73C49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F94DBC3-EEDB-BBD1-A314-ABB30EC10D4A}"/>
              </a:ext>
            </a:extLst>
          </p:cNvPr>
          <p:cNvSpPr/>
          <p:nvPr/>
        </p:nvSpPr>
        <p:spPr>
          <a:xfrm>
            <a:off x="554537" y="440276"/>
            <a:ext cx="5756193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47E6663-8146-0675-09E7-BA77AF348350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95B28A9-13D1-5C87-BC7B-361DB6DEDF54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65E0D04-137D-61B6-CDB3-C9B389BF921F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latin typeface="Jost" pitchFamily="2" charset="0"/>
                <a:ea typeface="Jost" pitchFamily="2" charset="0"/>
              </a:rPr>
              <a:t>2</a:t>
            </a:r>
            <a:endParaRPr kumimoji="1" lang="ja-JP" altLang="en-US" dirty="0">
              <a:latin typeface="Jost" pitchFamily="2" charset="0"/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98BECD0-FE21-7197-76A9-A35DBF75C26D}"/>
              </a:ext>
            </a:extLst>
          </p:cNvPr>
          <p:cNvSpPr/>
          <p:nvPr/>
        </p:nvSpPr>
        <p:spPr>
          <a:xfrm>
            <a:off x="566175" y="667144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1228AC35-8F16-7C9A-87A7-5D5AF44B4A45}"/>
              </a:ext>
            </a:extLst>
          </p:cNvPr>
          <p:cNvSpPr/>
          <p:nvPr/>
        </p:nvSpPr>
        <p:spPr>
          <a:xfrm>
            <a:off x="566175" y="2537170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721B25-AF01-358E-3AF5-DD53E680BEA4}"/>
              </a:ext>
            </a:extLst>
          </p:cNvPr>
          <p:cNvSpPr txBox="1"/>
          <p:nvPr/>
        </p:nvSpPr>
        <p:spPr>
          <a:xfrm>
            <a:off x="770844" y="610017"/>
            <a:ext cx="24112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Jost Medium" pitchFamily="2" charset="0"/>
                <a:ea typeface="Jost Medium" pitchFamily="2" charset="0"/>
              </a:rPr>
              <a:t>3. FlexChroma HUB</a:t>
            </a:r>
            <a:endParaRPr kumimoji="1" lang="ja-JP" altLang="en-US" sz="2400" b="1" dirty="0">
              <a:latin typeface="Jost Medium" pitchFamily="2" charset="0"/>
              <a:ea typeface="IBM Plex Sans JP SemiBold" panose="020B0703050203000203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4E1C011-7C36-5F21-4954-43ED394E75BA}"/>
              </a:ext>
            </a:extLst>
          </p:cNvPr>
          <p:cNvSpPr txBox="1"/>
          <p:nvPr/>
        </p:nvSpPr>
        <p:spPr>
          <a:xfrm>
            <a:off x="668508" y="950188"/>
            <a:ext cx="56494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The </a:t>
            </a:r>
            <a:r>
              <a:rPr lang="en-US" altLang="ja-JP" sz="1000" dirty="0">
                <a:latin typeface="Jost SemiBold" pitchFamily="2" charset="0"/>
                <a:ea typeface="Jost SemiBold" pitchFamily="2" charset="0"/>
                <a:cs typeface="Segoe UI Semibold" panose="020B0702040204020203" pitchFamily="34" charset="0"/>
              </a:rPr>
              <a:t>FlexChroma</a:t>
            </a:r>
            <a:r>
              <a:rPr lang="en-US" altLang="ja-JP" sz="1000" dirty="0">
                <a:latin typeface="Jost" pitchFamily="2" charset="0"/>
                <a:ea typeface="Jost" pitchFamily="2" charset="0"/>
                <a:cs typeface="Segoe UI Semibold" panose="020B0702040204020203" pitchFamily="34" charset="0"/>
              </a:rPr>
              <a:t> HUB 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is the main entry point on MakerWorld, providing access to all Series and external portals. If you are unsure where to start, open this model first.</a:t>
            </a:r>
            <a:endParaRPr kumimoji="1" lang="ja-JP" altLang="en-US" sz="500" b="1" dirty="0">
              <a:latin typeface="Jost" pitchFamily="2" charset="0"/>
              <a:ea typeface="IBM Plex Sans JP" panose="020B0503050203000203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2FB48DC-10F4-2185-6930-78B6977A0BD2}"/>
              </a:ext>
            </a:extLst>
          </p:cNvPr>
          <p:cNvSpPr txBox="1"/>
          <p:nvPr/>
        </p:nvSpPr>
        <p:spPr>
          <a:xfrm>
            <a:off x="770844" y="2482749"/>
            <a:ext cx="2153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Jost" pitchFamily="2" charset="0"/>
                <a:ea typeface="Jost" pitchFamily="2" charset="0"/>
              </a:rPr>
              <a:t>4. </a:t>
            </a:r>
            <a:r>
              <a:rPr lang="en-US" altLang="ja-JP" sz="2000" dirty="0">
                <a:latin typeface="Jost Medium" pitchFamily="2" charset="0"/>
                <a:ea typeface="Jost Medium" pitchFamily="2" charset="0"/>
              </a:rPr>
              <a:t>Blend Filament</a:t>
            </a:r>
            <a:endParaRPr kumimoji="1" lang="ja-JP" altLang="en-US" sz="2800" b="1" dirty="0">
              <a:latin typeface="Jost Medium" pitchFamily="2" charset="0"/>
              <a:ea typeface="IBM Plex Sans JP SemiBold" panose="020B0703050203000203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3844719-2CDC-AB32-6FBF-9DC0B5690794}"/>
              </a:ext>
            </a:extLst>
          </p:cNvPr>
          <p:cNvSpPr txBox="1"/>
          <p:nvPr/>
        </p:nvSpPr>
        <p:spPr>
          <a:xfrm>
            <a:off x="668509" y="2862400"/>
            <a:ext cx="5642222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The </a:t>
            </a:r>
            <a:r>
              <a:rPr lang="en-US" altLang="ja-JP" sz="1000" dirty="0">
                <a:latin typeface="Jost Medium" pitchFamily="2" charset="0"/>
                <a:ea typeface="Jost Medium" pitchFamily="2" charset="0"/>
              </a:rPr>
              <a:t>Blend Filament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 Series is the most basic </a:t>
            </a:r>
            <a:r>
              <a:rPr lang="en-US" altLang="ja-JP" sz="1000" dirty="0">
                <a:latin typeface="Jost SemiBold" pitchFamily="2" charset="0"/>
                <a:ea typeface="Jost SemiBold" pitchFamily="2" charset="0"/>
              </a:rPr>
              <a:t>FlexChroma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 lineup. It allows you to mix two filaments at various ratios to create your own custom color.</a:t>
            </a: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Each model supports blend ratios from 50% to 99.5</a:t>
            </a:r>
            <a:r>
              <a:rPr lang="en-US" altLang="ja-JP" sz="1000" b="1" dirty="0">
                <a:latin typeface="Jost" pitchFamily="2" charset="0"/>
                <a:ea typeface="Jost" pitchFamily="2" charset="0"/>
              </a:rPr>
              <a:t>%. For ratios below 50%, simply swap Filament A and Filament B.</a:t>
            </a:r>
          </a:p>
          <a:p>
            <a:endParaRPr lang="en-US" altLang="ja-JP" sz="600" dirty="0">
              <a:latin typeface="Jost" pitchFamily="2" charset="0"/>
              <a:ea typeface="Jost" pitchFamily="2" charset="0"/>
            </a:endParaRP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Example: To create a filament with 25% cyan mixed into yellow, read the Plate value as the ratio of Filament A, interpret it as 75% yellow, and slice the model accordingly.</a:t>
            </a:r>
            <a:endParaRPr kumimoji="1" lang="ja-JP" altLang="en-US" sz="1000" b="1" dirty="0">
              <a:latin typeface="Jost" pitchFamily="2" charset="0"/>
              <a:ea typeface="IBM Plex Sans JP" panose="020B0503050203000203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FB90F5E-7734-F19F-FF8C-E8AC00A4C515}"/>
              </a:ext>
            </a:extLst>
          </p:cNvPr>
          <p:cNvSpPr txBox="1"/>
          <p:nvPr/>
        </p:nvSpPr>
        <p:spPr>
          <a:xfrm>
            <a:off x="668508" y="5046262"/>
            <a:ext cx="56422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The following is the model configuration for </a:t>
            </a:r>
            <a:r>
              <a:rPr lang="en-US" altLang="ja-JP" sz="1000" dirty="0">
                <a:latin typeface="Jost Medium" pitchFamily="2" charset="0"/>
                <a:ea typeface="Jost Medium" pitchFamily="2" charset="0"/>
              </a:rPr>
              <a:t>Blend Filament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.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F8E8DE6-504D-BD3F-0399-F6F3D82CC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83" y="4074574"/>
            <a:ext cx="5438111" cy="84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D3D432F2-CE44-FB23-1707-97B2149AD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794" y="5319864"/>
            <a:ext cx="4882532" cy="321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4B3870C2-DDA7-C3E6-2091-3D45703B2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063" y="1376280"/>
            <a:ext cx="4079993" cy="98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97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23065-C738-1975-C61A-347A71E91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6991F79-EF9D-214D-22CC-3EE4375C1316}"/>
              </a:ext>
            </a:extLst>
          </p:cNvPr>
          <p:cNvSpPr/>
          <p:nvPr/>
        </p:nvSpPr>
        <p:spPr>
          <a:xfrm>
            <a:off x="51086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DCDB3DB-81C6-2500-386E-779A7602240D}"/>
              </a:ext>
            </a:extLst>
          </p:cNvPr>
          <p:cNvSpPr/>
          <p:nvPr/>
        </p:nvSpPr>
        <p:spPr>
          <a:xfrm>
            <a:off x="17051" y="5531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809260A-E3A9-A10F-64B4-276376DBA937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1013BF5E-61A6-7F01-BF6F-0C6BB497C24C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981A98E8-4943-C462-95B6-FEF1CE8411FB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7634534E-96BD-2796-50AA-D46B14258839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98BDDABE-AF21-FAFC-C17E-390C8B630108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31BB991-A1A7-FAE2-CB87-73D2777505EE}"/>
              </a:ext>
            </a:extLst>
          </p:cNvPr>
          <p:cNvSpPr/>
          <p:nvPr/>
        </p:nvSpPr>
        <p:spPr>
          <a:xfrm>
            <a:off x="554537" y="440276"/>
            <a:ext cx="5756193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3AFA6C5-4BF2-A033-32A4-BECDD4F86FD4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B6597B8-6C80-13D9-C7AF-67EB68F224A8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F623625-2DCF-7634-93D4-9344D0B367F8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latin typeface="Jost" pitchFamily="2" charset="0"/>
                <a:ea typeface="Jost" pitchFamily="2" charset="0"/>
              </a:rPr>
              <a:t>3</a:t>
            </a:r>
            <a:endParaRPr kumimoji="1" lang="ja-JP" altLang="en-US" dirty="0">
              <a:latin typeface="Jost" pitchFamily="2" charset="0"/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7D25B49B-E1C7-7FE3-F262-C6D12AEF1C2E}"/>
              </a:ext>
            </a:extLst>
          </p:cNvPr>
          <p:cNvSpPr/>
          <p:nvPr/>
        </p:nvSpPr>
        <p:spPr>
          <a:xfrm>
            <a:off x="566175" y="677902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8078D51-1E2C-A979-AB68-98E18890C6F1}"/>
              </a:ext>
            </a:extLst>
          </p:cNvPr>
          <p:cNvSpPr txBox="1"/>
          <p:nvPr/>
        </p:nvSpPr>
        <p:spPr>
          <a:xfrm>
            <a:off x="770844" y="610017"/>
            <a:ext cx="2497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Jost Medium" pitchFamily="2" charset="0"/>
                <a:ea typeface="Jost Medium" pitchFamily="2" charset="0"/>
              </a:rPr>
              <a:t>5. Gradient Filament</a:t>
            </a:r>
            <a:endParaRPr kumimoji="1" lang="ja-JP" altLang="en-US" sz="2400" b="1" dirty="0">
              <a:latin typeface="Jost Medium" pitchFamily="2" charset="0"/>
              <a:ea typeface="IBM Plex Sans JP SemiBold" panose="020B0703050203000203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17BFD2F-556D-35B9-3D3B-9934FD82183A}"/>
              </a:ext>
            </a:extLst>
          </p:cNvPr>
          <p:cNvSpPr txBox="1"/>
          <p:nvPr/>
        </p:nvSpPr>
        <p:spPr>
          <a:xfrm>
            <a:off x="675778" y="4121818"/>
            <a:ext cx="56422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The following is the model configuration for </a:t>
            </a:r>
            <a:r>
              <a:rPr lang="en-US" altLang="ja-JP" sz="1000" dirty="0">
                <a:latin typeface="Jost Medium" pitchFamily="2" charset="0"/>
                <a:ea typeface="Jost Medium" pitchFamily="2" charset="0"/>
              </a:rPr>
              <a:t>Gradient Filament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.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E2D4FDB-94FA-C5AC-1B21-C26CC02FA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14" y="4447598"/>
            <a:ext cx="5521536" cy="3874587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F436DDF-1FC5-E203-1F1E-B570A467D825}"/>
              </a:ext>
            </a:extLst>
          </p:cNvPr>
          <p:cNvSpPr txBox="1"/>
          <p:nvPr/>
        </p:nvSpPr>
        <p:spPr>
          <a:xfrm>
            <a:off x="668508" y="1032957"/>
            <a:ext cx="564949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The </a:t>
            </a:r>
            <a:r>
              <a:rPr lang="en-US" altLang="ja-JP" sz="1000" dirty="0">
                <a:latin typeface="Jost Medium" pitchFamily="2" charset="0"/>
                <a:ea typeface="Jost Medium" pitchFamily="2" charset="0"/>
              </a:rPr>
              <a:t>Gradient Filament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 Series provides multiple color-changing Profiles and Plates with different cycle counts. Details vary by model, so please refer to each model’s description.</a:t>
            </a:r>
          </a:p>
          <a:p>
            <a:endParaRPr lang="en-US" altLang="ja-JP" sz="1000" dirty="0">
              <a:latin typeface="Jost" pitchFamily="2" charset="0"/>
              <a:ea typeface="Jost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000" dirty="0">
                <a:latin typeface="Jost" pitchFamily="2" charset="0"/>
                <a:ea typeface="Jost" pitchFamily="2" charset="0"/>
              </a:rPr>
              <a:t>Color Curve: Settings based on color combinations. This option allows you to select the optimal gradient for each color—for example, “Vivid” for cyan and yellow, or “Contrast” for white and magenta.</a:t>
            </a:r>
          </a:p>
          <a:p>
            <a:endParaRPr lang="en-US" altLang="ja-JP" sz="600" dirty="0">
              <a:latin typeface="Jost" pitchFamily="2" charset="0"/>
              <a:ea typeface="Jost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000" dirty="0">
                <a:latin typeface="Jost" pitchFamily="2" charset="0"/>
                <a:ea typeface="Jost" pitchFamily="2" charset="0"/>
              </a:rPr>
              <a:t>Number of cycles: The number that determines the frequency of the gradient. One cycle is counted as one complete cycle in which the filament changes from A to B to A and back.</a:t>
            </a:r>
          </a:p>
          <a:p>
            <a:endParaRPr lang="en-US" altLang="ja-JP" sz="1000" dirty="0">
              <a:latin typeface="Jost" pitchFamily="2" charset="0"/>
              <a:ea typeface="Jost" pitchFamily="2" charset="0"/>
            </a:endParaRP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Example: To create a fast-cycle </a:t>
            </a:r>
            <a:r>
              <a:rPr lang="en-US" altLang="ja-JP" sz="1000" dirty="0">
                <a:latin typeface="Jost Medium" pitchFamily="2" charset="0"/>
                <a:ea typeface="Jost Medium" pitchFamily="2" charset="0"/>
              </a:rPr>
              <a:t>gradient filament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 using cyan and magenta, select an S4 Model, choose a 4-cycle Plate, and use the Vivid curve Profile due to the high color contrast.</a:t>
            </a:r>
            <a:endParaRPr kumimoji="1" lang="ja-JP" altLang="en-US" sz="1000" b="1" dirty="0">
              <a:latin typeface="Jost" pitchFamily="2" charset="0"/>
              <a:ea typeface="IBM Plex Sans JP" panose="020B0503050203000203" pitchFamily="50" charset="-128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F71E702-A1F1-BE0E-8E3E-B4CB70338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49" y="3048166"/>
            <a:ext cx="5614266" cy="919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189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3C8C7-89F2-A94E-7AE8-9C887FB06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FD9E26-596F-2011-FBE1-A1903F5B53C7}"/>
              </a:ext>
            </a:extLst>
          </p:cNvPr>
          <p:cNvSpPr/>
          <p:nvPr/>
        </p:nvSpPr>
        <p:spPr>
          <a:xfrm>
            <a:off x="51086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EF1218F-F1B3-05A2-4973-43F9783E40FF}"/>
              </a:ext>
            </a:extLst>
          </p:cNvPr>
          <p:cNvSpPr/>
          <p:nvPr/>
        </p:nvSpPr>
        <p:spPr>
          <a:xfrm>
            <a:off x="17051" y="5531"/>
            <a:ext cx="6858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090BDEB-6B52-CBA6-0B35-95E9A7FB9262}"/>
              </a:ext>
            </a:extLst>
          </p:cNvPr>
          <p:cNvGrpSpPr/>
          <p:nvPr/>
        </p:nvGrpSpPr>
        <p:grpSpPr>
          <a:xfrm>
            <a:off x="0" y="0"/>
            <a:ext cx="6865269" cy="9144001"/>
            <a:chOff x="0" y="0"/>
            <a:chExt cx="6865269" cy="914400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651A178C-FF5E-949F-8F5B-64390BD61530}"/>
                </a:ext>
              </a:extLst>
            </p:cNvPr>
            <p:cNvSpPr/>
            <p:nvPr/>
          </p:nvSpPr>
          <p:spPr>
            <a:xfrm>
              <a:off x="0" y="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0152D3AF-6FBD-6AE4-015F-6DE247DE7A68}"/>
                </a:ext>
              </a:extLst>
            </p:cNvPr>
            <p:cNvSpPr/>
            <p:nvPr/>
          </p:nvSpPr>
          <p:spPr>
            <a:xfrm>
              <a:off x="0" y="8712000"/>
              <a:ext cx="6858000" cy="432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8DE08037-68E8-2936-43CC-32EB2FE9D9F9}"/>
                </a:ext>
              </a:extLst>
            </p:cNvPr>
            <p:cNvSpPr/>
            <p:nvPr/>
          </p:nvSpPr>
          <p:spPr>
            <a:xfrm>
              <a:off x="0" y="1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EC91F1F0-5A4A-5676-DD78-20A7D0AFFA95}"/>
                </a:ext>
              </a:extLst>
            </p:cNvPr>
            <p:cNvSpPr/>
            <p:nvPr/>
          </p:nvSpPr>
          <p:spPr>
            <a:xfrm>
              <a:off x="6325269" y="0"/>
              <a:ext cx="540000" cy="91440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AB0EAAB-5276-A6E3-A021-21246EBDE68F}"/>
              </a:ext>
            </a:extLst>
          </p:cNvPr>
          <p:cNvSpPr/>
          <p:nvPr/>
        </p:nvSpPr>
        <p:spPr>
          <a:xfrm>
            <a:off x="554537" y="440276"/>
            <a:ext cx="5756193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6C8B53A-D491-E224-F099-718526CCC672}"/>
              </a:ext>
            </a:extLst>
          </p:cNvPr>
          <p:cNvSpPr/>
          <p:nvPr/>
        </p:nvSpPr>
        <p:spPr>
          <a:xfrm>
            <a:off x="554538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8C97F63-617D-5B0B-66C2-00B8674BC71D}"/>
              </a:ext>
            </a:extLst>
          </p:cNvPr>
          <p:cNvSpPr/>
          <p:nvPr/>
        </p:nvSpPr>
        <p:spPr>
          <a:xfrm>
            <a:off x="3734844" y="8661917"/>
            <a:ext cx="2592000" cy="5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90DDA51-B1AE-20A7-A699-251D7682CB62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latin typeface="Jost" pitchFamily="2" charset="0"/>
                <a:ea typeface="Jost" pitchFamily="2" charset="0"/>
              </a:rPr>
              <a:t>4</a:t>
            </a:r>
            <a:endParaRPr kumimoji="1" lang="ja-JP" altLang="en-US" dirty="0">
              <a:latin typeface="Jost" pitchFamily="2" charset="0"/>
            </a:endParaRPr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6374B802-2C7D-61EC-FB1C-193F664D3C7B}"/>
              </a:ext>
            </a:extLst>
          </p:cNvPr>
          <p:cNvSpPr/>
          <p:nvPr/>
        </p:nvSpPr>
        <p:spPr>
          <a:xfrm>
            <a:off x="546348" y="817076"/>
            <a:ext cx="204669" cy="20466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BC6D4FE-402E-B8B5-1423-80EA899F669B}"/>
              </a:ext>
            </a:extLst>
          </p:cNvPr>
          <p:cNvSpPr txBox="1"/>
          <p:nvPr/>
        </p:nvSpPr>
        <p:spPr>
          <a:xfrm>
            <a:off x="778114" y="784294"/>
            <a:ext cx="1715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Jost" pitchFamily="2" charset="0"/>
                <a:ea typeface="Jost" pitchFamily="2" charset="0"/>
              </a:rPr>
              <a:t>6. Update History</a:t>
            </a:r>
            <a:endParaRPr kumimoji="1" lang="ja-JP" altLang="en-US" b="1" dirty="0">
              <a:latin typeface="Jost" pitchFamily="2" charset="0"/>
              <a:ea typeface="IBM Plex Sans JP SemiBold" panose="020B0703050203000203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2A2A4DF-78D0-3AE6-5C01-95CD744AB7F1}"/>
              </a:ext>
            </a:extLst>
          </p:cNvPr>
          <p:cNvSpPr txBox="1"/>
          <p:nvPr/>
        </p:nvSpPr>
        <p:spPr>
          <a:xfrm>
            <a:off x="638323" y="1115240"/>
            <a:ext cx="5649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Jost" pitchFamily="2" charset="0"/>
                <a:ea typeface="Jost" pitchFamily="2" charset="0"/>
              </a:rPr>
              <a:t>Ver.1.00  2026-07-02  First Edition Published</a:t>
            </a:r>
          </a:p>
          <a:p>
            <a:r>
              <a:rPr lang="en-US" altLang="ja-JP" sz="900" dirty="0">
                <a:latin typeface="Jost" pitchFamily="2" charset="0"/>
                <a:ea typeface="Jost" pitchFamily="2" charset="0"/>
              </a:rPr>
              <a:t>Ver.1.10  2026-07-22  Revisions for Integrated Design</a:t>
            </a:r>
          </a:p>
          <a:p>
            <a:r>
              <a:rPr lang="en-US" altLang="ja-JP" sz="900" dirty="0">
                <a:latin typeface="Jost" pitchFamily="2" charset="0"/>
                <a:ea typeface="Jost" pitchFamily="2" charset="0"/>
              </a:rPr>
              <a:t>Ver.1.11  2026-08-08  Revisions to align with the Japanese version</a:t>
            </a:r>
          </a:p>
          <a:p>
            <a:r>
              <a:rPr lang="en-US" altLang="ja-JP" sz="900" dirty="0">
                <a:latin typeface="Jost" pitchFamily="2" charset="0"/>
                <a:ea typeface="Jost" pitchFamily="2" charset="0"/>
              </a:rPr>
              <a:t>Ver.1.12  2026-09-16  Applying the Brand Typeface</a:t>
            </a:r>
          </a:p>
        </p:txBody>
      </p:sp>
    </p:spTree>
    <p:extLst>
      <p:ext uri="{BB962C8B-B14F-4D97-AF65-F5344CB8AC3E}">
        <p14:creationId xmlns:p14="http://schemas.microsoft.com/office/powerpoint/2010/main" val="3727320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CB6A8-B889-5444-93D3-6168C8E5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84B34C20-B364-7D3E-74AF-7A5625154FCE}"/>
              </a:ext>
            </a:extLst>
          </p:cNvPr>
          <p:cNvSpPr/>
          <p:nvPr/>
        </p:nvSpPr>
        <p:spPr>
          <a:xfrm>
            <a:off x="67565" y="90087"/>
            <a:ext cx="6722870" cy="8963827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9" name="フリーフォーム: 図形 38">
            <a:extLst>
              <a:ext uri="{FF2B5EF4-FFF2-40B4-BE49-F238E27FC236}">
                <a16:creationId xmlns:a16="http://schemas.microsoft.com/office/drawing/2014/main" id="{76045807-046C-D311-D831-2B78C19F2411}"/>
              </a:ext>
            </a:extLst>
          </p:cNvPr>
          <p:cNvSpPr/>
          <p:nvPr/>
        </p:nvSpPr>
        <p:spPr>
          <a:xfrm>
            <a:off x="-7269" y="-9649"/>
            <a:ext cx="6858000" cy="9144000"/>
          </a:xfrm>
          <a:custGeom>
            <a:avLst/>
            <a:gdLst>
              <a:gd name="csX0" fmla="*/ 3742113 w 6858000"/>
              <a:gd name="csY0" fmla="*/ 8671566 h 9144000"/>
              <a:gd name="csX1" fmla="*/ 3742113 w 6858000"/>
              <a:gd name="csY1" fmla="*/ 8725566 h 9144000"/>
              <a:gd name="csX2" fmla="*/ 6334113 w 6858000"/>
              <a:gd name="csY2" fmla="*/ 8725566 h 9144000"/>
              <a:gd name="csX3" fmla="*/ 6334113 w 6858000"/>
              <a:gd name="csY3" fmla="*/ 8671566 h 9144000"/>
              <a:gd name="csX4" fmla="*/ 561807 w 6858000"/>
              <a:gd name="csY4" fmla="*/ 8671566 h 9144000"/>
              <a:gd name="csX5" fmla="*/ 561807 w 6858000"/>
              <a:gd name="csY5" fmla="*/ 8725566 h 9144000"/>
              <a:gd name="csX6" fmla="*/ 3153807 w 6858000"/>
              <a:gd name="csY6" fmla="*/ 8725566 h 9144000"/>
              <a:gd name="csX7" fmla="*/ 3153807 w 6858000"/>
              <a:gd name="csY7" fmla="*/ 8671566 h 9144000"/>
              <a:gd name="csX8" fmla="*/ 675779 w 6858000"/>
              <a:gd name="csY8" fmla="*/ 4572000 h 9144000"/>
              <a:gd name="csX9" fmla="*/ 573444 w 6858000"/>
              <a:gd name="csY9" fmla="*/ 4674335 h 9144000"/>
              <a:gd name="csX10" fmla="*/ 675779 w 6858000"/>
              <a:gd name="csY10" fmla="*/ 4776670 h 9144000"/>
              <a:gd name="csX11" fmla="*/ 778114 w 6858000"/>
              <a:gd name="csY11" fmla="*/ 4674335 h 9144000"/>
              <a:gd name="csX12" fmla="*/ 675779 w 6858000"/>
              <a:gd name="csY12" fmla="*/ 4572000 h 9144000"/>
              <a:gd name="csX13" fmla="*/ 675779 w 6858000"/>
              <a:gd name="csY13" fmla="*/ 3079140 h 9144000"/>
              <a:gd name="csX14" fmla="*/ 573444 w 6858000"/>
              <a:gd name="csY14" fmla="*/ 3181475 h 9144000"/>
              <a:gd name="csX15" fmla="*/ 675779 w 6858000"/>
              <a:gd name="csY15" fmla="*/ 3283810 h 9144000"/>
              <a:gd name="csX16" fmla="*/ 778114 w 6858000"/>
              <a:gd name="csY16" fmla="*/ 3181475 h 9144000"/>
              <a:gd name="csX17" fmla="*/ 675779 w 6858000"/>
              <a:gd name="csY17" fmla="*/ 3079140 h 9144000"/>
              <a:gd name="csX18" fmla="*/ 5842701 w 6858000"/>
              <a:gd name="csY18" fmla="*/ 2289626 h 9144000"/>
              <a:gd name="csX19" fmla="*/ 5787396 w 6858000"/>
              <a:gd name="csY19" fmla="*/ 2344931 h 9144000"/>
              <a:gd name="csX20" fmla="*/ 1116791 w 6858000"/>
              <a:gd name="csY20" fmla="*/ 2344931 h 9144000"/>
              <a:gd name="csX21" fmla="*/ 1077684 w 6858000"/>
              <a:gd name="csY21" fmla="*/ 2328732 h 9144000"/>
              <a:gd name="csX22" fmla="*/ 1061487 w 6858000"/>
              <a:gd name="csY22" fmla="*/ 2289628 h 9144000"/>
              <a:gd name="csX23" fmla="*/ 1061487 w 6858000"/>
              <a:gd name="csY23" fmla="*/ 2423218 h 9144000"/>
              <a:gd name="csX24" fmla="*/ 1250383 w 6858000"/>
              <a:gd name="csY24" fmla="*/ 2612114 h 9144000"/>
              <a:gd name="csX25" fmla="*/ 5653805 w 6858000"/>
              <a:gd name="csY25" fmla="*/ 2612114 h 9144000"/>
              <a:gd name="csX26" fmla="*/ 5842701 w 6858000"/>
              <a:gd name="csY26" fmla="*/ 2423218 h 9144000"/>
              <a:gd name="csX27" fmla="*/ 1250383 w 6858000"/>
              <a:gd name="csY27" fmla="*/ 451094 h 9144000"/>
              <a:gd name="csX28" fmla="*/ 1061487 w 6858000"/>
              <a:gd name="csY28" fmla="*/ 639990 h 9144000"/>
              <a:gd name="csX29" fmla="*/ 1061487 w 6858000"/>
              <a:gd name="csY29" fmla="*/ 773582 h 9144000"/>
              <a:gd name="csX30" fmla="*/ 1116792 w 6858000"/>
              <a:gd name="csY30" fmla="*/ 718277 h 9144000"/>
              <a:gd name="csX31" fmla="*/ 5787397 w 6858000"/>
              <a:gd name="csY31" fmla="*/ 718277 h 9144000"/>
              <a:gd name="csX32" fmla="*/ 5826504 w 6858000"/>
              <a:gd name="csY32" fmla="*/ 734476 h 9144000"/>
              <a:gd name="csX33" fmla="*/ 5842701 w 6858000"/>
              <a:gd name="csY33" fmla="*/ 773580 h 9144000"/>
              <a:gd name="csX34" fmla="*/ 5842701 w 6858000"/>
              <a:gd name="csY34" fmla="*/ 639990 h 9144000"/>
              <a:gd name="csX35" fmla="*/ 5653805 w 6858000"/>
              <a:gd name="csY35" fmla="*/ 451094 h 9144000"/>
              <a:gd name="csX36" fmla="*/ 0 w 6858000"/>
              <a:gd name="csY36" fmla="*/ 0 h 9144000"/>
              <a:gd name="csX37" fmla="*/ 6858000 w 6858000"/>
              <a:gd name="csY37" fmla="*/ 0 h 9144000"/>
              <a:gd name="csX38" fmla="*/ 6858000 w 6858000"/>
              <a:gd name="csY38" fmla="*/ 9144000 h 9144000"/>
              <a:gd name="csX39" fmla="*/ 0 w 6858000"/>
              <a:gd name="csY39" fmla="*/ 9144000 h 914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6858000" h="9144000">
                <a:moveTo>
                  <a:pt x="3742113" y="8671566"/>
                </a:moveTo>
                <a:lnTo>
                  <a:pt x="3742113" y="8725566"/>
                </a:lnTo>
                <a:lnTo>
                  <a:pt x="6334113" y="8725566"/>
                </a:lnTo>
                <a:lnTo>
                  <a:pt x="6334113" y="8671566"/>
                </a:lnTo>
                <a:close/>
                <a:moveTo>
                  <a:pt x="561807" y="8671566"/>
                </a:moveTo>
                <a:lnTo>
                  <a:pt x="561807" y="8725566"/>
                </a:lnTo>
                <a:lnTo>
                  <a:pt x="3153807" y="8725566"/>
                </a:lnTo>
                <a:lnTo>
                  <a:pt x="3153807" y="8671566"/>
                </a:lnTo>
                <a:close/>
                <a:moveTo>
                  <a:pt x="675779" y="4572000"/>
                </a:moveTo>
                <a:cubicBezTo>
                  <a:pt x="619261" y="4572000"/>
                  <a:pt x="573444" y="4617817"/>
                  <a:pt x="573444" y="4674335"/>
                </a:cubicBezTo>
                <a:cubicBezTo>
                  <a:pt x="573444" y="4730853"/>
                  <a:pt x="619261" y="4776670"/>
                  <a:pt x="675779" y="4776670"/>
                </a:cubicBezTo>
                <a:cubicBezTo>
                  <a:pt x="732297" y="4776670"/>
                  <a:pt x="778114" y="4730853"/>
                  <a:pt x="778114" y="4674335"/>
                </a:cubicBezTo>
                <a:cubicBezTo>
                  <a:pt x="778114" y="4617817"/>
                  <a:pt x="732297" y="4572000"/>
                  <a:pt x="675779" y="4572000"/>
                </a:cubicBezTo>
                <a:close/>
                <a:moveTo>
                  <a:pt x="675779" y="3079140"/>
                </a:moveTo>
                <a:cubicBezTo>
                  <a:pt x="619261" y="3079140"/>
                  <a:pt x="573444" y="3124957"/>
                  <a:pt x="573444" y="3181475"/>
                </a:cubicBezTo>
                <a:cubicBezTo>
                  <a:pt x="573444" y="3237993"/>
                  <a:pt x="619261" y="3283810"/>
                  <a:pt x="675779" y="3283810"/>
                </a:cubicBezTo>
                <a:cubicBezTo>
                  <a:pt x="732297" y="3283810"/>
                  <a:pt x="778114" y="3237993"/>
                  <a:pt x="778114" y="3181475"/>
                </a:cubicBezTo>
                <a:cubicBezTo>
                  <a:pt x="778114" y="3124957"/>
                  <a:pt x="732297" y="3079140"/>
                  <a:pt x="675779" y="3079140"/>
                </a:cubicBezTo>
                <a:close/>
                <a:moveTo>
                  <a:pt x="5842701" y="2289626"/>
                </a:moveTo>
                <a:cubicBezTo>
                  <a:pt x="5842701" y="2320170"/>
                  <a:pt x="5817940" y="2344931"/>
                  <a:pt x="5787396" y="2344931"/>
                </a:cubicBezTo>
                <a:lnTo>
                  <a:pt x="1116791" y="2344931"/>
                </a:lnTo>
                <a:cubicBezTo>
                  <a:pt x="1101519" y="2344931"/>
                  <a:pt x="1087693" y="2338741"/>
                  <a:pt x="1077684" y="2328732"/>
                </a:cubicBezTo>
                <a:lnTo>
                  <a:pt x="1061487" y="2289628"/>
                </a:lnTo>
                <a:lnTo>
                  <a:pt x="1061487" y="2423218"/>
                </a:lnTo>
                <a:cubicBezTo>
                  <a:pt x="1061487" y="2527542"/>
                  <a:pt x="1146059" y="2612114"/>
                  <a:pt x="1250383" y="2612114"/>
                </a:cubicBezTo>
                <a:lnTo>
                  <a:pt x="5653805" y="2612114"/>
                </a:lnTo>
                <a:cubicBezTo>
                  <a:pt x="5758129" y="2612114"/>
                  <a:pt x="5842701" y="2527542"/>
                  <a:pt x="5842701" y="2423218"/>
                </a:cubicBezTo>
                <a:close/>
                <a:moveTo>
                  <a:pt x="1250383" y="451094"/>
                </a:moveTo>
                <a:cubicBezTo>
                  <a:pt x="1146059" y="451094"/>
                  <a:pt x="1061487" y="535666"/>
                  <a:pt x="1061487" y="639990"/>
                </a:cubicBezTo>
                <a:lnTo>
                  <a:pt x="1061487" y="773582"/>
                </a:lnTo>
                <a:cubicBezTo>
                  <a:pt x="1061487" y="743038"/>
                  <a:pt x="1086248" y="718277"/>
                  <a:pt x="1116792" y="718277"/>
                </a:cubicBezTo>
                <a:lnTo>
                  <a:pt x="5787397" y="718277"/>
                </a:lnTo>
                <a:cubicBezTo>
                  <a:pt x="5802669" y="718277"/>
                  <a:pt x="5816495" y="724467"/>
                  <a:pt x="5826504" y="734476"/>
                </a:cubicBezTo>
                <a:lnTo>
                  <a:pt x="5842701" y="773580"/>
                </a:lnTo>
                <a:lnTo>
                  <a:pt x="5842701" y="639990"/>
                </a:lnTo>
                <a:cubicBezTo>
                  <a:pt x="5842701" y="535666"/>
                  <a:pt x="5758129" y="451094"/>
                  <a:pt x="5653805" y="451094"/>
                </a:cubicBez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6DDDAF2-1407-ACEF-C6A6-F64CB4D7EA4E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latin typeface="Jost" pitchFamily="2" charset="0"/>
                <a:ea typeface="Jost" pitchFamily="2" charset="0"/>
              </a:rPr>
              <a:t>1</a:t>
            </a:r>
            <a:endParaRPr kumimoji="1" lang="ja-JP" altLang="en-US" dirty="0">
              <a:latin typeface="Jost" pitchFamily="2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4DA7DF6-55E8-6BA4-3CBC-A6484C4E9FF4}"/>
              </a:ext>
            </a:extLst>
          </p:cNvPr>
          <p:cNvSpPr txBox="1"/>
          <p:nvPr/>
        </p:nvSpPr>
        <p:spPr>
          <a:xfrm>
            <a:off x="770844" y="3001606"/>
            <a:ext cx="1739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Jost" pitchFamily="2" charset="0"/>
                <a:ea typeface="Jost" pitchFamily="2" charset="0"/>
              </a:rPr>
              <a:t>1. Introduction</a:t>
            </a:r>
            <a:endParaRPr kumimoji="1" lang="ja-JP" altLang="en-US" sz="2000" b="1" dirty="0">
              <a:latin typeface="Jost" pitchFamily="2" charset="0"/>
              <a:ea typeface="IBM Plex Sans JP SemiBold" panose="020B0703050203000203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F8CC763-14E1-FD71-0C36-FE11DB3F29FC}"/>
              </a:ext>
            </a:extLst>
          </p:cNvPr>
          <p:cNvSpPr txBox="1"/>
          <p:nvPr/>
        </p:nvSpPr>
        <p:spPr>
          <a:xfrm>
            <a:off x="668508" y="3424546"/>
            <a:ext cx="56494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latin typeface="Jost SemiBold" pitchFamily="2" charset="0"/>
                <a:ea typeface="Jost SemiBold" pitchFamily="2" charset="0"/>
                <a:cs typeface="Segoe UI Semibold" panose="020B0702040204020203" pitchFamily="34" charset="0"/>
              </a:rPr>
              <a:t>FlexChroma</a:t>
            </a:r>
            <a:r>
              <a:rPr lang="en-US" altLang="ja-JP" sz="1050" dirty="0">
                <a:latin typeface="Jost" pitchFamily="2" charset="0"/>
                <a:ea typeface="Jost" pitchFamily="2" charset="0"/>
                <a:cs typeface="Segoe UI Semibold" panose="020B0702040204020203" pitchFamily="34" charset="0"/>
              </a:rPr>
              <a:t>™</a:t>
            </a:r>
            <a:r>
              <a:rPr lang="en-US" altLang="ja-JP" sz="1050" dirty="0">
                <a:latin typeface="Jost" pitchFamily="2" charset="0"/>
                <a:ea typeface="Jost" pitchFamily="2" charset="0"/>
              </a:rPr>
              <a:t> is a set of models designed to create filament itself by combining commercially available filaments. It consists of multiple Series, each designed for a different purpose. Within each Series, multiple Models are provided, along with different Profiles and Plates depending on size and usage.</a:t>
            </a:r>
            <a:endParaRPr kumimoji="1" lang="ja-JP" altLang="en-US" sz="1050" b="1" dirty="0">
              <a:latin typeface="Jost" pitchFamily="2" charset="0"/>
              <a:ea typeface="IBM Plex Sans JP" panose="020B0503050203000203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76B90F0-6B6D-43E7-6AFD-0274BCEDB14D}"/>
              </a:ext>
            </a:extLst>
          </p:cNvPr>
          <p:cNvSpPr txBox="1"/>
          <p:nvPr/>
        </p:nvSpPr>
        <p:spPr>
          <a:xfrm>
            <a:off x="770844" y="4494466"/>
            <a:ext cx="3118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Jost" pitchFamily="2" charset="0"/>
                <a:ea typeface="Jost" pitchFamily="2" charset="0"/>
              </a:rPr>
              <a:t>2. How to Choose a Model</a:t>
            </a:r>
            <a:endParaRPr kumimoji="1" lang="ja-JP" altLang="en-US" sz="2400" b="1" dirty="0">
              <a:latin typeface="Jost" pitchFamily="2" charset="0"/>
              <a:ea typeface="IBM Plex Sans JP SemiBold" panose="020B0703050203000203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034A0D2-5DF3-199F-65FD-2880A96149F8}"/>
              </a:ext>
            </a:extLst>
          </p:cNvPr>
          <p:cNvSpPr txBox="1"/>
          <p:nvPr/>
        </p:nvSpPr>
        <p:spPr>
          <a:xfrm>
            <a:off x="661239" y="4917406"/>
            <a:ext cx="56494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latin typeface="Jost" pitchFamily="2" charset="0"/>
                <a:ea typeface="Jost" pitchFamily="2" charset="0"/>
              </a:rPr>
              <a:t>First, follow this quick selection flow to download and print the correct data.</a:t>
            </a:r>
            <a:endParaRPr kumimoji="1" lang="ja-JP" altLang="en-US" sz="1050" b="1" dirty="0">
              <a:latin typeface="Jost" pitchFamily="2" charset="0"/>
              <a:ea typeface="IBM Plex Sans JP" panose="020B0503050203000203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FE09D5F-AFD0-0E6B-9E26-D8E4ECEE2809}"/>
              </a:ext>
            </a:extLst>
          </p:cNvPr>
          <p:cNvSpPr txBox="1"/>
          <p:nvPr/>
        </p:nvSpPr>
        <p:spPr>
          <a:xfrm>
            <a:off x="661238" y="6573178"/>
            <a:ext cx="5656761" cy="25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latin typeface="Jost" pitchFamily="2" charset="0"/>
                <a:ea typeface="Jost" pitchFamily="2" charset="0"/>
              </a:rPr>
              <a:t>When choosing a model, start by deciding what kind of filament you want to create.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275629B-880D-2761-780C-5A291B49AECC}"/>
              </a:ext>
            </a:extLst>
          </p:cNvPr>
          <p:cNvSpPr txBox="1"/>
          <p:nvPr/>
        </p:nvSpPr>
        <p:spPr>
          <a:xfrm>
            <a:off x="770843" y="6836315"/>
            <a:ext cx="55544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1. Select a Series: </a:t>
            </a:r>
            <a:r>
              <a:rPr lang="en-US" altLang="ja-JP" sz="1000" dirty="0">
                <a:latin typeface="Jost Medium" pitchFamily="2" charset="0"/>
                <a:ea typeface="Jost Medium" pitchFamily="2" charset="0"/>
              </a:rPr>
              <a:t>Blend Filament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 for mixed colors, </a:t>
            </a:r>
            <a:r>
              <a:rPr lang="en-US" altLang="ja-JP" sz="1000" dirty="0">
                <a:latin typeface="Jost Medium" pitchFamily="2" charset="0"/>
                <a:ea typeface="Jost Medium" pitchFamily="2" charset="0"/>
              </a:rPr>
              <a:t>Gradient Filament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 for color changes.</a:t>
            </a: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2. Select a Model size: Use an S4 Model for small objects, or an M1 Model for larger prints </a:t>
            </a: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     requiring around 70g of filament.</a:t>
            </a: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3. Select a Profile and Plate: Choose the Plate that matches your desired mixing ratio or </a:t>
            </a: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     pattern.</a:t>
            </a: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4. Assign filaments and slice: Use filaments with the same or similar material, assign </a:t>
            </a: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     them, slice the model, and read the print notes before printing.</a:t>
            </a:r>
            <a:endParaRPr kumimoji="1" lang="ja-JP" altLang="en-US" sz="900" b="1" dirty="0">
              <a:latin typeface="Jost" pitchFamily="2" charset="0"/>
              <a:ea typeface="IBM Plex Sans JP Light" panose="020B0403050203000203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A99EEC5-F6D2-8DA9-EABD-3BCD757766D3}"/>
              </a:ext>
            </a:extLst>
          </p:cNvPr>
          <p:cNvSpPr txBox="1"/>
          <p:nvPr/>
        </p:nvSpPr>
        <p:spPr>
          <a:xfrm>
            <a:off x="770842" y="8115753"/>
            <a:ext cx="54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Jost" pitchFamily="2" charset="0"/>
                <a:ea typeface="Jost" pitchFamily="2" charset="0"/>
              </a:rPr>
              <a:t>*Note: In </a:t>
            </a:r>
            <a:r>
              <a:rPr lang="en-US" altLang="ja-JP" sz="900" dirty="0">
                <a:latin typeface="Jost SemiBold" pitchFamily="2" charset="0"/>
                <a:ea typeface="Jost SemiBold" pitchFamily="2" charset="0"/>
                <a:cs typeface="Segoe UI" panose="020B0502040204020203" pitchFamily="34" charset="0"/>
              </a:rPr>
              <a:t>FlexChroma</a:t>
            </a:r>
            <a:r>
              <a:rPr lang="en-US" altLang="ja-JP" sz="900" dirty="0">
                <a:latin typeface="Jost" pitchFamily="2" charset="0"/>
                <a:ea typeface="Jost" pitchFamily="2" charset="0"/>
              </a:rPr>
              <a:t>, “Profile” means a purpose-based classification, not different print settings.</a:t>
            </a:r>
            <a:endParaRPr kumimoji="1" lang="ja-JP" altLang="en-US" sz="900" b="1" dirty="0">
              <a:latin typeface="Jost" pitchFamily="2" charset="0"/>
              <a:ea typeface="IBM Plex Sans JP Light" panose="020B0403050203000203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9BB0602-AA10-079A-F9BF-6BF72D05E1C8}"/>
              </a:ext>
            </a:extLst>
          </p:cNvPr>
          <p:cNvSpPr txBox="1"/>
          <p:nvPr/>
        </p:nvSpPr>
        <p:spPr>
          <a:xfrm>
            <a:off x="1515655" y="1444411"/>
            <a:ext cx="3448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Jost" pitchFamily="2" charset="0"/>
                <a:ea typeface="Jost" pitchFamily="2" charset="0"/>
              </a:rPr>
              <a:t>- Let's Explore </a:t>
            </a:r>
            <a:r>
              <a:rPr lang="en-US" altLang="ja-JP" sz="1600" dirty="0">
                <a:latin typeface="Jost SemiBold" pitchFamily="2" charset="0"/>
                <a:ea typeface="Jost SemiBold" pitchFamily="2" charset="0"/>
                <a:cs typeface="Segoe UI Semibold" panose="020B0702040204020203" pitchFamily="34" charset="0"/>
              </a:rPr>
              <a:t>FlexChroma</a:t>
            </a:r>
            <a:r>
              <a:rPr lang="en-US" altLang="ja-JP" sz="1600" dirty="0">
                <a:latin typeface="Jost" pitchFamily="2" charset="0"/>
                <a:ea typeface="Jost" pitchFamily="2" charset="0"/>
              </a:rPr>
              <a:t>'s Models -</a:t>
            </a:r>
            <a:endParaRPr kumimoji="1" lang="ja-JP" altLang="en-US" sz="1600" dirty="0">
              <a:latin typeface="Jost" pitchFamily="2" charset="0"/>
              <a:ea typeface="IBM Plex Sans JP" panose="020B0503050203000203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670B59E-4888-7C24-ECC9-80C24E14A32F}"/>
              </a:ext>
            </a:extLst>
          </p:cNvPr>
          <p:cNvSpPr txBox="1"/>
          <p:nvPr/>
        </p:nvSpPr>
        <p:spPr>
          <a:xfrm>
            <a:off x="2381276" y="1883364"/>
            <a:ext cx="1737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latin typeface="Jost" pitchFamily="2" charset="0"/>
                <a:ea typeface="Jost" pitchFamily="2" charset="0"/>
              </a:rPr>
              <a:t>Ver.1.12  2026.9.16</a:t>
            </a:r>
            <a:endParaRPr kumimoji="1" lang="ja-JP" altLang="en-US" sz="1400" dirty="0">
              <a:latin typeface="Jost" pitchFamily="2" charset="0"/>
              <a:ea typeface="IBM Plex Sans JP" panose="020B0503050203000203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F56F43A-6F17-1423-BEE9-B9EBD3C0B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184" y="5309114"/>
            <a:ext cx="5649629" cy="110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42F2DE8-E24F-455D-3B50-E9285B47A029}"/>
              </a:ext>
            </a:extLst>
          </p:cNvPr>
          <p:cNvSpPr txBox="1"/>
          <p:nvPr/>
        </p:nvSpPr>
        <p:spPr>
          <a:xfrm>
            <a:off x="1484323" y="840586"/>
            <a:ext cx="43957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latin typeface="Jost SemiBold" pitchFamily="2" charset="0"/>
                <a:ea typeface="Jost SemiBold" pitchFamily="2" charset="0"/>
                <a:cs typeface="Segoe UI Semibold" panose="020B0702040204020203" pitchFamily="34" charset="0"/>
              </a:rPr>
              <a:t>FlexChroma</a:t>
            </a:r>
            <a:r>
              <a:rPr lang="en-US" altLang="ja-JP" sz="3200" dirty="0">
                <a:latin typeface="Jost Medium" pitchFamily="2" charset="0"/>
                <a:ea typeface="Jost Medium" pitchFamily="2" charset="0"/>
              </a:rPr>
              <a:t> </a:t>
            </a:r>
            <a:r>
              <a:rPr lang="en-US" altLang="ja-JP" sz="3000" dirty="0">
                <a:latin typeface="Jost Medium" pitchFamily="2" charset="0"/>
                <a:ea typeface="Jost Medium" pitchFamily="2" charset="0"/>
              </a:rPr>
              <a:t>Tour Guide</a:t>
            </a:r>
            <a:endParaRPr kumimoji="1" lang="ja-JP" altLang="en-US" sz="3000" dirty="0">
              <a:latin typeface="Jost Medium" pitchFamily="2" charset="0"/>
              <a:ea typeface="IBM Plex Sans JP" panose="020B0503050203000203" pitchFamily="50" charset="-128"/>
            </a:endParaRPr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3E021905-DD3B-23F3-14B2-C64B24799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04" y="905041"/>
            <a:ext cx="406869" cy="39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75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E034E-96CF-FC68-5095-0683021BD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C1C5BDF-4EFD-D32E-8D11-D70E5AB7D184}"/>
              </a:ext>
            </a:extLst>
          </p:cNvPr>
          <p:cNvSpPr/>
          <p:nvPr/>
        </p:nvSpPr>
        <p:spPr>
          <a:xfrm>
            <a:off x="67565" y="90087"/>
            <a:ext cx="6722870" cy="8963827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E1E23794-9C87-9E4A-197A-F3579131211B}"/>
              </a:ext>
            </a:extLst>
          </p:cNvPr>
          <p:cNvSpPr/>
          <p:nvPr/>
        </p:nvSpPr>
        <p:spPr>
          <a:xfrm>
            <a:off x="-7269" y="-1"/>
            <a:ext cx="6858000" cy="9144000"/>
          </a:xfrm>
          <a:custGeom>
            <a:avLst/>
            <a:gdLst>
              <a:gd name="csX0" fmla="*/ 3742113 w 6858000"/>
              <a:gd name="csY0" fmla="*/ 8661918 h 9144000"/>
              <a:gd name="csX1" fmla="*/ 3742113 w 6858000"/>
              <a:gd name="csY1" fmla="*/ 8715918 h 9144000"/>
              <a:gd name="csX2" fmla="*/ 6334113 w 6858000"/>
              <a:gd name="csY2" fmla="*/ 8715918 h 9144000"/>
              <a:gd name="csX3" fmla="*/ 6334113 w 6858000"/>
              <a:gd name="csY3" fmla="*/ 8661918 h 9144000"/>
              <a:gd name="csX4" fmla="*/ 561807 w 6858000"/>
              <a:gd name="csY4" fmla="*/ 8661918 h 9144000"/>
              <a:gd name="csX5" fmla="*/ 561807 w 6858000"/>
              <a:gd name="csY5" fmla="*/ 8715918 h 9144000"/>
              <a:gd name="csX6" fmla="*/ 3153807 w 6858000"/>
              <a:gd name="csY6" fmla="*/ 8715918 h 9144000"/>
              <a:gd name="csX7" fmla="*/ 3153807 w 6858000"/>
              <a:gd name="csY7" fmla="*/ 8661918 h 9144000"/>
              <a:gd name="csX8" fmla="*/ 675779 w 6858000"/>
              <a:gd name="csY8" fmla="*/ 2537171 h 9144000"/>
              <a:gd name="csX9" fmla="*/ 573444 w 6858000"/>
              <a:gd name="csY9" fmla="*/ 2639506 h 9144000"/>
              <a:gd name="csX10" fmla="*/ 675779 w 6858000"/>
              <a:gd name="csY10" fmla="*/ 2741841 h 9144000"/>
              <a:gd name="csX11" fmla="*/ 778114 w 6858000"/>
              <a:gd name="csY11" fmla="*/ 2639506 h 9144000"/>
              <a:gd name="csX12" fmla="*/ 675779 w 6858000"/>
              <a:gd name="csY12" fmla="*/ 2537171 h 9144000"/>
              <a:gd name="csX13" fmla="*/ 675779 w 6858000"/>
              <a:gd name="csY13" fmla="*/ 667145 h 9144000"/>
              <a:gd name="csX14" fmla="*/ 573444 w 6858000"/>
              <a:gd name="csY14" fmla="*/ 769480 h 9144000"/>
              <a:gd name="csX15" fmla="*/ 675779 w 6858000"/>
              <a:gd name="csY15" fmla="*/ 871815 h 9144000"/>
              <a:gd name="csX16" fmla="*/ 778114 w 6858000"/>
              <a:gd name="csY16" fmla="*/ 769480 h 9144000"/>
              <a:gd name="csX17" fmla="*/ 675779 w 6858000"/>
              <a:gd name="csY17" fmla="*/ 667145 h 9144000"/>
              <a:gd name="csX18" fmla="*/ 561806 w 6858000"/>
              <a:gd name="csY18" fmla="*/ 440277 h 9144000"/>
              <a:gd name="csX19" fmla="*/ 561806 w 6858000"/>
              <a:gd name="csY19" fmla="*/ 494277 h 9144000"/>
              <a:gd name="csX20" fmla="*/ 6317999 w 6858000"/>
              <a:gd name="csY20" fmla="*/ 494277 h 9144000"/>
              <a:gd name="csX21" fmla="*/ 6317999 w 6858000"/>
              <a:gd name="csY21" fmla="*/ 440277 h 9144000"/>
              <a:gd name="csX22" fmla="*/ 0 w 6858000"/>
              <a:gd name="csY22" fmla="*/ 0 h 9144000"/>
              <a:gd name="csX23" fmla="*/ 6858000 w 6858000"/>
              <a:gd name="csY23" fmla="*/ 0 h 9144000"/>
              <a:gd name="csX24" fmla="*/ 6858000 w 6858000"/>
              <a:gd name="csY24" fmla="*/ 9144000 h 9144000"/>
              <a:gd name="csX25" fmla="*/ 0 w 6858000"/>
              <a:gd name="csY25" fmla="*/ 9144000 h 914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6858000" h="9144000">
                <a:moveTo>
                  <a:pt x="3742113" y="8661918"/>
                </a:moveTo>
                <a:lnTo>
                  <a:pt x="3742113" y="8715918"/>
                </a:lnTo>
                <a:lnTo>
                  <a:pt x="6334113" y="8715918"/>
                </a:lnTo>
                <a:lnTo>
                  <a:pt x="6334113" y="8661918"/>
                </a:lnTo>
                <a:close/>
                <a:moveTo>
                  <a:pt x="561807" y="8661918"/>
                </a:moveTo>
                <a:lnTo>
                  <a:pt x="561807" y="8715918"/>
                </a:lnTo>
                <a:lnTo>
                  <a:pt x="3153807" y="8715918"/>
                </a:lnTo>
                <a:lnTo>
                  <a:pt x="3153807" y="8661918"/>
                </a:lnTo>
                <a:close/>
                <a:moveTo>
                  <a:pt x="675779" y="2537171"/>
                </a:moveTo>
                <a:cubicBezTo>
                  <a:pt x="619261" y="2537171"/>
                  <a:pt x="573444" y="2582988"/>
                  <a:pt x="573444" y="2639506"/>
                </a:cubicBezTo>
                <a:cubicBezTo>
                  <a:pt x="573444" y="2696024"/>
                  <a:pt x="619261" y="2741841"/>
                  <a:pt x="675779" y="2741841"/>
                </a:cubicBezTo>
                <a:cubicBezTo>
                  <a:pt x="732297" y="2741841"/>
                  <a:pt x="778114" y="2696024"/>
                  <a:pt x="778114" y="2639506"/>
                </a:cubicBezTo>
                <a:cubicBezTo>
                  <a:pt x="778114" y="2582988"/>
                  <a:pt x="732297" y="2537171"/>
                  <a:pt x="675779" y="2537171"/>
                </a:cubicBezTo>
                <a:close/>
                <a:moveTo>
                  <a:pt x="675779" y="667145"/>
                </a:moveTo>
                <a:cubicBezTo>
                  <a:pt x="619261" y="667145"/>
                  <a:pt x="573444" y="712962"/>
                  <a:pt x="573444" y="769480"/>
                </a:cubicBezTo>
                <a:cubicBezTo>
                  <a:pt x="573444" y="825998"/>
                  <a:pt x="619261" y="871815"/>
                  <a:pt x="675779" y="871815"/>
                </a:cubicBezTo>
                <a:cubicBezTo>
                  <a:pt x="732297" y="871815"/>
                  <a:pt x="778114" y="825998"/>
                  <a:pt x="778114" y="769480"/>
                </a:cubicBezTo>
                <a:cubicBezTo>
                  <a:pt x="778114" y="712962"/>
                  <a:pt x="732297" y="667145"/>
                  <a:pt x="675779" y="667145"/>
                </a:cubicBezTo>
                <a:close/>
                <a:moveTo>
                  <a:pt x="561806" y="440277"/>
                </a:moveTo>
                <a:lnTo>
                  <a:pt x="561806" y="494277"/>
                </a:lnTo>
                <a:lnTo>
                  <a:pt x="6317999" y="494277"/>
                </a:lnTo>
                <a:lnTo>
                  <a:pt x="6317999" y="440277"/>
                </a:ln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E81D05A-D858-D5EC-C492-C552F333E4D7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latin typeface="Jost" pitchFamily="2" charset="0"/>
                <a:ea typeface="Jost" pitchFamily="2" charset="0"/>
              </a:rPr>
              <a:t>2</a:t>
            </a:r>
            <a:endParaRPr kumimoji="1" lang="ja-JP" altLang="en-US" dirty="0">
              <a:latin typeface="Jost" pitchFamily="2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D593E1-AFC5-F28D-4557-9A0CB190328D}"/>
              </a:ext>
            </a:extLst>
          </p:cNvPr>
          <p:cNvSpPr txBox="1"/>
          <p:nvPr/>
        </p:nvSpPr>
        <p:spPr>
          <a:xfrm>
            <a:off x="770844" y="610017"/>
            <a:ext cx="24112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Jost Medium" pitchFamily="2" charset="0"/>
                <a:ea typeface="Jost Medium" pitchFamily="2" charset="0"/>
              </a:rPr>
              <a:t>3. FlexChroma HUB</a:t>
            </a:r>
            <a:endParaRPr kumimoji="1" lang="ja-JP" altLang="en-US" sz="2400" b="1" dirty="0">
              <a:latin typeface="Jost Medium" pitchFamily="2" charset="0"/>
              <a:ea typeface="IBM Plex Sans JP SemiBold" panose="020B0703050203000203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2D9A138-D740-7FC7-285F-7BC489AD1880}"/>
              </a:ext>
            </a:extLst>
          </p:cNvPr>
          <p:cNvSpPr txBox="1"/>
          <p:nvPr/>
        </p:nvSpPr>
        <p:spPr>
          <a:xfrm>
            <a:off x="668508" y="950188"/>
            <a:ext cx="56494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The </a:t>
            </a:r>
            <a:r>
              <a:rPr lang="en-US" altLang="ja-JP" sz="1000" dirty="0">
                <a:latin typeface="Jost SemiBold" pitchFamily="2" charset="0"/>
                <a:ea typeface="Jost SemiBold" pitchFamily="2" charset="0"/>
                <a:cs typeface="Segoe UI Semibold" panose="020B0702040204020203" pitchFamily="34" charset="0"/>
              </a:rPr>
              <a:t>FlexChroma</a:t>
            </a:r>
            <a:r>
              <a:rPr lang="en-US" altLang="ja-JP" sz="1000" dirty="0">
                <a:latin typeface="Jost" pitchFamily="2" charset="0"/>
                <a:ea typeface="Jost" pitchFamily="2" charset="0"/>
                <a:cs typeface="Segoe UI Semibold" panose="020B0702040204020203" pitchFamily="34" charset="0"/>
              </a:rPr>
              <a:t> HUB 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is the main entry point on MakerWorld, providing access to all Series and external portals. If you are unsure where to start, open this model first.</a:t>
            </a:r>
            <a:endParaRPr kumimoji="1" lang="ja-JP" altLang="en-US" sz="500" b="1" dirty="0">
              <a:latin typeface="Jost" pitchFamily="2" charset="0"/>
              <a:ea typeface="IBM Plex Sans JP" panose="020B0503050203000203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6872703-F4A6-0524-CE15-035DB1EFF6BC}"/>
              </a:ext>
            </a:extLst>
          </p:cNvPr>
          <p:cNvSpPr txBox="1"/>
          <p:nvPr/>
        </p:nvSpPr>
        <p:spPr>
          <a:xfrm>
            <a:off x="770844" y="2482749"/>
            <a:ext cx="2153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Jost" pitchFamily="2" charset="0"/>
                <a:ea typeface="Jost" pitchFamily="2" charset="0"/>
              </a:rPr>
              <a:t>4. </a:t>
            </a:r>
            <a:r>
              <a:rPr lang="en-US" altLang="ja-JP" sz="2000" dirty="0">
                <a:latin typeface="Jost Medium" pitchFamily="2" charset="0"/>
                <a:ea typeface="Jost Medium" pitchFamily="2" charset="0"/>
              </a:rPr>
              <a:t>Blend Filament</a:t>
            </a:r>
            <a:endParaRPr kumimoji="1" lang="ja-JP" altLang="en-US" sz="2800" b="1" dirty="0">
              <a:latin typeface="Jost Medium" pitchFamily="2" charset="0"/>
              <a:ea typeface="IBM Plex Sans JP SemiBold" panose="020B0703050203000203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DCA0FD3-2AD6-8196-0CA2-8A9BA0C58C07}"/>
              </a:ext>
            </a:extLst>
          </p:cNvPr>
          <p:cNvSpPr txBox="1"/>
          <p:nvPr/>
        </p:nvSpPr>
        <p:spPr>
          <a:xfrm>
            <a:off x="668509" y="2862400"/>
            <a:ext cx="5642222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The </a:t>
            </a:r>
            <a:r>
              <a:rPr lang="en-US" altLang="ja-JP" sz="1000" dirty="0">
                <a:latin typeface="Jost Medium" pitchFamily="2" charset="0"/>
                <a:ea typeface="Jost Medium" pitchFamily="2" charset="0"/>
              </a:rPr>
              <a:t>Blend Filament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 Series is the most basic </a:t>
            </a:r>
            <a:r>
              <a:rPr lang="en-US" altLang="ja-JP" sz="1000" dirty="0">
                <a:latin typeface="Jost SemiBold" pitchFamily="2" charset="0"/>
                <a:ea typeface="Jost SemiBold" pitchFamily="2" charset="0"/>
              </a:rPr>
              <a:t>FlexChroma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 lineup. It allows you to mix two filaments at various ratios to create your own custom color.</a:t>
            </a: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Each model supports blend ratios from 50% to 99.5</a:t>
            </a:r>
            <a:r>
              <a:rPr lang="en-US" altLang="ja-JP" sz="1000" b="1" dirty="0">
                <a:latin typeface="Jost" pitchFamily="2" charset="0"/>
                <a:ea typeface="Jost" pitchFamily="2" charset="0"/>
              </a:rPr>
              <a:t>%. For ratios below 50%, simply swap Filament A and Filament B.</a:t>
            </a:r>
          </a:p>
          <a:p>
            <a:endParaRPr lang="en-US" altLang="ja-JP" sz="600" dirty="0">
              <a:latin typeface="Jost" pitchFamily="2" charset="0"/>
              <a:ea typeface="Jost" pitchFamily="2" charset="0"/>
            </a:endParaRP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Example: To create a filament with 25% cyan mixed into yellow, read the Plate value as the ratio of Filament A, interpret it as 75% yellow, and slice the model accordingly.</a:t>
            </a:r>
            <a:endParaRPr kumimoji="1" lang="ja-JP" altLang="en-US" sz="1000" b="1" dirty="0">
              <a:latin typeface="Jost" pitchFamily="2" charset="0"/>
              <a:ea typeface="IBM Plex Sans JP" panose="020B0503050203000203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5635CF7-D051-AD54-1962-B3F88F0CD91D}"/>
              </a:ext>
            </a:extLst>
          </p:cNvPr>
          <p:cNvSpPr txBox="1"/>
          <p:nvPr/>
        </p:nvSpPr>
        <p:spPr>
          <a:xfrm>
            <a:off x="668508" y="5046262"/>
            <a:ext cx="56422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The following is the model configuration for </a:t>
            </a:r>
            <a:r>
              <a:rPr lang="en-US" altLang="ja-JP" sz="1000" dirty="0">
                <a:latin typeface="Jost Medium" pitchFamily="2" charset="0"/>
                <a:ea typeface="Jost Medium" pitchFamily="2" charset="0"/>
              </a:rPr>
              <a:t>Blend Filament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.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5A0E303-44A6-B424-79E0-F48B5D56A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83" y="4074574"/>
            <a:ext cx="5438111" cy="84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BE949B37-6222-F9ED-D7E1-A6E32CBDB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794" y="5319864"/>
            <a:ext cx="4882532" cy="321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3CEC233C-4402-A35E-A355-327A0C73C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063" y="1376280"/>
            <a:ext cx="4079993" cy="983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106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67864-7223-A35A-8885-9847934B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BF79675-6756-A9B6-2AA6-D70C7255927C}"/>
              </a:ext>
            </a:extLst>
          </p:cNvPr>
          <p:cNvSpPr/>
          <p:nvPr/>
        </p:nvSpPr>
        <p:spPr>
          <a:xfrm>
            <a:off x="51086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571608ED-DE4C-CDF5-E922-1E67908825CE}"/>
              </a:ext>
            </a:extLst>
          </p:cNvPr>
          <p:cNvSpPr/>
          <p:nvPr/>
        </p:nvSpPr>
        <p:spPr>
          <a:xfrm>
            <a:off x="17051" y="5531"/>
            <a:ext cx="6858000" cy="9144000"/>
          </a:xfrm>
          <a:custGeom>
            <a:avLst/>
            <a:gdLst>
              <a:gd name="csX0" fmla="*/ 3717793 w 6858000"/>
              <a:gd name="csY0" fmla="*/ 8656386 h 9144000"/>
              <a:gd name="csX1" fmla="*/ 3717793 w 6858000"/>
              <a:gd name="csY1" fmla="*/ 8710386 h 9144000"/>
              <a:gd name="csX2" fmla="*/ 6309793 w 6858000"/>
              <a:gd name="csY2" fmla="*/ 8710386 h 9144000"/>
              <a:gd name="csX3" fmla="*/ 6309793 w 6858000"/>
              <a:gd name="csY3" fmla="*/ 8656386 h 9144000"/>
              <a:gd name="csX4" fmla="*/ 537487 w 6858000"/>
              <a:gd name="csY4" fmla="*/ 8656386 h 9144000"/>
              <a:gd name="csX5" fmla="*/ 537487 w 6858000"/>
              <a:gd name="csY5" fmla="*/ 8710386 h 9144000"/>
              <a:gd name="csX6" fmla="*/ 3129487 w 6858000"/>
              <a:gd name="csY6" fmla="*/ 8710386 h 9144000"/>
              <a:gd name="csX7" fmla="*/ 3129487 w 6858000"/>
              <a:gd name="csY7" fmla="*/ 8656386 h 9144000"/>
              <a:gd name="csX8" fmla="*/ 651459 w 6858000"/>
              <a:gd name="csY8" fmla="*/ 672371 h 9144000"/>
              <a:gd name="csX9" fmla="*/ 549124 w 6858000"/>
              <a:gd name="csY9" fmla="*/ 774706 h 9144000"/>
              <a:gd name="csX10" fmla="*/ 651459 w 6858000"/>
              <a:gd name="csY10" fmla="*/ 877041 h 9144000"/>
              <a:gd name="csX11" fmla="*/ 753794 w 6858000"/>
              <a:gd name="csY11" fmla="*/ 774706 h 9144000"/>
              <a:gd name="csX12" fmla="*/ 651459 w 6858000"/>
              <a:gd name="csY12" fmla="*/ 672371 h 9144000"/>
              <a:gd name="csX13" fmla="*/ 537486 w 6858000"/>
              <a:gd name="csY13" fmla="*/ 434745 h 9144000"/>
              <a:gd name="csX14" fmla="*/ 537486 w 6858000"/>
              <a:gd name="csY14" fmla="*/ 488745 h 9144000"/>
              <a:gd name="csX15" fmla="*/ 6293679 w 6858000"/>
              <a:gd name="csY15" fmla="*/ 488745 h 9144000"/>
              <a:gd name="csX16" fmla="*/ 6293679 w 6858000"/>
              <a:gd name="csY16" fmla="*/ 434745 h 9144000"/>
              <a:gd name="csX17" fmla="*/ 0 w 6858000"/>
              <a:gd name="csY17" fmla="*/ 0 h 9144000"/>
              <a:gd name="csX18" fmla="*/ 6858000 w 6858000"/>
              <a:gd name="csY18" fmla="*/ 0 h 9144000"/>
              <a:gd name="csX19" fmla="*/ 6858000 w 6858000"/>
              <a:gd name="csY19" fmla="*/ 9144000 h 9144000"/>
              <a:gd name="csX20" fmla="*/ 0 w 6858000"/>
              <a:gd name="csY20" fmla="*/ 9144000 h 914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6858000" h="9144000">
                <a:moveTo>
                  <a:pt x="3717793" y="8656386"/>
                </a:moveTo>
                <a:lnTo>
                  <a:pt x="3717793" y="8710386"/>
                </a:lnTo>
                <a:lnTo>
                  <a:pt x="6309793" y="8710386"/>
                </a:lnTo>
                <a:lnTo>
                  <a:pt x="6309793" y="8656386"/>
                </a:lnTo>
                <a:close/>
                <a:moveTo>
                  <a:pt x="537487" y="8656386"/>
                </a:moveTo>
                <a:lnTo>
                  <a:pt x="537487" y="8710386"/>
                </a:lnTo>
                <a:lnTo>
                  <a:pt x="3129487" y="8710386"/>
                </a:lnTo>
                <a:lnTo>
                  <a:pt x="3129487" y="8656386"/>
                </a:lnTo>
                <a:close/>
                <a:moveTo>
                  <a:pt x="651459" y="672371"/>
                </a:moveTo>
                <a:cubicBezTo>
                  <a:pt x="594941" y="672371"/>
                  <a:pt x="549124" y="718188"/>
                  <a:pt x="549124" y="774706"/>
                </a:cubicBezTo>
                <a:cubicBezTo>
                  <a:pt x="549124" y="831224"/>
                  <a:pt x="594941" y="877041"/>
                  <a:pt x="651459" y="877041"/>
                </a:cubicBezTo>
                <a:cubicBezTo>
                  <a:pt x="707977" y="877041"/>
                  <a:pt x="753794" y="831224"/>
                  <a:pt x="753794" y="774706"/>
                </a:cubicBezTo>
                <a:cubicBezTo>
                  <a:pt x="753794" y="718188"/>
                  <a:pt x="707977" y="672371"/>
                  <a:pt x="651459" y="672371"/>
                </a:cubicBezTo>
                <a:close/>
                <a:moveTo>
                  <a:pt x="537486" y="434745"/>
                </a:moveTo>
                <a:lnTo>
                  <a:pt x="537486" y="488745"/>
                </a:lnTo>
                <a:lnTo>
                  <a:pt x="6293679" y="488745"/>
                </a:lnTo>
                <a:lnTo>
                  <a:pt x="6293679" y="434745"/>
                </a:ln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8F8CD14-4822-98FE-7615-3E24E131D4E6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latin typeface="Jost" pitchFamily="2" charset="0"/>
                <a:ea typeface="Jost" pitchFamily="2" charset="0"/>
              </a:rPr>
              <a:t>3</a:t>
            </a:r>
            <a:endParaRPr kumimoji="1" lang="ja-JP" altLang="en-US" dirty="0">
              <a:latin typeface="Jost" pitchFamily="2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D5B0321-E888-C769-46F5-C749D5258E43}"/>
              </a:ext>
            </a:extLst>
          </p:cNvPr>
          <p:cNvSpPr txBox="1"/>
          <p:nvPr/>
        </p:nvSpPr>
        <p:spPr>
          <a:xfrm>
            <a:off x="770844" y="610017"/>
            <a:ext cx="2497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Jost Medium" pitchFamily="2" charset="0"/>
                <a:ea typeface="Jost Medium" pitchFamily="2" charset="0"/>
              </a:rPr>
              <a:t>5. Gradient Filament</a:t>
            </a:r>
            <a:endParaRPr kumimoji="1" lang="ja-JP" altLang="en-US" sz="2400" b="1" dirty="0">
              <a:latin typeface="Jost Medium" pitchFamily="2" charset="0"/>
              <a:ea typeface="IBM Plex Sans JP SemiBold" panose="020B0703050203000203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1620E93-4564-F614-C1BE-6F8ED53CA3F0}"/>
              </a:ext>
            </a:extLst>
          </p:cNvPr>
          <p:cNvSpPr txBox="1"/>
          <p:nvPr/>
        </p:nvSpPr>
        <p:spPr>
          <a:xfrm>
            <a:off x="675778" y="4121818"/>
            <a:ext cx="56422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The following is the model configuration for </a:t>
            </a:r>
            <a:r>
              <a:rPr lang="en-US" altLang="ja-JP" sz="1000" dirty="0">
                <a:latin typeface="Jost Medium" pitchFamily="2" charset="0"/>
                <a:ea typeface="Jost Medium" pitchFamily="2" charset="0"/>
              </a:rPr>
              <a:t>Gradient Filament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.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7F27874-8D02-9DEA-92B7-2713D1A88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14" y="4447598"/>
            <a:ext cx="5521536" cy="3874587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E801F1B-F4B1-8C9F-E15C-60A385EE7CA4}"/>
              </a:ext>
            </a:extLst>
          </p:cNvPr>
          <p:cNvSpPr txBox="1"/>
          <p:nvPr/>
        </p:nvSpPr>
        <p:spPr>
          <a:xfrm>
            <a:off x="668508" y="1032957"/>
            <a:ext cx="564949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The </a:t>
            </a:r>
            <a:r>
              <a:rPr lang="en-US" altLang="ja-JP" sz="1000" dirty="0">
                <a:latin typeface="Jost Medium" pitchFamily="2" charset="0"/>
                <a:ea typeface="Jost Medium" pitchFamily="2" charset="0"/>
              </a:rPr>
              <a:t>Gradient Filament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 Series provides multiple color-changing Profiles and Plates with different cycle counts. Details vary by model, so please refer to each model’s description.</a:t>
            </a:r>
          </a:p>
          <a:p>
            <a:endParaRPr lang="en-US" altLang="ja-JP" sz="1000" dirty="0">
              <a:latin typeface="Jost" pitchFamily="2" charset="0"/>
              <a:ea typeface="Jost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000" dirty="0">
                <a:latin typeface="Jost" pitchFamily="2" charset="0"/>
                <a:ea typeface="Jost" pitchFamily="2" charset="0"/>
              </a:rPr>
              <a:t>Color Curve: Settings based on color combinations. This option allows you to select the optimal gradient for each color—for example, “Vivid” for cyan and yellow, or “Contrast” for white and magenta.</a:t>
            </a:r>
          </a:p>
          <a:p>
            <a:endParaRPr lang="en-US" altLang="ja-JP" sz="600" dirty="0">
              <a:latin typeface="Jost" pitchFamily="2" charset="0"/>
              <a:ea typeface="Jost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000" dirty="0">
                <a:latin typeface="Jost" pitchFamily="2" charset="0"/>
                <a:ea typeface="Jost" pitchFamily="2" charset="0"/>
              </a:rPr>
              <a:t>Number of cycles: The number that determines the frequency of the gradient. One cycle is counted as one complete cycle in which the filament changes from A to B to A and back.</a:t>
            </a:r>
          </a:p>
          <a:p>
            <a:endParaRPr lang="en-US" altLang="ja-JP" sz="1000" dirty="0">
              <a:latin typeface="Jost" pitchFamily="2" charset="0"/>
              <a:ea typeface="Jost" pitchFamily="2" charset="0"/>
            </a:endParaRPr>
          </a:p>
          <a:p>
            <a:r>
              <a:rPr lang="en-US" altLang="ja-JP" sz="1000" dirty="0">
                <a:latin typeface="Jost" pitchFamily="2" charset="0"/>
                <a:ea typeface="Jost" pitchFamily="2" charset="0"/>
              </a:rPr>
              <a:t>Example: To create a fast-cycle </a:t>
            </a:r>
            <a:r>
              <a:rPr lang="en-US" altLang="ja-JP" sz="1000" dirty="0">
                <a:latin typeface="Jost Medium" pitchFamily="2" charset="0"/>
                <a:ea typeface="Jost Medium" pitchFamily="2" charset="0"/>
              </a:rPr>
              <a:t>gradient filament</a:t>
            </a:r>
            <a:r>
              <a:rPr lang="en-US" altLang="ja-JP" sz="1000" dirty="0">
                <a:latin typeface="Jost" pitchFamily="2" charset="0"/>
                <a:ea typeface="Jost" pitchFamily="2" charset="0"/>
              </a:rPr>
              <a:t> using cyan and magenta, select an S4 Model, choose a 4-cycle Plate, and use the Vivid curve Profile due to the high color contrast.</a:t>
            </a:r>
            <a:endParaRPr kumimoji="1" lang="ja-JP" altLang="en-US" sz="1000" b="1" dirty="0">
              <a:latin typeface="Jost" pitchFamily="2" charset="0"/>
              <a:ea typeface="IBM Plex Sans JP" panose="020B0503050203000203" pitchFamily="50" charset="-128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3C23D8A-9444-D2FD-03C4-56DBB93F3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49" y="3048166"/>
            <a:ext cx="5614266" cy="919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516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01251-86CB-DBBA-1B7B-B580454E9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6EE26175-C68E-765D-05A2-E9D1F0570E98}"/>
              </a:ext>
            </a:extLst>
          </p:cNvPr>
          <p:cNvSpPr/>
          <p:nvPr/>
        </p:nvSpPr>
        <p:spPr>
          <a:xfrm>
            <a:off x="51086" y="45268"/>
            <a:ext cx="6790099" cy="9053465"/>
          </a:xfrm>
          <a:prstGeom prst="rect">
            <a:avLst/>
          </a:prstGeom>
          <a:gradFill>
            <a:gsLst>
              <a:gs pos="50000">
                <a:srgbClr val="6200E8"/>
              </a:gs>
              <a:gs pos="10000">
                <a:srgbClr val="EE00B0"/>
              </a:gs>
              <a:gs pos="90000">
                <a:srgbClr val="0095E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ED1F1C13-3E9A-2224-0EBF-ED61B4586D28}"/>
              </a:ext>
            </a:extLst>
          </p:cNvPr>
          <p:cNvSpPr/>
          <p:nvPr/>
        </p:nvSpPr>
        <p:spPr>
          <a:xfrm>
            <a:off x="17051" y="5531"/>
            <a:ext cx="6858000" cy="9144000"/>
          </a:xfrm>
          <a:custGeom>
            <a:avLst/>
            <a:gdLst>
              <a:gd name="csX0" fmla="*/ 3717793 w 6858000"/>
              <a:gd name="csY0" fmla="*/ 8656386 h 9144000"/>
              <a:gd name="csX1" fmla="*/ 3717793 w 6858000"/>
              <a:gd name="csY1" fmla="*/ 8710386 h 9144000"/>
              <a:gd name="csX2" fmla="*/ 6309793 w 6858000"/>
              <a:gd name="csY2" fmla="*/ 8710386 h 9144000"/>
              <a:gd name="csX3" fmla="*/ 6309793 w 6858000"/>
              <a:gd name="csY3" fmla="*/ 8656386 h 9144000"/>
              <a:gd name="csX4" fmla="*/ 537487 w 6858000"/>
              <a:gd name="csY4" fmla="*/ 8656386 h 9144000"/>
              <a:gd name="csX5" fmla="*/ 537487 w 6858000"/>
              <a:gd name="csY5" fmla="*/ 8710386 h 9144000"/>
              <a:gd name="csX6" fmla="*/ 3129487 w 6858000"/>
              <a:gd name="csY6" fmla="*/ 8710386 h 9144000"/>
              <a:gd name="csX7" fmla="*/ 3129487 w 6858000"/>
              <a:gd name="csY7" fmla="*/ 8656386 h 9144000"/>
              <a:gd name="csX8" fmla="*/ 631632 w 6858000"/>
              <a:gd name="csY8" fmla="*/ 811545 h 9144000"/>
              <a:gd name="csX9" fmla="*/ 529297 w 6858000"/>
              <a:gd name="csY9" fmla="*/ 913880 h 9144000"/>
              <a:gd name="csX10" fmla="*/ 631632 w 6858000"/>
              <a:gd name="csY10" fmla="*/ 1016215 h 9144000"/>
              <a:gd name="csX11" fmla="*/ 733967 w 6858000"/>
              <a:gd name="csY11" fmla="*/ 913880 h 9144000"/>
              <a:gd name="csX12" fmla="*/ 631632 w 6858000"/>
              <a:gd name="csY12" fmla="*/ 811545 h 9144000"/>
              <a:gd name="csX13" fmla="*/ 537486 w 6858000"/>
              <a:gd name="csY13" fmla="*/ 434745 h 9144000"/>
              <a:gd name="csX14" fmla="*/ 537486 w 6858000"/>
              <a:gd name="csY14" fmla="*/ 488745 h 9144000"/>
              <a:gd name="csX15" fmla="*/ 6293679 w 6858000"/>
              <a:gd name="csY15" fmla="*/ 488745 h 9144000"/>
              <a:gd name="csX16" fmla="*/ 6293679 w 6858000"/>
              <a:gd name="csY16" fmla="*/ 434745 h 9144000"/>
              <a:gd name="csX17" fmla="*/ 0 w 6858000"/>
              <a:gd name="csY17" fmla="*/ 0 h 9144000"/>
              <a:gd name="csX18" fmla="*/ 6858000 w 6858000"/>
              <a:gd name="csY18" fmla="*/ 0 h 9144000"/>
              <a:gd name="csX19" fmla="*/ 6858000 w 6858000"/>
              <a:gd name="csY19" fmla="*/ 9144000 h 9144000"/>
              <a:gd name="csX20" fmla="*/ 0 w 6858000"/>
              <a:gd name="csY20" fmla="*/ 9144000 h 914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6858000" h="9144000">
                <a:moveTo>
                  <a:pt x="3717793" y="8656386"/>
                </a:moveTo>
                <a:lnTo>
                  <a:pt x="3717793" y="8710386"/>
                </a:lnTo>
                <a:lnTo>
                  <a:pt x="6309793" y="8710386"/>
                </a:lnTo>
                <a:lnTo>
                  <a:pt x="6309793" y="8656386"/>
                </a:lnTo>
                <a:close/>
                <a:moveTo>
                  <a:pt x="537487" y="8656386"/>
                </a:moveTo>
                <a:lnTo>
                  <a:pt x="537487" y="8710386"/>
                </a:lnTo>
                <a:lnTo>
                  <a:pt x="3129487" y="8710386"/>
                </a:lnTo>
                <a:lnTo>
                  <a:pt x="3129487" y="8656386"/>
                </a:lnTo>
                <a:close/>
                <a:moveTo>
                  <a:pt x="631632" y="811545"/>
                </a:moveTo>
                <a:cubicBezTo>
                  <a:pt x="575114" y="811545"/>
                  <a:pt x="529297" y="857362"/>
                  <a:pt x="529297" y="913880"/>
                </a:cubicBezTo>
                <a:cubicBezTo>
                  <a:pt x="529297" y="970398"/>
                  <a:pt x="575114" y="1016215"/>
                  <a:pt x="631632" y="1016215"/>
                </a:cubicBezTo>
                <a:cubicBezTo>
                  <a:pt x="688150" y="1016215"/>
                  <a:pt x="733967" y="970398"/>
                  <a:pt x="733967" y="913880"/>
                </a:cubicBezTo>
                <a:cubicBezTo>
                  <a:pt x="733967" y="857362"/>
                  <a:pt x="688150" y="811545"/>
                  <a:pt x="631632" y="811545"/>
                </a:cubicBezTo>
                <a:close/>
                <a:moveTo>
                  <a:pt x="537486" y="434745"/>
                </a:moveTo>
                <a:lnTo>
                  <a:pt x="537486" y="488745"/>
                </a:lnTo>
                <a:lnTo>
                  <a:pt x="6293679" y="488745"/>
                </a:lnTo>
                <a:lnTo>
                  <a:pt x="6293679" y="434745"/>
                </a:ln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144000"/>
                </a:lnTo>
                <a:lnTo>
                  <a:pt x="0" y="9144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626FF6B-F561-C55E-58FD-38BB7511D092}"/>
              </a:ext>
            </a:extLst>
          </p:cNvPr>
          <p:cNvSpPr txBox="1"/>
          <p:nvPr/>
        </p:nvSpPr>
        <p:spPr>
          <a:xfrm>
            <a:off x="3163826" y="8511531"/>
            <a:ext cx="57573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dirty="0">
                <a:latin typeface="Jost" pitchFamily="2" charset="0"/>
                <a:ea typeface="Jost" pitchFamily="2" charset="0"/>
              </a:rPr>
              <a:t>4</a:t>
            </a:r>
            <a:endParaRPr kumimoji="1" lang="ja-JP" altLang="en-US" dirty="0">
              <a:latin typeface="Jost" pitchFamily="2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42A7B74-6A88-0D93-AB89-DDED0831AB32}"/>
              </a:ext>
            </a:extLst>
          </p:cNvPr>
          <p:cNvSpPr txBox="1"/>
          <p:nvPr/>
        </p:nvSpPr>
        <p:spPr>
          <a:xfrm>
            <a:off x="778114" y="784294"/>
            <a:ext cx="1715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Jost" pitchFamily="2" charset="0"/>
                <a:ea typeface="Jost" pitchFamily="2" charset="0"/>
              </a:rPr>
              <a:t>6. Update History</a:t>
            </a:r>
            <a:endParaRPr kumimoji="1" lang="ja-JP" altLang="en-US" b="1" dirty="0">
              <a:latin typeface="Jost" pitchFamily="2" charset="0"/>
              <a:ea typeface="IBM Plex Sans JP SemiBold" panose="020B0703050203000203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753C125-1CB6-7E3A-FE2E-1843A9373113}"/>
              </a:ext>
            </a:extLst>
          </p:cNvPr>
          <p:cNvSpPr txBox="1"/>
          <p:nvPr/>
        </p:nvSpPr>
        <p:spPr>
          <a:xfrm>
            <a:off x="638323" y="1115240"/>
            <a:ext cx="5649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900" dirty="0">
                <a:latin typeface="Jost" pitchFamily="2" charset="0"/>
                <a:ea typeface="Jost" pitchFamily="2" charset="0"/>
              </a:rPr>
              <a:t>Ver.1.00  2026-07-02  First Edition Published</a:t>
            </a:r>
          </a:p>
          <a:p>
            <a:r>
              <a:rPr lang="en-US" altLang="ja-JP" sz="900" dirty="0">
                <a:latin typeface="Jost" pitchFamily="2" charset="0"/>
                <a:ea typeface="Jost" pitchFamily="2" charset="0"/>
              </a:rPr>
              <a:t>Ver.1.10  2026-07-22  Revisions for Integrated Design</a:t>
            </a:r>
          </a:p>
          <a:p>
            <a:r>
              <a:rPr lang="en-US" altLang="ja-JP" sz="900" dirty="0">
                <a:latin typeface="Jost" pitchFamily="2" charset="0"/>
                <a:ea typeface="Jost" pitchFamily="2" charset="0"/>
              </a:rPr>
              <a:t>Ver.1.11  2026-08-08  Revisions to align with the Japanese version</a:t>
            </a:r>
          </a:p>
          <a:p>
            <a:r>
              <a:rPr lang="en-US" altLang="ja-JP" sz="900" dirty="0">
                <a:latin typeface="Jost" pitchFamily="2" charset="0"/>
                <a:ea typeface="Jost" pitchFamily="2" charset="0"/>
              </a:rPr>
              <a:t>Ver.1.12  2026-09-16  Applying the Brand Typeface</a:t>
            </a:r>
          </a:p>
        </p:txBody>
      </p:sp>
    </p:spTree>
    <p:extLst>
      <p:ext uri="{BB962C8B-B14F-4D97-AF65-F5344CB8AC3E}">
        <p14:creationId xmlns:p14="http://schemas.microsoft.com/office/powerpoint/2010/main" val="91702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318</TotalTime>
  <Words>1131</Words>
  <Application>Microsoft Office PowerPoint</Application>
  <PresentationFormat>画面に合わせる (4:3)</PresentationFormat>
  <Paragraphs>85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Jost</vt:lpstr>
      <vt:lpstr>Jost Medium</vt:lpstr>
      <vt:lpstr>Jost SemiBold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MAKOTO YAZAKI (矢﨑 誠)</dc:creator>
  <cp:lastModifiedBy>MAKOTO YAZAKI (矢﨑 誠)</cp:lastModifiedBy>
  <cp:revision>22</cp:revision>
  <cp:lastPrinted>2026-08-16T12:54:54Z</cp:lastPrinted>
  <dcterms:created xsi:type="dcterms:W3CDTF">2026-07-22T02:46:18Z</dcterms:created>
  <dcterms:modified xsi:type="dcterms:W3CDTF">2026-09-16T07:11:01Z</dcterms:modified>
</cp:coreProperties>
</file>