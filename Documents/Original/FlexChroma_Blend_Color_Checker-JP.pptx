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66" r:id="rId3"/>
    <p:sldId id="258" r:id="rId4"/>
    <p:sldId id="259" r:id="rId5"/>
    <p:sldId id="260" r:id="rId6"/>
    <p:sldId id="265" r:id="rId7"/>
    <p:sldId id="262" r:id="rId8"/>
    <p:sldId id="263" r:id="rId9"/>
    <p:sldId id="264" r:id="rId10"/>
  </p:sldIdLst>
  <p:sldSz cx="6858000" cy="9144000" type="screen4x3"/>
  <p:notesSz cx="7104063" cy="10234613"/>
  <p:embeddedFontLst>
    <p:embeddedFont>
      <p:font typeface="IBM Plex Sans JP" panose="020B0503050203000203" pitchFamily="50" charset="-128"/>
      <p:regular r:id="rId12"/>
      <p:bold r:id="rId13"/>
    </p:embeddedFont>
    <p:embeddedFont>
      <p:font typeface="Play" panose="020B0600070205080204" charset="0"/>
      <p:regular r:id="rId14"/>
      <p:bold r:id="rId15"/>
    </p:embeddedFont>
    <p:embeddedFont>
      <p:font typeface="Segoe UI Semibold" panose="020B0702040204020203" pitchFamily="34" charset="0"/>
      <p:bold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224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84225" y="767575"/>
            <a:ext cx="4736250" cy="3837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400" y="4861425"/>
            <a:ext cx="5683225" cy="46055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84225" y="767575"/>
            <a:ext cx="4736250" cy="3837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2B6369B1-81DC-C5FB-8971-9A1073A8F6EE}"/>
            </a:ext>
          </a:extLst>
        </p:cNvPr>
        <p:cNvGrpSpPr/>
        <p:nvPr/>
      </p:nvGrpSpPr>
      <p:grpSpPr>
        <a:xfrm>
          <a:off x="0" y="0"/>
          <a:ext cx="0" cy="0"/>
          <a:chOff x="0" y="0"/>
          <a:chExt cx="0" cy="0"/>
        </a:xfrm>
      </p:grpSpPr>
      <p:sp>
        <p:nvSpPr>
          <p:cNvPr id="96" name="Google Shape;96;p2:notes">
            <a:extLst>
              <a:ext uri="{FF2B5EF4-FFF2-40B4-BE49-F238E27FC236}">
                <a16:creationId xmlns:a16="http://schemas.microsoft.com/office/drawing/2014/main" id="{2C4B0A30-278A-1541-9BE0-42E3AF875F2B}"/>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a:extLst>
              <a:ext uri="{FF2B5EF4-FFF2-40B4-BE49-F238E27FC236}">
                <a16:creationId xmlns:a16="http://schemas.microsoft.com/office/drawing/2014/main" id="{F13751DA-0DF6-5635-23A9-461C90E57D92}"/>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2972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3: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4: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4: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5: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5: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5F7CAB4F-E48D-669B-5C65-328E1C1A42CF}"/>
            </a:ext>
          </a:extLst>
        </p:cNvPr>
        <p:cNvGrpSpPr/>
        <p:nvPr/>
      </p:nvGrpSpPr>
      <p:grpSpPr>
        <a:xfrm>
          <a:off x="0" y="0"/>
          <a:ext cx="0" cy="0"/>
          <a:chOff x="0" y="0"/>
          <a:chExt cx="0" cy="0"/>
        </a:xfrm>
      </p:grpSpPr>
      <p:sp>
        <p:nvSpPr>
          <p:cNvPr id="96" name="Google Shape;96;p2:notes">
            <a:extLst>
              <a:ext uri="{FF2B5EF4-FFF2-40B4-BE49-F238E27FC236}">
                <a16:creationId xmlns:a16="http://schemas.microsoft.com/office/drawing/2014/main" id="{D64D2B98-01F9-CCF5-75BF-F7A358783820}"/>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a:extLst>
              <a:ext uri="{FF2B5EF4-FFF2-40B4-BE49-F238E27FC236}">
                <a16:creationId xmlns:a16="http://schemas.microsoft.com/office/drawing/2014/main" id="{6B50359C-B709-9695-4204-4D2D90E295CC}"/>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91486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1B4DD514-B664-0710-584E-F651B6E9447A}"/>
            </a:ext>
          </a:extLst>
        </p:cNvPr>
        <p:cNvGrpSpPr/>
        <p:nvPr/>
      </p:nvGrpSpPr>
      <p:grpSpPr>
        <a:xfrm>
          <a:off x="0" y="0"/>
          <a:ext cx="0" cy="0"/>
          <a:chOff x="0" y="0"/>
          <a:chExt cx="0" cy="0"/>
        </a:xfrm>
      </p:grpSpPr>
      <p:sp>
        <p:nvSpPr>
          <p:cNvPr id="129" name="Google Shape;129;p3:notes">
            <a:extLst>
              <a:ext uri="{FF2B5EF4-FFF2-40B4-BE49-F238E27FC236}">
                <a16:creationId xmlns:a16="http://schemas.microsoft.com/office/drawing/2014/main" id="{EFF1DF28-AFFC-C821-1956-F274CE9573C0}"/>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3:notes">
            <a:extLst>
              <a:ext uri="{FF2B5EF4-FFF2-40B4-BE49-F238E27FC236}">
                <a16:creationId xmlns:a16="http://schemas.microsoft.com/office/drawing/2014/main" id="{4E89525F-3231-13E4-27FE-1907E6D718D9}"/>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3578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D37FC9E8-8D70-E330-D684-1BF5B14574C6}"/>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E8CC5A07-D6AF-0B4E-03CD-A5105A220EBC}"/>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4:notes">
            <a:extLst>
              <a:ext uri="{FF2B5EF4-FFF2-40B4-BE49-F238E27FC236}">
                <a16:creationId xmlns:a16="http://schemas.microsoft.com/office/drawing/2014/main" id="{C4D43622-ABD5-DD13-C0D5-1C182C9CDC3F}"/>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4744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2FEF1101-A710-5818-8E06-04CEEA02DAA2}"/>
            </a:ext>
          </a:extLst>
        </p:cNvPr>
        <p:cNvGrpSpPr/>
        <p:nvPr/>
      </p:nvGrpSpPr>
      <p:grpSpPr>
        <a:xfrm>
          <a:off x="0" y="0"/>
          <a:ext cx="0" cy="0"/>
          <a:chOff x="0" y="0"/>
          <a:chExt cx="0" cy="0"/>
        </a:xfrm>
      </p:grpSpPr>
      <p:sp>
        <p:nvSpPr>
          <p:cNvPr id="176" name="Google Shape;176;p5:notes">
            <a:extLst>
              <a:ext uri="{FF2B5EF4-FFF2-40B4-BE49-F238E27FC236}">
                <a16:creationId xmlns:a16="http://schemas.microsoft.com/office/drawing/2014/main" id="{759B2AEC-9BAE-A0D9-3385-B34B0DAB85B2}"/>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5:notes">
            <a:extLst>
              <a:ext uri="{FF2B5EF4-FFF2-40B4-BE49-F238E27FC236}">
                <a16:creationId xmlns:a16="http://schemas.microsoft.com/office/drawing/2014/main" id="{DB8D7338-DC14-5F93-10B9-6049BBAB811D}"/>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4956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514350" y="1496484"/>
            <a:ext cx="5829300" cy="318346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857250" y="4802717"/>
            <a:ext cx="5143500" cy="220768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4" name="Google Shape;14;p2"/>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71488" y="2434167"/>
            <a:ext cx="5915025"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67916" y="2279653"/>
            <a:ext cx="5915025" cy="38036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467916" y="6119286"/>
            <a:ext cx="5915025" cy="200024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757575"/>
              </a:buClr>
              <a:buSzPts val="1800"/>
              <a:buNone/>
              <a:defRPr sz="1800">
                <a:solidFill>
                  <a:srgbClr val="757575"/>
                </a:solidFill>
              </a:defRPr>
            </a:lvl1pPr>
            <a:lvl2pPr marL="914400" lvl="1" indent="-228600" algn="l">
              <a:lnSpc>
                <a:spcPct val="90000"/>
              </a:lnSpc>
              <a:spcBef>
                <a:spcPts val="375"/>
              </a:spcBef>
              <a:spcAft>
                <a:spcPts val="0"/>
              </a:spcAft>
              <a:buClr>
                <a:srgbClr val="757575"/>
              </a:buClr>
              <a:buSzPts val="1500"/>
              <a:buNone/>
              <a:defRPr sz="1500">
                <a:solidFill>
                  <a:srgbClr val="757575"/>
                </a:solidFill>
              </a:defRPr>
            </a:lvl2pPr>
            <a:lvl3pPr marL="1371600" lvl="2" indent="-228600" algn="l">
              <a:lnSpc>
                <a:spcPct val="90000"/>
              </a:lnSpc>
              <a:spcBef>
                <a:spcPts val="375"/>
              </a:spcBef>
              <a:spcAft>
                <a:spcPts val="0"/>
              </a:spcAft>
              <a:buClr>
                <a:srgbClr val="757575"/>
              </a:buClr>
              <a:buSzPts val="1350"/>
              <a:buNone/>
              <a:defRPr sz="1350">
                <a:solidFill>
                  <a:srgbClr val="757575"/>
                </a:solidFill>
              </a:defRPr>
            </a:lvl3pPr>
            <a:lvl4pPr marL="1828800" lvl="3" indent="-228600" algn="l">
              <a:lnSpc>
                <a:spcPct val="90000"/>
              </a:lnSpc>
              <a:spcBef>
                <a:spcPts val="375"/>
              </a:spcBef>
              <a:spcAft>
                <a:spcPts val="0"/>
              </a:spcAft>
              <a:buClr>
                <a:srgbClr val="757575"/>
              </a:buClr>
              <a:buSzPts val="1200"/>
              <a:buNone/>
              <a:defRPr sz="1200">
                <a:solidFill>
                  <a:srgbClr val="757575"/>
                </a:solidFill>
              </a:defRPr>
            </a:lvl4pPr>
            <a:lvl5pPr marL="2286000" lvl="4" indent="-228600" algn="l">
              <a:lnSpc>
                <a:spcPct val="90000"/>
              </a:lnSpc>
              <a:spcBef>
                <a:spcPts val="375"/>
              </a:spcBef>
              <a:spcAft>
                <a:spcPts val="0"/>
              </a:spcAft>
              <a:buClr>
                <a:srgbClr val="757575"/>
              </a:buClr>
              <a:buSzPts val="1200"/>
              <a:buNone/>
              <a:defRPr sz="1200">
                <a:solidFill>
                  <a:srgbClr val="757575"/>
                </a:solidFill>
              </a:defRPr>
            </a:lvl5pPr>
            <a:lvl6pPr marL="2743200" lvl="5" indent="-228600" algn="l">
              <a:lnSpc>
                <a:spcPct val="90000"/>
              </a:lnSpc>
              <a:spcBef>
                <a:spcPts val="375"/>
              </a:spcBef>
              <a:spcAft>
                <a:spcPts val="0"/>
              </a:spcAft>
              <a:buClr>
                <a:srgbClr val="757575"/>
              </a:buClr>
              <a:buSzPts val="1200"/>
              <a:buNone/>
              <a:defRPr sz="1200">
                <a:solidFill>
                  <a:srgbClr val="757575"/>
                </a:solidFill>
              </a:defRPr>
            </a:lvl6pPr>
            <a:lvl7pPr marL="3200400" lvl="6" indent="-228600" algn="l">
              <a:lnSpc>
                <a:spcPct val="90000"/>
              </a:lnSpc>
              <a:spcBef>
                <a:spcPts val="375"/>
              </a:spcBef>
              <a:spcAft>
                <a:spcPts val="0"/>
              </a:spcAft>
              <a:buClr>
                <a:srgbClr val="757575"/>
              </a:buClr>
              <a:buSzPts val="1200"/>
              <a:buNone/>
              <a:defRPr sz="1200">
                <a:solidFill>
                  <a:srgbClr val="757575"/>
                </a:solidFill>
              </a:defRPr>
            </a:lvl7pPr>
            <a:lvl8pPr marL="3657600" lvl="7" indent="-228600" algn="l">
              <a:lnSpc>
                <a:spcPct val="90000"/>
              </a:lnSpc>
              <a:spcBef>
                <a:spcPts val="375"/>
              </a:spcBef>
              <a:spcAft>
                <a:spcPts val="0"/>
              </a:spcAft>
              <a:buClr>
                <a:srgbClr val="757575"/>
              </a:buClr>
              <a:buSzPts val="1200"/>
              <a:buNone/>
              <a:defRPr sz="1200">
                <a:solidFill>
                  <a:srgbClr val="757575"/>
                </a:solidFill>
              </a:defRPr>
            </a:lvl8pPr>
            <a:lvl9pPr marL="4114800" lvl="8" indent="-228600" algn="l">
              <a:lnSpc>
                <a:spcPct val="90000"/>
              </a:lnSpc>
              <a:spcBef>
                <a:spcPts val="375"/>
              </a:spcBef>
              <a:spcAft>
                <a:spcPts val="0"/>
              </a:spcAft>
              <a:buClr>
                <a:srgbClr val="757575"/>
              </a:buClr>
              <a:buSzPts val="1200"/>
              <a:buNone/>
              <a:defRPr sz="1200">
                <a:solidFill>
                  <a:srgbClr val="757575"/>
                </a:solidFill>
              </a:defRPr>
            </a:lvl9pPr>
          </a:lstStyle>
          <a:p>
            <a:endParaRPr/>
          </a:p>
        </p:txBody>
      </p:sp>
      <p:sp>
        <p:nvSpPr>
          <p:cNvPr id="26" name="Google Shape;26;p4"/>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471488" y="2434167"/>
            <a:ext cx="2914650"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3471863" y="2434167"/>
            <a:ext cx="2914650"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72381"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472381" y="2241551"/>
            <a:ext cx="2901255" cy="1098549"/>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39" name="Google Shape;39;p6"/>
          <p:cNvSpPr txBox="1">
            <a:spLocks noGrp="1"/>
          </p:cNvSpPr>
          <p:nvPr>
            <p:ph type="body" idx="2"/>
          </p:nvPr>
        </p:nvSpPr>
        <p:spPr>
          <a:xfrm>
            <a:off x="472381" y="3340100"/>
            <a:ext cx="2901255" cy="4912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3471863" y="2241551"/>
            <a:ext cx="2915543" cy="1098549"/>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1" name="Google Shape;41;p6"/>
          <p:cNvSpPr txBox="1">
            <a:spLocks noGrp="1"/>
          </p:cNvSpPr>
          <p:nvPr>
            <p:ph type="body" idx="4"/>
          </p:nvPr>
        </p:nvSpPr>
        <p:spPr>
          <a:xfrm>
            <a:off x="3471863" y="3340100"/>
            <a:ext cx="2915543" cy="4912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72381" y="609600"/>
            <a:ext cx="2211884" cy="2133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2915543" y="1316569"/>
            <a:ext cx="3471863" cy="6498167"/>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57" name="Google Shape;57;p9"/>
          <p:cNvSpPr txBox="1">
            <a:spLocks noGrp="1"/>
          </p:cNvSpPr>
          <p:nvPr>
            <p:ph type="body" idx="2"/>
          </p:nvPr>
        </p:nvSpPr>
        <p:spPr>
          <a:xfrm>
            <a:off x="472381" y="2743200"/>
            <a:ext cx="2211884" cy="50821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58" name="Google Shape;58;p9"/>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472381" y="609600"/>
            <a:ext cx="2211884" cy="2133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2915543" y="1316569"/>
            <a:ext cx="3471863" cy="6498167"/>
          </a:xfrm>
          <a:prstGeom prst="rect">
            <a:avLst/>
          </a:prstGeom>
          <a:noFill/>
          <a:ln>
            <a:noFill/>
          </a:ln>
        </p:spPr>
      </p:sp>
      <p:sp>
        <p:nvSpPr>
          <p:cNvPr id="64" name="Google Shape;64;p10"/>
          <p:cNvSpPr txBox="1">
            <a:spLocks noGrp="1"/>
          </p:cNvSpPr>
          <p:nvPr>
            <p:ph type="body" idx="1"/>
          </p:nvPr>
        </p:nvSpPr>
        <p:spPr>
          <a:xfrm>
            <a:off x="472381" y="2743200"/>
            <a:ext cx="2211884" cy="50821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5" name="Google Shape;65;p10"/>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528108" y="2377546"/>
            <a:ext cx="5801784" cy="59150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1772577" y="3622015"/>
            <a:ext cx="7749117" cy="147875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227798" y="2186121"/>
            <a:ext cx="7749117" cy="43505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Play"/>
              <a:buNone/>
              <a:defRPr sz="33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71488" y="2434167"/>
            <a:ext cx="5915025" cy="580178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757575"/>
                </a:solidFill>
                <a:latin typeface="Arial"/>
                <a:ea typeface="Arial"/>
                <a:cs typeface="Arial"/>
                <a:sym typeface="Arial"/>
              </a:defRPr>
            </a:lvl1pPr>
            <a:lvl2pPr marL="0" marR="0" lvl="1" indent="0" algn="r" rtl="0">
              <a:spcBef>
                <a:spcPts val="0"/>
              </a:spcBef>
              <a:buNone/>
              <a:defRPr sz="900" b="0" i="0" u="none" strike="noStrike" cap="none">
                <a:solidFill>
                  <a:srgbClr val="757575"/>
                </a:solidFill>
                <a:latin typeface="Arial"/>
                <a:ea typeface="Arial"/>
                <a:cs typeface="Arial"/>
                <a:sym typeface="Arial"/>
              </a:defRPr>
            </a:lvl2pPr>
            <a:lvl3pPr marL="0" marR="0" lvl="2" indent="0" algn="r" rtl="0">
              <a:spcBef>
                <a:spcPts val="0"/>
              </a:spcBef>
              <a:buNone/>
              <a:defRPr sz="900" b="0" i="0" u="none" strike="noStrike" cap="none">
                <a:solidFill>
                  <a:srgbClr val="757575"/>
                </a:solidFill>
                <a:latin typeface="Arial"/>
                <a:ea typeface="Arial"/>
                <a:cs typeface="Arial"/>
                <a:sym typeface="Arial"/>
              </a:defRPr>
            </a:lvl3pPr>
            <a:lvl4pPr marL="0" marR="0" lvl="3" indent="0" algn="r" rtl="0">
              <a:spcBef>
                <a:spcPts val="0"/>
              </a:spcBef>
              <a:buNone/>
              <a:defRPr sz="900" b="0" i="0" u="none" strike="noStrike" cap="none">
                <a:solidFill>
                  <a:srgbClr val="757575"/>
                </a:solidFill>
                <a:latin typeface="Arial"/>
                <a:ea typeface="Arial"/>
                <a:cs typeface="Arial"/>
                <a:sym typeface="Arial"/>
              </a:defRPr>
            </a:lvl4pPr>
            <a:lvl5pPr marL="0" marR="0" lvl="4" indent="0" algn="r" rtl="0">
              <a:spcBef>
                <a:spcPts val="0"/>
              </a:spcBef>
              <a:buNone/>
              <a:defRPr sz="900" b="0" i="0" u="none" strike="noStrike" cap="none">
                <a:solidFill>
                  <a:srgbClr val="757575"/>
                </a:solidFill>
                <a:latin typeface="Arial"/>
                <a:ea typeface="Arial"/>
                <a:cs typeface="Arial"/>
                <a:sym typeface="Arial"/>
              </a:defRPr>
            </a:lvl5pPr>
            <a:lvl6pPr marL="0" marR="0" lvl="5" indent="0" algn="r" rtl="0">
              <a:spcBef>
                <a:spcPts val="0"/>
              </a:spcBef>
              <a:buNone/>
              <a:defRPr sz="900" b="0" i="0" u="none" strike="noStrike" cap="none">
                <a:solidFill>
                  <a:srgbClr val="757575"/>
                </a:solidFill>
                <a:latin typeface="Arial"/>
                <a:ea typeface="Arial"/>
                <a:cs typeface="Arial"/>
                <a:sym typeface="Arial"/>
              </a:defRPr>
            </a:lvl6pPr>
            <a:lvl7pPr marL="0" marR="0" lvl="6" indent="0" algn="r" rtl="0">
              <a:spcBef>
                <a:spcPts val="0"/>
              </a:spcBef>
              <a:buNone/>
              <a:defRPr sz="900" b="0" i="0" u="none" strike="noStrike" cap="none">
                <a:solidFill>
                  <a:srgbClr val="757575"/>
                </a:solidFill>
                <a:latin typeface="Arial"/>
                <a:ea typeface="Arial"/>
                <a:cs typeface="Arial"/>
                <a:sym typeface="Arial"/>
              </a:defRPr>
            </a:lvl7pPr>
            <a:lvl8pPr marL="0" marR="0" lvl="7" indent="0" algn="r" rtl="0">
              <a:spcBef>
                <a:spcPts val="0"/>
              </a:spcBef>
              <a:buNone/>
              <a:defRPr sz="900" b="0" i="0" u="none" strike="noStrike" cap="none">
                <a:solidFill>
                  <a:srgbClr val="757575"/>
                </a:solidFill>
                <a:latin typeface="Arial"/>
                <a:ea typeface="Arial"/>
                <a:cs typeface="Arial"/>
                <a:sym typeface="Arial"/>
              </a:defRPr>
            </a:lvl8pPr>
            <a:lvl9pPr marL="0" marR="0" lvl="8" indent="0" algn="r" rtl="0">
              <a:spcBef>
                <a:spcPts val="0"/>
              </a:spcBef>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33951"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5" name="Google Shape;85;p13"/>
          <p:cNvSpPr/>
          <p:nvPr/>
        </p:nvSpPr>
        <p:spPr>
          <a:xfrm>
            <a:off x="16975" y="0"/>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86" name="Google Shape;86;p13"/>
          <p:cNvGrpSpPr/>
          <p:nvPr/>
        </p:nvGrpSpPr>
        <p:grpSpPr>
          <a:xfrm>
            <a:off x="0" y="0"/>
            <a:ext cx="6865269" cy="9144001"/>
            <a:chOff x="0" y="0"/>
            <a:chExt cx="6865269" cy="9144001"/>
          </a:xfrm>
        </p:grpSpPr>
        <p:sp>
          <p:nvSpPr>
            <p:cNvPr id="87" name="Google Shape;87;p13"/>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8" name="Google Shape;88;p13"/>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9" name="Google Shape;89;p13"/>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0" name="Google Shape;90;p13"/>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91" name="Google Shape;91;p13"/>
          <p:cNvSpPr/>
          <p:nvPr/>
        </p:nvSpPr>
        <p:spPr>
          <a:xfrm>
            <a:off x="539999" y="431999"/>
            <a:ext cx="5785269"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2" name="Google Shape;92;p13"/>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3" name="Google Shape;93;p13"/>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4" name="Google Shape;94;p13"/>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1</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8BB4BB78-5CA6-6611-26FB-A8CBC511CE22}"/>
            </a:ext>
          </a:extLst>
        </p:cNvPr>
        <p:cNvGrpSpPr/>
        <p:nvPr/>
      </p:nvGrpSpPr>
      <p:grpSpPr>
        <a:xfrm>
          <a:off x="0" y="0"/>
          <a:ext cx="0" cy="0"/>
          <a:chOff x="0" y="0"/>
          <a:chExt cx="0" cy="0"/>
        </a:xfrm>
      </p:grpSpPr>
      <p:sp>
        <p:nvSpPr>
          <p:cNvPr id="99" name="Google Shape;99;p14">
            <a:extLst>
              <a:ext uri="{FF2B5EF4-FFF2-40B4-BE49-F238E27FC236}">
                <a16:creationId xmlns:a16="http://schemas.microsoft.com/office/drawing/2014/main" id="{271705D6-DB05-2357-E92C-419A4129A528}"/>
              </a:ext>
            </a:extLst>
          </p:cNvPr>
          <p:cNvSpPr/>
          <p:nvPr/>
        </p:nvSpPr>
        <p:spPr>
          <a:xfrm>
            <a:off x="33951"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0" name="Google Shape;100;p14">
            <a:extLst>
              <a:ext uri="{FF2B5EF4-FFF2-40B4-BE49-F238E27FC236}">
                <a16:creationId xmlns:a16="http://schemas.microsoft.com/office/drawing/2014/main" id="{155B8BBD-532C-4086-4E4B-0C5468D3BCD2}"/>
              </a:ext>
            </a:extLst>
          </p:cNvPr>
          <p:cNvSpPr/>
          <p:nvPr/>
        </p:nvSpPr>
        <p:spPr>
          <a:xfrm>
            <a:off x="1177" y="-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01" name="Google Shape;101;p14">
            <a:extLst>
              <a:ext uri="{FF2B5EF4-FFF2-40B4-BE49-F238E27FC236}">
                <a16:creationId xmlns:a16="http://schemas.microsoft.com/office/drawing/2014/main" id="{B8C4E1AD-FBB2-1E69-501B-090809741096}"/>
              </a:ext>
            </a:extLst>
          </p:cNvPr>
          <p:cNvGrpSpPr/>
          <p:nvPr/>
        </p:nvGrpSpPr>
        <p:grpSpPr>
          <a:xfrm>
            <a:off x="0" y="0"/>
            <a:ext cx="6865269" cy="9144001"/>
            <a:chOff x="0" y="0"/>
            <a:chExt cx="6865269" cy="9144001"/>
          </a:xfrm>
        </p:grpSpPr>
        <p:sp>
          <p:nvSpPr>
            <p:cNvPr id="102" name="Google Shape;102;p14">
              <a:extLst>
                <a:ext uri="{FF2B5EF4-FFF2-40B4-BE49-F238E27FC236}">
                  <a16:creationId xmlns:a16="http://schemas.microsoft.com/office/drawing/2014/main" id="{1E9D60DF-C810-B52B-8F3E-F22F51A3DB2C}"/>
                </a:ext>
              </a:extLst>
            </p:cNvPr>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3" name="Google Shape;103;p14">
              <a:extLst>
                <a:ext uri="{FF2B5EF4-FFF2-40B4-BE49-F238E27FC236}">
                  <a16:creationId xmlns:a16="http://schemas.microsoft.com/office/drawing/2014/main" id="{8AA29179-DC30-483C-A794-259CBDAACE1A}"/>
                </a:ext>
              </a:extLst>
            </p:cNvPr>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4" name="Google Shape;104;p14">
              <a:extLst>
                <a:ext uri="{FF2B5EF4-FFF2-40B4-BE49-F238E27FC236}">
                  <a16:creationId xmlns:a16="http://schemas.microsoft.com/office/drawing/2014/main" id="{3B4E5798-DC95-B11F-CCCD-F1BE654F4EB1}"/>
                </a:ext>
              </a:extLst>
            </p:cNvPr>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5" name="Google Shape;105;p14">
              <a:extLst>
                <a:ext uri="{FF2B5EF4-FFF2-40B4-BE49-F238E27FC236}">
                  <a16:creationId xmlns:a16="http://schemas.microsoft.com/office/drawing/2014/main" id="{4E0871C3-BEE3-AFA3-9974-6C93158E6264}"/>
                </a:ext>
              </a:extLst>
            </p:cNvPr>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06" name="Google Shape;106;p14">
            <a:extLst>
              <a:ext uri="{FF2B5EF4-FFF2-40B4-BE49-F238E27FC236}">
                <a16:creationId xmlns:a16="http://schemas.microsoft.com/office/drawing/2014/main" id="{95BD7C7D-A21D-22A0-55D2-09E04155BE30}"/>
              </a:ext>
            </a:extLst>
          </p:cNvPr>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7" name="Google Shape;107;p14">
            <a:extLst>
              <a:ext uri="{FF2B5EF4-FFF2-40B4-BE49-F238E27FC236}">
                <a16:creationId xmlns:a16="http://schemas.microsoft.com/office/drawing/2014/main" id="{3EE34D64-55AF-13C4-372A-7AA27C272EB8}"/>
              </a:ext>
            </a:extLst>
          </p:cNvPr>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8" name="Google Shape;108;p14">
            <a:extLst>
              <a:ext uri="{FF2B5EF4-FFF2-40B4-BE49-F238E27FC236}">
                <a16:creationId xmlns:a16="http://schemas.microsoft.com/office/drawing/2014/main" id="{C0960E1D-AFA8-08A6-347E-54C96C11CEEC}"/>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1</a:t>
            </a:r>
            <a:endParaRPr sz="1800" b="0" i="0" u="none" strike="noStrike" cap="none">
              <a:solidFill>
                <a:schemeClr val="dk1"/>
              </a:solidFill>
              <a:latin typeface="Arial"/>
              <a:ea typeface="Arial"/>
              <a:cs typeface="Arial"/>
              <a:sym typeface="Arial"/>
            </a:endParaRPr>
          </a:p>
        </p:txBody>
      </p:sp>
      <p:sp>
        <p:nvSpPr>
          <p:cNvPr id="109" name="Google Shape;109;p14">
            <a:extLst>
              <a:ext uri="{FF2B5EF4-FFF2-40B4-BE49-F238E27FC236}">
                <a16:creationId xmlns:a16="http://schemas.microsoft.com/office/drawing/2014/main" id="{4D04C72B-E8C0-3440-A599-4E24F52309FB}"/>
              </a:ext>
            </a:extLst>
          </p:cNvPr>
          <p:cNvSpPr txBox="1"/>
          <p:nvPr/>
        </p:nvSpPr>
        <p:spPr>
          <a:xfrm>
            <a:off x="1119608" y="845954"/>
            <a:ext cx="5012952" cy="55395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b="1" i="0" u="none" strike="noStrike" cap="none" dirty="0">
                <a:solidFill>
                  <a:schemeClr val="dk1"/>
                </a:solidFill>
                <a:latin typeface="Segoe UI Semibold" panose="020B0702040204020203" pitchFamily="34" charset="0"/>
                <a:ea typeface="Quattrocento Sans"/>
                <a:cs typeface="Segoe UI Semibold" panose="020B0702040204020203" pitchFamily="34" charset="0"/>
                <a:sym typeface="Quattrocento Sans"/>
              </a:rPr>
              <a:t>FlexChroma</a:t>
            </a:r>
            <a:r>
              <a:rPr lang="en-US" sz="2200" b="1" i="0" u="none" strike="noStrike" cap="none" dirty="0">
                <a:solidFill>
                  <a:schemeClr val="dk1"/>
                </a:solidFill>
                <a:latin typeface="Segoe UI Semibold" panose="020B0702040204020203" pitchFamily="34" charset="0"/>
                <a:ea typeface="IBM Plex Sans JP"/>
                <a:cs typeface="Segoe UI Semibold" panose="020B0702040204020203" pitchFamily="34" charset="0"/>
                <a:sym typeface="IBM Plex Sans JP"/>
              </a:rPr>
              <a:t> </a:t>
            </a:r>
            <a:r>
              <a:rPr lang="en-US" sz="2200" b="1" dirty="0">
                <a:solidFill>
                  <a:schemeClr val="dk1"/>
                </a:solidFill>
                <a:latin typeface="Segoe UI Semibold" panose="020B0702040204020203" pitchFamily="34" charset="0"/>
                <a:ea typeface="IBM Plex Sans JP"/>
                <a:cs typeface="Segoe UI Semibold" panose="020B0702040204020203" pitchFamily="34" charset="0"/>
                <a:sym typeface="IBM Plex Sans JP"/>
              </a:rPr>
              <a:t>Blend Color Checker</a:t>
            </a:r>
            <a:endParaRPr sz="2200" b="1" dirty="0">
              <a:solidFill>
                <a:schemeClr val="dk1"/>
              </a:solidFill>
              <a:latin typeface="Segoe UI Semibold" panose="020B0702040204020203" pitchFamily="34" charset="0"/>
              <a:ea typeface="IBM Plex Sans JP"/>
              <a:cs typeface="Segoe UI Semibold" panose="020B0702040204020203" pitchFamily="34" charset="0"/>
              <a:sym typeface="IBM Plex Sans JP"/>
            </a:endParaRPr>
          </a:p>
        </p:txBody>
      </p:sp>
      <p:sp>
        <p:nvSpPr>
          <p:cNvPr id="110" name="Google Shape;110;p14">
            <a:extLst>
              <a:ext uri="{FF2B5EF4-FFF2-40B4-BE49-F238E27FC236}">
                <a16:creationId xmlns:a16="http://schemas.microsoft.com/office/drawing/2014/main" id="{895AA079-8F32-6DE4-79D4-9F205C6313F9}"/>
              </a:ext>
            </a:extLst>
          </p:cNvPr>
          <p:cNvSpPr/>
          <p:nvPr/>
        </p:nvSpPr>
        <p:spPr>
          <a:xfrm>
            <a:off x="566175" y="301589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1" name="Google Shape;111;p14">
            <a:extLst>
              <a:ext uri="{FF2B5EF4-FFF2-40B4-BE49-F238E27FC236}">
                <a16:creationId xmlns:a16="http://schemas.microsoft.com/office/drawing/2014/main" id="{BD584C1E-D8A0-8764-3856-D144D02DA867}"/>
              </a:ext>
            </a:extLst>
          </p:cNvPr>
          <p:cNvSpPr txBox="1"/>
          <p:nvPr/>
        </p:nvSpPr>
        <p:spPr>
          <a:xfrm>
            <a:off x="770844" y="2957097"/>
            <a:ext cx="2055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1. </a:t>
            </a:r>
            <a:r>
              <a:rPr lang="en-US" sz="2000" b="1" dirty="0" err="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はじめに</a:t>
            </a: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 </a:t>
            </a:r>
            <a:endParaRPr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12" name="Google Shape;112;p14">
            <a:extLst>
              <a:ext uri="{FF2B5EF4-FFF2-40B4-BE49-F238E27FC236}">
                <a16:creationId xmlns:a16="http://schemas.microsoft.com/office/drawing/2014/main" id="{10ED189B-3418-0FEF-FB32-AFDD2F7A415A}"/>
              </a:ext>
            </a:extLst>
          </p:cNvPr>
          <p:cNvSpPr txBox="1"/>
          <p:nvPr/>
        </p:nvSpPr>
        <p:spPr>
          <a:xfrm>
            <a:off x="668508" y="3380037"/>
            <a:ext cx="5649600" cy="815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FlexChroma Blend Color Checker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は、FlexChroma</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Blend Filament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による</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混色比ごとの色を実際に目</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で見て評価するための専用モデルです</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AMS により生成された21段の混色領域に分かれた混色フィラメントを使用し、混色比と実際の色がどのように対応する か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を直接確認できるよう設計されています</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5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13" name="Google Shape;113;p14">
            <a:extLst>
              <a:ext uri="{FF2B5EF4-FFF2-40B4-BE49-F238E27FC236}">
                <a16:creationId xmlns:a16="http://schemas.microsoft.com/office/drawing/2014/main" id="{3612F327-5183-1120-0F49-DE4EFB040663}"/>
              </a:ext>
            </a:extLst>
          </p:cNvPr>
          <p:cNvSpPr/>
          <p:nvPr/>
        </p:nvSpPr>
        <p:spPr>
          <a:xfrm>
            <a:off x="566175" y="4624475"/>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4" name="Google Shape;114;p14">
            <a:extLst>
              <a:ext uri="{FF2B5EF4-FFF2-40B4-BE49-F238E27FC236}">
                <a16:creationId xmlns:a16="http://schemas.microsoft.com/office/drawing/2014/main" id="{A14A5123-0E70-EBFE-A018-A57DB3E53306}"/>
              </a:ext>
            </a:extLst>
          </p:cNvPr>
          <p:cNvSpPr txBox="1"/>
          <p:nvPr/>
        </p:nvSpPr>
        <p:spPr>
          <a:xfrm>
            <a:off x="770844" y="4556779"/>
            <a:ext cx="33891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2. Color Checker の目的 </a:t>
            </a:r>
            <a:endParaRPr sz="24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15" name="Google Shape;115;p14">
            <a:extLst>
              <a:ext uri="{FF2B5EF4-FFF2-40B4-BE49-F238E27FC236}">
                <a16:creationId xmlns:a16="http://schemas.microsoft.com/office/drawing/2014/main" id="{C4E70EE9-777B-47BB-B252-9BF07ED4ED3B}"/>
              </a:ext>
            </a:extLst>
          </p:cNvPr>
          <p:cNvSpPr txBox="1"/>
          <p:nvPr/>
        </p:nvSpPr>
        <p:spPr>
          <a:xfrm>
            <a:off x="661239" y="5006425"/>
            <a:ext cx="5649600" cy="815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本モデルは以下の用途に最適です</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5275" algn="l" rtl="0">
              <a:spcBef>
                <a:spcPts val="0"/>
              </a:spcBef>
              <a:spcAft>
                <a:spcPts val="0"/>
              </a:spcAft>
              <a:buClr>
                <a:schemeClr val="dk1"/>
              </a:buClr>
              <a:buSzPts val="1050"/>
              <a:buFont typeface="Arial" panose="020B0604020202020204" pitchFamily="34" charset="0"/>
              <a:buChar char="•"/>
            </a:pP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混色比ごとの</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実際の色の違い</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を視覚的に確認</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5275" algn="l" rtl="0">
              <a:spcBef>
                <a:spcPts val="0"/>
              </a:spcBef>
              <a:spcAft>
                <a:spcPts val="0"/>
              </a:spcAft>
              <a:buClr>
                <a:schemeClr val="dk1"/>
              </a:buClr>
              <a:buSzPts val="1050"/>
              <a:buFont typeface="Arial" panose="020B0604020202020204" pitchFamily="34" charset="0"/>
              <a:buChar char="•"/>
            </a:pP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印刷方向の違いによる色差の確認</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5275" algn="l" rtl="0">
              <a:spcBef>
                <a:spcPts val="0"/>
              </a:spcBef>
              <a:spcAft>
                <a:spcPts val="0"/>
              </a:spcAft>
              <a:buClr>
                <a:schemeClr val="dk1"/>
              </a:buClr>
              <a:buSzPts val="1050"/>
              <a:buFont typeface="Arial" panose="020B0604020202020204" pitchFamily="34" charset="0"/>
              <a:buChar char="•"/>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NIX MINI 3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による色計測を前提とした</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数値的な色評価</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5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grpSp>
        <p:nvGrpSpPr>
          <p:cNvPr id="116" name="Google Shape;116;p14">
            <a:extLst>
              <a:ext uri="{FF2B5EF4-FFF2-40B4-BE49-F238E27FC236}">
                <a16:creationId xmlns:a16="http://schemas.microsoft.com/office/drawing/2014/main" id="{7A9F3C5D-E333-2B9F-C38E-3712EB68958D}"/>
              </a:ext>
            </a:extLst>
          </p:cNvPr>
          <p:cNvGrpSpPr/>
          <p:nvPr/>
        </p:nvGrpSpPr>
        <p:grpSpPr>
          <a:xfrm>
            <a:off x="900413" y="447291"/>
            <a:ext cx="5071711" cy="377792"/>
            <a:chOff x="1042026" y="430737"/>
            <a:chExt cx="4781214" cy="377792"/>
          </a:xfrm>
        </p:grpSpPr>
        <p:sp>
          <p:nvSpPr>
            <p:cNvPr id="117" name="Google Shape;117;p14">
              <a:extLst>
                <a:ext uri="{FF2B5EF4-FFF2-40B4-BE49-F238E27FC236}">
                  <a16:creationId xmlns:a16="http://schemas.microsoft.com/office/drawing/2014/main" id="{9E7D43D4-C5FF-086D-FB4A-08A7B84FED20}"/>
                </a:ext>
              </a:extLst>
            </p:cNvPr>
            <p:cNvSpPr/>
            <p:nvPr/>
          </p:nvSpPr>
          <p:spPr>
            <a:xfrm>
              <a:off x="1042026" y="430737"/>
              <a:ext cx="4781214" cy="377792"/>
            </a:xfrm>
            <a:prstGeom prst="round2SameRect">
              <a:avLst>
                <a:gd name="adj1" fmla="val 50000"/>
                <a:gd name="adj2" fmla="val 0"/>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8" name="Google Shape;118;p14">
              <a:extLst>
                <a:ext uri="{FF2B5EF4-FFF2-40B4-BE49-F238E27FC236}">
                  <a16:creationId xmlns:a16="http://schemas.microsoft.com/office/drawing/2014/main" id="{4F36BDDD-87FD-5807-702A-651B49809196}"/>
                </a:ext>
              </a:extLst>
            </p:cNvPr>
            <p:cNvSpPr/>
            <p:nvPr/>
          </p:nvSpPr>
          <p:spPr>
            <a:xfrm>
              <a:off x="1042026" y="697920"/>
              <a:ext cx="4781214" cy="110609"/>
            </a:xfrm>
            <a:prstGeom prst="round2SameRect">
              <a:avLst>
                <a:gd name="adj1" fmla="val 50000"/>
                <a:gd name="adj2" fmla="val 0"/>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119" name="Google Shape;119;p14">
            <a:extLst>
              <a:ext uri="{FF2B5EF4-FFF2-40B4-BE49-F238E27FC236}">
                <a16:creationId xmlns:a16="http://schemas.microsoft.com/office/drawing/2014/main" id="{E4B1D137-9085-8FD5-A17B-98BE176227DA}"/>
              </a:ext>
            </a:extLst>
          </p:cNvPr>
          <p:cNvGrpSpPr/>
          <p:nvPr/>
        </p:nvGrpSpPr>
        <p:grpSpPr>
          <a:xfrm rot="10800000">
            <a:off x="900412" y="2224664"/>
            <a:ext cx="5071712" cy="377792"/>
            <a:chOff x="1042026" y="430737"/>
            <a:chExt cx="4781214" cy="377792"/>
          </a:xfrm>
        </p:grpSpPr>
        <p:sp>
          <p:nvSpPr>
            <p:cNvPr id="120" name="Google Shape;120;p14">
              <a:extLst>
                <a:ext uri="{FF2B5EF4-FFF2-40B4-BE49-F238E27FC236}">
                  <a16:creationId xmlns:a16="http://schemas.microsoft.com/office/drawing/2014/main" id="{2DFFB817-A739-5FB8-5687-833247FC67EA}"/>
                </a:ext>
              </a:extLst>
            </p:cNvPr>
            <p:cNvSpPr/>
            <p:nvPr/>
          </p:nvSpPr>
          <p:spPr>
            <a:xfrm>
              <a:off x="1042026" y="430737"/>
              <a:ext cx="4781214" cy="377792"/>
            </a:xfrm>
            <a:prstGeom prst="round2SameRect">
              <a:avLst>
                <a:gd name="adj1" fmla="val 50000"/>
                <a:gd name="adj2" fmla="val 0"/>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1" name="Google Shape;121;p14">
              <a:extLst>
                <a:ext uri="{FF2B5EF4-FFF2-40B4-BE49-F238E27FC236}">
                  <a16:creationId xmlns:a16="http://schemas.microsoft.com/office/drawing/2014/main" id="{600ADD80-2F13-0F4B-6FA2-3D22E793CFC8}"/>
                </a:ext>
              </a:extLst>
            </p:cNvPr>
            <p:cNvSpPr/>
            <p:nvPr/>
          </p:nvSpPr>
          <p:spPr>
            <a:xfrm>
              <a:off x="1042026" y="697920"/>
              <a:ext cx="4781214" cy="110609"/>
            </a:xfrm>
            <a:prstGeom prst="round2SameRect">
              <a:avLst>
                <a:gd name="adj1" fmla="val 50000"/>
                <a:gd name="adj2" fmla="val 0"/>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22" name="Google Shape;122;p14">
            <a:extLst>
              <a:ext uri="{FF2B5EF4-FFF2-40B4-BE49-F238E27FC236}">
                <a16:creationId xmlns:a16="http://schemas.microsoft.com/office/drawing/2014/main" id="{E8BCD6B7-7E37-16D7-977C-FBA8D52561AF}"/>
              </a:ext>
            </a:extLst>
          </p:cNvPr>
          <p:cNvSpPr txBox="1"/>
          <p:nvPr/>
        </p:nvSpPr>
        <p:spPr>
          <a:xfrm>
            <a:off x="713926" y="1446875"/>
            <a:ext cx="5368200" cy="30773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実際の印刷結果を見てBlend</a:t>
            </a:r>
            <a:r>
              <a:rPr lang="en-US"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Filamentの色を比較しよう</a:t>
            </a:r>
            <a:r>
              <a:rPr lang="en-US"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23" name="Google Shape;123;p14">
            <a:extLst>
              <a:ext uri="{FF2B5EF4-FFF2-40B4-BE49-F238E27FC236}">
                <a16:creationId xmlns:a16="http://schemas.microsoft.com/office/drawing/2014/main" id="{BCF83EF5-45E6-267D-950A-F56A52641523}"/>
              </a:ext>
            </a:extLst>
          </p:cNvPr>
          <p:cNvSpPr txBox="1"/>
          <p:nvPr/>
        </p:nvSpPr>
        <p:spPr>
          <a:xfrm>
            <a:off x="2364900" y="1843425"/>
            <a:ext cx="21282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chemeClr val="dk1"/>
                </a:solidFill>
                <a:latin typeface="IBM Plex Sans JP" panose="020B0503050203000203" pitchFamily="50" charset="-128"/>
                <a:ea typeface="IBM Plex Sans JP" panose="020B0503050203000203" pitchFamily="50" charset="-128"/>
                <a:cs typeface="IBM Plex Sans JP"/>
                <a:sym typeface="IBM Plex Sans JP"/>
              </a:rPr>
              <a:t>Ver.1.1</a:t>
            </a:r>
            <a:r>
              <a:rPr lang="en-US">
                <a:solidFill>
                  <a:schemeClr val="dk1"/>
                </a:solidFill>
                <a:latin typeface="IBM Plex Sans JP" panose="020B0503050203000203" pitchFamily="50" charset="-128"/>
                <a:ea typeface="IBM Plex Sans JP" panose="020B0503050203000203" pitchFamily="50" charset="-128"/>
                <a:cs typeface="IBM Plex Sans JP"/>
                <a:sym typeface="IBM Plex Sans JP"/>
              </a:rPr>
              <a:t>0</a:t>
            </a:r>
            <a:r>
              <a:rPr lang="en-US" sz="1400">
                <a:solidFill>
                  <a:schemeClr val="dk1"/>
                </a:solidFill>
                <a:latin typeface="IBM Plex Sans JP" panose="020B0503050203000203" pitchFamily="50" charset="-128"/>
                <a:ea typeface="IBM Plex Sans JP" panose="020B0503050203000203" pitchFamily="50" charset="-128"/>
                <a:cs typeface="IBM Plex Sans JP"/>
                <a:sym typeface="IBM Plex Sans JP"/>
              </a:rPr>
              <a:t>  2026.8.</a:t>
            </a:r>
            <a:r>
              <a:rPr lang="en-US">
                <a:solidFill>
                  <a:schemeClr val="dk1"/>
                </a:solidFill>
                <a:latin typeface="IBM Plex Sans JP" panose="020B0503050203000203" pitchFamily="50" charset="-128"/>
                <a:ea typeface="IBM Plex Sans JP" panose="020B0503050203000203" pitchFamily="50" charset="-128"/>
                <a:cs typeface="IBM Plex Sans JP"/>
                <a:sym typeface="IBM Plex Sans JP"/>
              </a:rPr>
              <a:t>15</a:t>
            </a:r>
            <a:endParaRPr sz="14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24" name="Google Shape;124;p14">
            <a:extLst>
              <a:ext uri="{FF2B5EF4-FFF2-40B4-BE49-F238E27FC236}">
                <a16:creationId xmlns:a16="http://schemas.microsoft.com/office/drawing/2014/main" id="{B241DC75-9133-B100-B4D6-869A1E214DA9}"/>
              </a:ext>
            </a:extLst>
          </p:cNvPr>
          <p:cNvSpPr/>
          <p:nvPr/>
        </p:nvSpPr>
        <p:spPr>
          <a:xfrm>
            <a:off x="554550" y="6237704"/>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5" name="Google Shape;125;p14">
            <a:extLst>
              <a:ext uri="{FF2B5EF4-FFF2-40B4-BE49-F238E27FC236}">
                <a16:creationId xmlns:a16="http://schemas.microsoft.com/office/drawing/2014/main" id="{3A0C639C-4B42-CDAA-BE0C-3C87A2A0E17A}"/>
              </a:ext>
            </a:extLst>
          </p:cNvPr>
          <p:cNvSpPr txBox="1"/>
          <p:nvPr/>
        </p:nvSpPr>
        <p:spPr>
          <a:xfrm>
            <a:off x="759219" y="6170008"/>
            <a:ext cx="33891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3. 印刷データについて  </a:t>
            </a:r>
            <a:endParaRPr sz="24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26" name="Google Shape;126;p14">
            <a:extLst>
              <a:ext uri="{FF2B5EF4-FFF2-40B4-BE49-F238E27FC236}">
                <a16:creationId xmlns:a16="http://schemas.microsoft.com/office/drawing/2014/main" id="{0D6407AF-A766-F752-7405-760F1F98DF9F}"/>
              </a:ext>
            </a:extLst>
          </p:cNvPr>
          <p:cNvSpPr txBox="1"/>
          <p:nvPr/>
        </p:nvSpPr>
        <p:spPr>
          <a:xfrm>
            <a:off x="661239" y="6704731"/>
            <a:ext cx="5649600" cy="199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IBM Plex Sans JP" panose="020B0503050203000203" pitchFamily="50" charset="-128"/>
                <a:ea typeface="IBM Plex Sans JP" panose="020B0503050203000203" pitchFamily="50" charset="-128"/>
                <a:cs typeface="IBM Plex Sans JP"/>
                <a:sym typeface="IBM Plex Sans JP"/>
              </a:rPr>
              <a:t>3.1 Check Filament Data（2 種類）</a:t>
            </a:r>
            <a:endParaRPr sz="120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6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a:solidFill>
                  <a:schemeClr val="dk1"/>
                </a:solidFill>
                <a:latin typeface="IBM Plex Sans JP" panose="020B0503050203000203" pitchFamily="50" charset="-128"/>
                <a:ea typeface="IBM Plex Sans JP" panose="020B0503050203000203" pitchFamily="50" charset="-128"/>
                <a:cs typeface="IBM Plex Sans JP"/>
                <a:sym typeface="IBM Plex Sans JP"/>
              </a:rPr>
              <a:t> フィラメントデータはBlend Filamentの2種類の分類に従い2つのデータを用意しています。おおよその混色比が決まっ ている場合はその混色比を含むデータを選択し、印刷してください。</a:t>
            </a:r>
            <a:endParaRPr sz="105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a:solidFill>
                  <a:schemeClr val="dk1"/>
                </a:solidFill>
                <a:latin typeface="IBM Plex Sans JP" panose="020B0503050203000203" pitchFamily="50" charset="-128"/>
                <a:ea typeface="IBM Plex Sans JP" panose="020B0503050203000203" pitchFamily="50" charset="-128"/>
                <a:cs typeface="IBM Plex Sans JP"/>
                <a:sym typeface="IBM Plex Sans JP"/>
              </a:rPr>
              <a:t>Blend Filament 同様に 5%, 10%, 90%と 95%の混色仕 様は同一となっています。</a:t>
            </a:r>
            <a:endParaRPr sz="105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5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a:solidFill>
                  <a:schemeClr val="dk1"/>
                </a:solidFill>
                <a:latin typeface="IBM Plex Sans JP" panose="020B0503050203000203" pitchFamily="50" charset="-128"/>
                <a:ea typeface="IBM Plex Sans JP" panose="020B0503050203000203" pitchFamily="50" charset="-128"/>
                <a:cs typeface="IBM Plex Sans JP"/>
                <a:sym typeface="IBM Plex Sans JP"/>
              </a:rPr>
              <a:t> ■ Standard（標準版） </a:t>
            </a:r>
            <a:endParaRPr sz="105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5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a:solidFill>
                  <a:schemeClr val="dk1"/>
                </a:solidFill>
                <a:latin typeface="IBM Plex Sans JP" panose="020B0503050203000203" pitchFamily="50" charset="-128"/>
                <a:ea typeface="IBM Plex Sans JP" panose="020B0503050203000203" pitchFamily="50" charset="-128"/>
                <a:cs typeface="IBM Plex Sans JP"/>
                <a:sym typeface="IBM Plex Sans JP"/>
              </a:rPr>
              <a:t>実際の混色比構成：  0, 5, 10, 15, 20, 25, 30, 35, 40, 45, 50, 55, 60, 65, 70, 75, 80, </a:t>
            </a:r>
            <a:endParaRPr sz="105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a:solidFill>
                  <a:schemeClr val="dk1"/>
                </a:solidFill>
                <a:latin typeface="IBM Plex Sans JP" panose="020B0503050203000203" pitchFamily="50" charset="-128"/>
                <a:ea typeface="IBM Plex Sans JP" panose="020B0503050203000203" pitchFamily="50" charset="-128"/>
                <a:cs typeface="IBM Plex Sans JP"/>
                <a:sym typeface="IBM Plex Sans JP"/>
              </a:rPr>
              <a:t>　　　　　　　　　  85, 90, 95, 100%（合計 21 段階） </a:t>
            </a:r>
            <a:endParaRPr sz="105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6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50" b="1">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27" name="Google Shape;127;p14">
            <a:extLst>
              <a:ext uri="{FF2B5EF4-FFF2-40B4-BE49-F238E27FC236}">
                <a16:creationId xmlns:a16="http://schemas.microsoft.com/office/drawing/2014/main" id="{97F70B70-C637-0E24-391E-0BA3DD244900}"/>
              </a:ext>
            </a:extLst>
          </p:cNvPr>
          <p:cNvSpPr/>
          <p:nvPr/>
        </p:nvSpPr>
        <p:spPr>
          <a:xfrm>
            <a:off x="600246" y="6764347"/>
            <a:ext cx="125700" cy="1227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 name="図 2">
            <a:extLst>
              <a:ext uri="{FF2B5EF4-FFF2-40B4-BE49-F238E27FC236}">
                <a16:creationId xmlns:a16="http://schemas.microsoft.com/office/drawing/2014/main" id="{73497F0A-B7AC-4E56-1C1D-6E54909D06FC}"/>
              </a:ext>
            </a:extLst>
          </p:cNvPr>
          <p:cNvPicPr>
            <a:picLocks noChangeAspect="1"/>
          </p:cNvPicPr>
          <p:nvPr/>
        </p:nvPicPr>
        <p:blipFill>
          <a:blip r:embed="rId3"/>
          <a:stretch>
            <a:fillRect/>
          </a:stretch>
        </p:blipFill>
        <p:spPr>
          <a:xfrm>
            <a:off x="900412" y="951926"/>
            <a:ext cx="360247" cy="347282"/>
          </a:xfrm>
          <a:prstGeom prst="rect">
            <a:avLst/>
          </a:prstGeom>
        </p:spPr>
      </p:pic>
    </p:spTree>
    <p:extLst>
      <p:ext uri="{BB962C8B-B14F-4D97-AF65-F5344CB8AC3E}">
        <p14:creationId xmlns:p14="http://schemas.microsoft.com/office/powerpoint/2010/main" val="1966881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5"/>
          <p:cNvSpPr/>
          <p:nvPr/>
        </p:nvSpPr>
        <p:spPr>
          <a:xfrm>
            <a:off x="33951"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3" name="Google Shape;133;p15"/>
          <p:cNvSpPr/>
          <p:nvPr/>
        </p:nvSpPr>
        <p:spPr>
          <a:xfrm>
            <a:off x="-7269" y="-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34" name="Google Shape;134;p15"/>
          <p:cNvGrpSpPr/>
          <p:nvPr/>
        </p:nvGrpSpPr>
        <p:grpSpPr>
          <a:xfrm>
            <a:off x="0" y="0"/>
            <a:ext cx="6865269" cy="9144001"/>
            <a:chOff x="0" y="0"/>
            <a:chExt cx="6865269" cy="9144001"/>
          </a:xfrm>
        </p:grpSpPr>
        <p:sp>
          <p:nvSpPr>
            <p:cNvPr id="135" name="Google Shape;135;p15"/>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6" name="Google Shape;136;p15"/>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7" name="Google Shape;137;p15"/>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8" name="Google Shape;138;p15"/>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39" name="Google Shape;139;p15"/>
          <p:cNvSpPr/>
          <p:nvPr/>
        </p:nvSpPr>
        <p:spPr>
          <a:xfrm>
            <a:off x="554537" y="45246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0" name="Google Shape;140;p15"/>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1" name="Google Shape;141;p15"/>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15"/>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a:t>
            </a:r>
            <a:endParaRPr sz="1800">
              <a:solidFill>
                <a:schemeClr val="dk1"/>
              </a:solidFill>
              <a:latin typeface="Arial"/>
              <a:ea typeface="Arial"/>
              <a:cs typeface="Arial"/>
              <a:sym typeface="Arial"/>
            </a:endParaRPr>
          </a:p>
        </p:txBody>
      </p:sp>
      <p:sp>
        <p:nvSpPr>
          <p:cNvPr id="143" name="Google Shape;143;p15"/>
          <p:cNvSpPr/>
          <p:nvPr/>
        </p:nvSpPr>
        <p:spPr>
          <a:xfrm>
            <a:off x="560846" y="6574353"/>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4" name="Google Shape;144;p15"/>
          <p:cNvSpPr txBox="1"/>
          <p:nvPr/>
        </p:nvSpPr>
        <p:spPr>
          <a:xfrm>
            <a:off x="668508" y="1840366"/>
            <a:ext cx="5649600" cy="163194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3.2 Check Tower（1 </a:t>
            </a:r>
            <a:r>
              <a:rPr lang="en-US" sz="1200" b="1"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種類</a:t>
            </a:r>
            <a:r>
              <a:rPr lang="en-US"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チェックフィラメントで印刷する評価用タワーです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チェックフィラメントと縦に長いタワー形状によって混色比が分かりやすく変化してゆきます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各混合比の切り替わり高さと同じ間隔でノッチを設けています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20％・25%と45％・50％・55%と75%・80％の4か所に大きいノッチがあります。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混色フィラメントは印刷時にツールヘッドの動く方向で色変化が起こりえます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algn="l" rtl="0">
              <a:lnSpc>
                <a:spcPct val="115000"/>
              </a:lnSpc>
              <a:spcBef>
                <a:spcPts val="0"/>
              </a:spcBef>
              <a:spcAft>
                <a:spcPts val="0"/>
              </a:spcAft>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4面を測定可能面としているので、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方向による色の違いが確認できます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5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45" name="Google Shape;145;p15"/>
          <p:cNvSpPr txBox="1"/>
          <p:nvPr/>
        </p:nvSpPr>
        <p:spPr>
          <a:xfrm>
            <a:off x="770844" y="6508819"/>
            <a:ext cx="2379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4. 推奨使用手順 </a:t>
            </a:r>
            <a:endParaRPr sz="28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46" name="Google Shape;146;p15"/>
          <p:cNvSpPr txBox="1"/>
          <p:nvPr/>
        </p:nvSpPr>
        <p:spPr>
          <a:xfrm>
            <a:off x="668509" y="6986390"/>
            <a:ext cx="5642100" cy="1246455"/>
          </a:xfrm>
          <a:prstGeom prst="rect">
            <a:avLst/>
          </a:prstGeom>
          <a:noFill/>
          <a:ln>
            <a:noFill/>
          </a:ln>
        </p:spPr>
        <p:txBody>
          <a:bodyPr spcFirstLastPara="1" wrap="square" lIns="91425" tIns="45700" rIns="91425" bIns="45700" anchor="t" anchorCtr="0">
            <a:spAutoFit/>
          </a:bodyPr>
          <a:lstStyle/>
          <a:p>
            <a:pPr marL="457200" marR="0" lvl="0" indent="-292100" algn="l" rtl="0">
              <a:lnSpc>
                <a:spcPct val="150000"/>
              </a:lnSpc>
              <a:spcBef>
                <a:spcPts val="0"/>
              </a:spcBef>
              <a:spcAft>
                <a:spcPts val="0"/>
              </a:spcAft>
              <a:buClr>
                <a:schemeClr val="dk1"/>
              </a:buClr>
              <a:buSzPts val="1000"/>
              <a:buFont typeface="IBM Plex Sans JP"/>
              <a:buAutoNum type="arabicPeriod"/>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欲しい色を実現できそうな2色のフィラメントを選定する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IBM Plex Sans JP"/>
              <a:buAutoNum type="arabicPeriod"/>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1のフィラメントを用いてCheck Filament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を印刷する</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IBM Plex Sans JP"/>
              <a:buAutoNum type="arabicPeriod"/>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Check Filament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によってCheck</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Tower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を印刷し、求める色に近い混合比を確認する</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IBM Plex Sans JP"/>
              <a:buAutoNum type="arabicPeriod"/>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必要に応じ</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３の混合比のS4モデルを印刷し近似形状をテストプリントする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IBM Plex Sans JP"/>
              <a:buAutoNum type="arabicPeriod"/>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問題なければ</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必要量の</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Blend Filament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を生成する</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47" name="Google Shape;147;p15"/>
          <p:cNvSpPr/>
          <p:nvPr/>
        </p:nvSpPr>
        <p:spPr>
          <a:xfrm>
            <a:off x="605663" y="1917067"/>
            <a:ext cx="125700" cy="1227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48" name="Google Shape;148;p15"/>
          <p:cNvPicPr preferRelativeResize="0"/>
          <p:nvPr/>
        </p:nvPicPr>
        <p:blipFill>
          <a:blip r:embed="rId3">
            <a:alphaModFix/>
          </a:blip>
          <a:stretch>
            <a:fillRect/>
          </a:stretch>
        </p:blipFill>
        <p:spPr>
          <a:xfrm>
            <a:off x="555784" y="3508488"/>
            <a:ext cx="5756199" cy="2717241"/>
          </a:xfrm>
          <a:prstGeom prst="rect">
            <a:avLst/>
          </a:prstGeom>
          <a:noFill/>
          <a:ln>
            <a:noFill/>
          </a:ln>
        </p:spPr>
      </p:pic>
      <p:sp>
        <p:nvSpPr>
          <p:cNvPr id="149" name="Google Shape;149;p15"/>
          <p:cNvSpPr txBox="1"/>
          <p:nvPr/>
        </p:nvSpPr>
        <p:spPr>
          <a:xfrm>
            <a:off x="668489" y="602850"/>
            <a:ext cx="5649600" cy="932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6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Detail（精密版</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実際の混色比構成</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0, 1, 2, 3, 4, 5, 6, 7, 8, 9, 10%（</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低比率領域</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10段） </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90, 91, 92, 93, 94, 95, 96, 97, 98, 99, 100%（</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高比率領域</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10 段）</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中央に10％と90%を連続的につなぐ部分が1段あります。  </a:t>
            </a:r>
            <a:endParaRPr sz="105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6"/>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5" name="Google Shape;155;p16"/>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56" name="Google Shape;156;p16"/>
          <p:cNvGrpSpPr/>
          <p:nvPr/>
        </p:nvGrpSpPr>
        <p:grpSpPr>
          <a:xfrm>
            <a:off x="0" y="0"/>
            <a:ext cx="6865269" cy="9144001"/>
            <a:chOff x="0" y="0"/>
            <a:chExt cx="6865269" cy="9144001"/>
          </a:xfrm>
        </p:grpSpPr>
        <p:sp>
          <p:nvSpPr>
            <p:cNvPr id="157" name="Google Shape;157;p16"/>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8" name="Google Shape;158;p16"/>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9" name="Google Shape;159;p16"/>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0" name="Google Shape;160;p16"/>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61" name="Google Shape;161;p16"/>
          <p:cNvSpPr/>
          <p:nvPr/>
        </p:nvSpPr>
        <p:spPr>
          <a:xfrm>
            <a:off x="554537" y="45246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2" name="Google Shape;162;p16"/>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3" name="Google Shape;163;p16"/>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4" name="Google Shape;164;p16"/>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3</a:t>
            </a:r>
            <a:endParaRPr sz="1800">
              <a:solidFill>
                <a:schemeClr val="dk1"/>
              </a:solidFill>
              <a:latin typeface="Arial"/>
              <a:ea typeface="Arial"/>
              <a:cs typeface="Arial"/>
              <a:sym typeface="Arial"/>
            </a:endParaRPr>
          </a:p>
        </p:txBody>
      </p:sp>
      <p:sp>
        <p:nvSpPr>
          <p:cNvPr id="165" name="Google Shape;165;p16"/>
          <p:cNvSpPr/>
          <p:nvPr/>
        </p:nvSpPr>
        <p:spPr>
          <a:xfrm>
            <a:off x="560796" y="4688933"/>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6" name="Google Shape;166;p16"/>
          <p:cNvSpPr txBox="1"/>
          <p:nvPr/>
        </p:nvSpPr>
        <p:spPr>
          <a:xfrm>
            <a:off x="770844" y="4624760"/>
            <a:ext cx="27399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6. 外部測定ツール </a:t>
            </a:r>
            <a:endParaRPr sz="24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67" name="Google Shape;167;p16"/>
          <p:cNvSpPr txBox="1"/>
          <p:nvPr/>
        </p:nvSpPr>
        <p:spPr>
          <a:xfrm>
            <a:off x="668508" y="5047700"/>
            <a:ext cx="5649600" cy="202128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Blend Color Checker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は、色計測機</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NIX MINI 3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を使用した数値的な色評価のため、以下の最適化を行っています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セグメント幅の最適化</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algn="l" rtl="0">
              <a:lnSpc>
                <a:spcPct val="115000"/>
              </a:lnSpc>
              <a:spcBef>
                <a:spcPts val="0"/>
              </a:spcBef>
              <a:spcAft>
                <a:spcPts val="0"/>
              </a:spcAft>
            </a:pP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NIX MINI 3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の測定口径に対して十分な測定面積が確保できる幅で設計されています。測定部の一辺とノッチの</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幅をそろえていますので、一致するように取り付けて測定する事で測定ミスを防ぎます</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タワーの幅の最適化</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algn="l" rtl="0">
              <a:lnSpc>
                <a:spcPct val="115000"/>
              </a:lnSpc>
              <a:spcBef>
                <a:spcPts val="0"/>
              </a:spcBef>
              <a:spcAft>
                <a:spcPts val="0"/>
              </a:spcAft>
            </a:pP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タワーの幅はNIX</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MINI3の感光部を覆うことが出来る幅としており、エラーを防ぎます。  </a:t>
            </a: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最上面に記号を記載</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algn="l" rtl="0">
              <a:lnSpc>
                <a:spcPct val="115000"/>
              </a:lnSpc>
              <a:spcBef>
                <a:spcPts val="0"/>
              </a:spcBef>
              <a:spcAft>
                <a:spcPts val="0"/>
              </a:spcAft>
            </a:pP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4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面の測定結果を残す際にどこの面を測定したのかわかるように最上面に各面に対応するアルファベットを記載</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しています。測定時の整理にご活用ください</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9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68" name="Google Shape;168;p16"/>
          <p:cNvSpPr txBox="1"/>
          <p:nvPr/>
        </p:nvSpPr>
        <p:spPr>
          <a:xfrm>
            <a:off x="681821" y="2638082"/>
            <a:ext cx="5642100" cy="177352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200" b="1"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CHeck</a:t>
            </a:r>
            <a:r>
              <a:rPr lang="en-US"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Tower </a:t>
            </a:r>
            <a:r>
              <a:rPr lang="en-US" sz="1200" b="1"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印刷時</a:t>
            </a:r>
            <a:r>
              <a:rPr lang="en-US"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使用前にCheck</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Filamentのブリムを外してください</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ブリムにINと書かれている側がロード側となります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バリなどがある場合はニッパーやカッターで除去してください</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Check Filament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は外部スプールからロードしてください</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algn="l" rtl="0">
              <a:lnSpc>
                <a:spcPct val="115000"/>
              </a:lnSpc>
              <a:spcBef>
                <a:spcPts val="0"/>
              </a:spcBef>
              <a:spcAft>
                <a:spcPts val="0"/>
              </a:spcAft>
            </a:pP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(AMS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は単色印刷中でも、内部処理の都合で</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意図しな</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いパージ</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を行う場合があります</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これによる混色比の切り替え間隔の短縮を避けることが目的です</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スタートパージ量やラインパージ量は一定ではなく、混色比の切替位置とノッチの位置はずれることがあります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69" name="Google Shape;169;p16"/>
          <p:cNvSpPr/>
          <p:nvPr/>
        </p:nvSpPr>
        <p:spPr>
          <a:xfrm>
            <a:off x="590550" y="2717674"/>
            <a:ext cx="125700" cy="1227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70" name="Google Shape;170;p16"/>
          <p:cNvPicPr preferRelativeResize="0"/>
          <p:nvPr/>
        </p:nvPicPr>
        <p:blipFill>
          <a:blip r:embed="rId3">
            <a:alphaModFix/>
          </a:blip>
          <a:stretch>
            <a:fillRect/>
          </a:stretch>
        </p:blipFill>
        <p:spPr>
          <a:xfrm>
            <a:off x="1117634" y="7048700"/>
            <a:ext cx="4632492" cy="1414500"/>
          </a:xfrm>
          <a:prstGeom prst="rect">
            <a:avLst/>
          </a:prstGeom>
          <a:noFill/>
          <a:ln>
            <a:noFill/>
          </a:ln>
        </p:spPr>
      </p:pic>
      <p:sp>
        <p:nvSpPr>
          <p:cNvPr id="171" name="Google Shape;171;p16"/>
          <p:cNvSpPr/>
          <p:nvPr/>
        </p:nvSpPr>
        <p:spPr>
          <a:xfrm>
            <a:off x="556788" y="676633"/>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2" name="Google Shape;172;p16"/>
          <p:cNvSpPr txBox="1"/>
          <p:nvPr/>
        </p:nvSpPr>
        <p:spPr>
          <a:xfrm>
            <a:off x="761456" y="616833"/>
            <a:ext cx="2379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5. </a:t>
            </a:r>
            <a:r>
              <a:rPr lang="en-US" sz="2000" b="1" dirty="0" err="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印刷時の注意</a:t>
            </a: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 </a:t>
            </a:r>
            <a:endParaRPr sz="28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73" name="Google Shape;173;p16"/>
          <p:cNvSpPr txBox="1"/>
          <p:nvPr/>
        </p:nvSpPr>
        <p:spPr>
          <a:xfrm>
            <a:off x="685827" y="1085502"/>
            <a:ext cx="5642100" cy="143727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5.1Check Filament </a:t>
            </a:r>
            <a:r>
              <a:rPr lang="en-US" sz="1200" b="1"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印刷時</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AMSが必須</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0.4mmノズルが必須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ビルドプレート：テクスチャード</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PEIが推奨</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材料：異種材料の混合は不可</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algn="l" rtl="0">
              <a:lnSpc>
                <a:spcPct val="115000"/>
              </a:lnSpc>
              <a:spcBef>
                <a:spcPts val="0"/>
              </a:spcBef>
              <a:spcAft>
                <a:spcPts val="0"/>
              </a:spcAft>
            </a:pP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(PLA Basic と PLA Matte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の組み合わせ等は上手く行く事が多いが、自己責任で実施して下さい</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糊の使用不可</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印刷前にビルドプレートと手の洗浄を実施してください</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74" name="Google Shape;174;p16"/>
          <p:cNvSpPr/>
          <p:nvPr/>
        </p:nvSpPr>
        <p:spPr>
          <a:xfrm>
            <a:off x="605663" y="1165095"/>
            <a:ext cx="125700" cy="1227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7"/>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0" name="Google Shape;180;p17"/>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81" name="Google Shape;181;p17"/>
          <p:cNvGrpSpPr/>
          <p:nvPr/>
        </p:nvGrpSpPr>
        <p:grpSpPr>
          <a:xfrm>
            <a:off x="0" y="0"/>
            <a:ext cx="6865269" cy="9144001"/>
            <a:chOff x="0" y="0"/>
            <a:chExt cx="6865269" cy="9144001"/>
          </a:xfrm>
        </p:grpSpPr>
        <p:sp>
          <p:nvSpPr>
            <p:cNvPr id="182" name="Google Shape;182;p17"/>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3" name="Google Shape;183;p17"/>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4" name="Google Shape;184;p17"/>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5" name="Google Shape;185;p17"/>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86" name="Google Shape;186;p17"/>
          <p:cNvSpPr/>
          <p:nvPr/>
        </p:nvSpPr>
        <p:spPr>
          <a:xfrm>
            <a:off x="554537" y="45246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7" name="Google Shape;187;p17"/>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8" name="Google Shape;188;p17"/>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9" name="Google Shape;189;p17"/>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4</a:t>
            </a:r>
            <a:endParaRPr sz="1800">
              <a:solidFill>
                <a:schemeClr val="dk1"/>
              </a:solidFill>
              <a:latin typeface="Arial"/>
              <a:ea typeface="Arial"/>
              <a:cs typeface="Arial"/>
              <a:sym typeface="Arial"/>
            </a:endParaRPr>
          </a:p>
        </p:txBody>
      </p:sp>
      <p:sp>
        <p:nvSpPr>
          <p:cNvPr id="190" name="Google Shape;190;p17"/>
          <p:cNvSpPr/>
          <p:nvPr/>
        </p:nvSpPr>
        <p:spPr>
          <a:xfrm>
            <a:off x="558261" y="2803851"/>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17"/>
          <p:cNvSpPr txBox="1"/>
          <p:nvPr/>
        </p:nvSpPr>
        <p:spPr>
          <a:xfrm>
            <a:off x="790026" y="2733606"/>
            <a:ext cx="25920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8. </a:t>
            </a:r>
            <a:r>
              <a:rPr lang="ja-JP" alt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更新履歴</a:t>
            </a:r>
            <a:endParaRPr sz="24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92" name="Google Shape;192;p17"/>
          <p:cNvSpPr txBox="1"/>
          <p:nvPr/>
        </p:nvSpPr>
        <p:spPr>
          <a:xfrm>
            <a:off x="676941" y="3091447"/>
            <a:ext cx="5649600" cy="369291"/>
          </a:xfrm>
          <a:prstGeom prst="rect">
            <a:avLst/>
          </a:prstGeom>
          <a:noFill/>
          <a:ln>
            <a:noFill/>
          </a:ln>
        </p:spPr>
        <p:txBody>
          <a:bodyPr spcFirstLastPara="1" wrap="square" lIns="91425" tIns="45700" rIns="91425" bIns="45700" anchor="t" anchorCtr="0">
            <a:spAutoFit/>
          </a:bodyPr>
          <a:lstStyle/>
          <a:p>
            <a:pPr lvl="0"/>
            <a:r>
              <a:rPr lang="ja-JP" altLang="ja-JP" sz="900" dirty="0"/>
              <a:t>Ver.1.00 2026-0</a:t>
            </a:r>
            <a:r>
              <a:rPr lang="en-US" altLang="ja-JP" sz="900" dirty="0"/>
              <a:t>7</a:t>
            </a:r>
            <a:r>
              <a:rPr lang="ja-JP" altLang="ja-JP" sz="900" dirty="0"/>
              <a:t>-</a:t>
            </a:r>
            <a:r>
              <a:rPr lang="en-US" altLang="ja-JP" sz="900" dirty="0"/>
              <a:t>02</a:t>
            </a:r>
            <a:r>
              <a:rPr lang="ja-JP" altLang="ja-JP" sz="900" dirty="0"/>
              <a:t> 初版公開 </a:t>
            </a:r>
            <a:endParaRPr lang="en-US" altLang="ja-JP" sz="900" dirty="0"/>
          </a:p>
          <a:p>
            <a:pPr lvl="0"/>
            <a:r>
              <a:rPr lang="ja-JP" altLang="ja-JP" sz="900" dirty="0"/>
              <a:t>Ver.</a:t>
            </a:r>
            <a:r>
              <a:rPr lang="en-US" altLang="ja-JP" sz="900" dirty="0"/>
              <a:t>1</a:t>
            </a:r>
            <a:r>
              <a:rPr lang="ja-JP" altLang="ja-JP" sz="900" dirty="0"/>
              <a:t>.10 2026-08-16 統一デザイン反映</a:t>
            </a:r>
            <a:endParaRPr dirty="0">
              <a:latin typeface="IBM Plex Sans JP" panose="020B0503050203000203" pitchFamily="50" charset="-128"/>
              <a:ea typeface="IBM Plex Sans JP" panose="020B0503050203000203" pitchFamily="50" charset="-128"/>
            </a:endParaRPr>
          </a:p>
        </p:txBody>
      </p:sp>
      <p:sp>
        <p:nvSpPr>
          <p:cNvPr id="193" name="Google Shape;193;p17"/>
          <p:cNvSpPr txBox="1"/>
          <p:nvPr/>
        </p:nvSpPr>
        <p:spPr>
          <a:xfrm>
            <a:off x="759181" y="705345"/>
            <a:ext cx="27399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7. まとめ  </a:t>
            </a:r>
            <a:endParaRPr sz="24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94" name="Google Shape;194;p17"/>
          <p:cNvSpPr txBox="1"/>
          <p:nvPr/>
        </p:nvSpPr>
        <p:spPr>
          <a:xfrm>
            <a:off x="677246" y="1065260"/>
            <a:ext cx="5649600" cy="147728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Blend Color Checker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は、FlexChroma</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Blend Filament の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混色比と実際の色の関係を正確に評価</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するための</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信頼性の高い基準ツールです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Arial" panose="020B0604020202020204" pitchFamily="34" charset="0"/>
              <a:buChar char="•"/>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Standard / Detail の 2種類のチェックフィラメント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外部スプール使用によるずれの少ない色境界</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Arial" panose="020B0604020202020204" pitchFamily="34" charset="0"/>
              <a:buChar char="•"/>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NIX MINI 3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に最適化された設計</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50000"/>
              </a:lnSpc>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これらにより、適切な色の選択</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が可能になります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9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95" name="Google Shape;195;p17"/>
          <p:cNvSpPr/>
          <p:nvPr/>
        </p:nvSpPr>
        <p:spPr>
          <a:xfrm>
            <a:off x="554513" y="769517"/>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18851F7F-C276-8590-F765-FE1370316949}"/>
            </a:ext>
          </a:extLst>
        </p:cNvPr>
        <p:cNvGrpSpPr/>
        <p:nvPr/>
      </p:nvGrpSpPr>
      <p:grpSpPr>
        <a:xfrm>
          <a:off x="0" y="0"/>
          <a:ext cx="0" cy="0"/>
          <a:chOff x="0" y="0"/>
          <a:chExt cx="0" cy="0"/>
        </a:xfrm>
      </p:grpSpPr>
      <p:sp>
        <p:nvSpPr>
          <p:cNvPr id="99" name="Google Shape;99;p14">
            <a:extLst>
              <a:ext uri="{FF2B5EF4-FFF2-40B4-BE49-F238E27FC236}">
                <a16:creationId xmlns:a16="http://schemas.microsoft.com/office/drawing/2014/main" id="{A7BCC183-9F8C-411E-0A3F-80647D927D87}"/>
              </a:ext>
            </a:extLst>
          </p:cNvPr>
          <p:cNvSpPr/>
          <p:nvPr/>
        </p:nvSpPr>
        <p:spPr>
          <a:xfrm>
            <a:off x="33951"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 name="フリーフォーム: 図形 13">
            <a:extLst>
              <a:ext uri="{FF2B5EF4-FFF2-40B4-BE49-F238E27FC236}">
                <a16:creationId xmlns:a16="http://schemas.microsoft.com/office/drawing/2014/main" id="{621A58FC-1238-ECBD-1BFE-8D3864734F26}"/>
              </a:ext>
            </a:extLst>
          </p:cNvPr>
          <p:cNvSpPr/>
          <p:nvPr/>
        </p:nvSpPr>
        <p:spPr>
          <a:xfrm>
            <a:off x="0" y="0"/>
            <a:ext cx="6858000" cy="9144000"/>
          </a:xfrm>
          <a:custGeom>
            <a:avLst/>
            <a:gdLst>
              <a:gd name="csX0" fmla="*/ 3732954 w 6858000"/>
              <a:gd name="csY0" fmla="*/ 8663615 h 9144000"/>
              <a:gd name="csX1" fmla="*/ 3732954 w 6858000"/>
              <a:gd name="csY1" fmla="*/ 8717615 h 9144000"/>
              <a:gd name="csX2" fmla="*/ 6324954 w 6858000"/>
              <a:gd name="csY2" fmla="*/ 8717615 h 9144000"/>
              <a:gd name="csX3" fmla="*/ 6324954 w 6858000"/>
              <a:gd name="csY3" fmla="*/ 8663615 h 9144000"/>
              <a:gd name="csX4" fmla="*/ 552648 w 6858000"/>
              <a:gd name="csY4" fmla="*/ 8663615 h 9144000"/>
              <a:gd name="csX5" fmla="*/ 552648 w 6858000"/>
              <a:gd name="csY5" fmla="*/ 8717615 h 9144000"/>
              <a:gd name="csX6" fmla="*/ 3144648 w 6858000"/>
              <a:gd name="csY6" fmla="*/ 8717615 h 9144000"/>
              <a:gd name="csX7" fmla="*/ 3144648 w 6858000"/>
              <a:gd name="csY7" fmla="*/ 8663615 h 9144000"/>
              <a:gd name="csX8" fmla="*/ 661206 w 6858000"/>
              <a:gd name="csY8" fmla="*/ 6766045 h 9144000"/>
              <a:gd name="csX9" fmla="*/ 598356 w 6858000"/>
              <a:gd name="csY9" fmla="*/ 6827395 h 9144000"/>
              <a:gd name="csX10" fmla="*/ 661206 w 6858000"/>
              <a:gd name="csY10" fmla="*/ 6888745 h 9144000"/>
              <a:gd name="csX11" fmla="*/ 724056 w 6858000"/>
              <a:gd name="csY11" fmla="*/ 6827395 h 9144000"/>
              <a:gd name="csX12" fmla="*/ 661206 w 6858000"/>
              <a:gd name="csY12" fmla="*/ 6766045 h 9144000"/>
              <a:gd name="csX13" fmla="*/ 654960 w 6858000"/>
              <a:gd name="csY13" fmla="*/ 6239402 h 9144000"/>
              <a:gd name="csX14" fmla="*/ 552660 w 6858000"/>
              <a:gd name="csY14" fmla="*/ 6341702 h 9144000"/>
              <a:gd name="csX15" fmla="*/ 654960 w 6858000"/>
              <a:gd name="csY15" fmla="*/ 6444002 h 9144000"/>
              <a:gd name="csX16" fmla="*/ 757260 w 6858000"/>
              <a:gd name="csY16" fmla="*/ 6341702 h 9144000"/>
              <a:gd name="csX17" fmla="*/ 654960 w 6858000"/>
              <a:gd name="csY17" fmla="*/ 6239402 h 9144000"/>
              <a:gd name="csX18" fmla="*/ 666585 w 6858000"/>
              <a:gd name="csY18" fmla="*/ 4626173 h 9144000"/>
              <a:gd name="csX19" fmla="*/ 564285 w 6858000"/>
              <a:gd name="csY19" fmla="*/ 4728473 h 9144000"/>
              <a:gd name="csX20" fmla="*/ 666585 w 6858000"/>
              <a:gd name="csY20" fmla="*/ 4830773 h 9144000"/>
              <a:gd name="csX21" fmla="*/ 768885 w 6858000"/>
              <a:gd name="csY21" fmla="*/ 4728473 h 9144000"/>
              <a:gd name="csX22" fmla="*/ 666585 w 6858000"/>
              <a:gd name="csY22" fmla="*/ 4626173 h 9144000"/>
              <a:gd name="csX23" fmla="*/ 666585 w 6858000"/>
              <a:gd name="csY23" fmla="*/ 3017588 h 9144000"/>
              <a:gd name="csX24" fmla="*/ 564285 w 6858000"/>
              <a:gd name="csY24" fmla="*/ 3119888 h 9144000"/>
              <a:gd name="csX25" fmla="*/ 666585 w 6858000"/>
              <a:gd name="csY25" fmla="*/ 3222188 h 9144000"/>
              <a:gd name="csX26" fmla="*/ 768885 w 6858000"/>
              <a:gd name="csY26" fmla="*/ 3119888 h 9144000"/>
              <a:gd name="csX27" fmla="*/ 666585 w 6858000"/>
              <a:gd name="csY27" fmla="*/ 3017588 h 9144000"/>
              <a:gd name="csX28" fmla="*/ 5970234 w 6858000"/>
              <a:gd name="csY28" fmla="*/ 2281666 h 9144000"/>
              <a:gd name="csX29" fmla="*/ 5914929 w 6858000"/>
              <a:gd name="csY29" fmla="*/ 2336971 h 9144000"/>
              <a:gd name="csX30" fmla="*/ 953826 w 6858000"/>
              <a:gd name="csY30" fmla="*/ 2336971 h 9144000"/>
              <a:gd name="csX31" fmla="*/ 914720 w 6858000"/>
              <a:gd name="csY31" fmla="*/ 2320772 h 9144000"/>
              <a:gd name="csX32" fmla="*/ 898522 w 6858000"/>
              <a:gd name="csY32" fmla="*/ 2281668 h 9144000"/>
              <a:gd name="csX33" fmla="*/ 898522 w 6858000"/>
              <a:gd name="csY33" fmla="*/ 2415258 h 9144000"/>
              <a:gd name="csX34" fmla="*/ 1087418 w 6858000"/>
              <a:gd name="csY34" fmla="*/ 2604154 h 9144000"/>
              <a:gd name="csX35" fmla="*/ 5781338 w 6858000"/>
              <a:gd name="csY35" fmla="*/ 2604154 h 9144000"/>
              <a:gd name="csX36" fmla="*/ 5970234 w 6858000"/>
              <a:gd name="csY36" fmla="*/ 2415258 h 9144000"/>
              <a:gd name="csX37" fmla="*/ 1087419 w 6858000"/>
              <a:gd name="csY37" fmla="*/ 448989 h 9144000"/>
              <a:gd name="csX38" fmla="*/ 898523 w 6858000"/>
              <a:gd name="csY38" fmla="*/ 637885 h 9144000"/>
              <a:gd name="csX39" fmla="*/ 898523 w 6858000"/>
              <a:gd name="csY39" fmla="*/ 771477 h 9144000"/>
              <a:gd name="csX40" fmla="*/ 953828 w 6858000"/>
              <a:gd name="csY40" fmla="*/ 716172 h 9144000"/>
              <a:gd name="csX41" fmla="*/ 5914930 w 6858000"/>
              <a:gd name="csY41" fmla="*/ 716172 h 9144000"/>
              <a:gd name="csX42" fmla="*/ 5954037 w 6858000"/>
              <a:gd name="csY42" fmla="*/ 732371 h 9144000"/>
              <a:gd name="csX43" fmla="*/ 5970234 w 6858000"/>
              <a:gd name="csY43" fmla="*/ 771474 h 9144000"/>
              <a:gd name="csX44" fmla="*/ 5970234 w 6858000"/>
              <a:gd name="csY44" fmla="*/ 637885 h 9144000"/>
              <a:gd name="csX45" fmla="*/ 5781338 w 6858000"/>
              <a:gd name="csY45" fmla="*/ 448989 h 9144000"/>
              <a:gd name="csX46" fmla="*/ 0 w 6858000"/>
              <a:gd name="csY46" fmla="*/ 0 h 9144000"/>
              <a:gd name="csX47" fmla="*/ 6858000 w 6858000"/>
              <a:gd name="csY47" fmla="*/ 0 h 9144000"/>
              <a:gd name="csX48" fmla="*/ 6858000 w 6858000"/>
              <a:gd name="csY48" fmla="*/ 9144000 h 9144000"/>
              <a:gd name="csX49" fmla="*/ 0 w 6858000"/>
              <a:gd name="csY49"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6858000" h="9144000">
                <a:moveTo>
                  <a:pt x="3732954" y="8663615"/>
                </a:moveTo>
                <a:lnTo>
                  <a:pt x="3732954" y="8717615"/>
                </a:lnTo>
                <a:lnTo>
                  <a:pt x="6324954" y="8717615"/>
                </a:lnTo>
                <a:lnTo>
                  <a:pt x="6324954" y="8663615"/>
                </a:lnTo>
                <a:close/>
                <a:moveTo>
                  <a:pt x="552648" y="8663615"/>
                </a:moveTo>
                <a:lnTo>
                  <a:pt x="552648" y="8717615"/>
                </a:lnTo>
                <a:lnTo>
                  <a:pt x="3144648" y="8717615"/>
                </a:lnTo>
                <a:lnTo>
                  <a:pt x="3144648" y="8663615"/>
                </a:lnTo>
                <a:close/>
                <a:moveTo>
                  <a:pt x="661206" y="6766045"/>
                </a:moveTo>
                <a:cubicBezTo>
                  <a:pt x="626495" y="6766045"/>
                  <a:pt x="598356" y="6793512"/>
                  <a:pt x="598356" y="6827395"/>
                </a:cubicBezTo>
                <a:cubicBezTo>
                  <a:pt x="598356" y="6861278"/>
                  <a:pt x="626495" y="6888745"/>
                  <a:pt x="661206" y="6888745"/>
                </a:cubicBezTo>
                <a:cubicBezTo>
                  <a:pt x="695917" y="6888745"/>
                  <a:pt x="724056" y="6861278"/>
                  <a:pt x="724056" y="6827395"/>
                </a:cubicBezTo>
                <a:cubicBezTo>
                  <a:pt x="724056" y="6793512"/>
                  <a:pt x="695917" y="6766045"/>
                  <a:pt x="661206" y="6766045"/>
                </a:cubicBezTo>
                <a:close/>
                <a:moveTo>
                  <a:pt x="654960" y="6239402"/>
                </a:moveTo>
                <a:cubicBezTo>
                  <a:pt x="598461" y="6239402"/>
                  <a:pt x="552660" y="6285203"/>
                  <a:pt x="552660" y="6341702"/>
                </a:cubicBezTo>
                <a:cubicBezTo>
                  <a:pt x="552660" y="6398201"/>
                  <a:pt x="598461" y="6444002"/>
                  <a:pt x="654960" y="6444002"/>
                </a:cubicBezTo>
                <a:cubicBezTo>
                  <a:pt x="711459" y="6444002"/>
                  <a:pt x="757260" y="6398201"/>
                  <a:pt x="757260" y="6341702"/>
                </a:cubicBezTo>
                <a:cubicBezTo>
                  <a:pt x="757260" y="6285203"/>
                  <a:pt x="711459" y="6239402"/>
                  <a:pt x="654960" y="6239402"/>
                </a:cubicBezTo>
                <a:close/>
                <a:moveTo>
                  <a:pt x="666585" y="4626173"/>
                </a:moveTo>
                <a:cubicBezTo>
                  <a:pt x="610086" y="4626173"/>
                  <a:pt x="564285" y="4671974"/>
                  <a:pt x="564285" y="4728473"/>
                </a:cubicBezTo>
                <a:cubicBezTo>
                  <a:pt x="564285" y="4784972"/>
                  <a:pt x="610086" y="4830773"/>
                  <a:pt x="666585" y="4830773"/>
                </a:cubicBezTo>
                <a:cubicBezTo>
                  <a:pt x="723084" y="4830773"/>
                  <a:pt x="768885" y="4784972"/>
                  <a:pt x="768885" y="4728473"/>
                </a:cubicBezTo>
                <a:cubicBezTo>
                  <a:pt x="768885" y="4671974"/>
                  <a:pt x="723084" y="4626173"/>
                  <a:pt x="666585" y="4626173"/>
                </a:cubicBezTo>
                <a:close/>
                <a:moveTo>
                  <a:pt x="666585" y="3017588"/>
                </a:moveTo>
                <a:cubicBezTo>
                  <a:pt x="610086" y="3017588"/>
                  <a:pt x="564285" y="3063389"/>
                  <a:pt x="564285" y="3119888"/>
                </a:cubicBezTo>
                <a:cubicBezTo>
                  <a:pt x="564285" y="3176387"/>
                  <a:pt x="610086" y="3222188"/>
                  <a:pt x="666585" y="3222188"/>
                </a:cubicBezTo>
                <a:cubicBezTo>
                  <a:pt x="723084" y="3222188"/>
                  <a:pt x="768885" y="3176387"/>
                  <a:pt x="768885" y="3119888"/>
                </a:cubicBezTo>
                <a:cubicBezTo>
                  <a:pt x="768885" y="3063389"/>
                  <a:pt x="723084" y="3017588"/>
                  <a:pt x="666585" y="3017588"/>
                </a:cubicBezTo>
                <a:close/>
                <a:moveTo>
                  <a:pt x="5970234" y="2281666"/>
                </a:moveTo>
                <a:cubicBezTo>
                  <a:pt x="5970234" y="2312210"/>
                  <a:pt x="5945473" y="2336971"/>
                  <a:pt x="5914929" y="2336971"/>
                </a:cubicBezTo>
                <a:lnTo>
                  <a:pt x="953826" y="2336971"/>
                </a:lnTo>
                <a:cubicBezTo>
                  <a:pt x="938554" y="2336971"/>
                  <a:pt x="924728" y="2330781"/>
                  <a:pt x="914720" y="2320772"/>
                </a:cubicBezTo>
                <a:lnTo>
                  <a:pt x="898522" y="2281668"/>
                </a:lnTo>
                <a:lnTo>
                  <a:pt x="898522" y="2415258"/>
                </a:lnTo>
                <a:cubicBezTo>
                  <a:pt x="898522" y="2519582"/>
                  <a:pt x="983094" y="2604154"/>
                  <a:pt x="1087418" y="2604154"/>
                </a:cubicBezTo>
                <a:lnTo>
                  <a:pt x="5781338" y="2604154"/>
                </a:lnTo>
                <a:cubicBezTo>
                  <a:pt x="5885662" y="2604154"/>
                  <a:pt x="5970234" y="2519582"/>
                  <a:pt x="5970234" y="2415258"/>
                </a:cubicBezTo>
                <a:close/>
                <a:moveTo>
                  <a:pt x="1087419" y="448989"/>
                </a:moveTo>
                <a:cubicBezTo>
                  <a:pt x="983095" y="448989"/>
                  <a:pt x="898523" y="533561"/>
                  <a:pt x="898523" y="637885"/>
                </a:cubicBezTo>
                <a:lnTo>
                  <a:pt x="898523" y="771477"/>
                </a:lnTo>
                <a:cubicBezTo>
                  <a:pt x="898523" y="740933"/>
                  <a:pt x="923284" y="716172"/>
                  <a:pt x="953828" y="716172"/>
                </a:cubicBezTo>
                <a:lnTo>
                  <a:pt x="5914930" y="716172"/>
                </a:lnTo>
                <a:cubicBezTo>
                  <a:pt x="5930202" y="716172"/>
                  <a:pt x="5944028" y="722362"/>
                  <a:pt x="5954037" y="732371"/>
                </a:cubicBezTo>
                <a:lnTo>
                  <a:pt x="5970234" y="771474"/>
                </a:lnTo>
                <a:lnTo>
                  <a:pt x="5970234" y="637885"/>
                </a:lnTo>
                <a:cubicBezTo>
                  <a:pt x="5970234" y="533561"/>
                  <a:pt x="5885662" y="448989"/>
                  <a:pt x="5781338" y="448989"/>
                </a:cubicBez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8" name="Google Shape;108;p14">
            <a:extLst>
              <a:ext uri="{FF2B5EF4-FFF2-40B4-BE49-F238E27FC236}">
                <a16:creationId xmlns:a16="http://schemas.microsoft.com/office/drawing/2014/main" id="{9F8DB1A3-43D0-8FC1-0D41-91BDADEC8625}"/>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1</a:t>
            </a:r>
            <a:endParaRPr sz="1800" b="0" i="0" u="none" strike="noStrike" cap="none">
              <a:solidFill>
                <a:schemeClr val="dk1"/>
              </a:solidFill>
              <a:latin typeface="Arial"/>
              <a:ea typeface="Arial"/>
              <a:cs typeface="Arial"/>
              <a:sym typeface="Arial"/>
            </a:endParaRPr>
          </a:p>
        </p:txBody>
      </p:sp>
      <p:sp>
        <p:nvSpPr>
          <p:cNvPr id="109" name="Google Shape;109;p14">
            <a:extLst>
              <a:ext uri="{FF2B5EF4-FFF2-40B4-BE49-F238E27FC236}">
                <a16:creationId xmlns:a16="http://schemas.microsoft.com/office/drawing/2014/main" id="{160C2966-D26F-AA9E-7DC4-9262872DFBE8}"/>
              </a:ext>
            </a:extLst>
          </p:cNvPr>
          <p:cNvSpPr txBox="1"/>
          <p:nvPr/>
        </p:nvSpPr>
        <p:spPr>
          <a:xfrm>
            <a:off x="1119608" y="845954"/>
            <a:ext cx="5012952" cy="55395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b="1" i="0" u="none" strike="noStrike" cap="none" dirty="0">
                <a:solidFill>
                  <a:schemeClr val="dk1"/>
                </a:solidFill>
                <a:latin typeface="Segoe UI Semibold" panose="020B0702040204020203" pitchFamily="34" charset="0"/>
                <a:ea typeface="Quattrocento Sans"/>
                <a:cs typeface="Segoe UI Semibold" panose="020B0702040204020203" pitchFamily="34" charset="0"/>
                <a:sym typeface="Quattrocento Sans"/>
              </a:rPr>
              <a:t>FlexChroma</a:t>
            </a:r>
            <a:r>
              <a:rPr lang="en-US" sz="2200" b="1" i="0" u="none" strike="noStrike" cap="none" dirty="0">
                <a:solidFill>
                  <a:schemeClr val="dk1"/>
                </a:solidFill>
                <a:latin typeface="Segoe UI Semibold" panose="020B0702040204020203" pitchFamily="34" charset="0"/>
                <a:ea typeface="IBM Plex Sans JP"/>
                <a:cs typeface="Segoe UI Semibold" panose="020B0702040204020203" pitchFamily="34" charset="0"/>
                <a:sym typeface="IBM Plex Sans JP"/>
              </a:rPr>
              <a:t> </a:t>
            </a:r>
            <a:r>
              <a:rPr lang="en-US" sz="2200" b="1" dirty="0">
                <a:solidFill>
                  <a:schemeClr val="dk1"/>
                </a:solidFill>
                <a:latin typeface="Segoe UI Semibold" panose="020B0702040204020203" pitchFamily="34" charset="0"/>
                <a:ea typeface="IBM Plex Sans JP"/>
                <a:cs typeface="Segoe UI Semibold" panose="020B0702040204020203" pitchFamily="34" charset="0"/>
                <a:sym typeface="IBM Plex Sans JP"/>
              </a:rPr>
              <a:t>Blend Color Checker</a:t>
            </a:r>
            <a:endParaRPr sz="2200" b="1" dirty="0">
              <a:solidFill>
                <a:schemeClr val="dk1"/>
              </a:solidFill>
              <a:latin typeface="Segoe UI Semibold" panose="020B0702040204020203" pitchFamily="34" charset="0"/>
              <a:ea typeface="IBM Plex Sans JP"/>
              <a:cs typeface="Segoe UI Semibold" panose="020B0702040204020203" pitchFamily="34" charset="0"/>
              <a:sym typeface="IBM Plex Sans JP"/>
            </a:endParaRPr>
          </a:p>
        </p:txBody>
      </p:sp>
      <p:sp>
        <p:nvSpPr>
          <p:cNvPr id="111" name="Google Shape;111;p14">
            <a:extLst>
              <a:ext uri="{FF2B5EF4-FFF2-40B4-BE49-F238E27FC236}">
                <a16:creationId xmlns:a16="http://schemas.microsoft.com/office/drawing/2014/main" id="{6C0D0D9F-F58C-B6F5-A194-169142629DC6}"/>
              </a:ext>
            </a:extLst>
          </p:cNvPr>
          <p:cNvSpPr txBox="1"/>
          <p:nvPr/>
        </p:nvSpPr>
        <p:spPr>
          <a:xfrm>
            <a:off x="770844" y="2957097"/>
            <a:ext cx="2055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1. </a:t>
            </a:r>
            <a:r>
              <a:rPr lang="en-US" sz="2000" b="1" dirty="0" err="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はじめに</a:t>
            </a: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 </a:t>
            </a:r>
            <a:endParaRPr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12" name="Google Shape;112;p14">
            <a:extLst>
              <a:ext uri="{FF2B5EF4-FFF2-40B4-BE49-F238E27FC236}">
                <a16:creationId xmlns:a16="http://schemas.microsoft.com/office/drawing/2014/main" id="{2F452D02-D826-DE07-2CDB-9A4895D81D2A}"/>
              </a:ext>
            </a:extLst>
          </p:cNvPr>
          <p:cNvSpPr txBox="1"/>
          <p:nvPr/>
        </p:nvSpPr>
        <p:spPr>
          <a:xfrm>
            <a:off x="668508" y="3380037"/>
            <a:ext cx="5649600" cy="815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FlexChroma Blend Color Checker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は、FlexChroma</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Blend Filament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による</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混色比ごとの色を実際に目</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で見て評価するための専用モデルです</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Quattrocento Sans"/>
              <a:sym typeface="Quattrocento Sans"/>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AMS により生成された21段の混色領域に分かれた混色フィラメントを使用し、混色比と実際の色がどのように対応する か </a:t>
            </a:r>
            <a:r>
              <a:rPr lang="en-US" sz="1050" dirty="0" err="1">
                <a:solidFill>
                  <a:schemeClr val="dk1"/>
                </a:solidFill>
                <a:latin typeface="IBM Plex Sans JP" panose="020B0503050203000203" pitchFamily="50" charset="-128"/>
                <a:ea typeface="IBM Plex Sans JP" panose="020B0503050203000203" pitchFamily="50" charset="-128"/>
                <a:cs typeface="Quattrocento Sans"/>
                <a:sym typeface="Quattrocento Sans"/>
              </a:rPr>
              <a:t>を直接確認できるよう設計されています</a:t>
            </a:r>
            <a:r>
              <a:rPr lang="en-US" sz="1050" dirty="0">
                <a:solidFill>
                  <a:schemeClr val="dk1"/>
                </a:solidFill>
                <a:latin typeface="IBM Plex Sans JP" panose="020B0503050203000203" pitchFamily="50" charset="-128"/>
                <a:ea typeface="IBM Plex Sans JP" panose="020B0503050203000203" pitchFamily="50" charset="-128"/>
                <a:cs typeface="Quattrocento Sans"/>
                <a:sym typeface="Quattrocento Sans"/>
              </a:rPr>
              <a:t>。 </a:t>
            </a:r>
            <a:endParaRPr sz="105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14" name="Google Shape;114;p14">
            <a:extLst>
              <a:ext uri="{FF2B5EF4-FFF2-40B4-BE49-F238E27FC236}">
                <a16:creationId xmlns:a16="http://schemas.microsoft.com/office/drawing/2014/main" id="{C7926730-384A-CBC0-557E-AA5580D6D9A6}"/>
              </a:ext>
            </a:extLst>
          </p:cNvPr>
          <p:cNvSpPr txBox="1"/>
          <p:nvPr/>
        </p:nvSpPr>
        <p:spPr>
          <a:xfrm>
            <a:off x="770844" y="4556779"/>
            <a:ext cx="33891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2. Color Checker の目的 </a:t>
            </a:r>
            <a:endParaRPr sz="24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15" name="Google Shape;115;p14">
            <a:extLst>
              <a:ext uri="{FF2B5EF4-FFF2-40B4-BE49-F238E27FC236}">
                <a16:creationId xmlns:a16="http://schemas.microsoft.com/office/drawing/2014/main" id="{258E95A3-3ADD-142F-5D52-624C3086F2A6}"/>
              </a:ext>
            </a:extLst>
          </p:cNvPr>
          <p:cNvSpPr txBox="1"/>
          <p:nvPr/>
        </p:nvSpPr>
        <p:spPr>
          <a:xfrm>
            <a:off x="661239" y="5006425"/>
            <a:ext cx="5649600" cy="815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本モデルは以下の用途に最適です</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5275" algn="l" rtl="0">
              <a:spcBef>
                <a:spcPts val="0"/>
              </a:spcBef>
              <a:spcAft>
                <a:spcPts val="0"/>
              </a:spcAft>
              <a:buClr>
                <a:schemeClr val="dk1"/>
              </a:buClr>
              <a:buSzPts val="1050"/>
              <a:buFont typeface="Arial" panose="020B0604020202020204" pitchFamily="34" charset="0"/>
              <a:buChar char="•"/>
            </a:pP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混色比ごとの</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実際の色の違い</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を視覚的に確認</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5275" algn="l" rtl="0">
              <a:spcBef>
                <a:spcPts val="0"/>
              </a:spcBef>
              <a:spcAft>
                <a:spcPts val="0"/>
              </a:spcAft>
              <a:buClr>
                <a:schemeClr val="dk1"/>
              </a:buClr>
              <a:buSzPts val="1050"/>
              <a:buFont typeface="Arial" panose="020B0604020202020204" pitchFamily="34" charset="0"/>
              <a:buChar char="•"/>
            </a:pP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印刷方向の違いによる色差の確認</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5275" algn="l" rtl="0">
              <a:spcBef>
                <a:spcPts val="0"/>
              </a:spcBef>
              <a:spcAft>
                <a:spcPts val="0"/>
              </a:spcAft>
              <a:buClr>
                <a:schemeClr val="dk1"/>
              </a:buClr>
              <a:buSzPts val="1050"/>
              <a:buFont typeface="Arial" panose="020B0604020202020204" pitchFamily="34" charset="0"/>
              <a:buChar char="•"/>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NIX MINI 3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による色計測を前提とした</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数値的な色評価</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5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22" name="Google Shape;122;p14">
            <a:extLst>
              <a:ext uri="{FF2B5EF4-FFF2-40B4-BE49-F238E27FC236}">
                <a16:creationId xmlns:a16="http://schemas.microsoft.com/office/drawing/2014/main" id="{278EBFCD-D75E-0FD4-2E24-4FF0E953C21F}"/>
              </a:ext>
            </a:extLst>
          </p:cNvPr>
          <p:cNvSpPr txBox="1"/>
          <p:nvPr/>
        </p:nvSpPr>
        <p:spPr>
          <a:xfrm>
            <a:off x="713926" y="1446875"/>
            <a:ext cx="5368200" cy="30773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実際の印刷結果を見てBlend</a:t>
            </a:r>
            <a:r>
              <a:rPr lang="en-US"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Filamentの色を比較しよう</a:t>
            </a:r>
            <a:r>
              <a:rPr lang="en-US"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23" name="Google Shape;123;p14">
            <a:extLst>
              <a:ext uri="{FF2B5EF4-FFF2-40B4-BE49-F238E27FC236}">
                <a16:creationId xmlns:a16="http://schemas.microsoft.com/office/drawing/2014/main" id="{627CAE04-C280-0F65-B047-4F0A0783ED1C}"/>
              </a:ext>
            </a:extLst>
          </p:cNvPr>
          <p:cNvSpPr txBox="1"/>
          <p:nvPr/>
        </p:nvSpPr>
        <p:spPr>
          <a:xfrm>
            <a:off x="2364900" y="1843425"/>
            <a:ext cx="21282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chemeClr val="dk1"/>
                </a:solidFill>
                <a:latin typeface="IBM Plex Sans JP" panose="020B0503050203000203" pitchFamily="50" charset="-128"/>
                <a:ea typeface="IBM Plex Sans JP" panose="020B0503050203000203" pitchFamily="50" charset="-128"/>
                <a:cs typeface="IBM Plex Sans JP"/>
                <a:sym typeface="IBM Plex Sans JP"/>
              </a:rPr>
              <a:t>Ver.1.1</a:t>
            </a:r>
            <a:r>
              <a:rPr lang="en-US">
                <a:solidFill>
                  <a:schemeClr val="dk1"/>
                </a:solidFill>
                <a:latin typeface="IBM Plex Sans JP" panose="020B0503050203000203" pitchFamily="50" charset="-128"/>
                <a:ea typeface="IBM Plex Sans JP" panose="020B0503050203000203" pitchFamily="50" charset="-128"/>
                <a:cs typeface="IBM Plex Sans JP"/>
                <a:sym typeface="IBM Plex Sans JP"/>
              </a:rPr>
              <a:t>0</a:t>
            </a:r>
            <a:r>
              <a:rPr lang="en-US" sz="1400">
                <a:solidFill>
                  <a:schemeClr val="dk1"/>
                </a:solidFill>
                <a:latin typeface="IBM Plex Sans JP" panose="020B0503050203000203" pitchFamily="50" charset="-128"/>
                <a:ea typeface="IBM Plex Sans JP" panose="020B0503050203000203" pitchFamily="50" charset="-128"/>
                <a:cs typeface="IBM Plex Sans JP"/>
                <a:sym typeface="IBM Plex Sans JP"/>
              </a:rPr>
              <a:t>  2026.8.</a:t>
            </a:r>
            <a:r>
              <a:rPr lang="en-US">
                <a:solidFill>
                  <a:schemeClr val="dk1"/>
                </a:solidFill>
                <a:latin typeface="IBM Plex Sans JP" panose="020B0503050203000203" pitchFamily="50" charset="-128"/>
                <a:ea typeface="IBM Plex Sans JP" panose="020B0503050203000203" pitchFamily="50" charset="-128"/>
                <a:cs typeface="IBM Plex Sans JP"/>
                <a:sym typeface="IBM Plex Sans JP"/>
              </a:rPr>
              <a:t>15</a:t>
            </a:r>
            <a:endParaRPr sz="140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25" name="Google Shape;125;p14">
            <a:extLst>
              <a:ext uri="{FF2B5EF4-FFF2-40B4-BE49-F238E27FC236}">
                <a16:creationId xmlns:a16="http://schemas.microsoft.com/office/drawing/2014/main" id="{0CB1F0DE-F903-882E-A593-A554021CB511}"/>
              </a:ext>
            </a:extLst>
          </p:cNvPr>
          <p:cNvSpPr txBox="1"/>
          <p:nvPr/>
        </p:nvSpPr>
        <p:spPr>
          <a:xfrm>
            <a:off x="759219" y="6170008"/>
            <a:ext cx="33891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3. 印刷データについて  </a:t>
            </a:r>
            <a:endParaRPr sz="24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26" name="Google Shape;126;p14">
            <a:extLst>
              <a:ext uri="{FF2B5EF4-FFF2-40B4-BE49-F238E27FC236}">
                <a16:creationId xmlns:a16="http://schemas.microsoft.com/office/drawing/2014/main" id="{D108F9E4-0CB3-AD21-5F8A-5BD35F65B8AD}"/>
              </a:ext>
            </a:extLst>
          </p:cNvPr>
          <p:cNvSpPr txBox="1"/>
          <p:nvPr/>
        </p:nvSpPr>
        <p:spPr>
          <a:xfrm>
            <a:off x="661239" y="6704731"/>
            <a:ext cx="5649600" cy="199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3.1 Check Filament Data（2 </a:t>
            </a:r>
            <a:r>
              <a:rPr lang="en-US" sz="1200" b="1"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種類</a:t>
            </a:r>
            <a:r>
              <a:rPr lang="en-US"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6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フィラメントデータはBlend</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Filamentの2種類の分類に従い2つのデータを用意しています。おおよその混色比が決まっ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ている場合はその混色比を含むデータを選択し、印刷してください</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Blend Filament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同様に</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5%, 10%, 90%と 95%の混色仕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様は同一となっています</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Standard（標準版</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実際の混色比構成</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0, 5, 10, 15, 20, 25, 30, 35, 40, 45, 50, 55, 60, 65, 70, 75, 80, </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85, 90, 95, 100%（</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合計</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21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段階</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6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105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pic>
        <p:nvPicPr>
          <p:cNvPr id="3" name="図 2">
            <a:extLst>
              <a:ext uri="{FF2B5EF4-FFF2-40B4-BE49-F238E27FC236}">
                <a16:creationId xmlns:a16="http://schemas.microsoft.com/office/drawing/2014/main" id="{B9B189F7-37AC-95D2-BFF8-D0C670EECDF6}"/>
              </a:ext>
            </a:extLst>
          </p:cNvPr>
          <p:cNvPicPr>
            <a:picLocks noChangeAspect="1"/>
          </p:cNvPicPr>
          <p:nvPr/>
        </p:nvPicPr>
        <p:blipFill>
          <a:blip r:embed="rId3"/>
          <a:stretch>
            <a:fillRect/>
          </a:stretch>
        </p:blipFill>
        <p:spPr>
          <a:xfrm>
            <a:off x="900412" y="951926"/>
            <a:ext cx="360247" cy="347282"/>
          </a:xfrm>
          <a:prstGeom prst="rect">
            <a:avLst/>
          </a:prstGeom>
        </p:spPr>
      </p:pic>
    </p:spTree>
    <p:extLst>
      <p:ext uri="{BB962C8B-B14F-4D97-AF65-F5344CB8AC3E}">
        <p14:creationId xmlns:p14="http://schemas.microsoft.com/office/powerpoint/2010/main" val="4168718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EAC5F398-8242-B9B8-06C4-65C34A60A9EB}"/>
            </a:ext>
          </a:extLst>
        </p:cNvPr>
        <p:cNvGrpSpPr/>
        <p:nvPr/>
      </p:nvGrpSpPr>
      <p:grpSpPr>
        <a:xfrm>
          <a:off x="0" y="0"/>
          <a:ext cx="0" cy="0"/>
          <a:chOff x="0" y="0"/>
          <a:chExt cx="0" cy="0"/>
        </a:xfrm>
      </p:grpSpPr>
      <p:sp>
        <p:nvSpPr>
          <p:cNvPr id="132" name="Google Shape;132;p15">
            <a:extLst>
              <a:ext uri="{FF2B5EF4-FFF2-40B4-BE49-F238E27FC236}">
                <a16:creationId xmlns:a16="http://schemas.microsoft.com/office/drawing/2014/main" id="{B933A5A1-ADE2-41DD-19CD-1482695C82B0}"/>
              </a:ext>
            </a:extLst>
          </p:cNvPr>
          <p:cNvSpPr/>
          <p:nvPr/>
        </p:nvSpPr>
        <p:spPr>
          <a:xfrm>
            <a:off x="33951"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フリーフォーム: 図形 5">
            <a:extLst>
              <a:ext uri="{FF2B5EF4-FFF2-40B4-BE49-F238E27FC236}">
                <a16:creationId xmlns:a16="http://schemas.microsoft.com/office/drawing/2014/main" id="{3C435D93-18B2-3883-B94D-C1B0CD63E50A}"/>
              </a:ext>
            </a:extLst>
          </p:cNvPr>
          <p:cNvSpPr/>
          <p:nvPr/>
        </p:nvSpPr>
        <p:spPr>
          <a:xfrm>
            <a:off x="0" y="0"/>
            <a:ext cx="6858000" cy="9144000"/>
          </a:xfrm>
          <a:custGeom>
            <a:avLst/>
            <a:gdLst>
              <a:gd name="csX0" fmla="*/ 3732954 w 6858000"/>
              <a:gd name="csY0" fmla="*/ 8661917 h 9144000"/>
              <a:gd name="csX1" fmla="*/ 3732954 w 6858000"/>
              <a:gd name="csY1" fmla="*/ 8715917 h 9144000"/>
              <a:gd name="csX2" fmla="*/ 6324954 w 6858000"/>
              <a:gd name="csY2" fmla="*/ 8715917 h 9144000"/>
              <a:gd name="csX3" fmla="*/ 6324954 w 6858000"/>
              <a:gd name="csY3" fmla="*/ 8661917 h 9144000"/>
              <a:gd name="csX4" fmla="*/ 552648 w 6858000"/>
              <a:gd name="csY4" fmla="*/ 8661917 h 9144000"/>
              <a:gd name="csX5" fmla="*/ 552648 w 6858000"/>
              <a:gd name="csY5" fmla="*/ 8715917 h 9144000"/>
              <a:gd name="csX6" fmla="*/ 3144648 w 6858000"/>
              <a:gd name="csY6" fmla="*/ 8715917 h 9144000"/>
              <a:gd name="csX7" fmla="*/ 3144648 w 6858000"/>
              <a:gd name="csY7" fmla="*/ 8661917 h 9144000"/>
              <a:gd name="csX8" fmla="*/ 661256 w 6858000"/>
              <a:gd name="csY8" fmla="*/ 6574353 h 9144000"/>
              <a:gd name="csX9" fmla="*/ 558956 w 6858000"/>
              <a:gd name="csY9" fmla="*/ 6676653 h 9144000"/>
              <a:gd name="csX10" fmla="*/ 661256 w 6858000"/>
              <a:gd name="csY10" fmla="*/ 6778953 h 9144000"/>
              <a:gd name="csX11" fmla="*/ 763556 w 6858000"/>
              <a:gd name="csY11" fmla="*/ 6676653 h 9144000"/>
              <a:gd name="csX12" fmla="*/ 661256 w 6858000"/>
              <a:gd name="csY12" fmla="*/ 6574353 h 9144000"/>
              <a:gd name="csX13" fmla="*/ 666623 w 6858000"/>
              <a:gd name="csY13" fmla="*/ 1917067 h 9144000"/>
              <a:gd name="csX14" fmla="*/ 603773 w 6858000"/>
              <a:gd name="csY14" fmla="*/ 1978417 h 9144000"/>
              <a:gd name="csX15" fmla="*/ 666623 w 6858000"/>
              <a:gd name="csY15" fmla="*/ 2039767 h 9144000"/>
              <a:gd name="csX16" fmla="*/ 729473 w 6858000"/>
              <a:gd name="csY16" fmla="*/ 1978417 h 9144000"/>
              <a:gd name="csX17" fmla="*/ 666623 w 6858000"/>
              <a:gd name="csY17" fmla="*/ 1917067 h 9144000"/>
              <a:gd name="csX18" fmla="*/ 552647 w 6858000"/>
              <a:gd name="csY18" fmla="*/ 452468 h 9144000"/>
              <a:gd name="csX19" fmla="*/ 552647 w 6858000"/>
              <a:gd name="csY19" fmla="*/ 506468 h 9144000"/>
              <a:gd name="csX20" fmla="*/ 6308840 w 6858000"/>
              <a:gd name="csY20" fmla="*/ 506468 h 9144000"/>
              <a:gd name="csX21" fmla="*/ 6308840 w 6858000"/>
              <a:gd name="csY21" fmla="*/ 452468 h 9144000"/>
              <a:gd name="csX22" fmla="*/ 0 w 6858000"/>
              <a:gd name="csY22" fmla="*/ 0 h 9144000"/>
              <a:gd name="csX23" fmla="*/ 6858000 w 6858000"/>
              <a:gd name="csY23" fmla="*/ 0 h 9144000"/>
              <a:gd name="csX24" fmla="*/ 6858000 w 6858000"/>
              <a:gd name="csY24" fmla="*/ 9144000 h 9144000"/>
              <a:gd name="csX25" fmla="*/ 0 w 6858000"/>
              <a:gd name="csY2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858000" h="9144000">
                <a:moveTo>
                  <a:pt x="3732954" y="8661917"/>
                </a:moveTo>
                <a:lnTo>
                  <a:pt x="3732954" y="8715917"/>
                </a:lnTo>
                <a:lnTo>
                  <a:pt x="6324954" y="8715917"/>
                </a:lnTo>
                <a:lnTo>
                  <a:pt x="6324954" y="8661917"/>
                </a:lnTo>
                <a:close/>
                <a:moveTo>
                  <a:pt x="552648" y="8661917"/>
                </a:moveTo>
                <a:lnTo>
                  <a:pt x="552648" y="8715917"/>
                </a:lnTo>
                <a:lnTo>
                  <a:pt x="3144648" y="8715917"/>
                </a:lnTo>
                <a:lnTo>
                  <a:pt x="3144648" y="8661917"/>
                </a:lnTo>
                <a:close/>
                <a:moveTo>
                  <a:pt x="661256" y="6574353"/>
                </a:moveTo>
                <a:cubicBezTo>
                  <a:pt x="604757" y="6574353"/>
                  <a:pt x="558956" y="6620154"/>
                  <a:pt x="558956" y="6676653"/>
                </a:cubicBezTo>
                <a:cubicBezTo>
                  <a:pt x="558956" y="6733152"/>
                  <a:pt x="604757" y="6778953"/>
                  <a:pt x="661256" y="6778953"/>
                </a:cubicBezTo>
                <a:cubicBezTo>
                  <a:pt x="717755" y="6778953"/>
                  <a:pt x="763556" y="6733152"/>
                  <a:pt x="763556" y="6676653"/>
                </a:cubicBezTo>
                <a:cubicBezTo>
                  <a:pt x="763556" y="6620154"/>
                  <a:pt x="717755" y="6574353"/>
                  <a:pt x="661256" y="6574353"/>
                </a:cubicBezTo>
                <a:close/>
                <a:moveTo>
                  <a:pt x="666623" y="1917067"/>
                </a:moveTo>
                <a:cubicBezTo>
                  <a:pt x="631912" y="1917067"/>
                  <a:pt x="603773" y="1944534"/>
                  <a:pt x="603773" y="1978417"/>
                </a:cubicBezTo>
                <a:cubicBezTo>
                  <a:pt x="603773" y="2012300"/>
                  <a:pt x="631912" y="2039767"/>
                  <a:pt x="666623" y="2039767"/>
                </a:cubicBezTo>
                <a:cubicBezTo>
                  <a:pt x="701334" y="2039767"/>
                  <a:pt x="729473" y="2012300"/>
                  <a:pt x="729473" y="1978417"/>
                </a:cubicBezTo>
                <a:cubicBezTo>
                  <a:pt x="729473" y="1944534"/>
                  <a:pt x="701334" y="1917067"/>
                  <a:pt x="666623" y="1917067"/>
                </a:cubicBezTo>
                <a:close/>
                <a:moveTo>
                  <a:pt x="552647" y="452468"/>
                </a:moveTo>
                <a:lnTo>
                  <a:pt x="552647" y="506468"/>
                </a:lnTo>
                <a:lnTo>
                  <a:pt x="6308840" y="506468"/>
                </a:lnTo>
                <a:lnTo>
                  <a:pt x="6308840" y="452468"/>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15">
            <a:extLst>
              <a:ext uri="{FF2B5EF4-FFF2-40B4-BE49-F238E27FC236}">
                <a16:creationId xmlns:a16="http://schemas.microsoft.com/office/drawing/2014/main" id="{35C49BEA-95B9-D6F7-CDC6-5283970D6B96}"/>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2</a:t>
            </a:r>
            <a:endParaRPr sz="1800">
              <a:solidFill>
                <a:schemeClr val="dk1"/>
              </a:solidFill>
              <a:latin typeface="Arial"/>
              <a:ea typeface="Arial"/>
              <a:cs typeface="Arial"/>
              <a:sym typeface="Arial"/>
            </a:endParaRPr>
          </a:p>
        </p:txBody>
      </p:sp>
      <p:sp>
        <p:nvSpPr>
          <p:cNvPr id="144" name="Google Shape;144;p15">
            <a:extLst>
              <a:ext uri="{FF2B5EF4-FFF2-40B4-BE49-F238E27FC236}">
                <a16:creationId xmlns:a16="http://schemas.microsoft.com/office/drawing/2014/main" id="{46F9B053-FCF5-C6C3-7536-250BE45CACC0}"/>
              </a:ext>
            </a:extLst>
          </p:cNvPr>
          <p:cNvSpPr txBox="1"/>
          <p:nvPr/>
        </p:nvSpPr>
        <p:spPr>
          <a:xfrm>
            <a:off x="668508" y="1840366"/>
            <a:ext cx="5649600" cy="163194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3.2 Check Tower（1 </a:t>
            </a:r>
            <a:r>
              <a:rPr lang="en-US" sz="1200" b="1"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種類</a:t>
            </a:r>
            <a:r>
              <a:rPr lang="en-US"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チェックフィラメントで印刷する評価用タワーです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チェックフィラメントと縦に長いタワー形状によって混色比が分かりやすく変化してゆきます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各混合比の切り替わり高さと同じ間隔でノッチを設けています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20％・25%と45％・50％・55%と75%・80％の4か所に大きいノッチがあります。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混色フィラメントは印刷時にツールヘッドの動く方向で色変化が起こりえます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algn="l" rtl="0">
              <a:lnSpc>
                <a:spcPct val="115000"/>
              </a:lnSpc>
              <a:spcBef>
                <a:spcPts val="0"/>
              </a:spcBef>
              <a:spcAft>
                <a:spcPts val="0"/>
              </a:spcAft>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4面を測定可能面としているので、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方向による色の違いが確認できます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5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45" name="Google Shape;145;p15">
            <a:extLst>
              <a:ext uri="{FF2B5EF4-FFF2-40B4-BE49-F238E27FC236}">
                <a16:creationId xmlns:a16="http://schemas.microsoft.com/office/drawing/2014/main" id="{7ECE004C-038F-5332-EC81-07EEA1C60DD4}"/>
              </a:ext>
            </a:extLst>
          </p:cNvPr>
          <p:cNvSpPr txBox="1"/>
          <p:nvPr/>
        </p:nvSpPr>
        <p:spPr>
          <a:xfrm>
            <a:off x="770844" y="6508819"/>
            <a:ext cx="2379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4. </a:t>
            </a:r>
            <a:r>
              <a:rPr lang="en-US" sz="2000" b="1" dirty="0" err="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推奨使用手順</a:t>
            </a: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 </a:t>
            </a:r>
            <a:endParaRPr sz="28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46" name="Google Shape;146;p15">
            <a:extLst>
              <a:ext uri="{FF2B5EF4-FFF2-40B4-BE49-F238E27FC236}">
                <a16:creationId xmlns:a16="http://schemas.microsoft.com/office/drawing/2014/main" id="{59FF1AC1-6289-5138-2BAA-94324F63E3A6}"/>
              </a:ext>
            </a:extLst>
          </p:cNvPr>
          <p:cNvSpPr txBox="1"/>
          <p:nvPr/>
        </p:nvSpPr>
        <p:spPr>
          <a:xfrm>
            <a:off x="668509" y="6986390"/>
            <a:ext cx="5642100" cy="1246455"/>
          </a:xfrm>
          <a:prstGeom prst="rect">
            <a:avLst/>
          </a:prstGeom>
          <a:noFill/>
          <a:ln>
            <a:noFill/>
          </a:ln>
        </p:spPr>
        <p:txBody>
          <a:bodyPr spcFirstLastPara="1" wrap="square" lIns="91425" tIns="45700" rIns="91425" bIns="45700" anchor="t" anchorCtr="0">
            <a:spAutoFit/>
          </a:bodyPr>
          <a:lstStyle/>
          <a:p>
            <a:pPr marL="457200" marR="0" lvl="0" indent="-292100" algn="l" rtl="0">
              <a:lnSpc>
                <a:spcPct val="150000"/>
              </a:lnSpc>
              <a:spcBef>
                <a:spcPts val="0"/>
              </a:spcBef>
              <a:spcAft>
                <a:spcPts val="0"/>
              </a:spcAft>
              <a:buClr>
                <a:schemeClr val="dk1"/>
              </a:buClr>
              <a:buSzPts val="1000"/>
              <a:buFont typeface="IBM Plex Sans JP"/>
              <a:buAutoNum type="arabicPeriod"/>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欲しい色を実現できそうな2色のフィラメントを選定する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IBM Plex Sans JP"/>
              <a:buAutoNum type="arabicPeriod"/>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1のフィラメントを用いてCheck Filament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を印刷する</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IBM Plex Sans JP"/>
              <a:buAutoNum type="arabicPeriod"/>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Check Filament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によってCheck</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Tower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を印刷し、求める色に近い混合比を確認する</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IBM Plex Sans JP"/>
              <a:buAutoNum type="arabicPeriod"/>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必要に応じ</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３の混合比のS4モデルを印刷し近似形状をテストプリントする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IBM Plex Sans JP"/>
              <a:buAutoNum type="arabicPeriod"/>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問題なければ</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必要量の</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Blend Filament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を生成する</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pic>
        <p:nvPicPr>
          <p:cNvPr id="148" name="Google Shape;148;p15">
            <a:extLst>
              <a:ext uri="{FF2B5EF4-FFF2-40B4-BE49-F238E27FC236}">
                <a16:creationId xmlns:a16="http://schemas.microsoft.com/office/drawing/2014/main" id="{DE70665F-143D-2FF3-A80C-4F4AD2C2AECA}"/>
              </a:ext>
            </a:extLst>
          </p:cNvPr>
          <p:cNvPicPr preferRelativeResize="0"/>
          <p:nvPr/>
        </p:nvPicPr>
        <p:blipFill>
          <a:blip r:embed="rId3">
            <a:alphaModFix/>
          </a:blip>
          <a:stretch>
            <a:fillRect/>
          </a:stretch>
        </p:blipFill>
        <p:spPr>
          <a:xfrm>
            <a:off x="555784" y="3508488"/>
            <a:ext cx="5756199" cy="2717241"/>
          </a:xfrm>
          <a:prstGeom prst="rect">
            <a:avLst/>
          </a:prstGeom>
          <a:noFill/>
          <a:ln>
            <a:noFill/>
          </a:ln>
        </p:spPr>
      </p:pic>
      <p:sp>
        <p:nvSpPr>
          <p:cNvPr id="149" name="Google Shape;149;p15">
            <a:extLst>
              <a:ext uri="{FF2B5EF4-FFF2-40B4-BE49-F238E27FC236}">
                <a16:creationId xmlns:a16="http://schemas.microsoft.com/office/drawing/2014/main" id="{52BAF34B-98A2-46ED-C7BD-753A5A9B4C46}"/>
              </a:ext>
            </a:extLst>
          </p:cNvPr>
          <p:cNvSpPr txBox="1"/>
          <p:nvPr/>
        </p:nvSpPr>
        <p:spPr>
          <a:xfrm>
            <a:off x="668489" y="602850"/>
            <a:ext cx="5649600" cy="932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6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Detail（精密版</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実際の混色比構成</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0, 1, 2, 3, 4, 5, 6, 7, 8, 9, 10%（</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低比率領域</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10段） </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90, 91, 92, 93, 94, 95, 96, 97, 98, 99, 100%（</a:t>
            </a:r>
            <a:r>
              <a:rPr lang="en-US" sz="105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高比率領域</a:t>
            </a: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10 段）</a:t>
            </a:r>
            <a:endParaRPr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spcBef>
                <a:spcPts val="0"/>
              </a:spcBef>
              <a:spcAft>
                <a:spcPts val="0"/>
              </a:spcAft>
              <a:buNone/>
            </a:pPr>
            <a:r>
              <a:rPr lang="en-US" sz="105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中央に10％と90%を連続的につなぐ部分が1段あります。  </a:t>
            </a:r>
            <a:endParaRPr sz="105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Tree>
    <p:extLst>
      <p:ext uri="{BB962C8B-B14F-4D97-AF65-F5344CB8AC3E}">
        <p14:creationId xmlns:p14="http://schemas.microsoft.com/office/powerpoint/2010/main" val="2907040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F6213CE-1FF8-9558-BA4A-3303D6EED6D7}"/>
            </a:ext>
          </a:extLst>
        </p:cNvPr>
        <p:cNvGrpSpPr/>
        <p:nvPr/>
      </p:nvGrpSpPr>
      <p:grpSpPr>
        <a:xfrm>
          <a:off x="0" y="0"/>
          <a:ext cx="0" cy="0"/>
          <a:chOff x="0" y="0"/>
          <a:chExt cx="0" cy="0"/>
        </a:xfrm>
      </p:grpSpPr>
      <p:sp>
        <p:nvSpPr>
          <p:cNvPr id="154" name="Google Shape;154;p16">
            <a:extLst>
              <a:ext uri="{FF2B5EF4-FFF2-40B4-BE49-F238E27FC236}">
                <a16:creationId xmlns:a16="http://schemas.microsoft.com/office/drawing/2014/main" id="{10674015-AEEC-106C-C761-21FCC6374283}"/>
              </a:ext>
            </a:extLst>
          </p:cNvPr>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 name="フリーフォーム: 図形 7">
            <a:extLst>
              <a:ext uri="{FF2B5EF4-FFF2-40B4-BE49-F238E27FC236}">
                <a16:creationId xmlns:a16="http://schemas.microsoft.com/office/drawing/2014/main" id="{135AEA7E-FAF8-7665-DE6C-75BBB6545593}"/>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46045 w 6858000"/>
              <a:gd name="csY8" fmla="*/ 4683402 h 9144000"/>
              <a:gd name="csX9" fmla="*/ 543745 w 6858000"/>
              <a:gd name="csY9" fmla="*/ 4785702 h 9144000"/>
              <a:gd name="csX10" fmla="*/ 646045 w 6858000"/>
              <a:gd name="csY10" fmla="*/ 4888002 h 9144000"/>
              <a:gd name="csX11" fmla="*/ 748345 w 6858000"/>
              <a:gd name="csY11" fmla="*/ 4785702 h 9144000"/>
              <a:gd name="csX12" fmla="*/ 646045 w 6858000"/>
              <a:gd name="csY12" fmla="*/ 4683402 h 9144000"/>
              <a:gd name="csX13" fmla="*/ 636349 w 6858000"/>
              <a:gd name="csY13" fmla="*/ 2712143 h 9144000"/>
              <a:gd name="csX14" fmla="*/ 573499 w 6858000"/>
              <a:gd name="csY14" fmla="*/ 2773493 h 9144000"/>
              <a:gd name="csX15" fmla="*/ 636349 w 6858000"/>
              <a:gd name="csY15" fmla="*/ 2834843 h 9144000"/>
              <a:gd name="csX16" fmla="*/ 699199 w 6858000"/>
              <a:gd name="csY16" fmla="*/ 2773493 h 9144000"/>
              <a:gd name="csX17" fmla="*/ 636349 w 6858000"/>
              <a:gd name="csY17" fmla="*/ 2712143 h 9144000"/>
              <a:gd name="csX18" fmla="*/ 651462 w 6858000"/>
              <a:gd name="csY18" fmla="*/ 1159564 h 9144000"/>
              <a:gd name="csX19" fmla="*/ 588612 w 6858000"/>
              <a:gd name="csY19" fmla="*/ 1220914 h 9144000"/>
              <a:gd name="csX20" fmla="*/ 651462 w 6858000"/>
              <a:gd name="csY20" fmla="*/ 1282264 h 9144000"/>
              <a:gd name="csX21" fmla="*/ 714312 w 6858000"/>
              <a:gd name="csY21" fmla="*/ 1220914 h 9144000"/>
              <a:gd name="csX22" fmla="*/ 651462 w 6858000"/>
              <a:gd name="csY22" fmla="*/ 1159564 h 9144000"/>
              <a:gd name="csX23" fmla="*/ 642037 w 6858000"/>
              <a:gd name="csY23" fmla="*/ 671102 h 9144000"/>
              <a:gd name="csX24" fmla="*/ 539737 w 6858000"/>
              <a:gd name="csY24" fmla="*/ 773402 h 9144000"/>
              <a:gd name="csX25" fmla="*/ 642037 w 6858000"/>
              <a:gd name="csY25" fmla="*/ 875702 h 9144000"/>
              <a:gd name="csX26" fmla="*/ 744337 w 6858000"/>
              <a:gd name="csY26" fmla="*/ 773402 h 9144000"/>
              <a:gd name="csX27" fmla="*/ 642037 w 6858000"/>
              <a:gd name="csY27" fmla="*/ 671102 h 9144000"/>
              <a:gd name="csX28" fmla="*/ 537486 w 6858000"/>
              <a:gd name="csY28" fmla="*/ 446937 h 9144000"/>
              <a:gd name="csX29" fmla="*/ 537486 w 6858000"/>
              <a:gd name="csY29" fmla="*/ 500937 h 9144000"/>
              <a:gd name="csX30" fmla="*/ 6293679 w 6858000"/>
              <a:gd name="csY30" fmla="*/ 500937 h 9144000"/>
              <a:gd name="csX31" fmla="*/ 6293679 w 6858000"/>
              <a:gd name="csY31" fmla="*/ 446937 h 9144000"/>
              <a:gd name="csX32" fmla="*/ 0 w 6858000"/>
              <a:gd name="csY32" fmla="*/ 0 h 9144000"/>
              <a:gd name="csX33" fmla="*/ 6858000 w 6858000"/>
              <a:gd name="csY33" fmla="*/ 0 h 9144000"/>
              <a:gd name="csX34" fmla="*/ 6858000 w 6858000"/>
              <a:gd name="csY34" fmla="*/ 9144000 h 9144000"/>
              <a:gd name="csX35" fmla="*/ 0 w 6858000"/>
              <a:gd name="csY3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46045" y="4683402"/>
                </a:moveTo>
                <a:cubicBezTo>
                  <a:pt x="589546" y="4683402"/>
                  <a:pt x="543745" y="4729203"/>
                  <a:pt x="543745" y="4785702"/>
                </a:cubicBezTo>
                <a:cubicBezTo>
                  <a:pt x="543745" y="4842201"/>
                  <a:pt x="589546" y="4888002"/>
                  <a:pt x="646045" y="4888002"/>
                </a:cubicBezTo>
                <a:cubicBezTo>
                  <a:pt x="702544" y="4888002"/>
                  <a:pt x="748345" y="4842201"/>
                  <a:pt x="748345" y="4785702"/>
                </a:cubicBezTo>
                <a:cubicBezTo>
                  <a:pt x="748345" y="4729203"/>
                  <a:pt x="702544" y="4683402"/>
                  <a:pt x="646045" y="4683402"/>
                </a:cubicBezTo>
                <a:close/>
                <a:moveTo>
                  <a:pt x="636349" y="2712143"/>
                </a:moveTo>
                <a:cubicBezTo>
                  <a:pt x="601638" y="2712143"/>
                  <a:pt x="573499" y="2739610"/>
                  <a:pt x="573499" y="2773493"/>
                </a:cubicBezTo>
                <a:cubicBezTo>
                  <a:pt x="573499" y="2807376"/>
                  <a:pt x="601638" y="2834843"/>
                  <a:pt x="636349" y="2834843"/>
                </a:cubicBezTo>
                <a:cubicBezTo>
                  <a:pt x="671060" y="2834843"/>
                  <a:pt x="699199" y="2807376"/>
                  <a:pt x="699199" y="2773493"/>
                </a:cubicBezTo>
                <a:cubicBezTo>
                  <a:pt x="699199" y="2739610"/>
                  <a:pt x="671060" y="2712143"/>
                  <a:pt x="636349" y="2712143"/>
                </a:cubicBezTo>
                <a:close/>
                <a:moveTo>
                  <a:pt x="651462" y="1159564"/>
                </a:moveTo>
                <a:cubicBezTo>
                  <a:pt x="616751" y="1159564"/>
                  <a:pt x="588612" y="1187031"/>
                  <a:pt x="588612" y="1220914"/>
                </a:cubicBezTo>
                <a:cubicBezTo>
                  <a:pt x="588612" y="1254797"/>
                  <a:pt x="616751" y="1282264"/>
                  <a:pt x="651462" y="1282264"/>
                </a:cubicBezTo>
                <a:cubicBezTo>
                  <a:pt x="686173" y="1282264"/>
                  <a:pt x="714312" y="1254797"/>
                  <a:pt x="714312" y="1220914"/>
                </a:cubicBezTo>
                <a:cubicBezTo>
                  <a:pt x="714312" y="1187031"/>
                  <a:pt x="686173" y="1159564"/>
                  <a:pt x="651462" y="1159564"/>
                </a:cubicBezTo>
                <a:close/>
                <a:moveTo>
                  <a:pt x="642037" y="671102"/>
                </a:moveTo>
                <a:cubicBezTo>
                  <a:pt x="585538" y="671102"/>
                  <a:pt x="539737" y="716903"/>
                  <a:pt x="539737" y="773402"/>
                </a:cubicBezTo>
                <a:cubicBezTo>
                  <a:pt x="539737" y="829901"/>
                  <a:pt x="585538" y="875702"/>
                  <a:pt x="642037" y="875702"/>
                </a:cubicBezTo>
                <a:cubicBezTo>
                  <a:pt x="698536" y="875702"/>
                  <a:pt x="744337" y="829901"/>
                  <a:pt x="744337" y="773402"/>
                </a:cubicBezTo>
                <a:cubicBezTo>
                  <a:pt x="744337" y="716903"/>
                  <a:pt x="698536" y="671102"/>
                  <a:pt x="642037" y="671102"/>
                </a:cubicBezTo>
                <a:close/>
                <a:moveTo>
                  <a:pt x="537486" y="446937"/>
                </a:moveTo>
                <a:lnTo>
                  <a:pt x="537486" y="500937"/>
                </a:lnTo>
                <a:lnTo>
                  <a:pt x="6293679" y="500937"/>
                </a:lnTo>
                <a:lnTo>
                  <a:pt x="6293679" y="446937"/>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4" name="Google Shape;164;p16">
            <a:extLst>
              <a:ext uri="{FF2B5EF4-FFF2-40B4-BE49-F238E27FC236}">
                <a16:creationId xmlns:a16="http://schemas.microsoft.com/office/drawing/2014/main" id="{96275870-1463-FD60-4FA2-4A4169FD9226}"/>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3</a:t>
            </a:r>
            <a:endParaRPr sz="1800">
              <a:solidFill>
                <a:schemeClr val="dk1"/>
              </a:solidFill>
              <a:latin typeface="Arial"/>
              <a:ea typeface="Arial"/>
              <a:cs typeface="Arial"/>
              <a:sym typeface="Arial"/>
            </a:endParaRPr>
          </a:p>
        </p:txBody>
      </p:sp>
      <p:sp>
        <p:nvSpPr>
          <p:cNvPr id="166" name="Google Shape;166;p16">
            <a:extLst>
              <a:ext uri="{FF2B5EF4-FFF2-40B4-BE49-F238E27FC236}">
                <a16:creationId xmlns:a16="http://schemas.microsoft.com/office/drawing/2014/main" id="{485DB195-9781-F281-8557-159DD1B05CF4}"/>
              </a:ext>
            </a:extLst>
          </p:cNvPr>
          <p:cNvSpPr txBox="1"/>
          <p:nvPr/>
        </p:nvSpPr>
        <p:spPr>
          <a:xfrm>
            <a:off x="770844" y="4624760"/>
            <a:ext cx="27399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6. 外部測定ツール </a:t>
            </a:r>
            <a:endParaRPr sz="24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67" name="Google Shape;167;p16">
            <a:extLst>
              <a:ext uri="{FF2B5EF4-FFF2-40B4-BE49-F238E27FC236}">
                <a16:creationId xmlns:a16="http://schemas.microsoft.com/office/drawing/2014/main" id="{22E51384-E490-3F3A-13B4-589D4E2018B6}"/>
              </a:ext>
            </a:extLst>
          </p:cNvPr>
          <p:cNvSpPr txBox="1"/>
          <p:nvPr/>
        </p:nvSpPr>
        <p:spPr>
          <a:xfrm>
            <a:off x="668508" y="5047700"/>
            <a:ext cx="5649600" cy="202128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Blend Color Checker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は、色計測機</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NIX MINI 3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を使用した数値的な色評価のため、以下の最適化を行っています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セグメント幅の最適化</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algn="l" rtl="0">
              <a:lnSpc>
                <a:spcPct val="115000"/>
              </a:lnSpc>
              <a:spcBef>
                <a:spcPts val="0"/>
              </a:spcBef>
              <a:spcAft>
                <a:spcPts val="0"/>
              </a:spcAft>
            </a:pP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NIX MINI 3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の測定口径に対して十分な測定面積が確保できる幅で設計されています。測定部の一辺とノッチの</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幅をそろえていますので、一致するように取り付けて測定する事で測定ミスを防ぎます</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タワーの幅の最適化</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algn="l" rtl="0">
              <a:lnSpc>
                <a:spcPct val="115000"/>
              </a:lnSpc>
              <a:spcBef>
                <a:spcPts val="0"/>
              </a:spcBef>
              <a:spcAft>
                <a:spcPts val="0"/>
              </a:spcAft>
            </a:pP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タワーの幅はNIX</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MINI3の感光部を覆うことが出来る幅としており、エラーを防ぎます。  </a:t>
            </a: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最上面に記号を記載</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algn="l" rtl="0">
              <a:lnSpc>
                <a:spcPct val="115000"/>
              </a:lnSpc>
              <a:spcBef>
                <a:spcPts val="0"/>
              </a:spcBef>
              <a:spcAft>
                <a:spcPts val="0"/>
              </a:spcAft>
            </a:pP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4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面の測定結果を残す際にどこの面を測定したのかわかるように最上面に各面に対応するアルファベットを記載</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しています。測定時の整理にご活用ください</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9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
        <p:nvSpPr>
          <p:cNvPr id="168" name="Google Shape;168;p16">
            <a:extLst>
              <a:ext uri="{FF2B5EF4-FFF2-40B4-BE49-F238E27FC236}">
                <a16:creationId xmlns:a16="http://schemas.microsoft.com/office/drawing/2014/main" id="{1F80980B-41CE-7A97-C307-495078A73E33}"/>
              </a:ext>
            </a:extLst>
          </p:cNvPr>
          <p:cNvSpPr txBox="1"/>
          <p:nvPr/>
        </p:nvSpPr>
        <p:spPr>
          <a:xfrm>
            <a:off x="681821" y="2638082"/>
            <a:ext cx="5642100" cy="177352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200" b="1"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CHeck</a:t>
            </a:r>
            <a:r>
              <a:rPr lang="en-US"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Tower </a:t>
            </a:r>
            <a:r>
              <a:rPr lang="en-US" sz="1200" b="1"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印刷時</a:t>
            </a:r>
            <a:r>
              <a:rPr lang="en-US"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使用前にCheck</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Filamentのブリムを外してください</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ブリムにINと書かれている側がロード側となります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バリなどがある場合はニッパーやカッターで除去してください</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Check Filament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は外部スプールからロードしてください</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algn="l" rtl="0">
              <a:lnSpc>
                <a:spcPct val="115000"/>
              </a:lnSpc>
              <a:spcBef>
                <a:spcPts val="0"/>
              </a:spcBef>
              <a:spcAft>
                <a:spcPts val="0"/>
              </a:spcAft>
            </a:pP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(AMS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は単色印刷中でも、内部処理の都合で</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意図しな</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いパージ</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を行う場合があります</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これによる混色比の切り替え間隔の短縮を避けることが目的です</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a:t>
            </a: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スタートパージ量やラインパージ量は一定ではなく、混色比の切替位置とノッチの位置はずれることがあります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pic>
        <p:nvPicPr>
          <p:cNvPr id="170" name="Google Shape;170;p16">
            <a:extLst>
              <a:ext uri="{FF2B5EF4-FFF2-40B4-BE49-F238E27FC236}">
                <a16:creationId xmlns:a16="http://schemas.microsoft.com/office/drawing/2014/main" id="{E97B2E69-57C8-79D9-6D8F-37A7582F8376}"/>
              </a:ext>
            </a:extLst>
          </p:cNvPr>
          <p:cNvPicPr preferRelativeResize="0"/>
          <p:nvPr/>
        </p:nvPicPr>
        <p:blipFill>
          <a:blip r:embed="rId3">
            <a:alphaModFix/>
          </a:blip>
          <a:stretch>
            <a:fillRect/>
          </a:stretch>
        </p:blipFill>
        <p:spPr>
          <a:xfrm>
            <a:off x="1117634" y="7048700"/>
            <a:ext cx="4632492" cy="1414500"/>
          </a:xfrm>
          <a:prstGeom prst="rect">
            <a:avLst/>
          </a:prstGeom>
          <a:noFill/>
          <a:ln>
            <a:noFill/>
          </a:ln>
        </p:spPr>
      </p:pic>
      <p:sp>
        <p:nvSpPr>
          <p:cNvPr id="172" name="Google Shape;172;p16">
            <a:extLst>
              <a:ext uri="{FF2B5EF4-FFF2-40B4-BE49-F238E27FC236}">
                <a16:creationId xmlns:a16="http://schemas.microsoft.com/office/drawing/2014/main" id="{8E41893F-8FDD-0361-5689-B6B7A99CAD01}"/>
              </a:ext>
            </a:extLst>
          </p:cNvPr>
          <p:cNvSpPr txBox="1"/>
          <p:nvPr/>
        </p:nvSpPr>
        <p:spPr>
          <a:xfrm>
            <a:off x="761456" y="616833"/>
            <a:ext cx="2379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5. </a:t>
            </a:r>
            <a:r>
              <a:rPr lang="en-US" sz="2000" b="1" dirty="0" err="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印刷時の注意</a:t>
            </a: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 </a:t>
            </a:r>
            <a:endParaRPr sz="28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73" name="Google Shape;173;p16">
            <a:extLst>
              <a:ext uri="{FF2B5EF4-FFF2-40B4-BE49-F238E27FC236}">
                <a16:creationId xmlns:a16="http://schemas.microsoft.com/office/drawing/2014/main" id="{A30EA0B9-6B7E-D4C7-08F5-565710235B5C}"/>
              </a:ext>
            </a:extLst>
          </p:cNvPr>
          <p:cNvSpPr txBox="1"/>
          <p:nvPr/>
        </p:nvSpPr>
        <p:spPr>
          <a:xfrm>
            <a:off x="685827" y="1085502"/>
            <a:ext cx="5642100" cy="143727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200" b="1" dirty="0">
                <a:solidFill>
                  <a:schemeClr val="dk1"/>
                </a:solidFill>
                <a:latin typeface="IBM Plex Sans JP" panose="020B0503050203000203" pitchFamily="50" charset="-128"/>
                <a:ea typeface="IBM Plex Sans JP" panose="020B0503050203000203" pitchFamily="50" charset="-128"/>
                <a:cs typeface="IBM Plex Sans JP"/>
                <a:sym typeface="IBM Plex Sans JP"/>
              </a:rPr>
              <a:t>5.1Check Filament </a:t>
            </a:r>
            <a:r>
              <a:rPr lang="en-US" sz="1200" b="1"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印刷時</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15000"/>
              </a:lnSpc>
              <a:spcBef>
                <a:spcPts val="0"/>
              </a:spcBef>
              <a:spcAft>
                <a:spcPts val="0"/>
              </a:spcAft>
              <a:buNone/>
            </a:pPr>
            <a:endParaRPr sz="5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AMSが必須</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0.4mmノズルが必須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ビルドプレート：テクスチャード</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PEIが推奨</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材料：異種材料の混合は不可</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algn="l" rtl="0">
              <a:lnSpc>
                <a:spcPct val="115000"/>
              </a:lnSpc>
              <a:spcBef>
                <a:spcPts val="0"/>
              </a:spcBef>
              <a:spcAft>
                <a:spcPts val="0"/>
              </a:spcAft>
            </a:pP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(PLA Basic と PLA Matte </a:t>
            </a:r>
            <a:r>
              <a:rPr lang="en-US" sz="9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の組み合わせ等は上手く行く事が多いが、自己責任で実施して下さい</a:t>
            </a:r>
            <a:r>
              <a:rPr lang="en-US" sz="9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9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15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糊の使用不可</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印刷前にビルドプレートと手の洗浄を実施してください</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Tree>
    <p:extLst>
      <p:ext uri="{BB962C8B-B14F-4D97-AF65-F5344CB8AC3E}">
        <p14:creationId xmlns:p14="http://schemas.microsoft.com/office/powerpoint/2010/main" val="3916731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8">
          <a:extLst>
            <a:ext uri="{FF2B5EF4-FFF2-40B4-BE49-F238E27FC236}">
              <a16:creationId xmlns:a16="http://schemas.microsoft.com/office/drawing/2014/main" id="{2AAD176A-7A25-EF85-BC2A-50DA850A2E0D}"/>
            </a:ext>
          </a:extLst>
        </p:cNvPr>
        <p:cNvGrpSpPr/>
        <p:nvPr/>
      </p:nvGrpSpPr>
      <p:grpSpPr>
        <a:xfrm>
          <a:off x="0" y="0"/>
          <a:ext cx="0" cy="0"/>
          <a:chOff x="0" y="0"/>
          <a:chExt cx="0" cy="0"/>
        </a:xfrm>
      </p:grpSpPr>
      <p:sp>
        <p:nvSpPr>
          <p:cNvPr id="179" name="Google Shape;179;p17">
            <a:extLst>
              <a:ext uri="{FF2B5EF4-FFF2-40B4-BE49-F238E27FC236}">
                <a16:creationId xmlns:a16="http://schemas.microsoft.com/office/drawing/2014/main" id="{2308A859-3A7A-058E-B7F5-BE5302B9E7D8}"/>
              </a:ext>
            </a:extLst>
          </p:cNvPr>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フリーフォーム: 図形 5">
            <a:extLst>
              <a:ext uri="{FF2B5EF4-FFF2-40B4-BE49-F238E27FC236}">
                <a16:creationId xmlns:a16="http://schemas.microsoft.com/office/drawing/2014/main" id="{A5C1BE97-3C68-3179-307D-98F3A4516AF3}"/>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43510 w 6858000"/>
              <a:gd name="csY8" fmla="*/ 2798320 h 9144000"/>
              <a:gd name="csX9" fmla="*/ 541210 w 6858000"/>
              <a:gd name="csY9" fmla="*/ 2900620 h 9144000"/>
              <a:gd name="csX10" fmla="*/ 643510 w 6858000"/>
              <a:gd name="csY10" fmla="*/ 3002920 h 9144000"/>
              <a:gd name="csX11" fmla="*/ 745810 w 6858000"/>
              <a:gd name="csY11" fmla="*/ 2900620 h 9144000"/>
              <a:gd name="csX12" fmla="*/ 643510 w 6858000"/>
              <a:gd name="csY12" fmla="*/ 2798320 h 9144000"/>
              <a:gd name="csX13" fmla="*/ 639762 w 6858000"/>
              <a:gd name="csY13" fmla="*/ 763986 h 9144000"/>
              <a:gd name="csX14" fmla="*/ 537462 w 6858000"/>
              <a:gd name="csY14" fmla="*/ 866286 h 9144000"/>
              <a:gd name="csX15" fmla="*/ 639762 w 6858000"/>
              <a:gd name="csY15" fmla="*/ 968586 h 9144000"/>
              <a:gd name="csX16" fmla="*/ 742062 w 6858000"/>
              <a:gd name="csY16" fmla="*/ 866286 h 9144000"/>
              <a:gd name="csX17" fmla="*/ 639762 w 6858000"/>
              <a:gd name="csY17" fmla="*/ 763986 h 9144000"/>
              <a:gd name="csX18" fmla="*/ 537486 w 6858000"/>
              <a:gd name="csY18" fmla="*/ 446937 h 9144000"/>
              <a:gd name="csX19" fmla="*/ 537486 w 6858000"/>
              <a:gd name="csY19" fmla="*/ 500937 h 9144000"/>
              <a:gd name="csX20" fmla="*/ 6293679 w 6858000"/>
              <a:gd name="csY20" fmla="*/ 500937 h 9144000"/>
              <a:gd name="csX21" fmla="*/ 6293679 w 6858000"/>
              <a:gd name="csY21" fmla="*/ 446937 h 9144000"/>
              <a:gd name="csX22" fmla="*/ 0 w 6858000"/>
              <a:gd name="csY22" fmla="*/ 0 h 9144000"/>
              <a:gd name="csX23" fmla="*/ 6858000 w 6858000"/>
              <a:gd name="csY23" fmla="*/ 0 h 9144000"/>
              <a:gd name="csX24" fmla="*/ 6858000 w 6858000"/>
              <a:gd name="csY24" fmla="*/ 9144000 h 9144000"/>
              <a:gd name="csX25" fmla="*/ 0 w 6858000"/>
              <a:gd name="csY2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43510" y="2798320"/>
                </a:moveTo>
                <a:cubicBezTo>
                  <a:pt x="587011" y="2798320"/>
                  <a:pt x="541210" y="2844121"/>
                  <a:pt x="541210" y="2900620"/>
                </a:cubicBezTo>
                <a:cubicBezTo>
                  <a:pt x="541210" y="2957119"/>
                  <a:pt x="587011" y="3002920"/>
                  <a:pt x="643510" y="3002920"/>
                </a:cubicBezTo>
                <a:cubicBezTo>
                  <a:pt x="700009" y="3002920"/>
                  <a:pt x="745810" y="2957119"/>
                  <a:pt x="745810" y="2900620"/>
                </a:cubicBezTo>
                <a:cubicBezTo>
                  <a:pt x="745810" y="2844121"/>
                  <a:pt x="700009" y="2798320"/>
                  <a:pt x="643510" y="2798320"/>
                </a:cubicBezTo>
                <a:close/>
                <a:moveTo>
                  <a:pt x="639762" y="763986"/>
                </a:moveTo>
                <a:cubicBezTo>
                  <a:pt x="583263" y="763986"/>
                  <a:pt x="537462" y="809787"/>
                  <a:pt x="537462" y="866286"/>
                </a:cubicBezTo>
                <a:cubicBezTo>
                  <a:pt x="537462" y="922785"/>
                  <a:pt x="583263" y="968586"/>
                  <a:pt x="639762" y="968586"/>
                </a:cubicBezTo>
                <a:cubicBezTo>
                  <a:pt x="696261" y="968586"/>
                  <a:pt x="742062" y="922785"/>
                  <a:pt x="742062" y="866286"/>
                </a:cubicBezTo>
                <a:cubicBezTo>
                  <a:pt x="742062" y="809787"/>
                  <a:pt x="696261" y="763986"/>
                  <a:pt x="639762" y="763986"/>
                </a:cubicBezTo>
                <a:close/>
                <a:moveTo>
                  <a:pt x="537486" y="446937"/>
                </a:moveTo>
                <a:lnTo>
                  <a:pt x="537486" y="500937"/>
                </a:lnTo>
                <a:lnTo>
                  <a:pt x="6293679" y="500937"/>
                </a:lnTo>
                <a:lnTo>
                  <a:pt x="6293679" y="446937"/>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9" name="Google Shape;189;p17">
            <a:extLst>
              <a:ext uri="{FF2B5EF4-FFF2-40B4-BE49-F238E27FC236}">
                <a16:creationId xmlns:a16="http://schemas.microsoft.com/office/drawing/2014/main" id="{C5A9EDBA-05B0-4F55-FD95-0F7CCE6BA2D6}"/>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4</a:t>
            </a:r>
            <a:endParaRPr sz="1800">
              <a:solidFill>
                <a:schemeClr val="dk1"/>
              </a:solidFill>
              <a:latin typeface="Arial"/>
              <a:ea typeface="Arial"/>
              <a:cs typeface="Arial"/>
              <a:sym typeface="Arial"/>
            </a:endParaRPr>
          </a:p>
        </p:txBody>
      </p:sp>
      <p:sp>
        <p:nvSpPr>
          <p:cNvPr id="191" name="Google Shape;191;p17">
            <a:extLst>
              <a:ext uri="{FF2B5EF4-FFF2-40B4-BE49-F238E27FC236}">
                <a16:creationId xmlns:a16="http://schemas.microsoft.com/office/drawing/2014/main" id="{A4678C78-6579-4A85-31F6-AADFBB052070}"/>
              </a:ext>
            </a:extLst>
          </p:cNvPr>
          <p:cNvSpPr txBox="1"/>
          <p:nvPr/>
        </p:nvSpPr>
        <p:spPr>
          <a:xfrm>
            <a:off x="790026" y="2733606"/>
            <a:ext cx="25920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8. </a:t>
            </a:r>
            <a:r>
              <a:rPr lang="ja-JP" altLang="en-US" sz="20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更新履歴</a:t>
            </a:r>
            <a:endParaRPr sz="2400" b="1" dirty="0">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92" name="Google Shape;192;p17">
            <a:extLst>
              <a:ext uri="{FF2B5EF4-FFF2-40B4-BE49-F238E27FC236}">
                <a16:creationId xmlns:a16="http://schemas.microsoft.com/office/drawing/2014/main" id="{048D9555-AA7F-C9E0-FCF0-F6D0196A9E26}"/>
              </a:ext>
            </a:extLst>
          </p:cNvPr>
          <p:cNvSpPr txBox="1"/>
          <p:nvPr/>
        </p:nvSpPr>
        <p:spPr>
          <a:xfrm>
            <a:off x="676941" y="3091447"/>
            <a:ext cx="5649600" cy="369291"/>
          </a:xfrm>
          <a:prstGeom prst="rect">
            <a:avLst/>
          </a:prstGeom>
          <a:noFill/>
          <a:ln>
            <a:noFill/>
          </a:ln>
        </p:spPr>
        <p:txBody>
          <a:bodyPr spcFirstLastPara="1" wrap="square" lIns="91425" tIns="45700" rIns="91425" bIns="45700" anchor="t" anchorCtr="0">
            <a:spAutoFit/>
          </a:bodyPr>
          <a:lstStyle/>
          <a:p>
            <a:pPr lvl="0"/>
            <a:r>
              <a:rPr lang="ja-JP" altLang="ja-JP" sz="900" dirty="0"/>
              <a:t>Ver.1.00 2026-0</a:t>
            </a:r>
            <a:r>
              <a:rPr lang="en-US" altLang="ja-JP" sz="900" dirty="0"/>
              <a:t>7</a:t>
            </a:r>
            <a:r>
              <a:rPr lang="ja-JP" altLang="ja-JP" sz="900" dirty="0"/>
              <a:t>-</a:t>
            </a:r>
            <a:r>
              <a:rPr lang="en-US" altLang="ja-JP" sz="900" dirty="0"/>
              <a:t>02</a:t>
            </a:r>
            <a:r>
              <a:rPr lang="ja-JP" altLang="ja-JP" sz="900" dirty="0"/>
              <a:t> 初版公開 </a:t>
            </a:r>
            <a:endParaRPr lang="en-US" altLang="ja-JP" sz="900" dirty="0"/>
          </a:p>
          <a:p>
            <a:pPr lvl="0"/>
            <a:r>
              <a:rPr lang="ja-JP" altLang="ja-JP" sz="900" dirty="0"/>
              <a:t>Ver.</a:t>
            </a:r>
            <a:r>
              <a:rPr lang="en-US" altLang="ja-JP" sz="900" dirty="0"/>
              <a:t>1</a:t>
            </a:r>
            <a:r>
              <a:rPr lang="ja-JP" altLang="ja-JP" sz="900" dirty="0"/>
              <a:t>.10 2026-08-16 統一デザイン反映</a:t>
            </a:r>
            <a:endParaRPr dirty="0">
              <a:latin typeface="IBM Plex Sans JP" panose="020B0503050203000203" pitchFamily="50" charset="-128"/>
              <a:ea typeface="IBM Plex Sans JP" panose="020B0503050203000203" pitchFamily="50" charset="-128"/>
            </a:endParaRPr>
          </a:p>
        </p:txBody>
      </p:sp>
      <p:sp>
        <p:nvSpPr>
          <p:cNvPr id="193" name="Google Shape;193;p17">
            <a:extLst>
              <a:ext uri="{FF2B5EF4-FFF2-40B4-BE49-F238E27FC236}">
                <a16:creationId xmlns:a16="http://schemas.microsoft.com/office/drawing/2014/main" id="{0C2C1EDC-AB6C-028E-2F9F-0A1F0590EA0B}"/>
              </a:ext>
            </a:extLst>
          </p:cNvPr>
          <p:cNvSpPr txBox="1"/>
          <p:nvPr/>
        </p:nvSpPr>
        <p:spPr>
          <a:xfrm>
            <a:off x="759181" y="705345"/>
            <a:ext cx="27399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rPr>
              <a:t>7. まとめ  </a:t>
            </a:r>
            <a:endParaRPr sz="2400" b="1">
              <a:solidFill>
                <a:schemeClr val="dk1"/>
              </a:solidFill>
              <a:latin typeface="IBM Plex Sans JP" panose="020B0503050203000203" pitchFamily="50" charset="-128"/>
              <a:ea typeface="IBM Plex Sans JP" panose="020B0503050203000203" pitchFamily="50" charset="-128"/>
              <a:cs typeface="IBM Plex Sans JP SemiBold"/>
              <a:sym typeface="IBM Plex Sans JP SemiBold"/>
            </a:endParaRPr>
          </a:p>
        </p:txBody>
      </p:sp>
      <p:sp>
        <p:nvSpPr>
          <p:cNvPr id="194" name="Google Shape;194;p17">
            <a:extLst>
              <a:ext uri="{FF2B5EF4-FFF2-40B4-BE49-F238E27FC236}">
                <a16:creationId xmlns:a16="http://schemas.microsoft.com/office/drawing/2014/main" id="{90C95B9B-2CCE-FE1C-1F1D-DF3E4B081975}"/>
              </a:ext>
            </a:extLst>
          </p:cNvPr>
          <p:cNvSpPr txBox="1"/>
          <p:nvPr/>
        </p:nvSpPr>
        <p:spPr>
          <a:xfrm>
            <a:off x="677246" y="1065260"/>
            <a:ext cx="5649600" cy="147728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Blend Color Checker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は、FlexChroma</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Blend Filament の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混色比と実際の色の関係を正確に評価</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するための</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信頼性の高い基準ツールです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Arial" panose="020B0604020202020204" pitchFamily="34" charset="0"/>
              <a:buChar char="•"/>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Standard / Detail の 2種類のチェックフィラメント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Arial" panose="020B0604020202020204" pitchFamily="34" charset="0"/>
              <a:buChar char="•"/>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外部スプール使用によるずれの少ない色境界</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457200" marR="0" lvl="0" indent="-292100" algn="l" rtl="0">
              <a:lnSpc>
                <a:spcPct val="150000"/>
              </a:lnSpc>
              <a:spcBef>
                <a:spcPts val="0"/>
              </a:spcBef>
              <a:spcAft>
                <a:spcPts val="0"/>
              </a:spcAft>
              <a:buClr>
                <a:schemeClr val="dk1"/>
              </a:buClr>
              <a:buSzPts val="1000"/>
              <a:buFont typeface="Arial" panose="020B0604020202020204" pitchFamily="34" charset="0"/>
              <a:buChar char="•"/>
            </a:pP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NIX MINI 3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に最適化された設計</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a:p>
            <a:pPr marL="0" marR="0" lvl="0" indent="0" algn="l" rtl="0">
              <a:lnSpc>
                <a:spcPct val="150000"/>
              </a:lnSpc>
              <a:spcBef>
                <a:spcPts val="0"/>
              </a:spcBef>
              <a:spcAft>
                <a:spcPts val="0"/>
              </a:spcAft>
              <a:buNone/>
            </a:pP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これらにより、適切な色の選択</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r>
              <a:rPr lang="en-US" sz="1000" dirty="0" err="1">
                <a:solidFill>
                  <a:schemeClr val="dk1"/>
                </a:solidFill>
                <a:latin typeface="IBM Plex Sans JP" panose="020B0503050203000203" pitchFamily="50" charset="-128"/>
                <a:ea typeface="IBM Plex Sans JP" panose="020B0503050203000203" pitchFamily="50" charset="-128"/>
                <a:cs typeface="IBM Plex Sans JP"/>
                <a:sym typeface="IBM Plex Sans JP"/>
              </a:rPr>
              <a:t>が可能になります</a:t>
            </a:r>
            <a:r>
              <a:rPr lang="en-US" sz="1000" dirty="0">
                <a:solidFill>
                  <a:schemeClr val="dk1"/>
                </a:solidFill>
                <a:latin typeface="IBM Plex Sans JP" panose="020B0503050203000203" pitchFamily="50" charset="-128"/>
                <a:ea typeface="IBM Plex Sans JP" panose="020B0503050203000203" pitchFamily="50" charset="-128"/>
                <a:cs typeface="IBM Plex Sans JP"/>
                <a:sym typeface="IBM Plex Sans JP"/>
              </a:rPr>
              <a:t>。 </a:t>
            </a:r>
            <a:endParaRPr sz="900" b="1" dirty="0">
              <a:solidFill>
                <a:schemeClr val="dk1"/>
              </a:solidFill>
              <a:latin typeface="IBM Plex Sans JP" panose="020B0503050203000203" pitchFamily="50" charset="-128"/>
              <a:ea typeface="IBM Plex Sans JP" panose="020B0503050203000203" pitchFamily="50" charset="-128"/>
              <a:cs typeface="IBM Plex Sans JP"/>
              <a:sym typeface="IBM Plex Sans JP"/>
            </a:endParaRPr>
          </a:p>
        </p:txBody>
      </p:sp>
    </p:spTree>
    <p:extLst>
      <p:ext uri="{BB962C8B-B14F-4D97-AF65-F5344CB8AC3E}">
        <p14:creationId xmlns:p14="http://schemas.microsoft.com/office/powerpoint/2010/main" val="2734230875"/>
      </p:ext>
    </p:extLst>
  </p:cSld>
  <p:clrMapOvr>
    <a:masterClrMapping/>
  </p:clrMapOvr>
</p:sld>
</file>

<file path=ppt/theme/theme1.xml><?xml version="1.0" encoding="utf-8"?>
<a:theme xmlns:a="http://schemas.openxmlformats.org/drawingml/2006/main" name="Office テーマ">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916</Words>
  <Application>Microsoft Office PowerPoint</Application>
  <PresentationFormat>画面に合わせる (4:3)</PresentationFormat>
  <Paragraphs>165</Paragraphs>
  <Slides>9</Slides>
  <Notes>9</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vt:i4>
      </vt:variant>
    </vt:vector>
  </HeadingPairs>
  <TitlesOfParts>
    <vt:vector size="14" baseType="lpstr">
      <vt:lpstr>Arial</vt:lpstr>
      <vt:lpstr>IBM Plex Sans JP</vt:lpstr>
      <vt:lpstr>Segoe UI Semibold</vt:lpstr>
      <vt:lpstr>Play</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誠 矢崎</cp:lastModifiedBy>
  <cp:revision>5</cp:revision>
  <cp:lastPrinted>2026-08-15T17:13:55Z</cp:lastPrinted>
  <dcterms:modified xsi:type="dcterms:W3CDTF">2026-08-15T17:49:50Z</dcterms:modified>
</cp:coreProperties>
</file>