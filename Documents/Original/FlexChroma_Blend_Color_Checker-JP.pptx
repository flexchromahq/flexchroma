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1"/>
  </p:notesMasterIdLst>
  <p:sldIdLst>
    <p:sldId id="256" r:id="rId2"/>
    <p:sldId id="266" r:id="rId3"/>
    <p:sldId id="258" r:id="rId4"/>
    <p:sldId id="259" r:id="rId5"/>
    <p:sldId id="260" r:id="rId6"/>
    <p:sldId id="265" r:id="rId7"/>
    <p:sldId id="262" r:id="rId8"/>
    <p:sldId id="263" r:id="rId9"/>
    <p:sldId id="264" r:id="rId10"/>
  </p:sldIdLst>
  <p:sldSz cx="6858000" cy="9144000" type="screen4x3"/>
  <p:notesSz cx="7104063" cy="10234613"/>
  <p:embeddedFontLst>
    <p:embeddedFont>
      <p:font typeface="IBM Plex Sans JP" panose="020B0503050203000203" pitchFamily="50" charset="-128"/>
      <p:regular r:id="rId12"/>
      <p:bold r:id="rId13"/>
    </p:embeddedFont>
    <p:embeddedFont>
      <p:font typeface="Play" panose="020B0600070205080204" charset="0"/>
      <p:regular r:id="rId14"/>
      <p:bold r:id="rId15"/>
    </p:embeddedFont>
    <p:embeddedFont>
      <p:font typeface="Segoe UI Semibold" panose="020B0702040204020203" pitchFamily="34" charset="0"/>
      <p:bold r:id="rId16"/>
      <p:boldItalic r:id="rId1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2" d="100"/>
          <a:sy n="142" d="100"/>
        </p:scale>
        <p:origin x="5059"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2B6369B1-81DC-C5FB-8971-9A1073A8F6EE}"/>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2C4B0A30-278A-1541-9BE0-42E3AF875F2B}"/>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F13751DA-0DF6-5635-23A9-461C90E57D92}"/>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52972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2" name="Google Shape;152;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5F7CAB4F-E48D-669B-5C65-328E1C1A42CF}"/>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D64D2B98-01F9-CCF5-75BF-F7A35878382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6B50359C-B709-9695-4204-4D2D90E295CC}"/>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891486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1B4DD514-B664-0710-584E-F651B6E9447A}"/>
            </a:ext>
          </a:extLst>
        </p:cNvPr>
        <p:cNvGrpSpPr/>
        <p:nvPr/>
      </p:nvGrpSpPr>
      <p:grpSpPr>
        <a:xfrm>
          <a:off x="0" y="0"/>
          <a:ext cx="0" cy="0"/>
          <a:chOff x="0" y="0"/>
          <a:chExt cx="0" cy="0"/>
        </a:xfrm>
      </p:grpSpPr>
      <p:sp>
        <p:nvSpPr>
          <p:cNvPr id="129" name="Google Shape;129;p3:notes">
            <a:extLst>
              <a:ext uri="{FF2B5EF4-FFF2-40B4-BE49-F238E27FC236}">
                <a16:creationId xmlns:a16="http://schemas.microsoft.com/office/drawing/2014/main" id="{EFF1DF28-AFFC-C821-1956-F274CE9573C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3:notes">
            <a:extLst>
              <a:ext uri="{FF2B5EF4-FFF2-40B4-BE49-F238E27FC236}">
                <a16:creationId xmlns:a16="http://schemas.microsoft.com/office/drawing/2014/main" id="{4E89525F-3231-13E4-27FE-1907E6D718D9}"/>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735787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a:extLst>
            <a:ext uri="{FF2B5EF4-FFF2-40B4-BE49-F238E27FC236}">
              <a16:creationId xmlns:a16="http://schemas.microsoft.com/office/drawing/2014/main" id="{D37FC9E8-8D70-E330-D684-1BF5B14574C6}"/>
            </a:ext>
          </a:extLst>
        </p:cNvPr>
        <p:cNvGrpSpPr/>
        <p:nvPr/>
      </p:nvGrpSpPr>
      <p:grpSpPr>
        <a:xfrm>
          <a:off x="0" y="0"/>
          <a:ext cx="0" cy="0"/>
          <a:chOff x="0" y="0"/>
          <a:chExt cx="0" cy="0"/>
        </a:xfrm>
      </p:grpSpPr>
      <p:sp>
        <p:nvSpPr>
          <p:cNvPr id="151" name="Google Shape;151;p4:notes">
            <a:extLst>
              <a:ext uri="{FF2B5EF4-FFF2-40B4-BE49-F238E27FC236}">
                <a16:creationId xmlns:a16="http://schemas.microsoft.com/office/drawing/2014/main" id="{E8CC5A07-D6AF-0B4E-03CD-A5105A220EB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2" name="Google Shape;152;p4:notes">
            <a:extLst>
              <a:ext uri="{FF2B5EF4-FFF2-40B4-BE49-F238E27FC236}">
                <a16:creationId xmlns:a16="http://schemas.microsoft.com/office/drawing/2014/main" id="{C4D43622-ABD5-DD13-C0D5-1C182C9CDC3F}"/>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47444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a:extLst>
            <a:ext uri="{FF2B5EF4-FFF2-40B4-BE49-F238E27FC236}">
              <a16:creationId xmlns:a16="http://schemas.microsoft.com/office/drawing/2014/main" id="{2FEF1101-A710-5818-8E06-04CEEA02DAA2}"/>
            </a:ext>
          </a:extLst>
        </p:cNvPr>
        <p:cNvGrpSpPr/>
        <p:nvPr/>
      </p:nvGrpSpPr>
      <p:grpSpPr>
        <a:xfrm>
          <a:off x="0" y="0"/>
          <a:ext cx="0" cy="0"/>
          <a:chOff x="0" y="0"/>
          <a:chExt cx="0" cy="0"/>
        </a:xfrm>
      </p:grpSpPr>
      <p:sp>
        <p:nvSpPr>
          <p:cNvPr id="176" name="Google Shape;176;p5:notes">
            <a:extLst>
              <a:ext uri="{FF2B5EF4-FFF2-40B4-BE49-F238E27FC236}">
                <a16:creationId xmlns:a16="http://schemas.microsoft.com/office/drawing/2014/main" id="{759B2AEC-9BAE-A0D9-3385-B34B0DAB85B2}"/>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p5:notes">
            <a:extLst>
              <a:ext uri="{FF2B5EF4-FFF2-40B4-BE49-F238E27FC236}">
                <a16:creationId xmlns:a16="http://schemas.microsoft.com/office/drawing/2014/main" id="{DB8D7338-DC14-5F93-10B9-6049BBAB811D}"/>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44956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8BB4BB78-5CA6-6611-26FB-A8CBC511CE22}"/>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271705D6-DB05-2357-E92C-419A4129A528}"/>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0" name="Google Shape;100;p14">
            <a:extLst>
              <a:ext uri="{FF2B5EF4-FFF2-40B4-BE49-F238E27FC236}">
                <a16:creationId xmlns:a16="http://schemas.microsoft.com/office/drawing/2014/main" id="{155B8BBD-532C-4086-4E4B-0C5468D3BCD2}"/>
              </a:ext>
            </a:extLst>
          </p:cNvPr>
          <p:cNvSpPr/>
          <p:nvPr/>
        </p:nvSpPr>
        <p:spPr>
          <a:xfrm>
            <a:off x="7269" y="368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1" name="Google Shape;101;p14">
            <a:extLst>
              <a:ext uri="{FF2B5EF4-FFF2-40B4-BE49-F238E27FC236}">
                <a16:creationId xmlns:a16="http://schemas.microsoft.com/office/drawing/2014/main" id="{B8C4E1AD-FBB2-1E69-501B-090809741096}"/>
              </a:ext>
            </a:extLst>
          </p:cNvPr>
          <p:cNvGrpSpPr/>
          <p:nvPr/>
        </p:nvGrpSpPr>
        <p:grpSpPr>
          <a:xfrm>
            <a:off x="0" y="0"/>
            <a:ext cx="6865269" cy="9144001"/>
            <a:chOff x="0" y="0"/>
            <a:chExt cx="6865269" cy="9144001"/>
          </a:xfrm>
        </p:grpSpPr>
        <p:sp>
          <p:nvSpPr>
            <p:cNvPr id="102" name="Google Shape;102;p14">
              <a:extLst>
                <a:ext uri="{FF2B5EF4-FFF2-40B4-BE49-F238E27FC236}">
                  <a16:creationId xmlns:a16="http://schemas.microsoft.com/office/drawing/2014/main" id="{1E9D60DF-C810-B52B-8F3E-F22F51A3DB2C}"/>
                </a:ext>
              </a:extLst>
            </p:cNvPr>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3" name="Google Shape;103;p14">
              <a:extLst>
                <a:ext uri="{FF2B5EF4-FFF2-40B4-BE49-F238E27FC236}">
                  <a16:creationId xmlns:a16="http://schemas.microsoft.com/office/drawing/2014/main" id="{8AA29179-DC30-483C-A794-259CBDAACE1A}"/>
                </a:ext>
              </a:extLst>
            </p:cNvPr>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4" name="Google Shape;104;p14">
              <a:extLst>
                <a:ext uri="{FF2B5EF4-FFF2-40B4-BE49-F238E27FC236}">
                  <a16:creationId xmlns:a16="http://schemas.microsoft.com/office/drawing/2014/main" id="{3B4E5798-DC95-B11F-CCCD-F1BE654F4EB1}"/>
                </a:ext>
              </a:extLst>
            </p:cNvPr>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5" name="Google Shape;105;p14">
              <a:extLst>
                <a:ext uri="{FF2B5EF4-FFF2-40B4-BE49-F238E27FC236}">
                  <a16:creationId xmlns:a16="http://schemas.microsoft.com/office/drawing/2014/main" id="{4E0871C3-BEE3-AFA3-9974-6C93158E6264}"/>
                </a:ext>
              </a:extLst>
            </p:cNvPr>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106" name="Google Shape;106;p14">
            <a:extLst>
              <a:ext uri="{FF2B5EF4-FFF2-40B4-BE49-F238E27FC236}">
                <a16:creationId xmlns:a16="http://schemas.microsoft.com/office/drawing/2014/main" id="{95BD7C7D-A21D-22A0-55D2-09E04155BE30}"/>
              </a:ext>
            </a:extLst>
          </p:cNvPr>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7" name="Google Shape;107;p14">
            <a:extLst>
              <a:ext uri="{FF2B5EF4-FFF2-40B4-BE49-F238E27FC236}">
                <a16:creationId xmlns:a16="http://schemas.microsoft.com/office/drawing/2014/main" id="{3EE34D64-55AF-13C4-372A-7AA27C272EB8}"/>
              </a:ext>
            </a:extLst>
          </p:cNvPr>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C0960E1D-AFA8-08A6-347E-54C96C11CEEC}"/>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a:extLst>
              <a:ext uri="{FF2B5EF4-FFF2-40B4-BE49-F238E27FC236}">
                <a16:creationId xmlns:a16="http://schemas.microsoft.com/office/drawing/2014/main" id="{4D04C72B-E8C0-3440-A599-4E24F52309FB}"/>
              </a:ext>
            </a:extLst>
          </p:cNvPr>
          <p:cNvSpPr txBox="1"/>
          <p:nvPr/>
        </p:nvSpPr>
        <p:spPr>
          <a:xfrm>
            <a:off x="1119608" y="845954"/>
            <a:ext cx="5012952"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 Color Checker</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0" name="Google Shape;110;p14">
            <a:extLst>
              <a:ext uri="{FF2B5EF4-FFF2-40B4-BE49-F238E27FC236}">
                <a16:creationId xmlns:a16="http://schemas.microsoft.com/office/drawing/2014/main" id="{895AA079-8F32-6DE4-79D4-9F205C6313F9}"/>
              </a:ext>
            </a:extLst>
          </p:cNvPr>
          <p:cNvSpPr/>
          <p:nvPr/>
        </p:nvSpPr>
        <p:spPr>
          <a:xfrm>
            <a:off x="566175" y="301589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1" name="Google Shape;111;p14">
            <a:extLst>
              <a:ext uri="{FF2B5EF4-FFF2-40B4-BE49-F238E27FC236}">
                <a16:creationId xmlns:a16="http://schemas.microsoft.com/office/drawing/2014/main" id="{BD584C1E-D8A0-8764-3856-D144D02DA867}"/>
              </a:ext>
            </a:extLst>
          </p:cNvPr>
          <p:cNvSpPr txBox="1"/>
          <p:nvPr/>
        </p:nvSpPr>
        <p:spPr>
          <a:xfrm>
            <a:off x="770844" y="2957097"/>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1.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はじめに</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10ED189B-3418-0FEF-FB32-AFDD2F7A415A}"/>
              </a:ext>
            </a:extLst>
          </p:cNvPr>
          <p:cNvSpPr txBox="1"/>
          <p:nvPr/>
        </p:nvSpPr>
        <p:spPr>
          <a:xfrm>
            <a:off x="668508" y="3380037"/>
            <a:ext cx="5649600" cy="81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 Blend Color Checker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は、FlexChroma</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による</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混色比ごとの色を実際に目</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で見て評価するための専用モデルです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AMS により生成された21段の混色領域に分かれた混色フィラメントを使用し、混色比と実際の色がどのように対応する か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を直接確認できるよう設計されています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13" name="Google Shape;113;p14">
            <a:extLst>
              <a:ext uri="{FF2B5EF4-FFF2-40B4-BE49-F238E27FC236}">
                <a16:creationId xmlns:a16="http://schemas.microsoft.com/office/drawing/2014/main" id="{3612F327-5183-1120-0F49-DE4EFB040663}"/>
              </a:ext>
            </a:extLst>
          </p:cNvPr>
          <p:cNvSpPr/>
          <p:nvPr/>
        </p:nvSpPr>
        <p:spPr>
          <a:xfrm>
            <a:off x="566175" y="4624475"/>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4" name="Google Shape;114;p14">
            <a:extLst>
              <a:ext uri="{FF2B5EF4-FFF2-40B4-BE49-F238E27FC236}">
                <a16:creationId xmlns:a16="http://schemas.microsoft.com/office/drawing/2014/main" id="{A14A5123-0E70-EBFE-A018-A57DB3E53306}"/>
              </a:ext>
            </a:extLst>
          </p:cNvPr>
          <p:cNvSpPr txBox="1"/>
          <p:nvPr/>
        </p:nvSpPr>
        <p:spPr>
          <a:xfrm>
            <a:off x="770844" y="4556779"/>
            <a:ext cx="338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2. Color Checker の目的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5" name="Google Shape;115;p14">
            <a:extLst>
              <a:ext uri="{FF2B5EF4-FFF2-40B4-BE49-F238E27FC236}">
                <a16:creationId xmlns:a16="http://schemas.microsoft.com/office/drawing/2014/main" id="{C4E70EE9-777B-47BB-B252-9BF07ED4ED3B}"/>
              </a:ext>
            </a:extLst>
          </p:cNvPr>
          <p:cNvSpPr txBox="1"/>
          <p:nvPr/>
        </p:nvSpPr>
        <p:spPr>
          <a:xfrm>
            <a:off x="661239" y="5006425"/>
            <a:ext cx="5649600" cy="81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本モデルは以下の用途に最適です</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混色比ごとの</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実際の色の違い</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を視覚的に確認</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印刷方向の違いによる色差の確認</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による色計測を前提とした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数値的な色評価</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grpSp>
        <p:nvGrpSpPr>
          <p:cNvPr id="116" name="Google Shape;116;p14">
            <a:extLst>
              <a:ext uri="{FF2B5EF4-FFF2-40B4-BE49-F238E27FC236}">
                <a16:creationId xmlns:a16="http://schemas.microsoft.com/office/drawing/2014/main" id="{7A9F3C5D-E333-2B9F-C38E-3712EB68958D}"/>
              </a:ext>
            </a:extLst>
          </p:cNvPr>
          <p:cNvGrpSpPr/>
          <p:nvPr/>
        </p:nvGrpSpPr>
        <p:grpSpPr>
          <a:xfrm>
            <a:off x="900413" y="447291"/>
            <a:ext cx="5071711" cy="377792"/>
            <a:chOff x="1042026" y="430737"/>
            <a:chExt cx="4781214" cy="377792"/>
          </a:xfrm>
        </p:grpSpPr>
        <p:sp>
          <p:nvSpPr>
            <p:cNvPr id="117" name="Google Shape;117;p14">
              <a:extLst>
                <a:ext uri="{FF2B5EF4-FFF2-40B4-BE49-F238E27FC236}">
                  <a16:creationId xmlns:a16="http://schemas.microsoft.com/office/drawing/2014/main" id="{9E7D43D4-C5FF-086D-FB4A-08A7B84FED20}"/>
                </a:ext>
              </a:extLst>
            </p:cNvPr>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a:extLst>
                <a:ext uri="{FF2B5EF4-FFF2-40B4-BE49-F238E27FC236}">
                  <a16:creationId xmlns:a16="http://schemas.microsoft.com/office/drawing/2014/main" id="{4F36BDDD-87FD-5807-702A-651B49809196}"/>
                </a:ext>
              </a:extLst>
            </p:cNvPr>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grpSp>
        <p:nvGrpSpPr>
          <p:cNvPr id="119" name="Google Shape;119;p14">
            <a:extLst>
              <a:ext uri="{FF2B5EF4-FFF2-40B4-BE49-F238E27FC236}">
                <a16:creationId xmlns:a16="http://schemas.microsoft.com/office/drawing/2014/main" id="{E4B1D137-9085-8FD5-A17B-98BE176227DA}"/>
              </a:ext>
            </a:extLst>
          </p:cNvPr>
          <p:cNvGrpSpPr/>
          <p:nvPr/>
        </p:nvGrpSpPr>
        <p:grpSpPr>
          <a:xfrm rot="10800000">
            <a:off x="900412" y="2224664"/>
            <a:ext cx="5071712" cy="377792"/>
            <a:chOff x="1042026" y="430737"/>
            <a:chExt cx="4781214" cy="377792"/>
          </a:xfrm>
        </p:grpSpPr>
        <p:sp>
          <p:nvSpPr>
            <p:cNvPr id="120" name="Google Shape;120;p14">
              <a:extLst>
                <a:ext uri="{FF2B5EF4-FFF2-40B4-BE49-F238E27FC236}">
                  <a16:creationId xmlns:a16="http://schemas.microsoft.com/office/drawing/2014/main" id="{2DFFB817-A739-5FB8-5687-833247FC67EA}"/>
                </a:ext>
              </a:extLst>
            </p:cNvPr>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1" name="Google Shape;121;p14">
              <a:extLst>
                <a:ext uri="{FF2B5EF4-FFF2-40B4-BE49-F238E27FC236}">
                  <a16:creationId xmlns:a16="http://schemas.microsoft.com/office/drawing/2014/main" id="{600ADD80-2F13-0F4B-6FA2-3D22E793CFC8}"/>
                </a:ext>
              </a:extLst>
            </p:cNvPr>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22" name="Google Shape;122;p14">
            <a:extLst>
              <a:ext uri="{FF2B5EF4-FFF2-40B4-BE49-F238E27FC236}">
                <a16:creationId xmlns:a16="http://schemas.microsoft.com/office/drawing/2014/main" id="{E8BCD6B7-7E37-16D7-977C-FBA8D52561AF}"/>
              </a:ext>
            </a:extLst>
          </p:cNvPr>
          <p:cNvSpPr txBox="1"/>
          <p:nvPr/>
        </p:nvSpPr>
        <p:spPr>
          <a:xfrm>
            <a:off x="713926" y="1446875"/>
            <a:ext cx="5368200" cy="30773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実際の印刷結果を見てBlend</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Filamentの色を比較しよう</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3" name="Google Shape;123;p14">
            <a:extLst>
              <a:ext uri="{FF2B5EF4-FFF2-40B4-BE49-F238E27FC236}">
                <a16:creationId xmlns:a16="http://schemas.microsoft.com/office/drawing/2014/main" id="{BCF83EF5-45E6-267D-950A-F56A52641523}"/>
              </a:ext>
            </a:extLst>
          </p:cNvPr>
          <p:cNvSpPr txBox="1"/>
          <p:nvPr/>
        </p:nvSpPr>
        <p:spPr>
          <a:xfrm>
            <a:off x="2364900" y="1843425"/>
            <a:ext cx="21282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dk1"/>
                </a:solidFill>
                <a:latin typeface="IBM Plex Sans JP" panose="020B0503050203000203" pitchFamily="50" charset="-128"/>
                <a:ea typeface="IBM Plex Sans JP" panose="020B0503050203000203" pitchFamily="50" charset="-128"/>
                <a:cs typeface="IBM Plex Sans JP"/>
                <a:sym typeface="IBM Plex Sans JP"/>
              </a:rPr>
              <a:t>Ver.1.1</a:t>
            </a:r>
            <a:r>
              <a:rPr lang="en-US">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a:solidFill>
                  <a:schemeClr val="dk1"/>
                </a:solidFill>
                <a:latin typeface="IBM Plex Sans JP" panose="020B0503050203000203" pitchFamily="50" charset="-128"/>
                <a:ea typeface="IBM Plex Sans JP" panose="020B0503050203000203" pitchFamily="50" charset="-128"/>
                <a:cs typeface="IBM Plex Sans JP"/>
                <a:sym typeface="IBM Plex Sans JP"/>
              </a:rPr>
              <a:t>15</a:t>
            </a:r>
            <a:endParaRPr sz="1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4" name="Google Shape;124;p14">
            <a:extLst>
              <a:ext uri="{FF2B5EF4-FFF2-40B4-BE49-F238E27FC236}">
                <a16:creationId xmlns:a16="http://schemas.microsoft.com/office/drawing/2014/main" id="{B241DC75-9133-B100-B4D6-869A1E214DA9}"/>
              </a:ext>
            </a:extLst>
          </p:cNvPr>
          <p:cNvSpPr/>
          <p:nvPr/>
        </p:nvSpPr>
        <p:spPr>
          <a:xfrm>
            <a:off x="554550" y="6237704"/>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5" name="Google Shape;125;p14">
            <a:extLst>
              <a:ext uri="{FF2B5EF4-FFF2-40B4-BE49-F238E27FC236}">
                <a16:creationId xmlns:a16="http://schemas.microsoft.com/office/drawing/2014/main" id="{3A0C639C-4B42-CDAA-BE0C-3C87A2A0E17A}"/>
              </a:ext>
            </a:extLst>
          </p:cNvPr>
          <p:cNvSpPr txBox="1"/>
          <p:nvPr/>
        </p:nvSpPr>
        <p:spPr>
          <a:xfrm>
            <a:off x="759219" y="6170008"/>
            <a:ext cx="338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3. 印刷データについて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6" name="Google Shape;126;p14">
            <a:extLst>
              <a:ext uri="{FF2B5EF4-FFF2-40B4-BE49-F238E27FC236}">
                <a16:creationId xmlns:a16="http://schemas.microsoft.com/office/drawing/2014/main" id="{0D6407AF-A766-F752-7405-760F1F98DF9F}"/>
              </a:ext>
            </a:extLst>
          </p:cNvPr>
          <p:cNvSpPr txBox="1"/>
          <p:nvPr/>
        </p:nvSpPr>
        <p:spPr>
          <a:xfrm>
            <a:off x="661239" y="6704731"/>
            <a:ext cx="5649600" cy="199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3.1 Check Filament Data（2 種類）</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 フィラメントデータはBlend Filamentの2種類の分類に従い2つのデータを用意しています。おおよその混色比が決まっ ている場合はその混色比を含むデータを選択し、印刷してください。</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Blend Filament 同様に 5%, 10%, 90%と 95%の混色仕 様は同一となっています。</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 ■ Standard（標準版） </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実際の混色比構成：  0, 5, 10, 15, 20, 25, 30, 35, 40, 45, 50, 55, 60, 65, 70, 75, 80, </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　　　　　　　　　  85, 90, 95, 100%（合計 21 段階） </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5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7" name="Google Shape;127;p14">
            <a:extLst>
              <a:ext uri="{FF2B5EF4-FFF2-40B4-BE49-F238E27FC236}">
                <a16:creationId xmlns:a16="http://schemas.microsoft.com/office/drawing/2014/main" id="{97F70B70-C637-0E24-391E-0BA3DD244900}"/>
              </a:ext>
            </a:extLst>
          </p:cNvPr>
          <p:cNvSpPr/>
          <p:nvPr/>
        </p:nvSpPr>
        <p:spPr>
          <a:xfrm>
            <a:off x="600246" y="6764347"/>
            <a:ext cx="125700" cy="1227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73497F0A-B7AC-4E56-1C1D-6E54909D06FC}"/>
              </a:ext>
            </a:extLst>
          </p:cNvPr>
          <p:cNvPicPr>
            <a:picLocks noChangeAspect="1"/>
          </p:cNvPicPr>
          <p:nvPr/>
        </p:nvPicPr>
        <p:blipFill>
          <a:blip r:embed="rId3"/>
          <a:stretch>
            <a:fillRect/>
          </a:stretch>
        </p:blipFill>
        <p:spPr>
          <a:xfrm>
            <a:off x="900412" y="951926"/>
            <a:ext cx="360247" cy="347282"/>
          </a:xfrm>
          <a:prstGeom prst="rect">
            <a:avLst/>
          </a:prstGeom>
        </p:spPr>
      </p:pic>
    </p:spTree>
    <p:extLst>
      <p:ext uri="{BB962C8B-B14F-4D97-AF65-F5344CB8AC3E}">
        <p14:creationId xmlns:p14="http://schemas.microsoft.com/office/powerpoint/2010/main" val="19668817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5"/>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3" name="Google Shape;133;p15"/>
          <p:cNvSpPr/>
          <p:nvPr/>
        </p:nvSpPr>
        <p:spPr>
          <a:xfrm>
            <a:off x="7269"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4" name="Google Shape;134;p15"/>
          <p:cNvGrpSpPr/>
          <p:nvPr/>
        </p:nvGrpSpPr>
        <p:grpSpPr>
          <a:xfrm>
            <a:off x="0" y="0"/>
            <a:ext cx="6865269" cy="9144001"/>
            <a:chOff x="0" y="0"/>
            <a:chExt cx="6865269" cy="9144001"/>
          </a:xfrm>
        </p:grpSpPr>
        <p:sp>
          <p:nvSpPr>
            <p:cNvPr id="135" name="Google Shape;135;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6" name="Google Shape;136;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7" name="Google Shape;137;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39" name="Google Shape;139;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1" name="Google Shape;141;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3" name="Google Shape;143;p15"/>
          <p:cNvSpPr/>
          <p:nvPr/>
        </p:nvSpPr>
        <p:spPr>
          <a:xfrm>
            <a:off x="560846" y="6574353"/>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668508" y="1840366"/>
            <a:ext cx="5649600" cy="1631945"/>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3.2 Check Tower（1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種類</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チェックフィラメントで印刷する評価用タワーです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チェックフィラメントと縦に長いタワー形状によって混色比が分かりやすく変化してゆきます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各混合比の切り替わり高さと同じ間隔でノッチを設けています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20％・25%と45％・50％・55%と75%・80％の4か所に大きいノッチがあります。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混色フィラメントは印刷時にツールヘッドの動く方向で色変化が起こりえます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4面を測定可能面としているので、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方向による色の違いが確認できます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5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5" name="Google Shape;145;p15"/>
          <p:cNvSpPr txBox="1"/>
          <p:nvPr/>
        </p:nvSpPr>
        <p:spPr>
          <a:xfrm>
            <a:off x="770844" y="6508819"/>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4. 推奨使用手順 </a:t>
            </a:r>
            <a:endParaRPr sz="28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6" name="Google Shape;146;p15"/>
          <p:cNvSpPr txBox="1"/>
          <p:nvPr/>
        </p:nvSpPr>
        <p:spPr>
          <a:xfrm>
            <a:off x="668509" y="6986390"/>
            <a:ext cx="5642100" cy="1246455"/>
          </a:xfrm>
          <a:prstGeom prst="rect">
            <a:avLst/>
          </a:prstGeom>
          <a:noFill/>
          <a:ln>
            <a:noFill/>
          </a:ln>
        </p:spPr>
        <p:txBody>
          <a:bodyPr spcFirstLastPara="1" wrap="square" lIns="91425" tIns="45700" rIns="91425" bIns="45700" anchor="t" anchorCtr="0">
            <a:spAutoFit/>
          </a:bodyPr>
          <a:lstStyle/>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欲しい色を実現できそうな2色のフィラメントを選定する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1のフィラメントを用いてCheck Filament を印刷する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Check Filament によってCheck Tower を印刷し、求める色に近いう混合比を確認する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必要に応じ ３の混合比のS4モデルを印刷し近似形状をテストプリントする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問題なければ 必要量の Blend Filament を生成する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7" name="Google Shape;147;p15"/>
          <p:cNvSpPr/>
          <p:nvPr/>
        </p:nvSpPr>
        <p:spPr>
          <a:xfrm>
            <a:off x="605663" y="1917067"/>
            <a:ext cx="125700" cy="1227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148" name="Google Shape;148;p15"/>
          <p:cNvPicPr preferRelativeResize="0"/>
          <p:nvPr/>
        </p:nvPicPr>
        <p:blipFill>
          <a:blip r:embed="rId3">
            <a:alphaModFix/>
          </a:blip>
          <a:stretch>
            <a:fillRect/>
          </a:stretch>
        </p:blipFill>
        <p:spPr>
          <a:xfrm>
            <a:off x="555784" y="3508488"/>
            <a:ext cx="5756199" cy="2717241"/>
          </a:xfrm>
          <a:prstGeom prst="rect">
            <a:avLst/>
          </a:prstGeom>
          <a:noFill/>
          <a:ln>
            <a:noFill/>
          </a:ln>
        </p:spPr>
      </p:pic>
      <p:sp>
        <p:nvSpPr>
          <p:cNvPr id="149" name="Google Shape;149;p15"/>
          <p:cNvSpPr txBox="1"/>
          <p:nvPr/>
        </p:nvSpPr>
        <p:spPr>
          <a:xfrm>
            <a:off x="668489" y="602850"/>
            <a:ext cx="5649600" cy="93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Detail（精密版</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実際の混色比構成</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0, 1, 2, 3, 4, 5, 6, 7, 8, 9, 10%（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低比率領域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10段）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90, 91, 92, 93, 94, 95, 96, 97, 98, 99, 100%（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高比率領域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10 段）</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中央に10％と90%を連続的につなぐ部分が1段あります。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5" name="Google Shape;155;p16"/>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56" name="Google Shape;156;p16"/>
          <p:cNvGrpSpPr/>
          <p:nvPr/>
        </p:nvGrpSpPr>
        <p:grpSpPr>
          <a:xfrm>
            <a:off x="0" y="0"/>
            <a:ext cx="6865269" cy="9144001"/>
            <a:chOff x="0" y="0"/>
            <a:chExt cx="6865269" cy="9144001"/>
          </a:xfrm>
        </p:grpSpPr>
        <p:sp>
          <p:nvSpPr>
            <p:cNvPr id="157" name="Google Shape;157;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8" name="Google Shape;158;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9" name="Google Shape;159;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1" name="Google Shape;161;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2" name="Google Shape;162;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65" name="Google Shape;165;p16"/>
          <p:cNvSpPr/>
          <p:nvPr/>
        </p:nvSpPr>
        <p:spPr>
          <a:xfrm>
            <a:off x="560796" y="4688933"/>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6" name="Google Shape;166;p16"/>
          <p:cNvSpPr txBox="1"/>
          <p:nvPr/>
        </p:nvSpPr>
        <p:spPr>
          <a:xfrm>
            <a:off x="770844" y="4624760"/>
            <a:ext cx="27399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6. 外部測定ツール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67" name="Google Shape;167;p16"/>
          <p:cNvSpPr txBox="1"/>
          <p:nvPr/>
        </p:nvSpPr>
        <p:spPr>
          <a:xfrm>
            <a:off x="668508" y="5047700"/>
            <a:ext cx="5649600" cy="202128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Color Checker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は、色計測機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NIX MINI 3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を使用した数値的な色評価のため、以下の最適化を行っています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セグメント幅の最適化</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の測定口径に対して十分な測定面積が確保できる幅で設計されています。測定部の一辺とノッチの</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幅をそろえていますので、一致するように取り付けて測定する事で測定ミスを防ぎます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タワーの幅の最適化</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タワーの幅はNIX</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MINI3の感光部を覆うことが出来る幅としており、エラーを防ぎます。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最上面に記号を記載</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4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面の測定結果を残す際にどこの面を測定したのかわかるように最上面に各面に対応するアルファベットを記載</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しています。測定時の整理にご活用ください</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68" name="Google Shape;168;p16"/>
          <p:cNvSpPr txBox="1"/>
          <p:nvPr/>
        </p:nvSpPr>
        <p:spPr>
          <a:xfrm>
            <a:off x="681821" y="2638082"/>
            <a:ext cx="5642100" cy="177352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CHeck</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Tower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使用前にCheck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Filamentのブリムを外してください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ブリムにINと書かれている側がロード側となります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バリなどがある場合はニッパーやカッターで除去してください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Check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は外部スプールからロードしてください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(AMS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は単色印刷中でも、内部処理の都合で</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意図しな</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いパージ</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を行う場合があります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これによる混色比の切り替え間隔の短縮を避けることが目的です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スタートパージ量やラインパージ量は一定ではなく、混色比の切替位置とノッチの位置はずれることがあります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69" name="Google Shape;169;p16"/>
          <p:cNvSpPr/>
          <p:nvPr/>
        </p:nvSpPr>
        <p:spPr>
          <a:xfrm>
            <a:off x="590550" y="2717674"/>
            <a:ext cx="125700" cy="1227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170" name="Google Shape;170;p16"/>
          <p:cNvPicPr preferRelativeResize="0"/>
          <p:nvPr/>
        </p:nvPicPr>
        <p:blipFill>
          <a:blip r:embed="rId3">
            <a:alphaModFix/>
          </a:blip>
          <a:stretch>
            <a:fillRect/>
          </a:stretch>
        </p:blipFill>
        <p:spPr>
          <a:xfrm>
            <a:off x="1117634" y="7048700"/>
            <a:ext cx="4632492" cy="1414500"/>
          </a:xfrm>
          <a:prstGeom prst="rect">
            <a:avLst/>
          </a:prstGeom>
          <a:noFill/>
          <a:ln>
            <a:noFill/>
          </a:ln>
        </p:spPr>
      </p:pic>
      <p:sp>
        <p:nvSpPr>
          <p:cNvPr id="171" name="Google Shape;171;p16"/>
          <p:cNvSpPr/>
          <p:nvPr/>
        </p:nvSpPr>
        <p:spPr>
          <a:xfrm>
            <a:off x="556788" y="676633"/>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2" name="Google Shape;172;p16"/>
          <p:cNvSpPr txBox="1"/>
          <p:nvPr/>
        </p:nvSpPr>
        <p:spPr>
          <a:xfrm>
            <a:off x="761456" y="616833"/>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5.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印刷時の注意</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3" name="Google Shape;173;p16"/>
          <p:cNvSpPr txBox="1"/>
          <p:nvPr/>
        </p:nvSpPr>
        <p:spPr>
          <a:xfrm>
            <a:off x="685827" y="1085502"/>
            <a:ext cx="5642100" cy="1437276"/>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5.1Check Filament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AMSが必須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0.4mmノズルが必須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ビルドプレート：テクスチャード</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PEIが推奨</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材料：異種材料の混合は不可</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(PLA Basic と PLA Matte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の組み合わせ等は上手く行く事が多いが、自己責任で実施して下さい</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糊の使用不可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印刷前にビルドプレートと手の洗浄を実施してください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4" name="Google Shape;174;p16"/>
          <p:cNvSpPr/>
          <p:nvPr/>
        </p:nvSpPr>
        <p:spPr>
          <a:xfrm>
            <a:off x="605663" y="1165095"/>
            <a:ext cx="125700" cy="1227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0" name="Google Shape;180;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1" name="Google Shape;181;p17"/>
          <p:cNvGrpSpPr/>
          <p:nvPr/>
        </p:nvGrpSpPr>
        <p:grpSpPr>
          <a:xfrm>
            <a:off x="0" y="0"/>
            <a:ext cx="6865269" cy="9144001"/>
            <a:chOff x="0" y="0"/>
            <a:chExt cx="6865269" cy="9144001"/>
          </a:xfrm>
        </p:grpSpPr>
        <p:sp>
          <p:nvSpPr>
            <p:cNvPr id="182" name="Google Shape;182;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3" name="Google Shape;183;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4" name="Google Shape;184;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6" name="Google Shape;186;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8" name="Google Shape;188;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0" name="Google Shape;190;p17"/>
          <p:cNvSpPr/>
          <p:nvPr/>
        </p:nvSpPr>
        <p:spPr>
          <a:xfrm>
            <a:off x="558261" y="280385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790026" y="2733606"/>
            <a:ext cx="2592000"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8. </a:t>
            </a:r>
            <a:r>
              <a:rPr lang="ja-JP" alt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2" name="Google Shape;192;p17"/>
          <p:cNvSpPr txBox="1"/>
          <p:nvPr/>
        </p:nvSpPr>
        <p:spPr>
          <a:xfrm>
            <a:off x="676941" y="3091447"/>
            <a:ext cx="5649600" cy="369291"/>
          </a:xfrm>
          <a:prstGeom prst="rect">
            <a:avLst/>
          </a:prstGeom>
          <a:noFill/>
          <a:ln>
            <a:noFill/>
          </a:ln>
        </p:spPr>
        <p:txBody>
          <a:bodyPr spcFirstLastPara="1" wrap="square" lIns="91425" tIns="45700" rIns="91425" bIns="45700" anchor="t" anchorCtr="0">
            <a:spAutoFit/>
          </a:bodyPr>
          <a:lstStyle/>
          <a:p>
            <a:pPr lvl="0"/>
            <a:r>
              <a:rPr lang="ja-JP" altLang="ja-JP" sz="900" dirty="0"/>
              <a:t>Ver.1.00 2026-0</a:t>
            </a:r>
            <a:r>
              <a:rPr lang="en-US" altLang="ja-JP" sz="900" dirty="0"/>
              <a:t>7</a:t>
            </a:r>
            <a:r>
              <a:rPr lang="ja-JP" altLang="ja-JP" sz="900" dirty="0"/>
              <a:t>-</a:t>
            </a:r>
            <a:r>
              <a:rPr lang="en-US" altLang="ja-JP" sz="900" dirty="0"/>
              <a:t>02</a:t>
            </a:r>
            <a:r>
              <a:rPr lang="ja-JP" altLang="ja-JP" sz="900" dirty="0"/>
              <a:t> 初版公開 </a:t>
            </a:r>
            <a:endParaRPr lang="en-US" altLang="ja-JP" sz="900" dirty="0"/>
          </a:p>
          <a:p>
            <a:pPr lvl="0"/>
            <a:r>
              <a:rPr lang="ja-JP" altLang="ja-JP" sz="900" dirty="0"/>
              <a:t>Ver.</a:t>
            </a:r>
            <a:r>
              <a:rPr lang="en-US" altLang="ja-JP" sz="900" dirty="0"/>
              <a:t>1</a:t>
            </a:r>
            <a:r>
              <a:rPr lang="ja-JP" altLang="ja-JP" sz="900" dirty="0"/>
              <a:t>.10 2026-08-16 統一デザイン反映</a:t>
            </a:r>
            <a:endParaRPr dirty="0">
              <a:latin typeface="IBM Plex Sans JP" panose="020B0503050203000203" pitchFamily="50" charset="-128"/>
              <a:ea typeface="IBM Plex Sans JP" panose="020B0503050203000203" pitchFamily="50" charset="-128"/>
            </a:endParaRPr>
          </a:p>
        </p:txBody>
      </p:sp>
      <p:sp>
        <p:nvSpPr>
          <p:cNvPr id="193" name="Google Shape;193;p17"/>
          <p:cNvSpPr txBox="1"/>
          <p:nvPr/>
        </p:nvSpPr>
        <p:spPr>
          <a:xfrm>
            <a:off x="759181" y="705345"/>
            <a:ext cx="27399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まとめ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p:cNvSpPr txBox="1"/>
          <p:nvPr/>
        </p:nvSpPr>
        <p:spPr>
          <a:xfrm>
            <a:off x="677246" y="1065260"/>
            <a:ext cx="5649600" cy="1477287"/>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Color Checker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は、FlexChroma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Blend Filament の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混色比と実際の色の関係を正確に評価</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するための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信頼性の高い基準ツールです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Standard / Detail の 2種類のチェックフィラメント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外部スプール使用によるずれの少ない色境界</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に最適化された設計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50000"/>
              </a:lnSpc>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これらにより、適切な色の選択</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が可能になります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5" name="Google Shape;195;p17"/>
          <p:cNvSpPr/>
          <p:nvPr/>
        </p:nvSpPr>
        <p:spPr>
          <a:xfrm>
            <a:off x="554513" y="76951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18851F7F-C276-8590-F765-FE1370316949}"/>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A7BCC183-9F8C-411E-0A3F-80647D927D87}"/>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4" name="フリーフォーム: 図形 13">
            <a:extLst>
              <a:ext uri="{FF2B5EF4-FFF2-40B4-BE49-F238E27FC236}">
                <a16:creationId xmlns:a16="http://schemas.microsoft.com/office/drawing/2014/main" id="{621A58FC-1238-ECBD-1BFE-8D3864734F26}"/>
              </a:ext>
            </a:extLst>
          </p:cNvPr>
          <p:cNvSpPr/>
          <p:nvPr/>
        </p:nvSpPr>
        <p:spPr>
          <a:xfrm>
            <a:off x="1890" y="-1698"/>
            <a:ext cx="6858000" cy="9144000"/>
          </a:xfrm>
          <a:custGeom>
            <a:avLst/>
            <a:gdLst>
              <a:gd name="csX0" fmla="*/ 3732954 w 6858000"/>
              <a:gd name="csY0" fmla="*/ 8663615 h 9144000"/>
              <a:gd name="csX1" fmla="*/ 3732954 w 6858000"/>
              <a:gd name="csY1" fmla="*/ 8717615 h 9144000"/>
              <a:gd name="csX2" fmla="*/ 6324954 w 6858000"/>
              <a:gd name="csY2" fmla="*/ 8717615 h 9144000"/>
              <a:gd name="csX3" fmla="*/ 6324954 w 6858000"/>
              <a:gd name="csY3" fmla="*/ 8663615 h 9144000"/>
              <a:gd name="csX4" fmla="*/ 552648 w 6858000"/>
              <a:gd name="csY4" fmla="*/ 8663615 h 9144000"/>
              <a:gd name="csX5" fmla="*/ 552648 w 6858000"/>
              <a:gd name="csY5" fmla="*/ 8717615 h 9144000"/>
              <a:gd name="csX6" fmla="*/ 3144648 w 6858000"/>
              <a:gd name="csY6" fmla="*/ 8717615 h 9144000"/>
              <a:gd name="csX7" fmla="*/ 3144648 w 6858000"/>
              <a:gd name="csY7" fmla="*/ 8663615 h 9144000"/>
              <a:gd name="csX8" fmla="*/ 661206 w 6858000"/>
              <a:gd name="csY8" fmla="*/ 6766045 h 9144000"/>
              <a:gd name="csX9" fmla="*/ 598356 w 6858000"/>
              <a:gd name="csY9" fmla="*/ 6827395 h 9144000"/>
              <a:gd name="csX10" fmla="*/ 661206 w 6858000"/>
              <a:gd name="csY10" fmla="*/ 6888745 h 9144000"/>
              <a:gd name="csX11" fmla="*/ 724056 w 6858000"/>
              <a:gd name="csY11" fmla="*/ 6827395 h 9144000"/>
              <a:gd name="csX12" fmla="*/ 661206 w 6858000"/>
              <a:gd name="csY12" fmla="*/ 6766045 h 9144000"/>
              <a:gd name="csX13" fmla="*/ 654960 w 6858000"/>
              <a:gd name="csY13" fmla="*/ 6239402 h 9144000"/>
              <a:gd name="csX14" fmla="*/ 552660 w 6858000"/>
              <a:gd name="csY14" fmla="*/ 6341702 h 9144000"/>
              <a:gd name="csX15" fmla="*/ 654960 w 6858000"/>
              <a:gd name="csY15" fmla="*/ 6444002 h 9144000"/>
              <a:gd name="csX16" fmla="*/ 757260 w 6858000"/>
              <a:gd name="csY16" fmla="*/ 6341702 h 9144000"/>
              <a:gd name="csX17" fmla="*/ 654960 w 6858000"/>
              <a:gd name="csY17" fmla="*/ 6239402 h 9144000"/>
              <a:gd name="csX18" fmla="*/ 666585 w 6858000"/>
              <a:gd name="csY18" fmla="*/ 4626173 h 9144000"/>
              <a:gd name="csX19" fmla="*/ 564285 w 6858000"/>
              <a:gd name="csY19" fmla="*/ 4728473 h 9144000"/>
              <a:gd name="csX20" fmla="*/ 666585 w 6858000"/>
              <a:gd name="csY20" fmla="*/ 4830773 h 9144000"/>
              <a:gd name="csX21" fmla="*/ 768885 w 6858000"/>
              <a:gd name="csY21" fmla="*/ 4728473 h 9144000"/>
              <a:gd name="csX22" fmla="*/ 666585 w 6858000"/>
              <a:gd name="csY22" fmla="*/ 4626173 h 9144000"/>
              <a:gd name="csX23" fmla="*/ 666585 w 6858000"/>
              <a:gd name="csY23" fmla="*/ 3017588 h 9144000"/>
              <a:gd name="csX24" fmla="*/ 564285 w 6858000"/>
              <a:gd name="csY24" fmla="*/ 3119888 h 9144000"/>
              <a:gd name="csX25" fmla="*/ 666585 w 6858000"/>
              <a:gd name="csY25" fmla="*/ 3222188 h 9144000"/>
              <a:gd name="csX26" fmla="*/ 768885 w 6858000"/>
              <a:gd name="csY26" fmla="*/ 3119888 h 9144000"/>
              <a:gd name="csX27" fmla="*/ 666585 w 6858000"/>
              <a:gd name="csY27" fmla="*/ 3017588 h 9144000"/>
              <a:gd name="csX28" fmla="*/ 5970234 w 6858000"/>
              <a:gd name="csY28" fmla="*/ 2281666 h 9144000"/>
              <a:gd name="csX29" fmla="*/ 5914929 w 6858000"/>
              <a:gd name="csY29" fmla="*/ 2336971 h 9144000"/>
              <a:gd name="csX30" fmla="*/ 953826 w 6858000"/>
              <a:gd name="csY30" fmla="*/ 2336971 h 9144000"/>
              <a:gd name="csX31" fmla="*/ 914720 w 6858000"/>
              <a:gd name="csY31" fmla="*/ 2320772 h 9144000"/>
              <a:gd name="csX32" fmla="*/ 898522 w 6858000"/>
              <a:gd name="csY32" fmla="*/ 2281668 h 9144000"/>
              <a:gd name="csX33" fmla="*/ 898522 w 6858000"/>
              <a:gd name="csY33" fmla="*/ 2415258 h 9144000"/>
              <a:gd name="csX34" fmla="*/ 1087418 w 6858000"/>
              <a:gd name="csY34" fmla="*/ 2604154 h 9144000"/>
              <a:gd name="csX35" fmla="*/ 5781338 w 6858000"/>
              <a:gd name="csY35" fmla="*/ 2604154 h 9144000"/>
              <a:gd name="csX36" fmla="*/ 5970234 w 6858000"/>
              <a:gd name="csY36" fmla="*/ 2415258 h 9144000"/>
              <a:gd name="csX37" fmla="*/ 1087419 w 6858000"/>
              <a:gd name="csY37" fmla="*/ 448989 h 9144000"/>
              <a:gd name="csX38" fmla="*/ 898523 w 6858000"/>
              <a:gd name="csY38" fmla="*/ 637885 h 9144000"/>
              <a:gd name="csX39" fmla="*/ 898523 w 6858000"/>
              <a:gd name="csY39" fmla="*/ 771477 h 9144000"/>
              <a:gd name="csX40" fmla="*/ 953828 w 6858000"/>
              <a:gd name="csY40" fmla="*/ 716172 h 9144000"/>
              <a:gd name="csX41" fmla="*/ 5914930 w 6858000"/>
              <a:gd name="csY41" fmla="*/ 716172 h 9144000"/>
              <a:gd name="csX42" fmla="*/ 5954037 w 6858000"/>
              <a:gd name="csY42" fmla="*/ 732371 h 9144000"/>
              <a:gd name="csX43" fmla="*/ 5970234 w 6858000"/>
              <a:gd name="csY43" fmla="*/ 771474 h 9144000"/>
              <a:gd name="csX44" fmla="*/ 5970234 w 6858000"/>
              <a:gd name="csY44" fmla="*/ 637885 h 9144000"/>
              <a:gd name="csX45" fmla="*/ 5781338 w 6858000"/>
              <a:gd name="csY45" fmla="*/ 448989 h 9144000"/>
              <a:gd name="csX46" fmla="*/ 0 w 6858000"/>
              <a:gd name="csY46" fmla="*/ 0 h 9144000"/>
              <a:gd name="csX47" fmla="*/ 6858000 w 6858000"/>
              <a:gd name="csY47" fmla="*/ 0 h 9144000"/>
              <a:gd name="csX48" fmla="*/ 6858000 w 6858000"/>
              <a:gd name="csY48" fmla="*/ 9144000 h 9144000"/>
              <a:gd name="csX49" fmla="*/ 0 w 6858000"/>
              <a:gd name="csY49"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6858000" h="9144000">
                <a:moveTo>
                  <a:pt x="3732954" y="8663615"/>
                </a:moveTo>
                <a:lnTo>
                  <a:pt x="3732954" y="8717615"/>
                </a:lnTo>
                <a:lnTo>
                  <a:pt x="6324954" y="8717615"/>
                </a:lnTo>
                <a:lnTo>
                  <a:pt x="6324954" y="8663615"/>
                </a:lnTo>
                <a:close/>
                <a:moveTo>
                  <a:pt x="552648" y="8663615"/>
                </a:moveTo>
                <a:lnTo>
                  <a:pt x="552648" y="8717615"/>
                </a:lnTo>
                <a:lnTo>
                  <a:pt x="3144648" y="8717615"/>
                </a:lnTo>
                <a:lnTo>
                  <a:pt x="3144648" y="8663615"/>
                </a:lnTo>
                <a:close/>
                <a:moveTo>
                  <a:pt x="661206" y="6766045"/>
                </a:moveTo>
                <a:cubicBezTo>
                  <a:pt x="626495" y="6766045"/>
                  <a:pt x="598356" y="6793512"/>
                  <a:pt x="598356" y="6827395"/>
                </a:cubicBezTo>
                <a:cubicBezTo>
                  <a:pt x="598356" y="6861278"/>
                  <a:pt x="626495" y="6888745"/>
                  <a:pt x="661206" y="6888745"/>
                </a:cubicBezTo>
                <a:cubicBezTo>
                  <a:pt x="695917" y="6888745"/>
                  <a:pt x="724056" y="6861278"/>
                  <a:pt x="724056" y="6827395"/>
                </a:cubicBezTo>
                <a:cubicBezTo>
                  <a:pt x="724056" y="6793512"/>
                  <a:pt x="695917" y="6766045"/>
                  <a:pt x="661206" y="6766045"/>
                </a:cubicBezTo>
                <a:close/>
                <a:moveTo>
                  <a:pt x="654960" y="6239402"/>
                </a:moveTo>
                <a:cubicBezTo>
                  <a:pt x="598461" y="6239402"/>
                  <a:pt x="552660" y="6285203"/>
                  <a:pt x="552660" y="6341702"/>
                </a:cubicBezTo>
                <a:cubicBezTo>
                  <a:pt x="552660" y="6398201"/>
                  <a:pt x="598461" y="6444002"/>
                  <a:pt x="654960" y="6444002"/>
                </a:cubicBezTo>
                <a:cubicBezTo>
                  <a:pt x="711459" y="6444002"/>
                  <a:pt x="757260" y="6398201"/>
                  <a:pt x="757260" y="6341702"/>
                </a:cubicBezTo>
                <a:cubicBezTo>
                  <a:pt x="757260" y="6285203"/>
                  <a:pt x="711459" y="6239402"/>
                  <a:pt x="654960" y="6239402"/>
                </a:cubicBezTo>
                <a:close/>
                <a:moveTo>
                  <a:pt x="666585" y="4626173"/>
                </a:moveTo>
                <a:cubicBezTo>
                  <a:pt x="610086" y="4626173"/>
                  <a:pt x="564285" y="4671974"/>
                  <a:pt x="564285" y="4728473"/>
                </a:cubicBezTo>
                <a:cubicBezTo>
                  <a:pt x="564285" y="4784972"/>
                  <a:pt x="610086" y="4830773"/>
                  <a:pt x="666585" y="4830773"/>
                </a:cubicBezTo>
                <a:cubicBezTo>
                  <a:pt x="723084" y="4830773"/>
                  <a:pt x="768885" y="4784972"/>
                  <a:pt x="768885" y="4728473"/>
                </a:cubicBezTo>
                <a:cubicBezTo>
                  <a:pt x="768885" y="4671974"/>
                  <a:pt x="723084" y="4626173"/>
                  <a:pt x="666585" y="4626173"/>
                </a:cubicBezTo>
                <a:close/>
                <a:moveTo>
                  <a:pt x="666585" y="3017588"/>
                </a:moveTo>
                <a:cubicBezTo>
                  <a:pt x="610086" y="3017588"/>
                  <a:pt x="564285" y="3063389"/>
                  <a:pt x="564285" y="3119888"/>
                </a:cubicBezTo>
                <a:cubicBezTo>
                  <a:pt x="564285" y="3176387"/>
                  <a:pt x="610086" y="3222188"/>
                  <a:pt x="666585" y="3222188"/>
                </a:cubicBezTo>
                <a:cubicBezTo>
                  <a:pt x="723084" y="3222188"/>
                  <a:pt x="768885" y="3176387"/>
                  <a:pt x="768885" y="3119888"/>
                </a:cubicBezTo>
                <a:cubicBezTo>
                  <a:pt x="768885" y="3063389"/>
                  <a:pt x="723084" y="3017588"/>
                  <a:pt x="666585" y="3017588"/>
                </a:cubicBezTo>
                <a:close/>
                <a:moveTo>
                  <a:pt x="5970234" y="2281666"/>
                </a:moveTo>
                <a:cubicBezTo>
                  <a:pt x="5970234" y="2312210"/>
                  <a:pt x="5945473" y="2336971"/>
                  <a:pt x="5914929" y="2336971"/>
                </a:cubicBezTo>
                <a:lnTo>
                  <a:pt x="953826" y="2336971"/>
                </a:lnTo>
                <a:cubicBezTo>
                  <a:pt x="938554" y="2336971"/>
                  <a:pt x="924728" y="2330781"/>
                  <a:pt x="914720" y="2320772"/>
                </a:cubicBezTo>
                <a:lnTo>
                  <a:pt x="898522" y="2281668"/>
                </a:lnTo>
                <a:lnTo>
                  <a:pt x="898522" y="2415258"/>
                </a:lnTo>
                <a:cubicBezTo>
                  <a:pt x="898522" y="2519582"/>
                  <a:pt x="983094" y="2604154"/>
                  <a:pt x="1087418" y="2604154"/>
                </a:cubicBezTo>
                <a:lnTo>
                  <a:pt x="5781338" y="2604154"/>
                </a:lnTo>
                <a:cubicBezTo>
                  <a:pt x="5885662" y="2604154"/>
                  <a:pt x="5970234" y="2519582"/>
                  <a:pt x="5970234" y="2415258"/>
                </a:cubicBezTo>
                <a:close/>
                <a:moveTo>
                  <a:pt x="1087419" y="448989"/>
                </a:moveTo>
                <a:cubicBezTo>
                  <a:pt x="983095" y="448989"/>
                  <a:pt x="898523" y="533561"/>
                  <a:pt x="898523" y="637885"/>
                </a:cubicBezTo>
                <a:lnTo>
                  <a:pt x="898523" y="771477"/>
                </a:lnTo>
                <a:cubicBezTo>
                  <a:pt x="898523" y="740933"/>
                  <a:pt x="923284" y="716172"/>
                  <a:pt x="953828" y="716172"/>
                </a:cubicBezTo>
                <a:lnTo>
                  <a:pt x="5914930" y="716172"/>
                </a:lnTo>
                <a:cubicBezTo>
                  <a:pt x="5930202" y="716172"/>
                  <a:pt x="5944028" y="722362"/>
                  <a:pt x="5954037" y="732371"/>
                </a:cubicBezTo>
                <a:lnTo>
                  <a:pt x="5970234" y="771474"/>
                </a:lnTo>
                <a:lnTo>
                  <a:pt x="5970234" y="637885"/>
                </a:lnTo>
                <a:cubicBezTo>
                  <a:pt x="5970234" y="533561"/>
                  <a:pt x="5885662" y="448989"/>
                  <a:pt x="5781338" y="448989"/>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9F8DB1A3-43D0-8FC1-0D41-91BDADEC8625}"/>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a:extLst>
              <a:ext uri="{FF2B5EF4-FFF2-40B4-BE49-F238E27FC236}">
                <a16:creationId xmlns:a16="http://schemas.microsoft.com/office/drawing/2014/main" id="{160C2966-D26F-AA9E-7DC4-9262872DFBE8}"/>
              </a:ext>
            </a:extLst>
          </p:cNvPr>
          <p:cNvSpPr txBox="1"/>
          <p:nvPr/>
        </p:nvSpPr>
        <p:spPr>
          <a:xfrm>
            <a:off x="1119608" y="845954"/>
            <a:ext cx="5012952"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 Color Checker</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1" name="Google Shape;111;p14">
            <a:extLst>
              <a:ext uri="{FF2B5EF4-FFF2-40B4-BE49-F238E27FC236}">
                <a16:creationId xmlns:a16="http://schemas.microsoft.com/office/drawing/2014/main" id="{6C0D0D9F-F58C-B6F5-A194-169142629DC6}"/>
              </a:ext>
            </a:extLst>
          </p:cNvPr>
          <p:cNvSpPr txBox="1"/>
          <p:nvPr/>
        </p:nvSpPr>
        <p:spPr>
          <a:xfrm>
            <a:off x="770844" y="2957097"/>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1.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はじめに</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2F452D02-D826-DE07-2CDB-9A4895D81D2A}"/>
              </a:ext>
            </a:extLst>
          </p:cNvPr>
          <p:cNvSpPr txBox="1"/>
          <p:nvPr/>
        </p:nvSpPr>
        <p:spPr>
          <a:xfrm>
            <a:off x="668508" y="3380037"/>
            <a:ext cx="5649600" cy="81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 Blend Color Checker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は、FlexChroma</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による</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混色比ごとの色を実際に目</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で見て評価するための専用モデルです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AMS により生成された21段の混色領域に分かれた混色フィラメントを使用し、混色比と実際の色がどのように対応する か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を直接確認できるよう設計されています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14" name="Google Shape;114;p14">
            <a:extLst>
              <a:ext uri="{FF2B5EF4-FFF2-40B4-BE49-F238E27FC236}">
                <a16:creationId xmlns:a16="http://schemas.microsoft.com/office/drawing/2014/main" id="{C7926730-384A-CBC0-557E-AA5580D6D9A6}"/>
              </a:ext>
            </a:extLst>
          </p:cNvPr>
          <p:cNvSpPr txBox="1"/>
          <p:nvPr/>
        </p:nvSpPr>
        <p:spPr>
          <a:xfrm>
            <a:off x="770844" y="4556779"/>
            <a:ext cx="338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2. Color Checker の目的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5" name="Google Shape;115;p14">
            <a:extLst>
              <a:ext uri="{FF2B5EF4-FFF2-40B4-BE49-F238E27FC236}">
                <a16:creationId xmlns:a16="http://schemas.microsoft.com/office/drawing/2014/main" id="{258E95A3-3ADD-142F-5D52-624C3086F2A6}"/>
              </a:ext>
            </a:extLst>
          </p:cNvPr>
          <p:cNvSpPr txBox="1"/>
          <p:nvPr/>
        </p:nvSpPr>
        <p:spPr>
          <a:xfrm>
            <a:off x="661239" y="5006425"/>
            <a:ext cx="5649600" cy="81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本モデルは以下の用途に最適です</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混色比ごとの</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実際の色の違い</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を視覚的に確認</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印刷方向の違いによる色差の確認</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による色計測を前提とした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数値的な色評価</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2" name="Google Shape;122;p14">
            <a:extLst>
              <a:ext uri="{FF2B5EF4-FFF2-40B4-BE49-F238E27FC236}">
                <a16:creationId xmlns:a16="http://schemas.microsoft.com/office/drawing/2014/main" id="{278EBFCD-D75E-0FD4-2E24-4FF0E953C21F}"/>
              </a:ext>
            </a:extLst>
          </p:cNvPr>
          <p:cNvSpPr txBox="1"/>
          <p:nvPr/>
        </p:nvSpPr>
        <p:spPr>
          <a:xfrm>
            <a:off x="713926" y="1446875"/>
            <a:ext cx="5368200" cy="30773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実際の印刷結果を見てBlend</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Filamentの色を比較しよう</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3" name="Google Shape;123;p14">
            <a:extLst>
              <a:ext uri="{FF2B5EF4-FFF2-40B4-BE49-F238E27FC236}">
                <a16:creationId xmlns:a16="http://schemas.microsoft.com/office/drawing/2014/main" id="{627CAE04-C280-0F65-B047-4F0A0783ED1C}"/>
              </a:ext>
            </a:extLst>
          </p:cNvPr>
          <p:cNvSpPr txBox="1"/>
          <p:nvPr/>
        </p:nvSpPr>
        <p:spPr>
          <a:xfrm>
            <a:off x="2364900" y="1843425"/>
            <a:ext cx="21282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dk1"/>
                </a:solidFill>
                <a:latin typeface="IBM Plex Sans JP" panose="020B0503050203000203" pitchFamily="50" charset="-128"/>
                <a:ea typeface="IBM Plex Sans JP" panose="020B0503050203000203" pitchFamily="50" charset="-128"/>
                <a:cs typeface="IBM Plex Sans JP"/>
                <a:sym typeface="IBM Plex Sans JP"/>
              </a:rPr>
              <a:t>Ver.1.1</a:t>
            </a:r>
            <a:r>
              <a:rPr lang="en-US">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a:solidFill>
                  <a:schemeClr val="dk1"/>
                </a:solidFill>
                <a:latin typeface="IBM Plex Sans JP" panose="020B0503050203000203" pitchFamily="50" charset="-128"/>
                <a:ea typeface="IBM Plex Sans JP" panose="020B0503050203000203" pitchFamily="50" charset="-128"/>
                <a:cs typeface="IBM Plex Sans JP"/>
                <a:sym typeface="IBM Plex Sans JP"/>
              </a:rPr>
              <a:t>15</a:t>
            </a:r>
            <a:endParaRPr sz="1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5" name="Google Shape;125;p14">
            <a:extLst>
              <a:ext uri="{FF2B5EF4-FFF2-40B4-BE49-F238E27FC236}">
                <a16:creationId xmlns:a16="http://schemas.microsoft.com/office/drawing/2014/main" id="{0CB1F0DE-F903-882E-A593-A554021CB511}"/>
              </a:ext>
            </a:extLst>
          </p:cNvPr>
          <p:cNvSpPr txBox="1"/>
          <p:nvPr/>
        </p:nvSpPr>
        <p:spPr>
          <a:xfrm>
            <a:off x="759219" y="6170008"/>
            <a:ext cx="338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3. 印刷データについて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6" name="Google Shape;126;p14">
            <a:extLst>
              <a:ext uri="{FF2B5EF4-FFF2-40B4-BE49-F238E27FC236}">
                <a16:creationId xmlns:a16="http://schemas.microsoft.com/office/drawing/2014/main" id="{D108F9E4-0CB3-AD21-5F8A-5BD35F65B8AD}"/>
              </a:ext>
            </a:extLst>
          </p:cNvPr>
          <p:cNvSpPr txBox="1"/>
          <p:nvPr/>
        </p:nvSpPr>
        <p:spPr>
          <a:xfrm>
            <a:off x="661239" y="6704731"/>
            <a:ext cx="5649600" cy="199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3.1 Check Filament Data（2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種類</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フィラメントデータはBlend</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Filamentの2種類の分類に従い2つのデータを用意しています。おおよその混色比が決まっ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ている場合はその混色比を含むデータを選択し、印刷してください</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Filament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同様に</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5%, 10%, 90%と 95%の混色仕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様は同一となっています</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Standard（標準版</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実際の混色比構成</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0, 5, 10, 15, 20, 25, 30, 35, 40, 45, 50, 55, 60, 65, 70, 75, 80,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85, 90, 95, 100%（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合計</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21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段階</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3" name="図 2">
            <a:extLst>
              <a:ext uri="{FF2B5EF4-FFF2-40B4-BE49-F238E27FC236}">
                <a16:creationId xmlns:a16="http://schemas.microsoft.com/office/drawing/2014/main" id="{B9B189F7-37AC-95D2-BFF8-D0C670EECDF6}"/>
              </a:ext>
            </a:extLst>
          </p:cNvPr>
          <p:cNvPicPr>
            <a:picLocks noChangeAspect="1"/>
          </p:cNvPicPr>
          <p:nvPr/>
        </p:nvPicPr>
        <p:blipFill>
          <a:blip r:embed="rId3"/>
          <a:stretch>
            <a:fillRect/>
          </a:stretch>
        </p:blipFill>
        <p:spPr>
          <a:xfrm>
            <a:off x="900412" y="951926"/>
            <a:ext cx="360247" cy="347282"/>
          </a:xfrm>
          <a:prstGeom prst="rect">
            <a:avLst/>
          </a:prstGeom>
        </p:spPr>
      </p:pic>
    </p:spTree>
    <p:extLst>
      <p:ext uri="{BB962C8B-B14F-4D97-AF65-F5344CB8AC3E}">
        <p14:creationId xmlns:p14="http://schemas.microsoft.com/office/powerpoint/2010/main" val="4168718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EAC5F398-8242-B9B8-06C4-65C34A60A9EB}"/>
            </a:ext>
          </a:extLst>
        </p:cNvPr>
        <p:cNvGrpSpPr/>
        <p:nvPr/>
      </p:nvGrpSpPr>
      <p:grpSpPr>
        <a:xfrm>
          <a:off x="0" y="0"/>
          <a:ext cx="0" cy="0"/>
          <a:chOff x="0" y="0"/>
          <a:chExt cx="0" cy="0"/>
        </a:xfrm>
      </p:grpSpPr>
      <p:sp>
        <p:nvSpPr>
          <p:cNvPr id="132" name="Google Shape;132;p15">
            <a:extLst>
              <a:ext uri="{FF2B5EF4-FFF2-40B4-BE49-F238E27FC236}">
                <a16:creationId xmlns:a16="http://schemas.microsoft.com/office/drawing/2014/main" id="{B933A5A1-ADE2-41DD-19CD-1482695C82B0}"/>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3C435D93-18B2-3883-B94D-C1B0CD63E50A}"/>
              </a:ext>
            </a:extLst>
          </p:cNvPr>
          <p:cNvSpPr/>
          <p:nvPr/>
        </p:nvSpPr>
        <p:spPr>
          <a:xfrm>
            <a:off x="1890" y="0"/>
            <a:ext cx="6858000" cy="9144000"/>
          </a:xfrm>
          <a:custGeom>
            <a:avLst/>
            <a:gdLst>
              <a:gd name="csX0" fmla="*/ 3732954 w 6858000"/>
              <a:gd name="csY0" fmla="*/ 8661917 h 9144000"/>
              <a:gd name="csX1" fmla="*/ 3732954 w 6858000"/>
              <a:gd name="csY1" fmla="*/ 8715917 h 9144000"/>
              <a:gd name="csX2" fmla="*/ 6324954 w 6858000"/>
              <a:gd name="csY2" fmla="*/ 8715917 h 9144000"/>
              <a:gd name="csX3" fmla="*/ 6324954 w 6858000"/>
              <a:gd name="csY3" fmla="*/ 8661917 h 9144000"/>
              <a:gd name="csX4" fmla="*/ 552648 w 6858000"/>
              <a:gd name="csY4" fmla="*/ 8661917 h 9144000"/>
              <a:gd name="csX5" fmla="*/ 552648 w 6858000"/>
              <a:gd name="csY5" fmla="*/ 8715917 h 9144000"/>
              <a:gd name="csX6" fmla="*/ 3144648 w 6858000"/>
              <a:gd name="csY6" fmla="*/ 8715917 h 9144000"/>
              <a:gd name="csX7" fmla="*/ 3144648 w 6858000"/>
              <a:gd name="csY7" fmla="*/ 8661917 h 9144000"/>
              <a:gd name="csX8" fmla="*/ 661256 w 6858000"/>
              <a:gd name="csY8" fmla="*/ 6574353 h 9144000"/>
              <a:gd name="csX9" fmla="*/ 558956 w 6858000"/>
              <a:gd name="csY9" fmla="*/ 6676653 h 9144000"/>
              <a:gd name="csX10" fmla="*/ 661256 w 6858000"/>
              <a:gd name="csY10" fmla="*/ 6778953 h 9144000"/>
              <a:gd name="csX11" fmla="*/ 763556 w 6858000"/>
              <a:gd name="csY11" fmla="*/ 6676653 h 9144000"/>
              <a:gd name="csX12" fmla="*/ 661256 w 6858000"/>
              <a:gd name="csY12" fmla="*/ 6574353 h 9144000"/>
              <a:gd name="csX13" fmla="*/ 666623 w 6858000"/>
              <a:gd name="csY13" fmla="*/ 1917067 h 9144000"/>
              <a:gd name="csX14" fmla="*/ 603773 w 6858000"/>
              <a:gd name="csY14" fmla="*/ 1978417 h 9144000"/>
              <a:gd name="csX15" fmla="*/ 666623 w 6858000"/>
              <a:gd name="csY15" fmla="*/ 2039767 h 9144000"/>
              <a:gd name="csX16" fmla="*/ 729473 w 6858000"/>
              <a:gd name="csY16" fmla="*/ 1978417 h 9144000"/>
              <a:gd name="csX17" fmla="*/ 666623 w 6858000"/>
              <a:gd name="csY17" fmla="*/ 1917067 h 9144000"/>
              <a:gd name="csX18" fmla="*/ 552647 w 6858000"/>
              <a:gd name="csY18" fmla="*/ 452468 h 9144000"/>
              <a:gd name="csX19" fmla="*/ 552647 w 6858000"/>
              <a:gd name="csY19" fmla="*/ 506468 h 9144000"/>
              <a:gd name="csX20" fmla="*/ 6308840 w 6858000"/>
              <a:gd name="csY20" fmla="*/ 506468 h 9144000"/>
              <a:gd name="csX21" fmla="*/ 6308840 w 6858000"/>
              <a:gd name="csY21" fmla="*/ 452468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32954" y="8661917"/>
                </a:moveTo>
                <a:lnTo>
                  <a:pt x="3732954" y="8715917"/>
                </a:lnTo>
                <a:lnTo>
                  <a:pt x="6324954" y="8715917"/>
                </a:lnTo>
                <a:lnTo>
                  <a:pt x="6324954" y="8661917"/>
                </a:lnTo>
                <a:close/>
                <a:moveTo>
                  <a:pt x="552648" y="8661917"/>
                </a:moveTo>
                <a:lnTo>
                  <a:pt x="552648" y="8715917"/>
                </a:lnTo>
                <a:lnTo>
                  <a:pt x="3144648" y="8715917"/>
                </a:lnTo>
                <a:lnTo>
                  <a:pt x="3144648" y="8661917"/>
                </a:lnTo>
                <a:close/>
                <a:moveTo>
                  <a:pt x="661256" y="6574353"/>
                </a:moveTo>
                <a:cubicBezTo>
                  <a:pt x="604757" y="6574353"/>
                  <a:pt x="558956" y="6620154"/>
                  <a:pt x="558956" y="6676653"/>
                </a:cubicBezTo>
                <a:cubicBezTo>
                  <a:pt x="558956" y="6733152"/>
                  <a:pt x="604757" y="6778953"/>
                  <a:pt x="661256" y="6778953"/>
                </a:cubicBezTo>
                <a:cubicBezTo>
                  <a:pt x="717755" y="6778953"/>
                  <a:pt x="763556" y="6733152"/>
                  <a:pt x="763556" y="6676653"/>
                </a:cubicBezTo>
                <a:cubicBezTo>
                  <a:pt x="763556" y="6620154"/>
                  <a:pt x="717755" y="6574353"/>
                  <a:pt x="661256" y="6574353"/>
                </a:cubicBezTo>
                <a:close/>
                <a:moveTo>
                  <a:pt x="666623" y="1917067"/>
                </a:moveTo>
                <a:cubicBezTo>
                  <a:pt x="631912" y="1917067"/>
                  <a:pt x="603773" y="1944534"/>
                  <a:pt x="603773" y="1978417"/>
                </a:cubicBezTo>
                <a:cubicBezTo>
                  <a:pt x="603773" y="2012300"/>
                  <a:pt x="631912" y="2039767"/>
                  <a:pt x="666623" y="2039767"/>
                </a:cubicBezTo>
                <a:cubicBezTo>
                  <a:pt x="701334" y="2039767"/>
                  <a:pt x="729473" y="2012300"/>
                  <a:pt x="729473" y="1978417"/>
                </a:cubicBezTo>
                <a:cubicBezTo>
                  <a:pt x="729473" y="1944534"/>
                  <a:pt x="701334" y="1917067"/>
                  <a:pt x="666623" y="1917067"/>
                </a:cubicBezTo>
                <a:close/>
                <a:moveTo>
                  <a:pt x="552647" y="452468"/>
                </a:moveTo>
                <a:lnTo>
                  <a:pt x="552647" y="506468"/>
                </a:lnTo>
                <a:lnTo>
                  <a:pt x="6308840" y="506468"/>
                </a:lnTo>
                <a:lnTo>
                  <a:pt x="6308840" y="452468"/>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a:extLst>
              <a:ext uri="{FF2B5EF4-FFF2-40B4-BE49-F238E27FC236}">
                <a16:creationId xmlns:a16="http://schemas.microsoft.com/office/drawing/2014/main" id="{35C49BEA-95B9-D6F7-CDC6-5283970D6B96}"/>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46F9B053-FCF5-C6C3-7536-250BE45CACC0}"/>
              </a:ext>
            </a:extLst>
          </p:cNvPr>
          <p:cNvSpPr txBox="1"/>
          <p:nvPr/>
        </p:nvSpPr>
        <p:spPr>
          <a:xfrm>
            <a:off x="668508" y="1840366"/>
            <a:ext cx="5649600" cy="1631945"/>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3.2 Check Tower（1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種類</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チェックフィラメントで印刷する評価用タワーです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チェックフィラメントと縦に長いタワー形状によって混色比が分かりやすく変化してゆきます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各混合比の切り替わり高さと同じ間隔でノッチを設けています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20％・25%と45％・50％・55%と75%・80％の4か所に大きいノッチがあります。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混色フィラメントは印刷時にツールヘッドの動く方向で色変化が起こりえます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4面を測定可能面としているので、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方向による色の違いが確認できます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5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5" name="Google Shape;145;p15">
            <a:extLst>
              <a:ext uri="{FF2B5EF4-FFF2-40B4-BE49-F238E27FC236}">
                <a16:creationId xmlns:a16="http://schemas.microsoft.com/office/drawing/2014/main" id="{7ECE004C-038F-5332-EC81-07EEA1C60DD4}"/>
              </a:ext>
            </a:extLst>
          </p:cNvPr>
          <p:cNvSpPr txBox="1"/>
          <p:nvPr/>
        </p:nvSpPr>
        <p:spPr>
          <a:xfrm>
            <a:off x="770844" y="6508819"/>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4.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推奨使用手順</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6" name="Google Shape;146;p15">
            <a:extLst>
              <a:ext uri="{FF2B5EF4-FFF2-40B4-BE49-F238E27FC236}">
                <a16:creationId xmlns:a16="http://schemas.microsoft.com/office/drawing/2014/main" id="{59FF1AC1-6289-5138-2BAA-94324F63E3A6}"/>
              </a:ext>
            </a:extLst>
          </p:cNvPr>
          <p:cNvSpPr txBox="1"/>
          <p:nvPr/>
        </p:nvSpPr>
        <p:spPr>
          <a:xfrm>
            <a:off x="668509" y="6986390"/>
            <a:ext cx="5642100" cy="1246455"/>
          </a:xfrm>
          <a:prstGeom prst="rect">
            <a:avLst/>
          </a:prstGeom>
          <a:noFill/>
          <a:ln>
            <a:noFill/>
          </a:ln>
        </p:spPr>
        <p:txBody>
          <a:bodyPr spcFirstLastPara="1" wrap="square" lIns="91425" tIns="45700" rIns="91425" bIns="45700" anchor="t" anchorCtr="0">
            <a:spAutoFit/>
          </a:bodyPr>
          <a:lstStyle/>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欲しい色を実現できそうな2色のフィラメントを選定する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1のフィラメントを用いてCheck Filament を印刷する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Check Filament によってCheck Tower を印刷し、求める色に近いう混合比を確認する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必要に応じ ３の混合比のS4モデルを印刷し近似形状をテストプリントする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問題なければ 必要量の Blend Filament を生成する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48" name="Google Shape;148;p15">
            <a:extLst>
              <a:ext uri="{FF2B5EF4-FFF2-40B4-BE49-F238E27FC236}">
                <a16:creationId xmlns:a16="http://schemas.microsoft.com/office/drawing/2014/main" id="{DE70665F-143D-2FF3-A80C-4F4AD2C2AECA}"/>
              </a:ext>
            </a:extLst>
          </p:cNvPr>
          <p:cNvPicPr preferRelativeResize="0"/>
          <p:nvPr/>
        </p:nvPicPr>
        <p:blipFill>
          <a:blip r:embed="rId3">
            <a:alphaModFix/>
          </a:blip>
          <a:stretch>
            <a:fillRect/>
          </a:stretch>
        </p:blipFill>
        <p:spPr>
          <a:xfrm>
            <a:off x="555784" y="3508488"/>
            <a:ext cx="5756199" cy="2717241"/>
          </a:xfrm>
          <a:prstGeom prst="rect">
            <a:avLst/>
          </a:prstGeom>
          <a:noFill/>
          <a:ln>
            <a:noFill/>
          </a:ln>
        </p:spPr>
      </p:pic>
      <p:sp>
        <p:nvSpPr>
          <p:cNvPr id="149" name="Google Shape;149;p15">
            <a:extLst>
              <a:ext uri="{FF2B5EF4-FFF2-40B4-BE49-F238E27FC236}">
                <a16:creationId xmlns:a16="http://schemas.microsoft.com/office/drawing/2014/main" id="{52BAF34B-98A2-46ED-C7BD-753A5A9B4C46}"/>
              </a:ext>
            </a:extLst>
          </p:cNvPr>
          <p:cNvSpPr txBox="1"/>
          <p:nvPr/>
        </p:nvSpPr>
        <p:spPr>
          <a:xfrm>
            <a:off x="668489" y="602850"/>
            <a:ext cx="5649600" cy="93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Detail（精密版</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実際の混色比構成</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0, 1, 2, 3, 4, 5, 6, 7, 8, 9, 10%（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低比率領域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10段）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90, 91, 92, 93, 94, 95, 96, 97, 98, 99, 100%（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高比率領域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10 段）</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中央に10％と90%を連続的につなぐ部分が1段あります。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29070406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a:extLst>
            <a:ext uri="{FF2B5EF4-FFF2-40B4-BE49-F238E27FC236}">
              <a16:creationId xmlns:a16="http://schemas.microsoft.com/office/drawing/2014/main" id="{4F6213CE-1FF8-9558-BA4A-3303D6EED6D7}"/>
            </a:ext>
          </a:extLst>
        </p:cNvPr>
        <p:cNvGrpSpPr/>
        <p:nvPr/>
      </p:nvGrpSpPr>
      <p:grpSpPr>
        <a:xfrm>
          <a:off x="0" y="0"/>
          <a:ext cx="0" cy="0"/>
          <a:chOff x="0" y="0"/>
          <a:chExt cx="0" cy="0"/>
        </a:xfrm>
      </p:grpSpPr>
      <p:sp>
        <p:nvSpPr>
          <p:cNvPr id="154" name="Google Shape;154;p16">
            <a:extLst>
              <a:ext uri="{FF2B5EF4-FFF2-40B4-BE49-F238E27FC236}">
                <a16:creationId xmlns:a16="http://schemas.microsoft.com/office/drawing/2014/main" id="{10674015-AEEC-106C-C761-21FCC6374283}"/>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135AEA7E-FAF8-7665-DE6C-75BBB6545593}"/>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46045 w 6858000"/>
              <a:gd name="csY8" fmla="*/ 4683402 h 9144000"/>
              <a:gd name="csX9" fmla="*/ 543745 w 6858000"/>
              <a:gd name="csY9" fmla="*/ 4785702 h 9144000"/>
              <a:gd name="csX10" fmla="*/ 646045 w 6858000"/>
              <a:gd name="csY10" fmla="*/ 4888002 h 9144000"/>
              <a:gd name="csX11" fmla="*/ 748345 w 6858000"/>
              <a:gd name="csY11" fmla="*/ 4785702 h 9144000"/>
              <a:gd name="csX12" fmla="*/ 646045 w 6858000"/>
              <a:gd name="csY12" fmla="*/ 4683402 h 9144000"/>
              <a:gd name="csX13" fmla="*/ 636349 w 6858000"/>
              <a:gd name="csY13" fmla="*/ 2712143 h 9144000"/>
              <a:gd name="csX14" fmla="*/ 573499 w 6858000"/>
              <a:gd name="csY14" fmla="*/ 2773493 h 9144000"/>
              <a:gd name="csX15" fmla="*/ 636349 w 6858000"/>
              <a:gd name="csY15" fmla="*/ 2834843 h 9144000"/>
              <a:gd name="csX16" fmla="*/ 699199 w 6858000"/>
              <a:gd name="csY16" fmla="*/ 2773493 h 9144000"/>
              <a:gd name="csX17" fmla="*/ 636349 w 6858000"/>
              <a:gd name="csY17" fmla="*/ 2712143 h 9144000"/>
              <a:gd name="csX18" fmla="*/ 651462 w 6858000"/>
              <a:gd name="csY18" fmla="*/ 1159564 h 9144000"/>
              <a:gd name="csX19" fmla="*/ 588612 w 6858000"/>
              <a:gd name="csY19" fmla="*/ 1220914 h 9144000"/>
              <a:gd name="csX20" fmla="*/ 651462 w 6858000"/>
              <a:gd name="csY20" fmla="*/ 1282264 h 9144000"/>
              <a:gd name="csX21" fmla="*/ 714312 w 6858000"/>
              <a:gd name="csY21" fmla="*/ 1220914 h 9144000"/>
              <a:gd name="csX22" fmla="*/ 651462 w 6858000"/>
              <a:gd name="csY22" fmla="*/ 1159564 h 9144000"/>
              <a:gd name="csX23" fmla="*/ 642037 w 6858000"/>
              <a:gd name="csY23" fmla="*/ 671102 h 9144000"/>
              <a:gd name="csX24" fmla="*/ 539737 w 6858000"/>
              <a:gd name="csY24" fmla="*/ 773402 h 9144000"/>
              <a:gd name="csX25" fmla="*/ 642037 w 6858000"/>
              <a:gd name="csY25" fmla="*/ 875702 h 9144000"/>
              <a:gd name="csX26" fmla="*/ 744337 w 6858000"/>
              <a:gd name="csY26" fmla="*/ 773402 h 9144000"/>
              <a:gd name="csX27" fmla="*/ 642037 w 6858000"/>
              <a:gd name="csY27" fmla="*/ 671102 h 9144000"/>
              <a:gd name="csX28" fmla="*/ 537486 w 6858000"/>
              <a:gd name="csY28" fmla="*/ 446937 h 9144000"/>
              <a:gd name="csX29" fmla="*/ 537486 w 6858000"/>
              <a:gd name="csY29" fmla="*/ 500937 h 9144000"/>
              <a:gd name="csX30" fmla="*/ 6293679 w 6858000"/>
              <a:gd name="csY30" fmla="*/ 500937 h 9144000"/>
              <a:gd name="csX31" fmla="*/ 6293679 w 6858000"/>
              <a:gd name="csY31" fmla="*/ 446937 h 9144000"/>
              <a:gd name="csX32" fmla="*/ 0 w 6858000"/>
              <a:gd name="csY32" fmla="*/ 0 h 9144000"/>
              <a:gd name="csX33" fmla="*/ 6858000 w 6858000"/>
              <a:gd name="csY33" fmla="*/ 0 h 9144000"/>
              <a:gd name="csX34" fmla="*/ 6858000 w 6858000"/>
              <a:gd name="csY34" fmla="*/ 9144000 h 9144000"/>
              <a:gd name="csX35" fmla="*/ 0 w 6858000"/>
              <a:gd name="csY3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46045" y="4683402"/>
                </a:moveTo>
                <a:cubicBezTo>
                  <a:pt x="589546" y="4683402"/>
                  <a:pt x="543745" y="4729203"/>
                  <a:pt x="543745" y="4785702"/>
                </a:cubicBezTo>
                <a:cubicBezTo>
                  <a:pt x="543745" y="4842201"/>
                  <a:pt x="589546" y="4888002"/>
                  <a:pt x="646045" y="4888002"/>
                </a:cubicBezTo>
                <a:cubicBezTo>
                  <a:pt x="702544" y="4888002"/>
                  <a:pt x="748345" y="4842201"/>
                  <a:pt x="748345" y="4785702"/>
                </a:cubicBezTo>
                <a:cubicBezTo>
                  <a:pt x="748345" y="4729203"/>
                  <a:pt x="702544" y="4683402"/>
                  <a:pt x="646045" y="4683402"/>
                </a:cubicBezTo>
                <a:close/>
                <a:moveTo>
                  <a:pt x="636349" y="2712143"/>
                </a:moveTo>
                <a:cubicBezTo>
                  <a:pt x="601638" y="2712143"/>
                  <a:pt x="573499" y="2739610"/>
                  <a:pt x="573499" y="2773493"/>
                </a:cubicBezTo>
                <a:cubicBezTo>
                  <a:pt x="573499" y="2807376"/>
                  <a:pt x="601638" y="2834843"/>
                  <a:pt x="636349" y="2834843"/>
                </a:cubicBezTo>
                <a:cubicBezTo>
                  <a:pt x="671060" y="2834843"/>
                  <a:pt x="699199" y="2807376"/>
                  <a:pt x="699199" y="2773493"/>
                </a:cubicBezTo>
                <a:cubicBezTo>
                  <a:pt x="699199" y="2739610"/>
                  <a:pt x="671060" y="2712143"/>
                  <a:pt x="636349" y="2712143"/>
                </a:cubicBezTo>
                <a:close/>
                <a:moveTo>
                  <a:pt x="651462" y="1159564"/>
                </a:moveTo>
                <a:cubicBezTo>
                  <a:pt x="616751" y="1159564"/>
                  <a:pt x="588612" y="1187031"/>
                  <a:pt x="588612" y="1220914"/>
                </a:cubicBezTo>
                <a:cubicBezTo>
                  <a:pt x="588612" y="1254797"/>
                  <a:pt x="616751" y="1282264"/>
                  <a:pt x="651462" y="1282264"/>
                </a:cubicBezTo>
                <a:cubicBezTo>
                  <a:pt x="686173" y="1282264"/>
                  <a:pt x="714312" y="1254797"/>
                  <a:pt x="714312" y="1220914"/>
                </a:cubicBezTo>
                <a:cubicBezTo>
                  <a:pt x="714312" y="1187031"/>
                  <a:pt x="686173" y="1159564"/>
                  <a:pt x="651462" y="1159564"/>
                </a:cubicBezTo>
                <a:close/>
                <a:moveTo>
                  <a:pt x="642037" y="671102"/>
                </a:moveTo>
                <a:cubicBezTo>
                  <a:pt x="585538" y="671102"/>
                  <a:pt x="539737" y="716903"/>
                  <a:pt x="539737" y="773402"/>
                </a:cubicBezTo>
                <a:cubicBezTo>
                  <a:pt x="539737" y="829901"/>
                  <a:pt x="585538" y="875702"/>
                  <a:pt x="642037" y="875702"/>
                </a:cubicBezTo>
                <a:cubicBezTo>
                  <a:pt x="698536" y="875702"/>
                  <a:pt x="744337" y="829901"/>
                  <a:pt x="744337" y="773402"/>
                </a:cubicBezTo>
                <a:cubicBezTo>
                  <a:pt x="744337" y="716903"/>
                  <a:pt x="698536" y="671102"/>
                  <a:pt x="642037" y="671102"/>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a:extLst>
              <a:ext uri="{FF2B5EF4-FFF2-40B4-BE49-F238E27FC236}">
                <a16:creationId xmlns:a16="http://schemas.microsoft.com/office/drawing/2014/main" id="{96275870-1463-FD60-4FA2-4A4169FD9226}"/>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66" name="Google Shape;166;p16">
            <a:extLst>
              <a:ext uri="{FF2B5EF4-FFF2-40B4-BE49-F238E27FC236}">
                <a16:creationId xmlns:a16="http://schemas.microsoft.com/office/drawing/2014/main" id="{485DB195-9781-F281-8557-159DD1B05CF4}"/>
              </a:ext>
            </a:extLst>
          </p:cNvPr>
          <p:cNvSpPr txBox="1"/>
          <p:nvPr/>
        </p:nvSpPr>
        <p:spPr>
          <a:xfrm>
            <a:off x="770844" y="4624760"/>
            <a:ext cx="27399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6. 外部測定ツール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67" name="Google Shape;167;p16">
            <a:extLst>
              <a:ext uri="{FF2B5EF4-FFF2-40B4-BE49-F238E27FC236}">
                <a16:creationId xmlns:a16="http://schemas.microsoft.com/office/drawing/2014/main" id="{22E51384-E490-3F3A-13B4-589D4E2018B6}"/>
              </a:ext>
            </a:extLst>
          </p:cNvPr>
          <p:cNvSpPr txBox="1"/>
          <p:nvPr/>
        </p:nvSpPr>
        <p:spPr>
          <a:xfrm>
            <a:off x="668508" y="5047700"/>
            <a:ext cx="5649600" cy="202128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Color Checker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は、色計測機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NIX MINI 3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を使用した数値的な色評価のため、以下の最適化を行っています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セグメント幅の最適化</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の測定口径に対して十分な測定面積が確保できる幅で設計されています。測定部の一辺とノッチの</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幅をそろえていますので、一致するように取り付けて測定する事で測定ミスを防ぎます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タワーの幅の最適化</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タワーの幅はNIX</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MINI3の感光部を覆うことが出来る幅としており、エラーを防ぎます。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最上面に記号を記載</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4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面の測定結果を残す際にどこの面を測定したのかわかるように最上面に各面に対応するアルファベットを記載</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しています。測定時の整理にご活用ください</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68" name="Google Shape;168;p16">
            <a:extLst>
              <a:ext uri="{FF2B5EF4-FFF2-40B4-BE49-F238E27FC236}">
                <a16:creationId xmlns:a16="http://schemas.microsoft.com/office/drawing/2014/main" id="{1F80980B-41CE-7A97-C307-495078A73E33}"/>
              </a:ext>
            </a:extLst>
          </p:cNvPr>
          <p:cNvSpPr txBox="1"/>
          <p:nvPr/>
        </p:nvSpPr>
        <p:spPr>
          <a:xfrm>
            <a:off x="681821" y="2638082"/>
            <a:ext cx="5642100" cy="177352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CHeck</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Tower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使用前にCheck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Filamentのブリムを外してください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ブリムにINと書かれている側がロード側となります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バリなどがある場合はニッパーやカッターで除去してください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Check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は外部スプールからロードしてください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(AMS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は単色印刷中でも、内部処理の都合で</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意図しな</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いパージ</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を行う場合があります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これによる混色比の切り替え間隔の短縮を避けることが目的です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スタートパージ量やラインパージ量は一定ではなく、混色比の切替位置とノッチの位置はずれることがあります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0" name="Google Shape;170;p16">
            <a:extLst>
              <a:ext uri="{FF2B5EF4-FFF2-40B4-BE49-F238E27FC236}">
                <a16:creationId xmlns:a16="http://schemas.microsoft.com/office/drawing/2014/main" id="{E97B2E69-57C8-79D9-6D8F-37A7582F8376}"/>
              </a:ext>
            </a:extLst>
          </p:cNvPr>
          <p:cNvPicPr preferRelativeResize="0"/>
          <p:nvPr/>
        </p:nvPicPr>
        <p:blipFill>
          <a:blip r:embed="rId3">
            <a:alphaModFix/>
          </a:blip>
          <a:stretch>
            <a:fillRect/>
          </a:stretch>
        </p:blipFill>
        <p:spPr>
          <a:xfrm>
            <a:off x="1117634" y="7048700"/>
            <a:ext cx="4632492" cy="1414500"/>
          </a:xfrm>
          <a:prstGeom prst="rect">
            <a:avLst/>
          </a:prstGeom>
          <a:noFill/>
          <a:ln>
            <a:noFill/>
          </a:ln>
        </p:spPr>
      </p:pic>
      <p:sp>
        <p:nvSpPr>
          <p:cNvPr id="172" name="Google Shape;172;p16">
            <a:extLst>
              <a:ext uri="{FF2B5EF4-FFF2-40B4-BE49-F238E27FC236}">
                <a16:creationId xmlns:a16="http://schemas.microsoft.com/office/drawing/2014/main" id="{8E41893F-8FDD-0361-5689-B6B7A99CAD01}"/>
              </a:ext>
            </a:extLst>
          </p:cNvPr>
          <p:cNvSpPr txBox="1"/>
          <p:nvPr/>
        </p:nvSpPr>
        <p:spPr>
          <a:xfrm>
            <a:off x="761456" y="616833"/>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5.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印刷時の注意</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3" name="Google Shape;173;p16">
            <a:extLst>
              <a:ext uri="{FF2B5EF4-FFF2-40B4-BE49-F238E27FC236}">
                <a16:creationId xmlns:a16="http://schemas.microsoft.com/office/drawing/2014/main" id="{A30EA0B9-6B7E-D4C7-08F5-565710235B5C}"/>
              </a:ext>
            </a:extLst>
          </p:cNvPr>
          <p:cNvSpPr txBox="1"/>
          <p:nvPr/>
        </p:nvSpPr>
        <p:spPr>
          <a:xfrm>
            <a:off x="685827" y="1085502"/>
            <a:ext cx="5642100" cy="1437276"/>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5.1Check Filament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AMSが必須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0.4mmノズルが必須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ビルドプレート：テクスチャード</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PEIが推奨</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材料：異種材料の混合は不可</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(PLA Basic と PLA Matte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の組み合わせ等は上手く行く事が多いが、自己責任で実施して下さい</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糊の使用不可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印刷前にビルドプレートと手の洗浄を実施してください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39167316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8">
          <a:extLst>
            <a:ext uri="{FF2B5EF4-FFF2-40B4-BE49-F238E27FC236}">
              <a16:creationId xmlns:a16="http://schemas.microsoft.com/office/drawing/2014/main" id="{2AAD176A-7A25-EF85-BC2A-50DA850A2E0D}"/>
            </a:ext>
          </a:extLst>
        </p:cNvPr>
        <p:cNvGrpSpPr/>
        <p:nvPr/>
      </p:nvGrpSpPr>
      <p:grpSpPr>
        <a:xfrm>
          <a:off x="0" y="0"/>
          <a:ext cx="0" cy="0"/>
          <a:chOff x="0" y="0"/>
          <a:chExt cx="0" cy="0"/>
        </a:xfrm>
      </p:grpSpPr>
      <p:sp>
        <p:nvSpPr>
          <p:cNvPr id="179" name="Google Shape;179;p17">
            <a:extLst>
              <a:ext uri="{FF2B5EF4-FFF2-40B4-BE49-F238E27FC236}">
                <a16:creationId xmlns:a16="http://schemas.microsoft.com/office/drawing/2014/main" id="{2308A859-3A7A-058E-B7F5-BE5302B9E7D8}"/>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A5C1BE97-3C68-3179-307D-98F3A4516AF3}"/>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43510 w 6858000"/>
              <a:gd name="csY8" fmla="*/ 2798320 h 9144000"/>
              <a:gd name="csX9" fmla="*/ 541210 w 6858000"/>
              <a:gd name="csY9" fmla="*/ 2900620 h 9144000"/>
              <a:gd name="csX10" fmla="*/ 643510 w 6858000"/>
              <a:gd name="csY10" fmla="*/ 3002920 h 9144000"/>
              <a:gd name="csX11" fmla="*/ 745810 w 6858000"/>
              <a:gd name="csY11" fmla="*/ 2900620 h 9144000"/>
              <a:gd name="csX12" fmla="*/ 643510 w 6858000"/>
              <a:gd name="csY12" fmla="*/ 2798320 h 9144000"/>
              <a:gd name="csX13" fmla="*/ 639762 w 6858000"/>
              <a:gd name="csY13" fmla="*/ 763986 h 9144000"/>
              <a:gd name="csX14" fmla="*/ 537462 w 6858000"/>
              <a:gd name="csY14" fmla="*/ 866286 h 9144000"/>
              <a:gd name="csX15" fmla="*/ 639762 w 6858000"/>
              <a:gd name="csY15" fmla="*/ 968586 h 9144000"/>
              <a:gd name="csX16" fmla="*/ 742062 w 6858000"/>
              <a:gd name="csY16" fmla="*/ 866286 h 9144000"/>
              <a:gd name="csX17" fmla="*/ 639762 w 6858000"/>
              <a:gd name="csY17" fmla="*/ 763986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43510" y="2798320"/>
                </a:moveTo>
                <a:cubicBezTo>
                  <a:pt x="587011" y="2798320"/>
                  <a:pt x="541210" y="2844121"/>
                  <a:pt x="541210" y="2900620"/>
                </a:cubicBezTo>
                <a:cubicBezTo>
                  <a:pt x="541210" y="2957119"/>
                  <a:pt x="587011" y="3002920"/>
                  <a:pt x="643510" y="3002920"/>
                </a:cubicBezTo>
                <a:cubicBezTo>
                  <a:pt x="700009" y="3002920"/>
                  <a:pt x="745810" y="2957119"/>
                  <a:pt x="745810" y="2900620"/>
                </a:cubicBezTo>
                <a:cubicBezTo>
                  <a:pt x="745810" y="2844121"/>
                  <a:pt x="700009" y="2798320"/>
                  <a:pt x="643510" y="2798320"/>
                </a:cubicBezTo>
                <a:close/>
                <a:moveTo>
                  <a:pt x="639762" y="763986"/>
                </a:moveTo>
                <a:cubicBezTo>
                  <a:pt x="583263" y="763986"/>
                  <a:pt x="537462" y="809787"/>
                  <a:pt x="537462" y="866286"/>
                </a:cubicBezTo>
                <a:cubicBezTo>
                  <a:pt x="537462" y="922785"/>
                  <a:pt x="583263" y="968586"/>
                  <a:pt x="639762" y="968586"/>
                </a:cubicBezTo>
                <a:cubicBezTo>
                  <a:pt x="696261" y="968586"/>
                  <a:pt x="742062" y="922785"/>
                  <a:pt x="742062" y="866286"/>
                </a:cubicBezTo>
                <a:cubicBezTo>
                  <a:pt x="742062" y="809787"/>
                  <a:pt x="696261" y="763986"/>
                  <a:pt x="639762" y="763986"/>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a:extLst>
              <a:ext uri="{FF2B5EF4-FFF2-40B4-BE49-F238E27FC236}">
                <a16:creationId xmlns:a16="http://schemas.microsoft.com/office/drawing/2014/main" id="{C5A9EDBA-05B0-4F55-FD95-0F7CCE6BA2D6}"/>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A4678C78-6579-4A85-31F6-AADFBB052070}"/>
              </a:ext>
            </a:extLst>
          </p:cNvPr>
          <p:cNvSpPr txBox="1"/>
          <p:nvPr/>
        </p:nvSpPr>
        <p:spPr>
          <a:xfrm>
            <a:off x="790026" y="2733606"/>
            <a:ext cx="2592000"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8. </a:t>
            </a:r>
            <a:r>
              <a:rPr lang="ja-JP" alt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2" name="Google Shape;192;p17">
            <a:extLst>
              <a:ext uri="{FF2B5EF4-FFF2-40B4-BE49-F238E27FC236}">
                <a16:creationId xmlns:a16="http://schemas.microsoft.com/office/drawing/2014/main" id="{048D9555-AA7F-C9E0-FCF0-F6D0196A9E26}"/>
              </a:ext>
            </a:extLst>
          </p:cNvPr>
          <p:cNvSpPr txBox="1"/>
          <p:nvPr/>
        </p:nvSpPr>
        <p:spPr>
          <a:xfrm>
            <a:off x="676941" y="3091447"/>
            <a:ext cx="5649600" cy="369291"/>
          </a:xfrm>
          <a:prstGeom prst="rect">
            <a:avLst/>
          </a:prstGeom>
          <a:noFill/>
          <a:ln>
            <a:noFill/>
          </a:ln>
        </p:spPr>
        <p:txBody>
          <a:bodyPr spcFirstLastPara="1" wrap="square" lIns="91425" tIns="45700" rIns="91425" bIns="45700" anchor="t" anchorCtr="0">
            <a:spAutoFit/>
          </a:bodyPr>
          <a:lstStyle/>
          <a:p>
            <a:pPr lvl="0"/>
            <a:r>
              <a:rPr lang="ja-JP" altLang="ja-JP" sz="900" dirty="0"/>
              <a:t>Ver.1.00 2026-0</a:t>
            </a:r>
            <a:r>
              <a:rPr lang="en-US" altLang="ja-JP" sz="900" dirty="0"/>
              <a:t>7</a:t>
            </a:r>
            <a:r>
              <a:rPr lang="ja-JP" altLang="ja-JP" sz="900" dirty="0"/>
              <a:t>-</a:t>
            </a:r>
            <a:r>
              <a:rPr lang="en-US" altLang="ja-JP" sz="900" dirty="0"/>
              <a:t>02</a:t>
            </a:r>
            <a:r>
              <a:rPr lang="ja-JP" altLang="ja-JP" sz="900" dirty="0"/>
              <a:t> 初版公開 </a:t>
            </a:r>
            <a:endParaRPr lang="en-US" altLang="ja-JP" sz="900" dirty="0"/>
          </a:p>
          <a:p>
            <a:pPr lvl="0"/>
            <a:r>
              <a:rPr lang="ja-JP" altLang="ja-JP" sz="900" dirty="0"/>
              <a:t>Ver.</a:t>
            </a:r>
            <a:r>
              <a:rPr lang="en-US" altLang="ja-JP" sz="900" dirty="0"/>
              <a:t>1</a:t>
            </a:r>
            <a:r>
              <a:rPr lang="ja-JP" altLang="ja-JP" sz="900" dirty="0"/>
              <a:t>.10 2026-08-16 統一デザイン反映</a:t>
            </a:r>
            <a:endParaRPr dirty="0">
              <a:latin typeface="IBM Plex Sans JP" panose="020B0503050203000203" pitchFamily="50" charset="-128"/>
              <a:ea typeface="IBM Plex Sans JP" panose="020B0503050203000203" pitchFamily="50" charset="-128"/>
            </a:endParaRPr>
          </a:p>
        </p:txBody>
      </p:sp>
      <p:sp>
        <p:nvSpPr>
          <p:cNvPr id="193" name="Google Shape;193;p17">
            <a:extLst>
              <a:ext uri="{FF2B5EF4-FFF2-40B4-BE49-F238E27FC236}">
                <a16:creationId xmlns:a16="http://schemas.microsoft.com/office/drawing/2014/main" id="{0C2C1EDC-AB6C-028E-2F9F-0A1F0590EA0B}"/>
              </a:ext>
            </a:extLst>
          </p:cNvPr>
          <p:cNvSpPr txBox="1"/>
          <p:nvPr/>
        </p:nvSpPr>
        <p:spPr>
          <a:xfrm>
            <a:off x="759181" y="705345"/>
            <a:ext cx="27399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まとめ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90C95B9B-2CCE-FE1C-1F1D-DF3E4B081975}"/>
              </a:ext>
            </a:extLst>
          </p:cNvPr>
          <p:cNvSpPr txBox="1"/>
          <p:nvPr/>
        </p:nvSpPr>
        <p:spPr>
          <a:xfrm>
            <a:off x="677246" y="1065260"/>
            <a:ext cx="5649600" cy="1477287"/>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Color Checker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は、FlexChroma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Blend Filament の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混色比と実際の色の関係を正確に評価</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するための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信頼性の高い基準ツールです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Standard / Detail の 2種類のチェックフィラメント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外部スプール使用によるずれの少ない色境界</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に最適化された設計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50000"/>
              </a:lnSpc>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これらにより、適切な色の選択</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が可能になります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2734230875"/>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914</Words>
  <Application>Microsoft Office PowerPoint</Application>
  <PresentationFormat>画面に合わせる (4:3)</PresentationFormat>
  <Paragraphs>165</Paragraphs>
  <Slides>9</Slides>
  <Notes>9</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9</vt:i4>
      </vt:variant>
    </vt:vector>
  </HeadingPairs>
  <TitlesOfParts>
    <vt:vector size="14" baseType="lpstr">
      <vt:lpstr>IBM Plex Sans JP</vt:lpstr>
      <vt:lpstr>Arial</vt:lpstr>
      <vt:lpstr>Segoe UI Semibold</vt:lpstr>
      <vt:lpstr>Play</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誠 矢崎</cp:lastModifiedBy>
  <cp:revision>2</cp:revision>
  <cp:lastPrinted>2026-08-15T17:13:55Z</cp:lastPrinted>
  <dcterms:modified xsi:type="dcterms:W3CDTF">2026-08-15T17:15:14Z</dcterms:modified>
</cp:coreProperties>
</file>