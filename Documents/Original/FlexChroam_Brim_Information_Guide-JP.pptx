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5" r:id="rId6"/>
    <p:sldId id="266" r:id="rId7"/>
    <p:sldId id="267" r:id="rId8"/>
    <p:sldId id="268" r:id="rId9"/>
    <p:sldId id="269" r:id="rId10"/>
    <p:sldId id="270" r:id="rId11"/>
    <p:sldId id="271" r:id="rId12"/>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78" autoAdjust="0"/>
    <p:restoredTop sz="94660"/>
  </p:normalViewPr>
  <p:slideViewPr>
    <p:cSldViewPr snapToGrid="0">
      <p:cViewPr varScale="1">
        <p:scale>
          <a:sx n="57" d="100"/>
          <a:sy n="57" d="100"/>
        </p:scale>
        <p:origin x="271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normAutofit/>
          </a:bodyPr>
          <a:lstStyle>
            <a:lvl1pPr algn="ctr">
              <a:defRPr sz="2800"/>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normAutofit/>
          </a:bodyPr>
          <a:lstStyle>
            <a:lvl1pPr marL="0" indent="0" algn="ctr">
              <a:buNone/>
              <a:defRPr sz="10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dirty="0"/>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800"/>
            </a:lvl1pPr>
          </a:lstStyle>
          <a:p>
            <a:r>
              <a:rPr lang="ja-JP" altLang="en-US" dirty="0"/>
              <a:t>マスター タイトルの書式設定</a:t>
            </a:r>
            <a:endParaRPr lang="en-US" dirty="0"/>
          </a:p>
        </p:txBody>
      </p:sp>
      <p:sp>
        <p:nvSpPr>
          <p:cNvPr id="3" name="Content Placeholder 2"/>
          <p:cNvSpPr>
            <a:spLocks noGrp="1"/>
          </p:cNvSpPr>
          <p:nvPr>
            <p:ph idx="1"/>
          </p:nvPr>
        </p:nvSpPr>
        <p:spPr/>
        <p:txBody>
          <a:bodyPr/>
          <a:lstStyle>
            <a:lvl1pPr>
              <a:defRPr sz="2000"/>
            </a:lvl1pPr>
            <a:lvl2pPr>
              <a:defRPr sz="1600"/>
            </a:lvl2pPr>
            <a:lvl3pPr>
              <a:defRPr sz="1300"/>
            </a:lvl3pPr>
            <a:lvl4pPr>
              <a:defRPr sz="1200"/>
            </a:lvl4pPr>
            <a:lvl5pPr>
              <a:defRPr sz="1100"/>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1.xml"/><Relationship Id="rId4" Type="http://schemas.openxmlformats.org/officeDocument/2006/relationships/image" Target="../media/image8.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1.xml"/><Relationship Id="rId4" Type="http://schemas.openxmlformats.org/officeDocument/2006/relationships/image" Target="../media/image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646571" y="840586"/>
            <a:ext cx="5729069" cy="1077218"/>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mj-ea"/>
                <a:ea typeface="+mj-ea"/>
              </a:rPr>
              <a:t>ブリム情報ガイド</a:t>
            </a:r>
            <a:endParaRPr lang="ja-JP" altLang="ja-JP" sz="2900" dirty="0">
              <a:latin typeface="+mj-ea"/>
              <a:ea typeface="+mj-ea"/>
            </a:endParaRPr>
          </a:p>
          <a:p>
            <a:endParaRPr kumimoji="1" lang="ja-JP" altLang="en-US" sz="32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3069491"/>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3001606"/>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424546"/>
            <a:ext cx="5649491" cy="992579"/>
          </a:xfrm>
          <a:prstGeom prst="rect">
            <a:avLst/>
          </a:prstGeom>
          <a:noFill/>
        </p:spPr>
        <p:txBody>
          <a:bodyPr wrap="square" rtlCol="0">
            <a:spAutoFit/>
          </a:bodyPr>
          <a:lstStyle/>
          <a:p>
            <a:r>
              <a:rPr lang="en-US" altLang="ja-JP" sz="1050" dirty="0">
                <a:latin typeface="Segoe UI Semibold" panose="020B0702040204020203" pitchFamily="34" charset="0"/>
                <a:cs typeface="Segoe UI Semibold" panose="020B0702040204020203" pitchFamily="34" charset="0"/>
              </a:rPr>
              <a:t>FlexChroma™</a:t>
            </a:r>
            <a:r>
              <a:rPr lang="ja-JP" altLang="ja-JP" sz="1050" dirty="0"/>
              <a:t>は、市販のフィラメントを組み合わせて「フィラメントそのもの」を生み出すためのモデルです。</a:t>
            </a:r>
          </a:p>
          <a:p>
            <a:r>
              <a:rPr lang="ja-JP" altLang="en-US" sz="1050" dirty="0"/>
              <a:t>印刷されたフィラメントには</a:t>
            </a:r>
            <a:r>
              <a:rPr lang="ja-JP" altLang="ja-JP" sz="1050" dirty="0"/>
              <a:t>どの様な仕様のフィラメントであるかを判別しやすいようにブリムに情報を記載しています。</a:t>
            </a:r>
          </a:p>
          <a:p>
            <a:r>
              <a:rPr lang="ja-JP" altLang="ja-JP" sz="1050" dirty="0"/>
              <a:t>本ガイドではこの情報の読み解き方を説明します。</a:t>
            </a:r>
          </a:p>
          <a:p>
            <a:endParaRPr lang="ja-JP" altLang="ja-JP" sz="600" dirty="0"/>
          </a:p>
        </p:txBody>
      </p:sp>
      <p:sp>
        <p:nvSpPr>
          <p:cNvPr id="20" name="楕円 19">
            <a:extLst>
              <a:ext uri="{FF2B5EF4-FFF2-40B4-BE49-F238E27FC236}">
                <a16:creationId xmlns:a16="http://schemas.microsoft.com/office/drawing/2014/main" id="{64F690EF-7932-B480-4E0E-878C474B7FC9}"/>
              </a:ext>
            </a:extLst>
          </p:cNvPr>
          <p:cNvSpPr/>
          <p:nvPr/>
        </p:nvSpPr>
        <p:spPr>
          <a:xfrm>
            <a:off x="566175" y="4679629"/>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611744"/>
            <a:ext cx="210666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dirty="0">
                <a:latin typeface="IBM Plex Sans JP SemiBold" panose="020B0703050203000203" pitchFamily="50" charset="-128"/>
                <a:ea typeface="IBM Plex Sans JP SemiBold" panose="020B0703050203000203" pitchFamily="50" charset="-128"/>
              </a:rPr>
              <a:t>ブリムの役割り</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5034684"/>
            <a:ext cx="5649492" cy="577081"/>
          </a:xfrm>
          <a:prstGeom prst="rect">
            <a:avLst/>
          </a:prstGeom>
          <a:noFill/>
        </p:spPr>
        <p:txBody>
          <a:bodyPr wrap="square" rtlCol="0">
            <a:spAutoFit/>
          </a:bodyPr>
          <a:lstStyle/>
          <a:p>
            <a:r>
              <a:rPr lang="ja-JP" altLang="ja-JP" sz="1050" dirty="0"/>
              <a:t>ブリムには</a:t>
            </a:r>
            <a:r>
              <a:rPr lang="en-US" altLang="ja-JP" sz="1050" dirty="0"/>
              <a:t>2</a:t>
            </a:r>
            <a:r>
              <a:rPr lang="ja-JP" altLang="ja-JP" sz="1050" dirty="0"/>
              <a:t>つの役割を持たせています。１つは定着性の改善であり、２つ目はフィラメント情報の記載です。</a:t>
            </a:r>
          </a:p>
          <a:p>
            <a:r>
              <a:rPr lang="ja-JP" altLang="ja-JP" sz="1050" dirty="0"/>
              <a:t>狭いブリム内にフィラメント情報を記載するため、情報は略語による記載となります。</a:t>
            </a:r>
          </a:p>
        </p:txBody>
      </p:sp>
      <p:grpSp>
        <p:nvGrpSpPr>
          <p:cNvPr id="23" name="グループ化 22">
            <a:extLst>
              <a:ext uri="{FF2B5EF4-FFF2-40B4-BE49-F238E27FC236}">
                <a16:creationId xmlns:a16="http://schemas.microsoft.com/office/drawing/2014/main" id="{8F15D30C-9810-6554-3F9D-C666664BC62E}"/>
              </a:ext>
            </a:extLst>
          </p:cNvPr>
          <p:cNvGrpSpPr/>
          <p:nvPr/>
        </p:nvGrpSpPr>
        <p:grpSpPr>
          <a:xfrm>
            <a:off x="750110" y="431920"/>
            <a:ext cx="5365047"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750108" y="2224673"/>
            <a:ext cx="5365048"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890756" y="1424613"/>
            <a:ext cx="3076483"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ja-JP" altLang="en-US" sz="1600" dirty="0">
                <a:latin typeface="IBM Plex Sans JP" panose="020B0503050203000203" pitchFamily="50" charset="-128"/>
                <a:ea typeface="IBM Plex Sans JP" panose="020B0503050203000203" pitchFamily="50" charset="-128"/>
              </a:rPr>
              <a:t>ブリムから情報を読み解こう</a:t>
            </a:r>
            <a:r>
              <a:rPr lang="en-US" altLang="ja-JP" sz="1600" dirty="0">
                <a:latin typeface="IBM Plex Sans JP" panose="020B0503050203000203" pitchFamily="50" charset="-128"/>
                <a:ea typeface="IBM Plex Sans JP" panose="020B0503050203000203" pitchFamily="50" charset="-128"/>
              </a:rPr>
              <a:t>-</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0468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2026.7.24</a:t>
            </a:r>
            <a:endParaRPr kumimoji="1" lang="ja-JP" altLang="en-US" sz="1400" dirty="0">
              <a:latin typeface="IBM Plex Sans JP" panose="020B0503050203000203" pitchFamily="50" charset="-128"/>
              <a:ea typeface="IBM Plex Sans JP" panose="020B0503050203000203" pitchFamily="50" charset="-128"/>
            </a:endParaRPr>
          </a:p>
        </p:txBody>
      </p:sp>
      <p:pic>
        <p:nvPicPr>
          <p:cNvPr id="11" name="図 10" descr="ダイアグラム&#10;&#10;AI 生成コンテンツは誤りを含む可能性があります。">
            <a:extLst>
              <a:ext uri="{FF2B5EF4-FFF2-40B4-BE49-F238E27FC236}">
                <a16:creationId xmlns:a16="http://schemas.microsoft.com/office/drawing/2014/main" id="{B823D001-C359-6574-9A43-CEDFA59D04EC}"/>
              </a:ext>
            </a:extLst>
          </p:cNvPr>
          <p:cNvPicPr>
            <a:picLocks noChangeAspect="1"/>
          </p:cNvPicPr>
          <p:nvPr/>
        </p:nvPicPr>
        <p:blipFill>
          <a:blip r:embed="rId2"/>
          <a:stretch>
            <a:fillRect/>
          </a:stretch>
        </p:blipFill>
        <p:spPr>
          <a:xfrm>
            <a:off x="910951" y="5860779"/>
            <a:ext cx="5036095" cy="1716479"/>
          </a:xfrm>
          <a:prstGeom prst="rect">
            <a:avLst/>
          </a:prstGeom>
        </p:spPr>
      </p:pic>
      <p:sp>
        <p:nvSpPr>
          <p:cNvPr id="12" name="楕円 11">
            <a:extLst>
              <a:ext uri="{FF2B5EF4-FFF2-40B4-BE49-F238E27FC236}">
                <a16:creationId xmlns:a16="http://schemas.microsoft.com/office/drawing/2014/main" id="{DC7AD387-195B-3AEE-4170-3AAAAA4FCDE1}"/>
              </a:ext>
            </a:extLst>
          </p:cNvPr>
          <p:cNvSpPr/>
          <p:nvPr/>
        </p:nvSpPr>
        <p:spPr>
          <a:xfrm>
            <a:off x="591768" y="7676931"/>
            <a:ext cx="153771" cy="1537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6F37168B-6F6B-F3E5-D6D9-41C2E265E305}"/>
              </a:ext>
            </a:extLst>
          </p:cNvPr>
          <p:cNvSpPr txBox="1"/>
          <p:nvPr/>
        </p:nvSpPr>
        <p:spPr>
          <a:xfrm>
            <a:off x="668507" y="7628930"/>
            <a:ext cx="5649492" cy="884858"/>
          </a:xfrm>
          <a:prstGeom prst="rect">
            <a:avLst/>
          </a:prstGeom>
          <a:noFill/>
        </p:spPr>
        <p:txBody>
          <a:bodyPr wrap="square" rtlCol="0">
            <a:spAutoFit/>
          </a:bodyPr>
          <a:lstStyle/>
          <a:p>
            <a:r>
              <a:rPr lang="en-US" altLang="ja-JP" sz="1400" b="1" dirty="0"/>
              <a:t> </a:t>
            </a:r>
            <a:r>
              <a:rPr lang="ja-JP" altLang="ja-JP" sz="1400" b="1" dirty="0"/>
              <a:t>文字の意味</a:t>
            </a:r>
            <a:endParaRPr lang="en-US" altLang="ja-JP" sz="1400" b="1" dirty="0"/>
          </a:p>
          <a:p>
            <a:endParaRPr lang="ja-JP" altLang="ja-JP" sz="600" dirty="0"/>
          </a:p>
          <a:p>
            <a:r>
              <a:rPr lang="ja-JP" altLang="ja-JP" sz="1050" dirty="0"/>
              <a:t>内側のブリムにはどのシリーズの、どのサイズのフィラメントなのか？を記載します。</a:t>
            </a:r>
          </a:p>
          <a:p>
            <a:r>
              <a:rPr lang="ja-JP" altLang="ja-JP" sz="1050" dirty="0"/>
              <a:t>外側のブリムには各シリーズごとに選択した仕様を記載します。</a:t>
            </a:r>
            <a:endParaRPr lang="ja-JP" altLang="ja-JP" sz="1050" dirty="0">
              <a:latin typeface="IBM Plex Sans JP" panose="020B0503050203000203" pitchFamily="50" charset="-128"/>
              <a:ea typeface="IBM Plex Sans JP" panose="020B0503050203000203" pitchFamily="50" charset="-128"/>
            </a:endParaRPr>
          </a:p>
          <a:p>
            <a:endParaRPr lang="ja-JP" altLang="ja-JP" sz="105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1453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2527150"/>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5989159"/>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2461623"/>
            <a:ext cx="3052439" cy="769441"/>
          </a:xfrm>
          <a:prstGeom prst="rect">
            <a:avLst/>
          </a:prstGeom>
          <a:noFill/>
        </p:spPr>
        <p:txBody>
          <a:bodyPr wrap="none" rtlCol="0">
            <a:spAutoFit/>
          </a:bodyPr>
          <a:lstStyle/>
          <a:p>
            <a:r>
              <a:rPr lang="en-US" altLang="ja-JP" sz="2000" dirty="0">
                <a:latin typeface="IBM Plex Sans JP Medium" panose="020B0603050203000203" pitchFamily="50" charset="-128"/>
                <a:ea typeface="IBM Plex Sans JP Medium" panose="020B0603050203000203" pitchFamily="50" charset="-128"/>
              </a:rPr>
              <a:t>3. </a:t>
            </a:r>
            <a:r>
              <a:rPr lang="ja-JP" altLang="en-US" sz="2000" dirty="0">
                <a:latin typeface="IBM Plex Sans JP Medium" panose="020B0603050203000203" pitchFamily="50" charset="-128"/>
                <a:ea typeface="IBM Plex Sans JP Medium" panose="020B0603050203000203" pitchFamily="50" charset="-128"/>
              </a:rPr>
              <a:t>各シリーズごとの情報</a:t>
            </a:r>
            <a:endParaRPr lang="ja-JP" altLang="ja-JP" b="1" dirty="0">
              <a:latin typeface="IBM Plex Sans JP Medium" panose="020B0603050203000203" pitchFamily="50" charset="-128"/>
              <a:ea typeface="IBM Plex Sans JP Medium" panose="020B0603050203000203" pitchFamily="50" charset="-128"/>
            </a:endParaRPr>
          </a:p>
          <a:p>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2838257"/>
            <a:ext cx="5649491" cy="415498"/>
          </a:xfrm>
          <a:prstGeom prst="rect">
            <a:avLst/>
          </a:prstGeom>
          <a:noFill/>
        </p:spPr>
        <p:txBody>
          <a:bodyPr wrap="square" rtlCol="0">
            <a:spAutoFit/>
          </a:bodyPr>
          <a:lstStyle/>
          <a:p>
            <a:r>
              <a:rPr lang="ja-JP" altLang="ja-JP" sz="1050" dirty="0">
                <a:latin typeface="IBM Plex Sans JP" panose="020B0503050203000203" pitchFamily="50" charset="-128"/>
                <a:ea typeface="IBM Plex Sans JP" panose="020B0503050203000203" pitchFamily="50" charset="-128"/>
              </a:rPr>
              <a:t>前項では基本的な情報の考えかたを書きましたが、各</a:t>
            </a:r>
            <a:r>
              <a:rPr lang="en-US" altLang="ja-JP" sz="1050" dirty="0">
                <a:latin typeface="IBM Plex Sans JP" panose="020B0503050203000203" pitchFamily="50" charset="-128"/>
                <a:ea typeface="IBM Plex Sans JP" panose="020B0503050203000203" pitchFamily="50" charset="-128"/>
              </a:rPr>
              <a:t>Text</a:t>
            </a:r>
            <a:r>
              <a:rPr lang="ja-JP" altLang="ja-JP" sz="1050" dirty="0">
                <a:latin typeface="IBM Plex Sans JP" panose="020B0503050203000203" pitchFamily="50" charset="-128"/>
                <a:ea typeface="IBM Plex Sans JP" panose="020B0503050203000203" pitchFamily="50" charset="-128"/>
              </a:rPr>
              <a:t>情報はシリーズによって異なります。このシリーズごとの情報一覧を下記に示します。</a:t>
            </a: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5937603"/>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6317254"/>
            <a:ext cx="5642222" cy="1708160"/>
          </a:xfrm>
          <a:prstGeom prst="rect">
            <a:avLst/>
          </a:prstGeom>
          <a:noFill/>
        </p:spPr>
        <p:txBody>
          <a:bodyPr wrap="square" rtlCol="0">
            <a:spAutoFit/>
          </a:bodyPr>
          <a:lstStyle/>
          <a:p>
            <a:r>
              <a:rPr lang="en-US" altLang="ja-JP" sz="1050" dirty="0"/>
              <a:t>Blend Filament</a:t>
            </a:r>
            <a:r>
              <a:rPr lang="ja-JP" altLang="ja-JP" sz="1050" dirty="0"/>
              <a:t>は</a:t>
            </a:r>
            <a:r>
              <a:rPr lang="en-US" altLang="ja-JP" sz="1050" dirty="0"/>
              <a:t>2</a:t>
            </a:r>
            <a:r>
              <a:rPr lang="ja-JP" altLang="ja-JP" sz="1050" dirty="0"/>
              <a:t>つのフィラメントを様々な混合比で混ぜ合わせ、新しい色を作ることが出来るシリーズです。</a:t>
            </a:r>
          </a:p>
          <a:p>
            <a:r>
              <a:rPr lang="ja-JP" altLang="ja-JP" sz="1050" dirty="0"/>
              <a:t>シンプルな構造のため他のシリーズと比べ情報が少なく、外側ブリムの</a:t>
            </a:r>
            <a:r>
              <a:rPr lang="en-US" altLang="ja-JP" sz="1050" dirty="0"/>
              <a:t>Text</a:t>
            </a:r>
            <a:r>
              <a:rPr lang="ja-JP" altLang="ja-JP" sz="1050" dirty="0"/>
              <a:t>は１段のみとなります。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BL</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endParaRPr lang="en-US" altLang="ja-JP" sz="1050" dirty="0"/>
          </a:p>
          <a:p>
            <a:endParaRPr lang="ja-JP" altLang="ja-JP" sz="1050" dirty="0"/>
          </a:p>
          <a:p>
            <a:r>
              <a:rPr lang="ja-JP" altLang="ja-JP" sz="1050" dirty="0"/>
              <a:t>例：</a:t>
            </a:r>
            <a:r>
              <a:rPr lang="ja-JP" altLang="en-US" sz="1050" dirty="0"/>
              <a:t>    </a:t>
            </a:r>
            <a:r>
              <a:rPr lang="en-US" altLang="ja-JP" sz="1050" dirty="0"/>
              <a:t>BL/M4</a:t>
            </a:r>
            <a:r>
              <a:rPr lang="ja-JP" altLang="ja-JP" sz="1050" dirty="0"/>
              <a:t>　</a:t>
            </a:r>
            <a:r>
              <a:rPr lang="en-US" altLang="ja-JP" sz="1050" dirty="0"/>
              <a:t> (Blend Filament M4 model</a:t>
            </a:r>
            <a:r>
              <a:rPr lang="ja-JP" altLang="ja-JP" sz="1050" dirty="0"/>
              <a:t>を示す</a:t>
            </a:r>
            <a:r>
              <a:rPr lang="en-US" altLang="ja-JP" sz="1050" dirty="0"/>
              <a:t>)</a:t>
            </a:r>
            <a:endParaRPr lang="ja-JP" altLang="ja-JP" sz="1050" dirty="0"/>
          </a:p>
        </p:txBody>
      </p:sp>
      <p:sp>
        <p:nvSpPr>
          <p:cNvPr id="4" name="テキスト ボックス 3">
            <a:extLst>
              <a:ext uri="{FF2B5EF4-FFF2-40B4-BE49-F238E27FC236}">
                <a16:creationId xmlns:a16="http://schemas.microsoft.com/office/drawing/2014/main" id="{F8EF00DE-7394-584D-9FEA-22CAB1D32E20}"/>
              </a:ext>
            </a:extLst>
          </p:cNvPr>
          <p:cNvSpPr txBox="1"/>
          <p:nvPr/>
        </p:nvSpPr>
        <p:spPr>
          <a:xfrm>
            <a:off x="675777" y="724558"/>
            <a:ext cx="5649492" cy="1515800"/>
          </a:xfrm>
          <a:prstGeom prst="rect">
            <a:avLst/>
          </a:prstGeom>
          <a:noFill/>
        </p:spPr>
        <p:txBody>
          <a:bodyPr wrap="square" rtlCol="0">
            <a:spAutoFit/>
          </a:bodyPr>
          <a:lstStyle/>
          <a:p>
            <a:r>
              <a:rPr lang="en-US" altLang="ja-JP" sz="1300" dirty="0">
                <a:latin typeface="IBM Plex Sans JP Medium" panose="020B0603050203000203" pitchFamily="50" charset="-128"/>
                <a:ea typeface="IBM Plex Sans JP Medium" panose="020B0603050203000203" pitchFamily="50" charset="-128"/>
              </a:rPr>
              <a:t> </a:t>
            </a:r>
            <a:r>
              <a:rPr lang="ja-JP" altLang="ja-JP" sz="1300" b="1" dirty="0"/>
              <a:t>色の意味</a:t>
            </a:r>
            <a:endParaRPr lang="ja-JP" altLang="ja-JP" sz="1300" dirty="0"/>
          </a:p>
          <a:p>
            <a:br>
              <a:rPr lang="en-US" altLang="ja-JP" sz="600" dirty="0"/>
            </a:br>
            <a:r>
              <a:rPr lang="ja-JP" altLang="ja-JP" sz="1050" dirty="0"/>
              <a:t>外側のブリムの色はベースカラーを示します。</a:t>
            </a:r>
          </a:p>
          <a:p>
            <a:r>
              <a:rPr lang="ja-JP" altLang="ja-JP" sz="1050" dirty="0"/>
              <a:t>内側のブリムの色は特段の意味を持ちません。</a:t>
            </a:r>
            <a:br>
              <a:rPr lang="en-US" altLang="ja-JP" sz="1050" dirty="0"/>
            </a:br>
            <a:r>
              <a:rPr lang="ja-JP" altLang="ja-JP" sz="1050" dirty="0"/>
              <a:t>外側のブリムの上段に記載する文字は２番目の色を示します。</a:t>
            </a:r>
          </a:p>
          <a:p>
            <a:r>
              <a:rPr lang="ja-JP" altLang="ja-JP" sz="1050" dirty="0"/>
              <a:t>下段に記載する文字の色は存在する場合は３番目の色をを示し、そうでない場合は２番目の色を示します。</a:t>
            </a:r>
          </a:p>
          <a:p>
            <a:r>
              <a:rPr lang="ja-JP" altLang="ja-JP" sz="1050" dirty="0"/>
              <a:t>内側のブリムに記載する文字の色は存在する場合は４番目の色をを示し、そうでない場合は２番目の色を示します。</a:t>
            </a:r>
          </a:p>
        </p:txBody>
      </p:sp>
      <p:sp>
        <p:nvSpPr>
          <p:cNvPr id="18" name="楕円 17">
            <a:extLst>
              <a:ext uri="{FF2B5EF4-FFF2-40B4-BE49-F238E27FC236}">
                <a16:creationId xmlns:a16="http://schemas.microsoft.com/office/drawing/2014/main" id="{8A5206C3-D090-B866-2D1B-476D535F0B22}"/>
              </a:ext>
            </a:extLst>
          </p:cNvPr>
          <p:cNvSpPr/>
          <p:nvPr/>
        </p:nvSpPr>
        <p:spPr>
          <a:xfrm>
            <a:off x="591768" y="758160"/>
            <a:ext cx="153771" cy="1537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98190741-6416-98A0-5F7E-FDFF83069FB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897" y="3322374"/>
            <a:ext cx="5649492" cy="2178222"/>
          </a:xfrm>
          <a:prstGeom prst="rect">
            <a:avLst/>
          </a:prstGeom>
          <a:noFill/>
          <a:extLst>
            <a:ext uri="{909E8E84-426E-40DD-AFC4-6F175D3DCCD1}">
              <a14:hiddenFill xmlns:a14="http://schemas.microsoft.com/office/drawing/2010/main">
                <a:solidFill>
                  <a:srgbClr val="FFFFFF"/>
                </a:solidFill>
              </a14:hiddenFill>
            </a:ext>
          </a:extLst>
        </p:spPr>
      </p:pic>
      <p:sp>
        <p:nvSpPr>
          <p:cNvPr id="30" name="四角形: 角を丸くする 29">
            <a:extLst>
              <a:ext uri="{FF2B5EF4-FFF2-40B4-BE49-F238E27FC236}">
                <a16:creationId xmlns:a16="http://schemas.microsoft.com/office/drawing/2014/main" id="{2AD8FF02-996C-B50C-878E-A8A026ECC40A}"/>
              </a:ext>
            </a:extLst>
          </p:cNvPr>
          <p:cNvSpPr/>
          <p:nvPr/>
        </p:nvSpPr>
        <p:spPr>
          <a:xfrm>
            <a:off x="1043874" y="7734048"/>
            <a:ext cx="629752" cy="262791"/>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6125" y="51987"/>
            <a:ext cx="6722870" cy="8963827"/>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9525"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9525"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91624" y="3479067"/>
            <a:ext cx="153771" cy="1537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3414308"/>
            <a:ext cx="2675732"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4-1. Blend Color Checker</a:t>
            </a:r>
            <a:endParaRPr kumimoji="1" lang="ja-JP" altLang="en-US" sz="16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3803395"/>
            <a:ext cx="5649491" cy="1384995"/>
          </a:xfrm>
          <a:prstGeom prst="rect">
            <a:avLst/>
          </a:prstGeom>
          <a:noFill/>
        </p:spPr>
        <p:txBody>
          <a:bodyPr wrap="square" rtlCol="0">
            <a:spAutoFit/>
          </a:bodyPr>
          <a:lstStyle/>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ブリム内側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シリーズ略称「</a:t>
            </a:r>
            <a:r>
              <a:rPr lang="en-US" altLang="ja-JP" sz="1050" dirty="0">
                <a:latin typeface="IBM Plex Sans JP" panose="020B0503050203000203" pitchFamily="50" charset="-128"/>
                <a:ea typeface="IBM Plex Sans JP" panose="020B0503050203000203" pitchFamily="50" charset="-128"/>
              </a:rPr>
              <a:t>BL</a:t>
            </a:r>
            <a:r>
              <a:rPr lang="ja-JP" altLang="en-US" sz="1050" dirty="0">
                <a:latin typeface="IBM Plex Sans JP" panose="020B0503050203000203" pitchFamily="50" charset="-128"/>
                <a:ea typeface="IBM Plex Sans JP" panose="020B0503050203000203" pitchFamily="50" charset="-128"/>
              </a:rPr>
              <a:t>」の後に「</a:t>
            </a:r>
            <a:r>
              <a:rPr lang="en-US" altLang="ja-JP" sz="1050" dirty="0">
                <a:latin typeface="IBM Plex Sans JP" panose="020B0503050203000203" pitchFamily="50" charset="-128"/>
                <a:ea typeface="IBM Plex Sans JP" panose="020B0503050203000203" pitchFamily="50" charset="-128"/>
              </a:rPr>
              <a:t>/</a:t>
            </a:r>
            <a:r>
              <a:rPr lang="ja-JP" altLang="en-US" sz="1050" dirty="0">
                <a:latin typeface="IBM Plex Sans JP" panose="020B0503050203000203" pitchFamily="50" charset="-128"/>
                <a:ea typeface="IBM Plex Sans JP" panose="020B0503050203000203" pitchFamily="50" charset="-128"/>
              </a:rPr>
              <a:t>」と、ツールの略称「</a:t>
            </a:r>
            <a:r>
              <a:rPr lang="en-US" altLang="ja-JP" sz="1050" dirty="0">
                <a:latin typeface="IBM Plex Sans JP" panose="020B0503050203000203" pitchFamily="50" charset="-128"/>
                <a:ea typeface="IBM Plex Sans JP" panose="020B0503050203000203" pitchFamily="50" charset="-128"/>
              </a:rPr>
              <a:t>T1</a:t>
            </a:r>
            <a:r>
              <a:rPr lang="ja-JP" altLang="en-US" sz="1050" dirty="0">
                <a:latin typeface="IBM Plex Sans JP" panose="020B0503050203000203" pitchFamily="50" charset="-128"/>
                <a:ea typeface="IBM Plex Sans JP" panose="020B0503050203000203" pitchFamily="50" charset="-128"/>
              </a:rPr>
              <a:t>」が続きます。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ja-JP" altLang="en-US" sz="1050" dirty="0">
                <a:latin typeface="IBM Plex Sans JP" panose="020B0503050203000203" pitchFamily="50" charset="-128"/>
                <a:ea typeface="IBM Plex Sans JP" panose="020B0503050203000203" pitchFamily="50" charset="-128"/>
              </a:rPr>
              <a:t>例：   </a:t>
            </a:r>
            <a:r>
              <a:rPr lang="en-US" altLang="ja-JP" sz="1050" dirty="0">
                <a:latin typeface="IBM Plex Sans JP" panose="020B0503050203000203" pitchFamily="50" charset="-128"/>
                <a:ea typeface="IBM Plex Sans JP" panose="020B0503050203000203" pitchFamily="50" charset="-128"/>
              </a:rPr>
              <a:t>BL/T1    </a:t>
            </a:r>
            <a:r>
              <a:rPr lang="ja-JP" altLang="en-US" sz="1050" dirty="0">
                <a:latin typeface="IBM Plex Sans JP" panose="020B0503050203000203" pitchFamily="50" charset="-128"/>
                <a:ea typeface="IBM Plex Sans JP" panose="020B0503050203000203" pitchFamily="50" charset="-128"/>
              </a:rPr>
              <a:t>は、ブレンドカラーチェッカーを示します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ブリム外側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ブレンドフィラメントモデルには、「</a:t>
            </a:r>
            <a:r>
              <a:rPr lang="en-US" altLang="ja-JP" sz="1050" dirty="0">
                <a:latin typeface="IBM Plex Sans JP" panose="020B0503050203000203" pitchFamily="50" charset="-128"/>
                <a:ea typeface="IBM Plex Sans JP" panose="020B0503050203000203" pitchFamily="50" charset="-128"/>
              </a:rPr>
              <a:t>Standard</a:t>
            </a:r>
            <a:r>
              <a:rPr lang="ja-JP" altLang="en-US" sz="1050" dirty="0">
                <a:latin typeface="IBM Plex Sans JP" panose="020B0503050203000203" pitchFamily="50" charset="-128"/>
                <a:ea typeface="IBM Plex Sans JP" panose="020B0503050203000203" pitchFamily="50" charset="-128"/>
              </a:rPr>
              <a:t>」と「</a:t>
            </a:r>
            <a:r>
              <a:rPr lang="en-US" altLang="ja-JP" sz="1050" dirty="0">
                <a:latin typeface="IBM Plex Sans JP" panose="020B0503050203000203" pitchFamily="50" charset="-128"/>
                <a:ea typeface="IBM Plex Sans JP" panose="020B0503050203000203" pitchFamily="50" charset="-128"/>
              </a:rPr>
              <a:t>Detail</a:t>
            </a:r>
            <a:r>
              <a:rPr lang="ja-JP" altLang="en-US" sz="1050" dirty="0">
                <a:latin typeface="IBM Plex Sans JP" panose="020B0503050203000203" pitchFamily="50" charset="-128"/>
                <a:ea typeface="IBM Plex Sans JP" panose="020B0503050203000203" pitchFamily="50" charset="-128"/>
              </a:rPr>
              <a:t>」の</a:t>
            </a:r>
            <a:r>
              <a:rPr lang="en-US" altLang="ja-JP" sz="1050" dirty="0">
                <a:latin typeface="IBM Plex Sans JP" panose="020B0503050203000203" pitchFamily="50" charset="-128"/>
                <a:ea typeface="IBM Plex Sans JP" panose="020B0503050203000203" pitchFamily="50" charset="-128"/>
              </a:rPr>
              <a:t>2</a:t>
            </a:r>
            <a:r>
              <a:rPr lang="ja-JP" altLang="en-US" sz="1050" dirty="0">
                <a:latin typeface="IBM Plex Sans JP" panose="020B0503050203000203" pitchFamily="50" charset="-128"/>
                <a:ea typeface="IBM Plex Sans JP" panose="020B0503050203000203" pitchFamily="50" charset="-128"/>
              </a:rPr>
              <a:t>種類があります。それぞれの識別情報は、以下の表に示されています。</a:t>
            </a:r>
            <a:endParaRPr lang="ja-JP" altLang="ja-JP" sz="1050" dirty="0">
              <a:latin typeface="IBM Plex Sans JP" panose="020B0503050203000203" pitchFamily="50" charset="-128"/>
              <a:ea typeface="IBM Plex Sans JP" panose="020B0503050203000203" pitchFamily="50" charset="-128"/>
            </a:endParaRPr>
          </a:p>
        </p:txBody>
      </p:sp>
      <p:grpSp>
        <p:nvGrpSpPr>
          <p:cNvPr id="21" name="グループ化 20">
            <a:extLst>
              <a:ext uri="{FF2B5EF4-FFF2-40B4-BE49-F238E27FC236}">
                <a16:creationId xmlns:a16="http://schemas.microsoft.com/office/drawing/2014/main" id="{08F1D8EF-7938-6929-7B79-B67CAE3FD6D5}"/>
              </a:ext>
            </a:extLst>
          </p:cNvPr>
          <p:cNvGrpSpPr/>
          <p:nvPr/>
        </p:nvGrpSpPr>
        <p:grpSpPr>
          <a:xfrm>
            <a:off x="880208" y="525495"/>
            <a:ext cx="5307282" cy="2485553"/>
            <a:chOff x="-167676" y="0"/>
            <a:chExt cx="5796409" cy="2714625"/>
          </a:xfrm>
        </p:grpSpPr>
        <p:pic>
          <p:nvPicPr>
            <p:cNvPr id="22" name="図 21">
              <a:extLst>
                <a:ext uri="{FF2B5EF4-FFF2-40B4-BE49-F238E27FC236}">
                  <a16:creationId xmlns:a16="http://schemas.microsoft.com/office/drawing/2014/main" id="{5B42B7EC-D2A1-2C5D-3C9F-1ED69DAAF0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76" y="1589453"/>
              <a:ext cx="2809875" cy="1114425"/>
            </a:xfrm>
            <a:prstGeom prst="rect">
              <a:avLst/>
            </a:prstGeom>
            <a:noFill/>
            <a:extLst>
              <a:ext uri="{909E8E84-426E-40DD-AFC4-6F175D3DCCD1}">
                <a14:hiddenFill xmlns:a14="http://schemas.microsoft.com/office/drawing/2010/main">
                  <a:solidFill>
                    <a:srgbClr val="FFFFFF"/>
                  </a:solidFill>
                </a14:hiddenFill>
              </a:ext>
            </a:extLst>
          </p:spPr>
        </p:pic>
        <p:pic>
          <p:nvPicPr>
            <p:cNvPr id="25" name="図 24">
              <a:extLst>
                <a:ext uri="{FF2B5EF4-FFF2-40B4-BE49-F238E27FC236}">
                  <a16:creationId xmlns:a16="http://schemas.microsoft.com/office/drawing/2014/main" id="{859C7347-1EE1-EBE5-EC69-B335431D44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8857" y="0"/>
              <a:ext cx="2809876" cy="2714625"/>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テキスト ボックス 2">
            <a:extLst>
              <a:ext uri="{FF2B5EF4-FFF2-40B4-BE49-F238E27FC236}">
                <a16:creationId xmlns:a16="http://schemas.microsoft.com/office/drawing/2014/main" id="{2EBE1B42-ADB0-F4B8-0908-8E1538B5FF87}"/>
              </a:ext>
            </a:extLst>
          </p:cNvPr>
          <p:cNvSpPr txBox="1"/>
          <p:nvPr/>
        </p:nvSpPr>
        <p:spPr>
          <a:xfrm>
            <a:off x="604254" y="675403"/>
            <a:ext cx="3053345" cy="977191"/>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基本色の割合を％で表示します。</a:t>
            </a:r>
            <a:endParaRPr lang="en-US" altLang="ja-JP" sz="1050" dirty="0"/>
          </a:p>
          <a:p>
            <a:endParaRPr lang="ja-JP" altLang="ja-JP" sz="1050" dirty="0"/>
          </a:p>
          <a:p>
            <a:r>
              <a:rPr lang="ja-JP" altLang="ja-JP" sz="1050" dirty="0"/>
              <a:t>例：黄色いブリムの上に青字の</a:t>
            </a:r>
            <a:r>
              <a:rPr lang="en-US" altLang="ja-JP" sz="1050" dirty="0"/>
              <a:t>     75%</a:t>
            </a:r>
            <a:endParaRPr lang="ja-JP" altLang="ja-JP" sz="1050" dirty="0"/>
          </a:p>
          <a:p>
            <a:endParaRPr lang="en-US" altLang="ja-JP" sz="500" dirty="0"/>
          </a:p>
          <a:p>
            <a:r>
              <a:rPr lang="en-US" altLang="ja-JP" sz="1050" dirty="0"/>
              <a:t> (</a:t>
            </a:r>
            <a:r>
              <a:rPr lang="ja-JP" altLang="ja-JP" sz="1050" dirty="0"/>
              <a:t>黄色</a:t>
            </a:r>
            <a:r>
              <a:rPr lang="en-US" altLang="ja-JP" sz="1050" dirty="0"/>
              <a:t>75%</a:t>
            </a:r>
            <a:r>
              <a:rPr lang="ja-JP" altLang="ja-JP" sz="1050" dirty="0"/>
              <a:t>、青</a:t>
            </a:r>
            <a:r>
              <a:rPr lang="en-US" altLang="ja-JP" sz="1050" dirty="0"/>
              <a:t>25%</a:t>
            </a:r>
            <a:r>
              <a:rPr lang="ja-JP" altLang="ja-JP" sz="1050" dirty="0"/>
              <a:t>となる混色比を示す</a:t>
            </a:r>
            <a:r>
              <a:rPr lang="en-US" altLang="ja-JP" sz="1050" dirty="0"/>
              <a:t>)</a:t>
            </a:r>
            <a:endParaRPr lang="ja-JP" altLang="ja-JP" sz="1050" dirty="0"/>
          </a:p>
        </p:txBody>
      </p:sp>
      <p:sp>
        <p:nvSpPr>
          <p:cNvPr id="4" name="楕円 3">
            <a:extLst>
              <a:ext uri="{FF2B5EF4-FFF2-40B4-BE49-F238E27FC236}">
                <a16:creationId xmlns:a16="http://schemas.microsoft.com/office/drawing/2014/main" id="{13796715-1B76-A927-685B-71090FA7B0B1}"/>
              </a:ext>
            </a:extLst>
          </p:cNvPr>
          <p:cNvSpPr/>
          <p:nvPr/>
        </p:nvSpPr>
        <p:spPr>
          <a:xfrm>
            <a:off x="564568" y="6179296"/>
            <a:ext cx="204669" cy="18606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5197E7E8-B266-9144-C532-CC79E1F60388}"/>
              </a:ext>
            </a:extLst>
          </p:cNvPr>
          <p:cNvSpPr txBox="1"/>
          <p:nvPr/>
        </p:nvSpPr>
        <p:spPr>
          <a:xfrm>
            <a:off x="769237" y="6101245"/>
            <a:ext cx="2739853" cy="363736"/>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A74743F2-CCD5-7CE7-CED9-214B4C0C9DB6}"/>
              </a:ext>
            </a:extLst>
          </p:cNvPr>
          <p:cNvSpPr txBox="1"/>
          <p:nvPr/>
        </p:nvSpPr>
        <p:spPr>
          <a:xfrm>
            <a:off x="666901" y="6545170"/>
            <a:ext cx="5649491" cy="1708160"/>
          </a:xfrm>
          <a:prstGeom prst="rect">
            <a:avLst/>
          </a:prstGeom>
          <a:noFill/>
        </p:spPr>
        <p:txBody>
          <a:bodyPr wrap="square" rtlCol="0">
            <a:spAutoFit/>
          </a:bodyPr>
          <a:lstStyle/>
          <a:p>
            <a:r>
              <a:rPr lang="en-US" altLang="ja-JP" sz="1050" dirty="0"/>
              <a:t>Gradient Filament</a:t>
            </a:r>
            <a:r>
              <a:rPr lang="ja-JP" altLang="ja-JP" sz="1050" dirty="0"/>
              <a:t>は色の組み合わせに合わせた複数のカラーカーブとサイクル数が異なるモデルがあり、推奨される印刷方向を持つモデルです。</a:t>
            </a:r>
          </a:p>
          <a:p>
            <a:r>
              <a:rPr lang="ja-JP" altLang="ja-JP" sz="1050" dirty="0"/>
              <a:t>情報が多いため外側ブリムは上下２段の</a:t>
            </a:r>
            <a:r>
              <a:rPr lang="en-US" altLang="ja-JP" sz="1050" dirty="0"/>
              <a:t>Text</a:t>
            </a:r>
            <a:r>
              <a:rPr lang="ja-JP" altLang="ja-JP" sz="1050" dirty="0"/>
              <a:t>情報を持ちます。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GR</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GR/S4b</a:t>
            </a:r>
            <a:r>
              <a:rPr lang="ja-JP" altLang="ja-JP" sz="1050" dirty="0"/>
              <a:t>　</a:t>
            </a:r>
            <a:r>
              <a:rPr lang="ja-JP" altLang="en-US" sz="1050" dirty="0"/>
              <a:t>　</a:t>
            </a:r>
            <a:r>
              <a:rPr lang="en-US" altLang="ja-JP" sz="1050" dirty="0"/>
              <a:t>(Gradient Filament M4 Beta model</a:t>
            </a:r>
            <a:r>
              <a:rPr lang="ja-JP" altLang="ja-JP" sz="1050" dirty="0"/>
              <a:t>を示す</a:t>
            </a:r>
            <a:r>
              <a:rPr lang="en-US" altLang="ja-JP" sz="1050" dirty="0"/>
              <a:t>)</a:t>
            </a:r>
            <a:endParaRPr lang="ja-JP" altLang="ja-JP" sz="1050" dirty="0"/>
          </a:p>
        </p:txBody>
      </p:sp>
      <p:pic>
        <p:nvPicPr>
          <p:cNvPr id="18" name="図 17">
            <a:extLst>
              <a:ext uri="{FF2B5EF4-FFF2-40B4-BE49-F238E27FC236}">
                <a16:creationId xmlns:a16="http://schemas.microsoft.com/office/drawing/2014/main" id="{392BA458-994B-8B86-08BE-A2A16E1FB13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906240" y="5211453"/>
            <a:ext cx="2529840" cy="693420"/>
          </a:xfrm>
          <a:prstGeom prst="rect">
            <a:avLst/>
          </a:prstGeom>
          <a:noFill/>
          <a:extLst>
            <a:ext uri="{909E8E84-426E-40DD-AFC4-6F175D3DCCD1}">
              <a14:hiddenFill xmlns:a14="http://schemas.microsoft.com/office/drawing/2010/main">
                <a:solidFill>
                  <a:srgbClr val="FFFFFF"/>
                </a:solidFill>
              </a14:hiddenFill>
            </a:ext>
          </a:extLst>
        </p:spPr>
      </p:pic>
      <p:sp>
        <p:nvSpPr>
          <p:cNvPr id="19" name="四角形: 角を丸くする 18">
            <a:extLst>
              <a:ext uri="{FF2B5EF4-FFF2-40B4-BE49-F238E27FC236}">
                <a16:creationId xmlns:a16="http://schemas.microsoft.com/office/drawing/2014/main" id="{C23C394D-165C-151B-F41A-2D271E15F6FA}"/>
              </a:ext>
            </a:extLst>
          </p:cNvPr>
          <p:cNvSpPr/>
          <p:nvPr/>
        </p:nvSpPr>
        <p:spPr>
          <a:xfrm>
            <a:off x="2634389" y="1163998"/>
            <a:ext cx="474802" cy="204964"/>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D234B248-4D2B-198F-57CB-70FA28EDD745}"/>
              </a:ext>
            </a:extLst>
          </p:cNvPr>
          <p:cNvSpPr/>
          <p:nvPr/>
        </p:nvSpPr>
        <p:spPr>
          <a:xfrm>
            <a:off x="1082560" y="4280429"/>
            <a:ext cx="474802"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8F2FA860-6F66-CA61-94C3-080A2C182AAA}"/>
              </a:ext>
            </a:extLst>
          </p:cNvPr>
          <p:cNvSpPr/>
          <p:nvPr/>
        </p:nvSpPr>
        <p:spPr>
          <a:xfrm>
            <a:off x="1072885" y="7971852"/>
            <a:ext cx="631961"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D08E2-64BB-0F2E-8F93-F06B97F2B21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511BB0BA-82B8-3D38-7943-239D5BA1C861}"/>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B93CCC98-4B36-D84B-868C-F64023CB9B24}"/>
              </a:ext>
            </a:extLst>
          </p:cNvPr>
          <p:cNvSpPr/>
          <p:nvPr/>
        </p:nvSpPr>
        <p:spPr>
          <a:xfrm>
            <a:off x="6064" y="-3583"/>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F925CF9-96D9-1901-FFFF-ECF59D5ABDFB}"/>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2FE3E8C-32C8-904C-A13C-3522386A913E}"/>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23AB99B-BC12-4B42-20A9-F13C262D05A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27D234E-E329-F759-3CA4-84653942F0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3CD25F55-676E-8F0B-F269-7F58D622752B}"/>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2D1A7C2A-60A4-049E-218E-8AC600A50DB5}"/>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2F99E805-CCC7-FC66-82FB-C65C90C5E96C}"/>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BDE3B256-DF81-3DBB-FD1A-0CC45C9B93E6}"/>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E3C15218-C8E3-59EF-E09F-F81D558EA47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4</a:t>
            </a:r>
            <a:endParaRPr kumimoji="1" lang="ja-JP" altLang="en-US" dirty="0"/>
          </a:p>
        </p:txBody>
      </p:sp>
      <p:sp>
        <p:nvSpPr>
          <p:cNvPr id="2" name="楕円 1">
            <a:extLst>
              <a:ext uri="{FF2B5EF4-FFF2-40B4-BE49-F238E27FC236}">
                <a16:creationId xmlns:a16="http://schemas.microsoft.com/office/drawing/2014/main" id="{2FE2702E-8683-69CA-EF72-20137A496C1E}"/>
              </a:ext>
            </a:extLst>
          </p:cNvPr>
          <p:cNvSpPr/>
          <p:nvPr/>
        </p:nvSpPr>
        <p:spPr>
          <a:xfrm>
            <a:off x="546348" y="7301051"/>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910BDA97-80A1-59F8-7B84-C8DEA06E919B}"/>
              </a:ext>
            </a:extLst>
          </p:cNvPr>
          <p:cNvSpPr txBox="1"/>
          <p:nvPr/>
        </p:nvSpPr>
        <p:spPr>
          <a:xfrm>
            <a:off x="778114" y="7219472"/>
            <a:ext cx="356860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7. </a:t>
            </a:r>
            <a:r>
              <a:rPr lang="ja-JP" altLang="en-US" sz="2000" dirty="0">
                <a:latin typeface="IBM Plex Sans JP SemiBold" panose="020B0703050203000203" pitchFamily="50" charset="-128"/>
                <a:ea typeface="IBM Plex Sans JP SemiBold" panose="020B0703050203000203" pitchFamily="50" charset="-128"/>
              </a:rPr>
              <a:t>ブリムの取り扱いについて</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F12F0039-3435-1D7B-0532-CC97331F8630}"/>
              </a:ext>
            </a:extLst>
          </p:cNvPr>
          <p:cNvSpPr txBox="1"/>
          <p:nvPr/>
        </p:nvSpPr>
        <p:spPr>
          <a:xfrm>
            <a:off x="676426" y="7599215"/>
            <a:ext cx="5649491" cy="684803"/>
          </a:xfrm>
          <a:prstGeom prst="rect">
            <a:avLst/>
          </a:prstGeom>
          <a:noFill/>
        </p:spPr>
        <p:txBody>
          <a:bodyPr wrap="square" rtlCol="0">
            <a:spAutoFit/>
          </a:bodyPr>
          <a:lstStyle/>
          <a:p>
            <a:r>
              <a:rPr lang="ja-JP" altLang="ja-JP" sz="1050" dirty="0"/>
              <a:t>ブリムはフィラメント使用時には不要なものであるため、除去してから使って下さい。</a:t>
            </a:r>
          </a:p>
          <a:p>
            <a:r>
              <a:rPr lang="ja-JP" altLang="ja-JP" sz="1050" dirty="0"/>
              <a:t>どの様な仕様のフィラメントとして印刷されたかを読み解くことが出来るものであるため、すぐに使わない場合はすぐに外さずブリムがついたまま保管することを推奨いたします。</a:t>
            </a:r>
          </a:p>
          <a:p>
            <a:endParaRPr kumimoji="1" lang="ja-JP" altLang="en-US" sz="600" b="1" dirty="0">
              <a:latin typeface="IBM Plex Sans JP" panose="020B0503050203000203" pitchFamily="50" charset="-128"/>
              <a:ea typeface="IBM Plex Sans JP" panose="020B0503050203000203" pitchFamily="50" charset="-128"/>
            </a:endParaRPr>
          </a:p>
        </p:txBody>
      </p:sp>
      <p:sp>
        <p:nvSpPr>
          <p:cNvPr id="4" name="楕円 3">
            <a:extLst>
              <a:ext uri="{FF2B5EF4-FFF2-40B4-BE49-F238E27FC236}">
                <a16:creationId xmlns:a16="http://schemas.microsoft.com/office/drawing/2014/main" id="{A42F8189-ED86-2F61-850D-01F13BCB47C8}"/>
              </a:ext>
            </a:extLst>
          </p:cNvPr>
          <p:cNvSpPr/>
          <p:nvPr/>
        </p:nvSpPr>
        <p:spPr>
          <a:xfrm>
            <a:off x="564568" y="4135478"/>
            <a:ext cx="204669" cy="18606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F82A7D5-B446-9FEA-6FE0-2A5661670739}"/>
              </a:ext>
            </a:extLst>
          </p:cNvPr>
          <p:cNvSpPr txBox="1"/>
          <p:nvPr/>
        </p:nvSpPr>
        <p:spPr>
          <a:xfrm>
            <a:off x="769237" y="4066952"/>
            <a:ext cx="30604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6. New Series Preview</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2351E00A-C52B-AB6C-E169-0681CBCBBB41}"/>
              </a:ext>
            </a:extLst>
          </p:cNvPr>
          <p:cNvSpPr txBox="1"/>
          <p:nvPr/>
        </p:nvSpPr>
        <p:spPr>
          <a:xfrm>
            <a:off x="666901" y="4520402"/>
            <a:ext cx="5649491" cy="2192908"/>
          </a:xfrm>
          <a:prstGeom prst="rect">
            <a:avLst/>
          </a:prstGeom>
          <a:noFill/>
        </p:spPr>
        <p:txBody>
          <a:bodyPr wrap="square" rtlCol="0">
            <a:spAutoFit/>
          </a:bodyPr>
          <a:lstStyle/>
          <a:p>
            <a:r>
              <a:rPr lang="en-US" altLang="ja-JP" sz="1050" dirty="0"/>
              <a:t>New Series Preview</a:t>
            </a:r>
            <a:r>
              <a:rPr lang="ja-JP" altLang="ja-JP" sz="1050" dirty="0"/>
              <a:t>は次に来るシリーズを示唆するプレビューモデルです。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Prev</a:t>
            </a:r>
            <a:r>
              <a:rPr lang="ja-JP" altLang="ja-JP" sz="1050" dirty="0"/>
              <a:t>」のみを記載します。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Prev</a:t>
            </a:r>
            <a:r>
              <a:rPr lang="ja-JP" altLang="en-US" sz="1050" dirty="0"/>
              <a:t>　</a:t>
            </a:r>
            <a:r>
              <a:rPr lang="ja-JP" altLang="ja-JP" sz="1050" dirty="0"/>
              <a:t>　</a:t>
            </a:r>
            <a:r>
              <a:rPr lang="en-US" altLang="ja-JP" sz="1050" dirty="0"/>
              <a:t>(Gradient Filament M4 Beta model</a:t>
            </a:r>
            <a:r>
              <a:rPr lang="ja-JP" altLang="ja-JP" sz="1050" dirty="0"/>
              <a:t>を示す</a:t>
            </a:r>
            <a:r>
              <a:rPr lang="en-US" altLang="ja-JP" sz="1050" dirty="0"/>
              <a:t>)</a:t>
            </a:r>
            <a:endParaRPr lang="ja-JP" altLang="ja-JP" sz="1050" dirty="0"/>
          </a:p>
          <a:p>
            <a:r>
              <a:rPr lang="en-US" altLang="ja-JP" sz="1050" dirty="0"/>
              <a:t> </a:t>
            </a:r>
            <a:endParaRPr lang="ja-JP" altLang="ja-JP" sz="1050" dirty="0"/>
          </a:p>
          <a:p>
            <a:r>
              <a:rPr lang="en-US" altLang="ja-JP" sz="1050" b="1" dirty="0"/>
              <a:t>【</a:t>
            </a:r>
            <a:r>
              <a:rPr lang="ja-JP" altLang="en-US" sz="1050" b="1" dirty="0"/>
              <a:t>外側ブリム</a:t>
            </a:r>
            <a:r>
              <a:rPr lang="en-US" altLang="ja-JP" sz="1050" b="1" dirty="0"/>
              <a:t>】</a:t>
            </a:r>
            <a:endParaRPr lang="ja-JP" altLang="ja-JP" sz="1050" dirty="0"/>
          </a:p>
          <a:p>
            <a:r>
              <a:rPr lang="ja-JP" altLang="en-US" sz="1050" dirty="0"/>
              <a:t>決まった表記方法はありません。「新シリーズ」への期待感を高めるため、新しいシリーズ予告モデルが作成されます。その結果、外側の縁にヒントが表示されます。</a:t>
            </a:r>
            <a:endParaRPr lang="en-US" altLang="ja-JP" sz="1050" dirty="0"/>
          </a:p>
          <a:p>
            <a:endParaRPr lang="en-US" altLang="ja-JP" sz="1050" dirty="0"/>
          </a:p>
          <a:p>
            <a:r>
              <a:rPr lang="ja-JP" altLang="en-US" sz="1050" dirty="0"/>
              <a:t>例：    </a:t>
            </a:r>
            <a:r>
              <a:rPr lang="en-US" altLang="ja-JP" sz="1050" dirty="0"/>
              <a:t>GRD     </a:t>
            </a:r>
            <a:r>
              <a:rPr lang="ja-JP" altLang="en-US" sz="1050" dirty="0"/>
              <a:t> は、「グラデーションフィラメント」という答えへのヒントです。</a:t>
            </a:r>
            <a:endParaRPr kumimoji="1" lang="ja-JP" altLang="en-US" sz="1050" b="1" dirty="0">
              <a:latin typeface="IBM Plex Sans JP" panose="020B0503050203000203" pitchFamily="50" charset="-128"/>
              <a:ea typeface="IBM Plex Sans JP" panose="020B0503050203000203" pitchFamily="50" charset="-128"/>
            </a:endParaRPr>
          </a:p>
        </p:txBody>
      </p:sp>
      <p:sp>
        <p:nvSpPr>
          <p:cNvPr id="19" name="テキスト ボックス 18">
            <a:extLst>
              <a:ext uri="{FF2B5EF4-FFF2-40B4-BE49-F238E27FC236}">
                <a16:creationId xmlns:a16="http://schemas.microsoft.com/office/drawing/2014/main" id="{D97B7001-C1C5-9B03-4CF4-E055D2FCB7EA}"/>
              </a:ext>
            </a:extLst>
          </p:cNvPr>
          <p:cNvSpPr txBox="1"/>
          <p:nvPr/>
        </p:nvSpPr>
        <p:spPr>
          <a:xfrm>
            <a:off x="666901" y="638958"/>
            <a:ext cx="5649491" cy="1477328"/>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上段に推奨される挿入方向を示す「</a:t>
            </a:r>
            <a:r>
              <a:rPr lang="en-US" altLang="ja-JP" sz="1050" dirty="0"/>
              <a:t>IN</a:t>
            </a:r>
            <a:r>
              <a:rPr lang="ja-JP" altLang="ja-JP" sz="1050" dirty="0"/>
              <a:t>→」を記載し、下段にカラーカーブの略号の後に「</a:t>
            </a:r>
            <a:r>
              <a:rPr lang="en-US" altLang="ja-JP" sz="1050" dirty="0"/>
              <a:t>-</a:t>
            </a:r>
            <a:r>
              <a:rPr lang="ja-JP" altLang="ja-JP" sz="1050" dirty="0"/>
              <a:t>」、その後にサイクル数をつなげて記載します。</a:t>
            </a:r>
          </a:p>
          <a:p>
            <a:endParaRPr lang="en-US" altLang="ja-JP" sz="1050" dirty="0"/>
          </a:p>
          <a:p>
            <a:r>
              <a:rPr lang="ja-JP" altLang="en-US" sz="1050" dirty="0"/>
              <a:t>　　　　</a:t>
            </a:r>
            <a:r>
              <a:rPr lang="en-US" altLang="ja-JP" sz="1050" dirty="0"/>
              <a:t>IN</a:t>
            </a:r>
            <a:r>
              <a:rPr lang="ja-JP" altLang="ja-JP" sz="1050" dirty="0"/>
              <a:t>→</a:t>
            </a:r>
          </a:p>
          <a:p>
            <a:r>
              <a:rPr lang="ja-JP" altLang="en-US" sz="1050" dirty="0"/>
              <a:t>　　　　</a:t>
            </a:r>
            <a:r>
              <a:rPr lang="en-US" altLang="ja-JP" sz="1050" dirty="0"/>
              <a:t>Vvd-.5cyc</a:t>
            </a:r>
          </a:p>
          <a:p>
            <a:r>
              <a:rPr lang="ja-JP" altLang="ja-JP" sz="600" dirty="0"/>
              <a:t>　</a:t>
            </a:r>
            <a:endParaRPr lang="en-US" altLang="ja-JP" sz="600" dirty="0"/>
          </a:p>
          <a:p>
            <a:r>
              <a:rPr lang="ja-JP" altLang="ja-JP" sz="1050" dirty="0"/>
              <a:t>矢印が挿入方向を示し、</a:t>
            </a:r>
            <a:r>
              <a:rPr lang="en-US" altLang="ja-JP" sz="1050" dirty="0"/>
              <a:t>Vivid</a:t>
            </a:r>
            <a:r>
              <a:rPr lang="ja-JP" altLang="ja-JP" sz="1050" dirty="0"/>
              <a:t>カラーカーブの</a:t>
            </a:r>
            <a:r>
              <a:rPr lang="en-US" altLang="ja-JP" sz="1050" dirty="0"/>
              <a:t>0.5</a:t>
            </a:r>
            <a:r>
              <a:rPr lang="ja-JP" altLang="ja-JP" sz="1050" dirty="0"/>
              <a:t>サイクル数のグラデーションであることを示す</a:t>
            </a:r>
          </a:p>
        </p:txBody>
      </p:sp>
      <p:sp>
        <p:nvSpPr>
          <p:cNvPr id="20" name="テキスト ボックス 19">
            <a:extLst>
              <a:ext uri="{FF2B5EF4-FFF2-40B4-BE49-F238E27FC236}">
                <a16:creationId xmlns:a16="http://schemas.microsoft.com/office/drawing/2014/main" id="{27564FEE-0A96-8F23-9C16-9CDDA7A3A223}"/>
              </a:ext>
            </a:extLst>
          </p:cNvPr>
          <p:cNvSpPr txBox="1"/>
          <p:nvPr/>
        </p:nvSpPr>
        <p:spPr>
          <a:xfrm>
            <a:off x="769237" y="1351707"/>
            <a:ext cx="803035" cy="253916"/>
          </a:xfrm>
          <a:prstGeom prst="rect">
            <a:avLst/>
          </a:prstGeom>
          <a:noFill/>
        </p:spPr>
        <p:txBody>
          <a:bodyPr wrap="square" rtlCol="0">
            <a:spAutoFit/>
          </a:bodyPr>
          <a:lstStyle/>
          <a:p>
            <a:r>
              <a:rPr lang="ja-JP" altLang="en-US" sz="1050" dirty="0"/>
              <a:t>例：</a:t>
            </a:r>
            <a:endParaRPr lang="en-US" altLang="ja-JP" sz="1050" dirty="0"/>
          </a:p>
        </p:txBody>
      </p:sp>
      <p:sp>
        <p:nvSpPr>
          <p:cNvPr id="23" name="四角形: 角を丸くする 22">
            <a:extLst>
              <a:ext uri="{FF2B5EF4-FFF2-40B4-BE49-F238E27FC236}">
                <a16:creationId xmlns:a16="http://schemas.microsoft.com/office/drawing/2014/main" id="{6BC1B064-2468-A774-21BE-F451B9B8697F}"/>
              </a:ext>
            </a:extLst>
          </p:cNvPr>
          <p:cNvSpPr/>
          <p:nvPr/>
        </p:nvSpPr>
        <p:spPr>
          <a:xfrm>
            <a:off x="1162049" y="1256996"/>
            <a:ext cx="838200" cy="423228"/>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1AAF058C-FD3E-6BBC-B2DF-73A789326596}"/>
              </a:ext>
            </a:extLst>
          </p:cNvPr>
          <p:cNvGrpSpPr/>
          <p:nvPr/>
        </p:nvGrpSpPr>
        <p:grpSpPr>
          <a:xfrm>
            <a:off x="560196" y="2159462"/>
            <a:ext cx="5756193" cy="1642545"/>
            <a:chOff x="0" y="0"/>
            <a:chExt cx="6069081" cy="1818034"/>
          </a:xfrm>
        </p:grpSpPr>
        <p:pic>
          <p:nvPicPr>
            <p:cNvPr id="26" name="図 25">
              <a:extLst>
                <a:ext uri="{FF2B5EF4-FFF2-40B4-BE49-F238E27FC236}">
                  <a16:creationId xmlns:a16="http://schemas.microsoft.com/office/drawing/2014/main" id="{308CA542-1A94-C336-03A2-2D6BCFB3A0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2673" y="1"/>
              <a:ext cx="1994038" cy="181803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11EB9214-9DC5-EC7E-2212-0B183590A8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6567"/>
              <a:ext cx="1955938" cy="665508"/>
            </a:xfrm>
            <a:prstGeom prst="rect">
              <a:avLst/>
            </a:prstGeom>
            <a:noFill/>
            <a:extLst>
              <a:ext uri="{909E8E84-426E-40DD-AFC4-6F175D3DCCD1}">
                <a14:hiddenFill xmlns:a14="http://schemas.microsoft.com/office/drawing/2010/main">
                  <a:solidFill>
                    <a:srgbClr val="FFFFFF"/>
                  </a:solidFill>
                </a14:hiddenFill>
              </a:ext>
            </a:extLst>
          </p:spPr>
        </p:pic>
        <p:pic>
          <p:nvPicPr>
            <p:cNvPr id="28" name="図 27">
              <a:extLst>
                <a:ext uri="{FF2B5EF4-FFF2-40B4-BE49-F238E27FC236}">
                  <a16:creationId xmlns:a16="http://schemas.microsoft.com/office/drawing/2014/main" id="{B43E992A-A261-9D9E-48B7-5D91836D03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5043" y="0"/>
              <a:ext cx="1994038" cy="1367873"/>
            </a:xfrm>
            <a:prstGeom prst="rect">
              <a:avLst/>
            </a:prstGeom>
            <a:noFill/>
            <a:extLst>
              <a:ext uri="{909E8E84-426E-40DD-AFC4-6F175D3DCCD1}">
                <a14:hiddenFill xmlns:a14="http://schemas.microsoft.com/office/drawing/2010/main">
                  <a:solidFill>
                    <a:srgbClr val="FFFFFF"/>
                  </a:solidFill>
                </a14:hiddenFill>
              </a:ext>
            </a:extLst>
          </p:spPr>
        </p:pic>
      </p:grpSp>
      <p:sp>
        <p:nvSpPr>
          <p:cNvPr id="29" name="四角形: 角を丸くする 28">
            <a:extLst>
              <a:ext uri="{FF2B5EF4-FFF2-40B4-BE49-F238E27FC236}">
                <a16:creationId xmlns:a16="http://schemas.microsoft.com/office/drawing/2014/main" id="{0CF2F5BD-BB35-99E9-D810-F107F64A22FA}"/>
              </a:ext>
            </a:extLst>
          </p:cNvPr>
          <p:cNvSpPr/>
          <p:nvPr/>
        </p:nvSpPr>
        <p:spPr>
          <a:xfrm>
            <a:off x="1058750" y="5474048"/>
            <a:ext cx="492354"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D2F248C6-732E-F246-9789-16BA4A36409C}"/>
              </a:ext>
            </a:extLst>
          </p:cNvPr>
          <p:cNvSpPr/>
          <p:nvPr/>
        </p:nvSpPr>
        <p:spPr>
          <a:xfrm>
            <a:off x="1049306" y="6428862"/>
            <a:ext cx="473142"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521425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4435A-1DB2-0A5F-2908-99E2008EBF66}"/>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3FE1337C-5CB0-6BC8-1ACF-A4B40149AA68}"/>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47951DD-9DAC-4D69-9240-B3C3E1020ABA}"/>
              </a:ext>
            </a:extLst>
          </p:cNvPr>
          <p:cNvSpPr/>
          <p:nvPr/>
        </p:nvSpPr>
        <p:spPr>
          <a:xfrm>
            <a:off x="6064" y="-3583"/>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E7EF55BD-89D6-366B-8A96-4C5F63AF900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7C00CF0-7984-589D-506A-F1D0C0BEBCE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E4229915-0650-459F-3496-BAC6A10BEADF}"/>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92C7A15-DF9A-61BB-9D21-04C1328B807A}"/>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693BE04-B0B0-4816-FECD-63D586AD4D20}"/>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8C5D7C16-827F-D094-CC54-3B0A7A1139DC}"/>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FEA0324-1190-D193-5F51-6411C010485F}"/>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A6C373B-32B4-859D-09F3-24920C3955FF}"/>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E8A7B1-E418-280D-D81D-735F8288BDFC}"/>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5</a:t>
            </a:r>
            <a:endParaRPr kumimoji="1" lang="ja-JP" altLang="en-US" dirty="0"/>
          </a:p>
        </p:txBody>
      </p:sp>
      <p:sp>
        <p:nvSpPr>
          <p:cNvPr id="2" name="楕円 1">
            <a:extLst>
              <a:ext uri="{FF2B5EF4-FFF2-40B4-BE49-F238E27FC236}">
                <a16:creationId xmlns:a16="http://schemas.microsoft.com/office/drawing/2014/main" id="{B1A42344-6D13-74F0-C5D9-0938D6B4117A}"/>
              </a:ext>
            </a:extLst>
          </p:cNvPr>
          <p:cNvSpPr/>
          <p:nvPr/>
        </p:nvSpPr>
        <p:spPr>
          <a:xfrm>
            <a:off x="546348" y="88150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58E81EC9-78A2-F271-80C9-0ACA26B50828}"/>
              </a:ext>
            </a:extLst>
          </p:cNvPr>
          <p:cNvSpPr txBox="1"/>
          <p:nvPr/>
        </p:nvSpPr>
        <p:spPr>
          <a:xfrm>
            <a:off x="778114" y="810625"/>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8. </a:t>
            </a:r>
            <a:r>
              <a:rPr lang="ja-JP" altLang="en-US" sz="2000" dirty="0">
                <a:latin typeface="IBM Plex Sans JP SemiBold" panose="020B0703050203000203" pitchFamily="50" charset="-128"/>
                <a:ea typeface="IBM Plex Sans JP SemiBold" panose="020B0703050203000203" pitchFamily="50" charset="-128"/>
              </a:rPr>
              <a:t>更新履歴</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52D00B5-32D2-7FDF-0C0B-D046C2053A4E}"/>
              </a:ext>
            </a:extLst>
          </p:cNvPr>
          <p:cNvSpPr txBox="1"/>
          <p:nvPr/>
        </p:nvSpPr>
        <p:spPr>
          <a:xfrm>
            <a:off x="638323" y="117967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2026-07-21  First Edition Published</a:t>
            </a:r>
          </a:p>
          <a:p>
            <a:r>
              <a:rPr lang="en-US" altLang="ja-JP" sz="900" dirty="0">
                <a:latin typeface="IBM Plex Sans JP" panose="020B0503050203000203" pitchFamily="50" charset="-128"/>
                <a:ea typeface="IBM Plex Sans JP" panose="020B0503050203000203" pitchFamily="50" charset="-128"/>
              </a:rPr>
              <a:t>Ver.1.10  2026-07-24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606081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AB9C-C821-256D-D755-031FAC72E570}"/>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7C1F6A9D-6AE2-5F1C-55A1-AE7D065BD78E}"/>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17BBFAA1-2441-1DB5-6495-CBFA60AEEF3C}"/>
              </a:ext>
            </a:extLst>
          </p:cNvPr>
          <p:cNvSpPr/>
          <p:nvPr/>
        </p:nvSpPr>
        <p:spPr>
          <a:xfrm>
            <a:off x="7269" y="0"/>
            <a:ext cx="6858000"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385 w 6858000"/>
              <a:gd name="connsiteY8" fmla="*/ 7676931 h 9144000"/>
              <a:gd name="connsiteX9" fmla="*/ 584499 w 6858000"/>
              <a:gd name="connsiteY9" fmla="*/ 7753817 h 9144000"/>
              <a:gd name="connsiteX10" fmla="*/ 661385 w 6858000"/>
              <a:gd name="connsiteY10" fmla="*/ 7830703 h 9144000"/>
              <a:gd name="connsiteX11" fmla="*/ 738271 w 6858000"/>
              <a:gd name="connsiteY11" fmla="*/ 7753817 h 9144000"/>
              <a:gd name="connsiteX12" fmla="*/ 661385 w 6858000"/>
              <a:gd name="connsiteY12" fmla="*/ 7676931 h 9144000"/>
              <a:gd name="connsiteX13" fmla="*/ 661241 w 6858000"/>
              <a:gd name="connsiteY13" fmla="*/ 4679629 h 9144000"/>
              <a:gd name="connsiteX14" fmla="*/ 558906 w 6858000"/>
              <a:gd name="connsiteY14" fmla="*/ 4781964 h 9144000"/>
              <a:gd name="connsiteX15" fmla="*/ 661241 w 6858000"/>
              <a:gd name="connsiteY15" fmla="*/ 4884299 h 9144000"/>
              <a:gd name="connsiteX16" fmla="*/ 763576 w 6858000"/>
              <a:gd name="connsiteY16" fmla="*/ 4781964 h 9144000"/>
              <a:gd name="connsiteX17" fmla="*/ 661241 w 6858000"/>
              <a:gd name="connsiteY17" fmla="*/ 4679629 h 9144000"/>
              <a:gd name="connsiteX18" fmla="*/ 661241 w 6858000"/>
              <a:gd name="connsiteY18" fmla="*/ 3069491 h 9144000"/>
              <a:gd name="connsiteX19" fmla="*/ 558906 w 6858000"/>
              <a:gd name="connsiteY19" fmla="*/ 3171826 h 9144000"/>
              <a:gd name="connsiteX20" fmla="*/ 661241 w 6858000"/>
              <a:gd name="connsiteY20" fmla="*/ 3274161 h 9144000"/>
              <a:gd name="connsiteX21" fmla="*/ 763576 w 6858000"/>
              <a:gd name="connsiteY21" fmla="*/ 3171826 h 9144000"/>
              <a:gd name="connsiteX22" fmla="*/ 661241 w 6858000"/>
              <a:gd name="connsiteY22" fmla="*/ 3069491 h 9144000"/>
              <a:gd name="connsiteX23" fmla="*/ 6107887 w 6858000"/>
              <a:gd name="connsiteY23" fmla="*/ 2279977 h 9144000"/>
              <a:gd name="connsiteX24" fmla="*/ 6052582 w 6858000"/>
              <a:gd name="connsiteY24" fmla="*/ 2335282 h 9144000"/>
              <a:gd name="connsiteX25" fmla="*/ 798143 w 6858000"/>
              <a:gd name="connsiteY25" fmla="*/ 2335282 h 9144000"/>
              <a:gd name="connsiteX26" fmla="*/ 759037 w 6858000"/>
              <a:gd name="connsiteY26" fmla="*/ 2319083 h 9144000"/>
              <a:gd name="connsiteX27" fmla="*/ 742839 w 6858000"/>
              <a:gd name="connsiteY27" fmla="*/ 2279979 h 9144000"/>
              <a:gd name="connsiteX28" fmla="*/ 742839 w 6858000"/>
              <a:gd name="connsiteY28" fmla="*/ 2413569 h 9144000"/>
              <a:gd name="connsiteX29" fmla="*/ 931735 w 6858000"/>
              <a:gd name="connsiteY29" fmla="*/ 2602465 h 9144000"/>
              <a:gd name="connsiteX30" fmla="*/ 5918991 w 6858000"/>
              <a:gd name="connsiteY30" fmla="*/ 2602465 h 9144000"/>
              <a:gd name="connsiteX31" fmla="*/ 6107887 w 6858000"/>
              <a:gd name="connsiteY31" fmla="*/ 2413569 h 9144000"/>
              <a:gd name="connsiteX32" fmla="*/ 931737 w 6858000"/>
              <a:gd name="connsiteY32" fmla="*/ 431920 h 9144000"/>
              <a:gd name="connsiteX33" fmla="*/ 742841 w 6858000"/>
              <a:gd name="connsiteY33" fmla="*/ 620816 h 9144000"/>
              <a:gd name="connsiteX34" fmla="*/ 742841 w 6858000"/>
              <a:gd name="connsiteY34" fmla="*/ 754408 h 9144000"/>
              <a:gd name="connsiteX35" fmla="*/ 798146 w 6858000"/>
              <a:gd name="connsiteY35" fmla="*/ 699103 h 9144000"/>
              <a:gd name="connsiteX36" fmla="*/ 6052584 w 6858000"/>
              <a:gd name="connsiteY36" fmla="*/ 699103 h 9144000"/>
              <a:gd name="connsiteX37" fmla="*/ 6091691 w 6858000"/>
              <a:gd name="connsiteY37" fmla="*/ 715302 h 9144000"/>
              <a:gd name="connsiteX38" fmla="*/ 6107888 w 6858000"/>
              <a:gd name="connsiteY38" fmla="*/ 754406 h 9144000"/>
              <a:gd name="connsiteX39" fmla="*/ 6107888 w 6858000"/>
              <a:gd name="connsiteY39" fmla="*/ 620816 h 9144000"/>
              <a:gd name="connsiteX40" fmla="*/ 5918992 w 6858000"/>
              <a:gd name="connsiteY40" fmla="*/ 431920 h 9144000"/>
              <a:gd name="connsiteX41" fmla="*/ 0 w 6858000"/>
              <a:gd name="connsiteY41" fmla="*/ 0 h 9144000"/>
              <a:gd name="connsiteX42" fmla="*/ 6858000 w 6858000"/>
              <a:gd name="connsiteY42" fmla="*/ 0 h 9144000"/>
              <a:gd name="connsiteX43" fmla="*/ 6858000 w 6858000"/>
              <a:gd name="connsiteY43" fmla="*/ 9144000 h 9144000"/>
              <a:gd name="connsiteX44" fmla="*/ 0 w 6858000"/>
              <a:gd name="connsiteY44"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385" y="7676931"/>
                </a:moveTo>
                <a:cubicBezTo>
                  <a:pt x="618922" y="7676931"/>
                  <a:pt x="584499" y="7711354"/>
                  <a:pt x="584499" y="7753817"/>
                </a:cubicBezTo>
                <a:cubicBezTo>
                  <a:pt x="584499" y="7796280"/>
                  <a:pt x="618922" y="7830703"/>
                  <a:pt x="661385" y="7830703"/>
                </a:cubicBezTo>
                <a:cubicBezTo>
                  <a:pt x="703848" y="7830703"/>
                  <a:pt x="738271" y="7796280"/>
                  <a:pt x="738271" y="7753817"/>
                </a:cubicBezTo>
                <a:cubicBezTo>
                  <a:pt x="738271" y="7711354"/>
                  <a:pt x="703848" y="7676931"/>
                  <a:pt x="661385" y="7676931"/>
                </a:cubicBezTo>
                <a:close/>
                <a:moveTo>
                  <a:pt x="661241" y="4679629"/>
                </a:moveTo>
                <a:cubicBezTo>
                  <a:pt x="604723" y="4679629"/>
                  <a:pt x="558906" y="4725446"/>
                  <a:pt x="558906" y="4781964"/>
                </a:cubicBezTo>
                <a:cubicBezTo>
                  <a:pt x="558906" y="4838482"/>
                  <a:pt x="604723" y="4884299"/>
                  <a:pt x="661241" y="4884299"/>
                </a:cubicBezTo>
                <a:cubicBezTo>
                  <a:pt x="717759" y="4884299"/>
                  <a:pt x="763576" y="4838482"/>
                  <a:pt x="763576" y="4781964"/>
                </a:cubicBezTo>
                <a:cubicBezTo>
                  <a:pt x="763576" y="4725446"/>
                  <a:pt x="717759" y="4679629"/>
                  <a:pt x="661241" y="4679629"/>
                </a:cubicBezTo>
                <a:close/>
                <a:moveTo>
                  <a:pt x="661241" y="3069491"/>
                </a:moveTo>
                <a:cubicBezTo>
                  <a:pt x="604723" y="3069491"/>
                  <a:pt x="558906" y="3115308"/>
                  <a:pt x="558906" y="3171826"/>
                </a:cubicBezTo>
                <a:cubicBezTo>
                  <a:pt x="558906" y="3228344"/>
                  <a:pt x="604723" y="3274161"/>
                  <a:pt x="661241" y="3274161"/>
                </a:cubicBezTo>
                <a:cubicBezTo>
                  <a:pt x="717759" y="3274161"/>
                  <a:pt x="763576" y="3228344"/>
                  <a:pt x="763576" y="3171826"/>
                </a:cubicBezTo>
                <a:cubicBezTo>
                  <a:pt x="763576" y="3115308"/>
                  <a:pt x="717759" y="3069491"/>
                  <a:pt x="661241" y="3069491"/>
                </a:cubicBezTo>
                <a:close/>
                <a:moveTo>
                  <a:pt x="6107887" y="2279977"/>
                </a:moveTo>
                <a:cubicBezTo>
                  <a:pt x="6107887" y="2310521"/>
                  <a:pt x="6083126" y="2335282"/>
                  <a:pt x="6052582" y="2335282"/>
                </a:cubicBezTo>
                <a:lnTo>
                  <a:pt x="798143" y="2335282"/>
                </a:lnTo>
                <a:cubicBezTo>
                  <a:pt x="782871" y="2335282"/>
                  <a:pt x="769045" y="2329092"/>
                  <a:pt x="759037" y="2319083"/>
                </a:cubicBezTo>
                <a:lnTo>
                  <a:pt x="742839" y="2279979"/>
                </a:lnTo>
                <a:lnTo>
                  <a:pt x="742839" y="2413569"/>
                </a:lnTo>
                <a:cubicBezTo>
                  <a:pt x="742839" y="2517893"/>
                  <a:pt x="827411" y="2602465"/>
                  <a:pt x="931735" y="2602465"/>
                </a:cubicBezTo>
                <a:lnTo>
                  <a:pt x="5918991" y="2602465"/>
                </a:lnTo>
                <a:cubicBezTo>
                  <a:pt x="6023315" y="2602465"/>
                  <a:pt x="6107887" y="2517893"/>
                  <a:pt x="6107887" y="2413569"/>
                </a:cubicBezTo>
                <a:close/>
                <a:moveTo>
                  <a:pt x="931737" y="431920"/>
                </a:moveTo>
                <a:cubicBezTo>
                  <a:pt x="827413" y="431920"/>
                  <a:pt x="742841" y="516492"/>
                  <a:pt x="742841" y="620816"/>
                </a:cubicBezTo>
                <a:lnTo>
                  <a:pt x="742841" y="754408"/>
                </a:lnTo>
                <a:cubicBezTo>
                  <a:pt x="742841" y="723864"/>
                  <a:pt x="767602" y="699103"/>
                  <a:pt x="798146" y="699103"/>
                </a:cubicBezTo>
                <a:lnTo>
                  <a:pt x="6052584" y="699103"/>
                </a:lnTo>
                <a:cubicBezTo>
                  <a:pt x="6067856" y="699103"/>
                  <a:pt x="6081682" y="705293"/>
                  <a:pt x="6091691" y="715302"/>
                </a:cubicBezTo>
                <a:lnTo>
                  <a:pt x="6107888" y="754406"/>
                </a:lnTo>
                <a:lnTo>
                  <a:pt x="6107888" y="620816"/>
                </a:lnTo>
                <a:cubicBezTo>
                  <a:pt x="6107888" y="516492"/>
                  <a:pt x="6023316" y="431920"/>
                  <a:pt x="5918992" y="431920"/>
                </a:cubicBez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b="1"/>
          </a:p>
        </p:txBody>
      </p:sp>
      <p:sp>
        <p:nvSpPr>
          <p:cNvPr id="17" name="テキスト ボックス 16">
            <a:extLst>
              <a:ext uri="{FF2B5EF4-FFF2-40B4-BE49-F238E27FC236}">
                <a16:creationId xmlns:a16="http://schemas.microsoft.com/office/drawing/2014/main" id="{B289B8F9-969B-4FC9-6290-9EBE4023C07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309D5A08-B487-407E-803B-60D2A557F176}"/>
              </a:ext>
            </a:extLst>
          </p:cNvPr>
          <p:cNvSpPr txBox="1"/>
          <p:nvPr/>
        </p:nvSpPr>
        <p:spPr>
          <a:xfrm>
            <a:off x="646571" y="840586"/>
            <a:ext cx="5729069" cy="1077218"/>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mj-ea"/>
                <a:ea typeface="+mj-ea"/>
              </a:rPr>
              <a:t>ブリム情報ガイド</a:t>
            </a:r>
            <a:endParaRPr lang="ja-JP" altLang="ja-JP" sz="2900" dirty="0">
              <a:latin typeface="+mj-ea"/>
              <a:ea typeface="+mj-ea"/>
            </a:endParaRPr>
          </a:p>
          <a:p>
            <a:endParaRPr kumimoji="1" lang="ja-JP" altLang="en-US" sz="3200" b="1" dirty="0">
              <a:latin typeface="IBM Plex Sans JP" panose="020B0503050203000203" pitchFamily="50" charset="-128"/>
              <a:ea typeface="IBM Plex Sans JP" panose="020B0503050203000203" pitchFamily="50" charset="-128"/>
            </a:endParaRPr>
          </a:p>
        </p:txBody>
      </p:sp>
      <p:sp>
        <p:nvSpPr>
          <p:cNvPr id="18" name="テキスト ボックス 17">
            <a:extLst>
              <a:ext uri="{FF2B5EF4-FFF2-40B4-BE49-F238E27FC236}">
                <a16:creationId xmlns:a16="http://schemas.microsoft.com/office/drawing/2014/main" id="{365EA251-33BA-866F-CE99-3A7F65CA802B}"/>
              </a:ext>
            </a:extLst>
          </p:cNvPr>
          <p:cNvSpPr txBox="1"/>
          <p:nvPr/>
        </p:nvSpPr>
        <p:spPr>
          <a:xfrm>
            <a:off x="770844" y="3001606"/>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BF3A64B0-DDA6-4BAF-E201-008A113021F8}"/>
              </a:ext>
            </a:extLst>
          </p:cNvPr>
          <p:cNvSpPr txBox="1"/>
          <p:nvPr/>
        </p:nvSpPr>
        <p:spPr>
          <a:xfrm>
            <a:off x="668508" y="3424546"/>
            <a:ext cx="5649491" cy="992579"/>
          </a:xfrm>
          <a:prstGeom prst="rect">
            <a:avLst/>
          </a:prstGeom>
          <a:noFill/>
        </p:spPr>
        <p:txBody>
          <a:bodyPr wrap="square" rtlCol="0">
            <a:spAutoFit/>
          </a:bodyPr>
          <a:lstStyle/>
          <a:p>
            <a:r>
              <a:rPr lang="en-US" altLang="ja-JP" sz="1050" dirty="0">
                <a:latin typeface="Segoe UI Semibold" panose="020B0702040204020203" pitchFamily="34" charset="0"/>
                <a:cs typeface="Segoe UI Semibold" panose="020B0702040204020203" pitchFamily="34" charset="0"/>
              </a:rPr>
              <a:t>FlexChroma™</a:t>
            </a:r>
            <a:r>
              <a:rPr lang="ja-JP" altLang="ja-JP" sz="1050" dirty="0"/>
              <a:t>は、市販のフィラメントを組み合わせて「フィラメントそのもの」を生み出すためのモデルです。</a:t>
            </a:r>
          </a:p>
          <a:p>
            <a:r>
              <a:rPr lang="ja-JP" altLang="en-US" sz="1050" dirty="0"/>
              <a:t>印刷されたフィラメントには</a:t>
            </a:r>
            <a:r>
              <a:rPr lang="ja-JP" altLang="ja-JP" sz="1050" dirty="0"/>
              <a:t>どの様な仕様のフィラメントであるかを判別しやすいようにブリムに情報を記載しています。</a:t>
            </a:r>
          </a:p>
          <a:p>
            <a:r>
              <a:rPr lang="ja-JP" altLang="ja-JP" sz="1050" dirty="0"/>
              <a:t>本ガイドではこの情報の読み解き方を説明します。</a:t>
            </a:r>
          </a:p>
          <a:p>
            <a:endParaRPr lang="ja-JP" altLang="ja-JP" sz="600" dirty="0"/>
          </a:p>
        </p:txBody>
      </p:sp>
      <p:sp>
        <p:nvSpPr>
          <p:cNvPr id="21" name="テキスト ボックス 20">
            <a:extLst>
              <a:ext uri="{FF2B5EF4-FFF2-40B4-BE49-F238E27FC236}">
                <a16:creationId xmlns:a16="http://schemas.microsoft.com/office/drawing/2014/main" id="{8FF3FBDF-4091-E9A1-8613-F22F37C40318}"/>
              </a:ext>
            </a:extLst>
          </p:cNvPr>
          <p:cNvSpPr txBox="1"/>
          <p:nvPr/>
        </p:nvSpPr>
        <p:spPr>
          <a:xfrm>
            <a:off x="770844" y="4611744"/>
            <a:ext cx="210666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dirty="0">
                <a:latin typeface="IBM Plex Sans JP SemiBold" panose="020B0703050203000203" pitchFamily="50" charset="-128"/>
                <a:ea typeface="IBM Plex Sans JP SemiBold" panose="020B0703050203000203" pitchFamily="50" charset="-128"/>
              </a:rPr>
              <a:t>ブリムの役割り</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D8AA334E-1E29-97E3-CC51-74A9D80DD7B6}"/>
              </a:ext>
            </a:extLst>
          </p:cNvPr>
          <p:cNvSpPr txBox="1"/>
          <p:nvPr/>
        </p:nvSpPr>
        <p:spPr>
          <a:xfrm>
            <a:off x="661239" y="5034684"/>
            <a:ext cx="5649492" cy="577081"/>
          </a:xfrm>
          <a:prstGeom prst="rect">
            <a:avLst/>
          </a:prstGeom>
          <a:noFill/>
        </p:spPr>
        <p:txBody>
          <a:bodyPr wrap="square" rtlCol="0">
            <a:spAutoFit/>
          </a:bodyPr>
          <a:lstStyle/>
          <a:p>
            <a:r>
              <a:rPr lang="ja-JP" altLang="ja-JP" sz="1050" dirty="0"/>
              <a:t>ブリムには</a:t>
            </a:r>
            <a:r>
              <a:rPr lang="en-US" altLang="ja-JP" sz="1050" dirty="0"/>
              <a:t>2</a:t>
            </a:r>
            <a:r>
              <a:rPr lang="ja-JP" altLang="ja-JP" sz="1050" dirty="0"/>
              <a:t>つの役割を持たせています。１つは定着性の改善であり、２つ目はフィラメント情報の記載です。</a:t>
            </a:r>
          </a:p>
          <a:p>
            <a:r>
              <a:rPr lang="ja-JP" altLang="ja-JP" sz="1050" dirty="0"/>
              <a:t>狭いブリム内にフィラメント情報を記載するため、情報は略語による記載となります。</a:t>
            </a:r>
          </a:p>
        </p:txBody>
      </p:sp>
      <p:sp>
        <p:nvSpPr>
          <p:cNvPr id="31" name="テキスト ボックス 30">
            <a:extLst>
              <a:ext uri="{FF2B5EF4-FFF2-40B4-BE49-F238E27FC236}">
                <a16:creationId xmlns:a16="http://schemas.microsoft.com/office/drawing/2014/main" id="{50A37D53-4BD9-B3E5-B65A-EE0A4F0F19C5}"/>
              </a:ext>
            </a:extLst>
          </p:cNvPr>
          <p:cNvSpPr txBox="1"/>
          <p:nvPr/>
        </p:nvSpPr>
        <p:spPr>
          <a:xfrm>
            <a:off x="1890756" y="1424613"/>
            <a:ext cx="3076483"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ja-JP" altLang="en-US" sz="1600" dirty="0">
                <a:latin typeface="IBM Plex Sans JP" panose="020B0503050203000203" pitchFamily="50" charset="-128"/>
                <a:ea typeface="IBM Plex Sans JP" panose="020B0503050203000203" pitchFamily="50" charset="-128"/>
              </a:rPr>
              <a:t>ブリムから情報を読み解こう</a:t>
            </a:r>
            <a:r>
              <a:rPr lang="en-US" altLang="ja-JP" sz="1600" dirty="0">
                <a:latin typeface="IBM Plex Sans JP" panose="020B0503050203000203" pitchFamily="50" charset="-128"/>
                <a:ea typeface="IBM Plex Sans JP" panose="020B0503050203000203" pitchFamily="50" charset="-128"/>
              </a:rPr>
              <a:t>-</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ED5B19A4-83F3-672F-E441-936192226A0A}"/>
              </a:ext>
            </a:extLst>
          </p:cNvPr>
          <p:cNvSpPr txBox="1"/>
          <p:nvPr/>
        </p:nvSpPr>
        <p:spPr>
          <a:xfrm>
            <a:off x="2381276" y="1883364"/>
            <a:ext cx="190468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2026.7.24</a:t>
            </a:r>
            <a:endParaRPr kumimoji="1" lang="ja-JP" altLang="en-US" sz="1400" dirty="0">
              <a:latin typeface="IBM Plex Sans JP" panose="020B0503050203000203" pitchFamily="50" charset="-128"/>
              <a:ea typeface="IBM Plex Sans JP" panose="020B0503050203000203" pitchFamily="50" charset="-128"/>
            </a:endParaRPr>
          </a:p>
        </p:txBody>
      </p:sp>
      <p:pic>
        <p:nvPicPr>
          <p:cNvPr id="11" name="図 10" descr="ダイアグラム&#10;&#10;AI 生成コンテンツは誤りを含む可能性があります。">
            <a:extLst>
              <a:ext uri="{FF2B5EF4-FFF2-40B4-BE49-F238E27FC236}">
                <a16:creationId xmlns:a16="http://schemas.microsoft.com/office/drawing/2014/main" id="{EFD5ED9E-2623-8FB1-AC19-7403AD9F01D6}"/>
              </a:ext>
            </a:extLst>
          </p:cNvPr>
          <p:cNvPicPr>
            <a:picLocks noChangeAspect="1"/>
          </p:cNvPicPr>
          <p:nvPr/>
        </p:nvPicPr>
        <p:blipFill>
          <a:blip r:embed="rId2"/>
          <a:stretch>
            <a:fillRect/>
          </a:stretch>
        </p:blipFill>
        <p:spPr>
          <a:xfrm>
            <a:off x="910951" y="5860779"/>
            <a:ext cx="5036095" cy="1716479"/>
          </a:xfrm>
          <a:prstGeom prst="rect">
            <a:avLst/>
          </a:prstGeom>
        </p:spPr>
      </p:pic>
      <p:sp>
        <p:nvSpPr>
          <p:cNvPr id="29" name="テキスト ボックス 28">
            <a:extLst>
              <a:ext uri="{FF2B5EF4-FFF2-40B4-BE49-F238E27FC236}">
                <a16:creationId xmlns:a16="http://schemas.microsoft.com/office/drawing/2014/main" id="{FD05C388-EF2F-7366-6FC1-A7C44CC5F185}"/>
              </a:ext>
            </a:extLst>
          </p:cNvPr>
          <p:cNvSpPr txBox="1"/>
          <p:nvPr/>
        </p:nvSpPr>
        <p:spPr>
          <a:xfrm>
            <a:off x="668507" y="7628930"/>
            <a:ext cx="5649492" cy="884858"/>
          </a:xfrm>
          <a:prstGeom prst="rect">
            <a:avLst/>
          </a:prstGeom>
          <a:noFill/>
        </p:spPr>
        <p:txBody>
          <a:bodyPr wrap="square" rtlCol="0">
            <a:spAutoFit/>
          </a:bodyPr>
          <a:lstStyle/>
          <a:p>
            <a:r>
              <a:rPr lang="en-US" altLang="ja-JP" sz="1400" b="1" dirty="0"/>
              <a:t> </a:t>
            </a:r>
            <a:r>
              <a:rPr lang="ja-JP" altLang="ja-JP" sz="1400" b="1" dirty="0"/>
              <a:t>文字の意味</a:t>
            </a:r>
            <a:endParaRPr lang="en-US" altLang="ja-JP" sz="1400" b="1" dirty="0"/>
          </a:p>
          <a:p>
            <a:endParaRPr lang="ja-JP" altLang="ja-JP" sz="600" dirty="0"/>
          </a:p>
          <a:p>
            <a:r>
              <a:rPr lang="ja-JP" altLang="ja-JP" sz="1050" dirty="0"/>
              <a:t>内側のブリムにはどのシリーズの、どのサイズのフィラメントなのか？を記載します。</a:t>
            </a:r>
          </a:p>
          <a:p>
            <a:r>
              <a:rPr lang="ja-JP" altLang="ja-JP" sz="1050" dirty="0"/>
              <a:t>外側のブリムには各シリーズごとに選択した仕様を記載します。</a:t>
            </a:r>
            <a:endParaRPr lang="ja-JP" altLang="ja-JP" sz="1050" dirty="0">
              <a:latin typeface="IBM Plex Sans JP" panose="020B0503050203000203" pitchFamily="50" charset="-128"/>
              <a:ea typeface="IBM Plex Sans JP" panose="020B0503050203000203" pitchFamily="50" charset="-128"/>
            </a:endParaRPr>
          </a:p>
          <a:p>
            <a:endParaRPr lang="ja-JP" altLang="ja-JP" sz="105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890557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77C190-55E6-EFD4-491B-681DC93889D9}"/>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ED88E103-FF66-8FA3-7DB0-D973C2F0C7A3}"/>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フリーフォーム: 図形 26">
            <a:extLst>
              <a:ext uri="{FF2B5EF4-FFF2-40B4-BE49-F238E27FC236}">
                <a16:creationId xmlns:a16="http://schemas.microsoft.com/office/drawing/2014/main" id="{5EA5D42A-9750-E2CD-9F84-49C8D25CECE9}"/>
              </a:ext>
            </a:extLst>
          </p:cNvPr>
          <p:cNvSpPr/>
          <p:nvPr/>
        </p:nvSpPr>
        <p:spPr>
          <a:xfrm>
            <a:off x="14539" y="0"/>
            <a:ext cx="6858000" cy="9144000"/>
          </a:xfrm>
          <a:custGeom>
            <a:avLst/>
            <a:gdLst>
              <a:gd name="connsiteX0" fmla="*/ 3720305 w 6858000"/>
              <a:gd name="connsiteY0" fmla="*/ 8661917 h 9144000"/>
              <a:gd name="connsiteX1" fmla="*/ 3720305 w 6858000"/>
              <a:gd name="connsiteY1" fmla="*/ 8715917 h 9144000"/>
              <a:gd name="connsiteX2" fmla="*/ 6312305 w 6858000"/>
              <a:gd name="connsiteY2" fmla="*/ 8715917 h 9144000"/>
              <a:gd name="connsiteX3" fmla="*/ 6312305 w 6858000"/>
              <a:gd name="connsiteY3" fmla="*/ 8661917 h 9144000"/>
              <a:gd name="connsiteX4" fmla="*/ 539999 w 6858000"/>
              <a:gd name="connsiteY4" fmla="*/ 8661917 h 9144000"/>
              <a:gd name="connsiteX5" fmla="*/ 539999 w 6858000"/>
              <a:gd name="connsiteY5" fmla="*/ 8715917 h 9144000"/>
              <a:gd name="connsiteX6" fmla="*/ 3131999 w 6858000"/>
              <a:gd name="connsiteY6" fmla="*/ 8715917 h 9144000"/>
              <a:gd name="connsiteX7" fmla="*/ 3131999 w 6858000"/>
              <a:gd name="connsiteY7" fmla="*/ 8661917 h 9144000"/>
              <a:gd name="connsiteX8" fmla="*/ 653971 w 6858000"/>
              <a:gd name="connsiteY8" fmla="*/ 5989159 h 9144000"/>
              <a:gd name="connsiteX9" fmla="*/ 551636 w 6858000"/>
              <a:gd name="connsiteY9" fmla="*/ 6091494 h 9144000"/>
              <a:gd name="connsiteX10" fmla="*/ 653971 w 6858000"/>
              <a:gd name="connsiteY10" fmla="*/ 6193829 h 9144000"/>
              <a:gd name="connsiteX11" fmla="*/ 756306 w 6858000"/>
              <a:gd name="connsiteY11" fmla="*/ 6091494 h 9144000"/>
              <a:gd name="connsiteX12" fmla="*/ 653971 w 6858000"/>
              <a:gd name="connsiteY12" fmla="*/ 5989159 h 9144000"/>
              <a:gd name="connsiteX13" fmla="*/ 653971 w 6858000"/>
              <a:gd name="connsiteY13" fmla="*/ 2527150 h 9144000"/>
              <a:gd name="connsiteX14" fmla="*/ 551636 w 6858000"/>
              <a:gd name="connsiteY14" fmla="*/ 2629485 h 9144000"/>
              <a:gd name="connsiteX15" fmla="*/ 653971 w 6858000"/>
              <a:gd name="connsiteY15" fmla="*/ 2731820 h 9144000"/>
              <a:gd name="connsiteX16" fmla="*/ 756306 w 6858000"/>
              <a:gd name="connsiteY16" fmla="*/ 2629485 h 9144000"/>
              <a:gd name="connsiteX17" fmla="*/ 653971 w 6858000"/>
              <a:gd name="connsiteY17" fmla="*/ 2527150 h 9144000"/>
              <a:gd name="connsiteX18" fmla="*/ 654115 w 6858000"/>
              <a:gd name="connsiteY18" fmla="*/ 758160 h 9144000"/>
              <a:gd name="connsiteX19" fmla="*/ 577229 w 6858000"/>
              <a:gd name="connsiteY19" fmla="*/ 835046 h 9144000"/>
              <a:gd name="connsiteX20" fmla="*/ 654115 w 6858000"/>
              <a:gd name="connsiteY20" fmla="*/ 911932 h 9144000"/>
              <a:gd name="connsiteX21" fmla="*/ 731001 w 6858000"/>
              <a:gd name="connsiteY21" fmla="*/ 835046 h 9144000"/>
              <a:gd name="connsiteX22" fmla="*/ 654115 w 6858000"/>
              <a:gd name="connsiteY22" fmla="*/ 758160 h 9144000"/>
              <a:gd name="connsiteX23" fmla="*/ 539998 w 6858000"/>
              <a:gd name="connsiteY23" fmla="*/ 423893 h 9144000"/>
              <a:gd name="connsiteX24" fmla="*/ 539998 w 6858000"/>
              <a:gd name="connsiteY24" fmla="*/ 477893 h 9144000"/>
              <a:gd name="connsiteX25" fmla="*/ 6296191 w 6858000"/>
              <a:gd name="connsiteY25" fmla="*/ 477893 h 9144000"/>
              <a:gd name="connsiteX26" fmla="*/ 6296191 w 6858000"/>
              <a:gd name="connsiteY26" fmla="*/ 423893 h 9144000"/>
              <a:gd name="connsiteX27" fmla="*/ 0 w 6858000"/>
              <a:gd name="connsiteY27" fmla="*/ 0 h 9144000"/>
              <a:gd name="connsiteX28" fmla="*/ 6858000 w 6858000"/>
              <a:gd name="connsiteY28" fmla="*/ 0 h 9144000"/>
              <a:gd name="connsiteX29" fmla="*/ 6858000 w 6858000"/>
              <a:gd name="connsiteY29" fmla="*/ 9144000 h 9144000"/>
              <a:gd name="connsiteX30" fmla="*/ 0 w 6858000"/>
              <a:gd name="connsiteY30"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858000" h="9144000">
                <a:moveTo>
                  <a:pt x="3720305" y="8661917"/>
                </a:moveTo>
                <a:lnTo>
                  <a:pt x="3720305" y="8715917"/>
                </a:lnTo>
                <a:lnTo>
                  <a:pt x="6312305" y="8715917"/>
                </a:lnTo>
                <a:lnTo>
                  <a:pt x="6312305" y="8661917"/>
                </a:lnTo>
                <a:close/>
                <a:moveTo>
                  <a:pt x="539999" y="8661917"/>
                </a:moveTo>
                <a:lnTo>
                  <a:pt x="539999" y="8715917"/>
                </a:lnTo>
                <a:lnTo>
                  <a:pt x="3131999" y="8715917"/>
                </a:lnTo>
                <a:lnTo>
                  <a:pt x="3131999" y="8661917"/>
                </a:lnTo>
                <a:close/>
                <a:moveTo>
                  <a:pt x="653971" y="5989159"/>
                </a:moveTo>
                <a:cubicBezTo>
                  <a:pt x="597453" y="5989159"/>
                  <a:pt x="551636" y="6034976"/>
                  <a:pt x="551636" y="6091494"/>
                </a:cubicBezTo>
                <a:cubicBezTo>
                  <a:pt x="551636" y="6148012"/>
                  <a:pt x="597453" y="6193829"/>
                  <a:pt x="653971" y="6193829"/>
                </a:cubicBezTo>
                <a:cubicBezTo>
                  <a:pt x="710489" y="6193829"/>
                  <a:pt x="756306" y="6148012"/>
                  <a:pt x="756306" y="6091494"/>
                </a:cubicBezTo>
                <a:cubicBezTo>
                  <a:pt x="756306" y="6034976"/>
                  <a:pt x="710489" y="5989159"/>
                  <a:pt x="653971" y="5989159"/>
                </a:cubicBezTo>
                <a:close/>
                <a:moveTo>
                  <a:pt x="653971" y="2527150"/>
                </a:moveTo>
                <a:cubicBezTo>
                  <a:pt x="597453" y="2527150"/>
                  <a:pt x="551636" y="2572967"/>
                  <a:pt x="551636" y="2629485"/>
                </a:cubicBezTo>
                <a:cubicBezTo>
                  <a:pt x="551636" y="2686003"/>
                  <a:pt x="597453" y="2731820"/>
                  <a:pt x="653971" y="2731820"/>
                </a:cubicBezTo>
                <a:cubicBezTo>
                  <a:pt x="710489" y="2731820"/>
                  <a:pt x="756306" y="2686003"/>
                  <a:pt x="756306" y="2629485"/>
                </a:cubicBezTo>
                <a:cubicBezTo>
                  <a:pt x="756306" y="2572967"/>
                  <a:pt x="710489" y="2527150"/>
                  <a:pt x="653971" y="2527150"/>
                </a:cubicBezTo>
                <a:close/>
                <a:moveTo>
                  <a:pt x="654115" y="758160"/>
                </a:moveTo>
                <a:cubicBezTo>
                  <a:pt x="611652" y="758160"/>
                  <a:pt x="577229" y="792583"/>
                  <a:pt x="577229" y="835046"/>
                </a:cubicBezTo>
                <a:cubicBezTo>
                  <a:pt x="577229" y="877509"/>
                  <a:pt x="611652" y="911932"/>
                  <a:pt x="654115" y="911932"/>
                </a:cubicBezTo>
                <a:cubicBezTo>
                  <a:pt x="696578" y="911932"/>
                  <a:pt x="731001" y="877509"/>
                  <a:pt x="731001" y="835046"/>
                </a:cubicBezTo>
                <a:cubicBezTo>
                  <a:pt x="731001" y="792583"/>
                  <a:pt x="696578" y="758160"/>
                  <a:pt x="654115" y="758160"/>
                </a:cubicBezTo>
                <a:close/>
                <a:moveTo>
                  <a:pt x="539998" y="423893"/>
                </a:moveTo>
                <a:lnTo>
                  <a:pt x="539998" y="477893"/>
                </a:lnTo>
                <a:lnTo>
                  <a:pt x="6296191" y="477893"/>
                </a:lnTo>
                <a:lnTo>
                  <a:pt x="6296191" y="423893"/>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F74192C9-9E17-B9AC-8DDC-9D23C21F6F04}"/>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3" name="テキスト ボックス 2">
            <a:extLst>
              <a:ext uri="{FF2B5EF4-FFF2-40B4-BE49-F238E27FC236}">
                <a16:creationId xmlns:a16="http://schemas.microsoft.com/office/drawing/2014/main" id="{76FB88D8-934A-FBDC-EDBF-263508337E95}"/>
              </a:ext>
            </a:extLst>
          </p:cNvPr>
          <p:cNvSpPr txBox="1"/>
          <p:nvPr/>
        </p:nvSpPr>
        <p:spPr>
          <a:xfrm>
            <a:off x="770844" y="2461623"/>
            <a:ext cx="3052439" cy="769441"/>
          </a:xfrm>
          <a:prstGeom prst="rect">
            <a:avLst/>
          </a:prstGeom>
          <a:noFill/>
        </p:spPr>
        <p:txBody>
          <a:bodyPr wrap="none" rtlCol="0">
            <a:spAutoFit/>
          </a:bodyPr>
          <a:lstStyle/>
          <a:p>
            <a:r>
              <a:rPr lang="en-US" altLang="ja-JP" sz="2000" dirty="0">
                <a:latin typeface="IBM Plex Sans JP Medium" panose="020B0603050203000203" pitchFamily="50" charset="-128"/>
                <a:ea typeface="IBM Plex Sans JP Medium" panose="020B0603050203000203" pitchFamily="50" charset="-128"/>
              </a:rPr>
              <a:t>3. </a:t>
            </a:r>
            <a:r>
              <a:rPr lang="ja-JP" altLang="en-US" sz="2000" dirty="0">
                <a:latin typeface="IBM Plex Sans JP Medium" panose="020B0603050203000203" pitchFamily="50" charset="-128"/>
                <a:ea typeface="IBM Plex Sans JP Medium" panose="020B0603050203000203" pitchFamily="50" charset="-128"/>
              </a:rPr>
              <a:t>各シリーズごとの情報</a:t>
            </a:r>
            <a:endParaRPr lang="ja-JP" altLang="ja-JP" b="1" dirty="0">
              <a:latin typeface="IBM Plex Sans JP Medium" panose="020B0603050203000203" pitchFamily="50" charset="-128"/>
              <a:ea typeface="IBM Plex Sans JP Medium" panose="020B0603050203000203" pitchFamily="50" charset="-128"/>
            </a:endParaRPr>
          </a:p>
          <a:p>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BBED467A-A3C1-5809-D7F4-CA9E33D4FFD2}"/>
              </a:ext>
            </a:extLst>
          </p:cNvPr>
          <p:cNvSpPr txBox="1"/>
          <p:nvPr/>
        </p:nvSpPr>
        <p:spPr>
          <a:xfrm>
            <a:off x="668508" y="2838257"/>
            <a:ext cx="5649491" cy="415498"/>
          </a:xfrm>
          <a:prstGeom prst="rect">
            <a:avLst/>
          </a:prstGeom>
          <a:noFill/>
        </p:spPr>
        <p:txBody>
          <a:bodyPr wrap="square" rtlCol="0">
            <a:spAutoFit/>
          </a:bodyPr>
          <a:lstStyle/>
          <a:p>
            <a:r>
              <a:rPr lang="ja-JP" altLang="ja-JP" sz="1050" dirty="0">
                <a:latin typeface="IBM Plex Sans JP" panose="020B0503050203000203" pitchFamily="50" charset="-128"/>
                <a:ea typeface="IBM Plex Sans JP" panose="020B0503050203000203" pitchFamily="50" charset="-128"/>
              </a:rPr>
              <a:t>前項では基本的な情報の考えかたを書きましたが、各</a:t>
            </a:r>
            <a:r>
              <a:rPr lang="en-US" altLang="ja-JP" sz="1050" dirty="0">
                <a:latin typeface="IBM Plex Sans JP" panose="020B0503050203000203" pitchFamily="50" charset="-128"/>
                <a:ea typeface="IBM Plex Sans JP" panose="020B0503050203000203" pitchFamily="50" charset="-128"/>
              </a:rPr>
              <a:t>Text</a:t>
            </a:r>
            <a:r>
              <a:rPr lang="ja-JP" altLang="ja-JP" sz="1050" dirty="0">
                <a:latin typeface="IBM Plex Sans JP" panose="020B0503050203000203" pitchFamily="50" charset="-128"/>
                <a:ea typeface="IBM Plex Sans JP" panose="020B0503050203000203" pitchFamily="50" charset="-128"/>
              </a:rPr>
              <a:t>情報はシリーズによって異なります。このシリーズごとの情報一覧を下記に示します。</a:t>
            </a:r>
          </a:p>
        </p:txBody>
      </p:sp>
      <p:sp>
        <p:nvSpPr>
          <p:cNvPr id="12" name="テキスト ボックス 11">
            <a:extLst>
              <a:ext uri="{FF2B5EF4-FFF2-40B4-BE49-F238E27FC236}">
                <a16:creationId xmlns:a16="http://schemas.microsoft.com/office/drawing/2014/main" id="{36924E32-01C2-6023-5099-6D01C9AB0BB7}"/>
              </a:ext>
            </a:extLst>
          </p:cNvPr>
          <p:cNvSpPr txBox="1"/>
          <p:nvPr/>
        </p:nvSpPr>
        <p:spPr>
          <a:xfrm>
            <a:off x="770844" y="5937603"/>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DE6923F3-B907-F234-3F6F-799A1399EC4A}"/>
              </a:ext>
            </a:extLst>
          </p:cNvPr>
          <p:cNvSpPr txBox="1"/>
          <p:nvPr/>
        </p:nvSpPr>
        <p:spPr>
          <a:xfrm>
            <a:off x="668509" y="6317254"/>
            <a:ext cx="5642222" cy="1708160"/>
          </a:xfrm>
          <a:prstGeom prst="rect">
            <a:avLst/>
          </a:prstGeom>
          <a:noFill/>
        </p:spPr>
        <p:txBody>
          <a:bodyPr wrap="square" rtlCol="0">
            <a:spAutoFit/>
          </a:bodyPr>
          <a:lstStyle/>
          <a:p>
            <a:r>
              <a:rPr lang="en-US" altLang="ja-JP" sz="1050" dirty="0"/>
              <a:t>Blend Filament</a:t>
            </a:r>
            <a:r>
              <a:rPr lang="ja-JP" altLang="ja-JP" sz="1050" dirty="0"/>
              <a:t>は</a:t>
            </a:r>
            <a:r>
              <a:rPr lang="en-US" altLang="ja-JP" sz="1050" dirty="0"/>
              <a:t>2</a:t>
            </a:r>
            <a:r>
              <a:rPr lang="ja-JP" altLang="ja-JP" sz="1050" dirty="0"/>
              <a:t>つのフィラメントを様々な混合比で混ぜ合わせ、新しい色を作ることが出来るシリーズです。</a:t>
            </a:r>
          </a:p>
          <a:p>
            <a:r>
              <a:rPr lang="ja-JP" altLang="ja-JP" sz="1050" dirty="0"/>
              <a:t>シンプルな構造のため他のシリーズと比べ情報が少なく、外側ブリムの</a:t>
            </a:r>
            <a:r>
              <a:rPr lang="en-US" altLang="ja-JP" sz="1050" dirty="0"/>
              <a:t>Text</a:t>
            </a:r>
            <a:r>
              <a:rPr lang="ja-JP" altLang="ja-JP" sz="1050" dirty="0"/>
              <a:t>は１段のみとなります。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BL</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endParaRPr lang="en-US" altLang="ja-JP" sz="1050" dirty="0"/>
          </a:p>
          <a:p>
            <a:endParaRPr lang="ja-JP" altLang="ja-JP" sz="1050" dirty="0"/>
          </a:p>
          <a:p>
            <a:r>
              <a:rPr lang="ja-JP" altLang="ja-JP" sz="1050" dirty="0"/>
              <a:t>例：</a:t>
            </a:r>
            <a:r>
              <a:rPr lang="ja-JP" altLang="en-US" sz="1050" dirty="0"/>
              <a:t>    </a:t>
            </a:r>
            <a:r>
              <a:rPr lang="en-US" altLang="ja-JP" sz="1050" dirty="0"/>
              <a:t>BL/M4</a:t>
            </a:r>
            <a:r>
              <a:rPr lang="ja-JP" altLang="ja-JP" sz="1050" dirty="0"/>
              <a:t>　</a:t>
            </a:r>
            <a:r>
              <a:rPr lang="en-US" altLang="ja-JP" sz="1050" dirty="0"/>
              <a:t> (Blend Filament M4 model</a:t>
            </a:r>
            <a:r>
              <a:rPr lang="ja-JP" altLang="ja-JP" sz="1050" dirty="0"/>
              <a:t>を示す</a:t>
            </a:r>
            <a:r>
              <a:rPr lang="en-US" altLang="ja-JP" sz="1050" dirty="0"/>
              <a:t>)</a:t>
            </a:r>
            <a:endParaRPr lang="ja-JP" altLang="ja-JP" sz="1050" dirty="0"/>
          </a:p>
        </p:txBody>
      </p:sp>
      <p:sp>
        <p:nvSpPr>
          <p:cNvPr id="4" name="テキスト ボックス 3">
            <a:extLst>
              <a:ext uri="{FF2B5EF4-FFF2-40B4-BE49-F238E27FC236}">
                <a16:creationId xmlns:a16="http://schemas.microsoft.com/office/drawing/2014/main" id="{453A0A65-FA4E-0962-FADD-634BAF9524E2}"/>
              </a:ext>
            </a:extLst>
          </p:cNvPr>
          <p:cNvSpPr txBox="1"/>
          <p:nvPr/>
        </p:nvSpPr>
        <p:spPr>
          <a:xfrm>
            <a:off x="675777" y="724558"/>
            <a:ext cx="5649492" cy="1515800"/>
          </a:xfrm>
          <a:prstGeom prst="rect">
            <a:avLst/>
          </a:prstGeom>
          <a:noFill/>
        </p:spPr>
        <p:txBody>
          <a:bodyPr wrap="square" rtlCol="0">
            <a:spAutoFit/>
          </a:bodyPr>
          <a:lstStyle/>
          <a:p>
            <a:r>
              <a:rPr lang="en-US" altLang="ja-JP" sz="1300" dirty="0">
                <a:latin typeface="IBM Plex Sans JP Medium" panose="020B0603050203000203" pitchFamily="50" charset="-128"/>
                <a:ea typeface="IBM Plex Sans JP Medium" panose="020B0603050203000203" pitchFamily="50" charset="-128"/>
              </a:rPr>
              <a:t> </a:t>
            </a:r>
            <a:r>
              <a:rPr lang="ja-JP" altLang="ja-JP" sz="1300" b="1" dirty="0"/>
              <a:t>色の意味</a:t>
            </a:r>
            <a:endParaRPr lang="ja-JP" altLang="ja-JP" sz="1300" dirty="0"/>
          </a:p>
          <a:p>
            <a:br>
              <a:rPr lang="en-US" altLang="ja-JP" sz="600" dirty="0"/>
            </a:br>
            <a:r>
              <a:rPr lang="ja-JP" altLang="ja-JP" sz="1050" dirty="0"/>
              <a:t>外側のブリムの色はベースカラーを示します。</a:t>
            </a:r>
          </a:p>
          <a:p>
            <a:r>
              <a:rPr lang="ja-JP" altLang="ja-JP" sz="1050" dirty="0"/>
              <a:t>内側のブリムの色は特段の意味を持ちません。</a:t>
            </a:r>
            <a:br>
              <a:rPr lang="en-US" altLang="ja-JP" sz="1050" dirty="0"/>
            </a:br>
            <a:r>
              <a:rPr lang="ja-JP" altLang="ja-JP" sz="1050" dirty="0"/>
              <a:t>外側のブリムの上段に記載する文字は２番目の色を示します。</a:t>
            </a:r>
          </a:p>
          <a:p>
            <a:r>
              <a:rPr lang="ja-JP" altLang="ja-JP" sz="1050" dirty="0"/>
              <a:t>下段に記載する文字の色は存在する場合は３番目の色をを示し、そうでない場合は２番目の色を示します。</a:t>
            </a:r>
          </a:p>
          <a:p>
            <a:r>
              <a:rPr lang="ja-JP" altLang="ja-JP" sz="1050" dirty="0"/>
              <a:t>内側のブリムに記載する文字の色は存在する場合は４番目の色をを示し、そうでない場合は２番目の色を示します。</a:t>
            </a:r>
          </a:p>
        </p:txBody>
      </p:sp>
      <p:pic>
        <p:nvPicPr>
          <p:cNvPr id="19" name="図 18">
            <a:extLst>
              <a:ext uri="{FF2B5EF4-FFF2-40B4-BE49-F238E27FC236}">
                <a16:creationId xmlns:a16="http://schemas.microsoft.com/office/drawing/2014/main" id="{0B5659A5-B11E-9F94-C69A-B23B9C7DBF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897" y="3322374"/>
            <a:ext cx="5649492" cy="2178222"/>
          </a:xfrm>
          <a:prstGeom prst="rect">
            <a:avLst/>
          </a:prstGeom>
          <a:noFill/>
          <a:extLst>
            <a:ext uri="{909E8E84-426E-40DD-AFC4-6F175D3DCCD1}">
              <a14:hiddenFill xmlns:a14="http://schemas.microsoft.com/office/drawing/2010/main">
                <a:solidFill>
                  <a:srgbClr val="FFFFFF"/>
                </a:solidFill>
              </a14:hiddenFill>
            </a:ext>
          </a:extLst>
        </p:spPr>
      </p:pic>
      <p:sp>
        <p:nvSpPr>
          <p:cNvPr id="30" name="四角形: 角を丸くする 29">
            <a:extLst>
              <a:ext uri="{FF2B5EF4-FFF2-40B4-BE49-F238E27FC236}">
                <a16:creationId xmlns:a16="http://schemas.microsoft.com/office/drawing/2014/main" id="{6316493A-60BD-408C-E622-20447D186781}"/>
              </a:ext>
            </a:extLst>
          </p:cNvPr>
          <p:cNvSpPr/>
          <p:nvPr/>
        </p:nvSpPr>
        <p:spPr>
          <a:xfrm>
            <a:off x="1043874" y="7734048"/>
            <a:ext cx="629752" cy="262791"/>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037727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E0FA9-EE82-2662-04E5-D9C12E9BCF39}"/>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8F7BBCC8-322E-ED6E-4C1A-EF6362310695}"/>
              </a:ext>
            </a:extLst>
          </p:cNvPr>
          <p:cNvSpPr/>
          <p:nvPr/>
        </p:nvSpPr>
        <p:spPr>
          <a:xfrm>
            <a:off x="56125" y="51987"/>
            <a:ext cx="6722870" cy="8963827"/>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8" name="フリーフォーム: 図形 27">
            <a:extLst>
              <a:ext uri="{FF2B5EF4-FFF2-40B4-BE49-F238E27FC236}">
                <a16:creationId xmlns:a16="http://schemas.microsoft.com/office/drawing/2014/main" id="{8C69394B-E297-0C5B-81F8-16233AB7CB52}"/>
              </a:ext>
            </a:extLst>
          </p:cNvPr>
          <p:cNvSpPr/>
          <p:nvPr/>
        </p:nvSpPr>
        <p:spPr>
          <a:xfrm>
            <a:off x="9525" y="5531"/>
            <a:ext cx="6858000" cy="9144000"/>
          </a:xfrm>
          <a:custGeom>
            <a:avLst/>
            <a:gdLst>
              <a:gd name="connsiteX0" fmla="*/ 3725319 w 6858000"/>
              <a:gd name="connsiteY0" fmla="*/ 8656386 h 9144000"/>
              <a:gd name="connsiteX1" fmla="*/ 3725319 w 6858000"/>
              <a:gd name="connsiteY1" fmla="*/ 8710386 h 9144000"/>
              <a:gd name="connsiteX2" fmla="*/ 6317319 w 6858000"/>
              <a:gd name="connsiteY2" fmla="*/ 8710386 h 9144000"/>
              <a:gd name="connsiteX3" fmla="*/ 6317319 w 6858000"/>
              <a:gd name="connsiteY3" fmla="*/ 8656386 h 9144000"/>
              <a:gd name="connsiteX4" fmla="*/ 545013 w 6858000"/>
              <a:gd name="connsiteY4" fmla="*/ 8656386 h 9144000"/>
              <a:gd name="connsiteX5" fmla="*/ 545013 w 6858000"/>
              <a:gd name="connsiteY5" fmla="*/ 8710386 h 9144000"/>
              <a:gd name="connsiteX6" fmla="*/ 3137013 w 6858000"/>
              <a:gd name="connsiteY6" fmla="*/ 8710386 h 9144000"/>
              <a:gd name="connsiteX7" fmla="*/ 3137013 w 6858000"/>
              <a:gd name="connsiteY7" fmla="*/ 8656386 h 9144000"/>
              <a:gd name="connsiteX8" fmla="*/ 657378 w 6858000"/>
              <a:gd name="connsiteY8" fmla="*/ 6173765 h 9144000"/>
              <a:gd name="connsiteX9" fmla="*/ 555043 w 6858000"/>
              <a:gd name="connsiteY9" fmla="*/ 6266797 h 9144000"/>
              <a:gd name="connsiteX10" fmla="*/ 657378 w 6858000"/>
              <a:gd name="connsiteY10" fmla="*/ 6359829 h 9144000"/>
              <a:gd name="connsiteX11" fmla="*/ 759713 w 6858000"/>
              <a:gd name="connsiteY11" fmla="*/ 6266797 h 9144000"/>
              <a:gd name="connsiteX12" fmla="*/ 657378 w 6858000"/>
              <a:gd name="connsiteY12" fmla="*/ 6173765 h 9144000"/>
              <a:gd name="connsiteX13" fmla="*/ 658985 w 6858000"/>
              <a:gd name="connsiteY13" fmla="*/ 3473536 h 9144000"/>
              <a:gd name="connsiteX14" fmla="*/ 582099 w 6858000"/>
              <a:gd name="connsiteY14" fmla="*/ 3550422 h 9144000"/>
              <a:gd name="connsiteX15" fmla="*/ 658985 w 6858000"/>
              <a:gd name="connsiteY15" fmla="*/ 3627308 h 9144000"/>
              <a:gd name="connsiteX16" fmla="*/ 735871 w 6858000"/>
              <a:gd name="connsiteY16" fmla="*/ 3550422 h 9144000"/>
              <a:gd name="connsiteX17" fmla="*/ 658985 w 6858000"/>
              <a:gd name="connsiteY17" fmla="*/ 3473536 h 9144000"/>
              <a:gd name="connsiteX18" fmla="*/ 545012 w 6858000"/>
              <a:gd name="connsiteY18" fmla="*/ 418362 h 9144000"/>
              <a:gd name="connsiteX19" fmla="*/ 545012 w 6858000"/>
              <a:gd name="connsiteY19" fmla="*/ 472362 h 9144000"/>
              <a:gd name="connsiteX20" fmla="*/ 6301205 w 6858000"/>
              <a:gd name="connsiteY20" fmla="*/ 472362 h 9144000"/>
              <a:gd name="connsiteX21" fmla="*/ 6301205 w 6858000"/>
              <a:gd name="connsiteY21" fmla="*/ 418362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5319" y="8656386"/>
                </a:moveTo>
                <a:lnTo>
                  <a:pt x="3725319" y="8710386"/>
                </a:lnTo>
                <a:lnTo>
                  <a:pt x="6317319" y="8710386"/>
                </a:lnTo>
                <a:lnTo>
                  <a:pt x="6317319" y="8656386"/>
                </a:lnTo>
                <a:close/>
                <a:moveTo>
                  <a:pt x="545013" y="8656386"/>
                </a:moveTo>
                <a:lnTo>
                  <a:pt x="545013" y="8710386"/>
                </a:lnTo>
                <a:lnTo>
                  <a:pt x="3137013" y="8710386"/>
                </a:lnTo>
                <a:lnTo>
                  <a:pt x="3137013" y="8656386"/>
                </a:lnTo>
                <a:close/>
                <a:moveTo>
                  <a:pt x="657378" y="6173765"/>
                </a:moveTo>
                <a:cubicBezTo>
                  <a:pt x="600860" y="6173765"/>
                  <a:pt x="555043" y="6215417"/>
                  <a:pt x="555043" y="6266797"/>
                </a:cubicBezTo>
                <a:cubicBezTo>
                  <a:pt x="555043" y="6318177"/>
                  <a:pt x="600860" y="6359829"/>
                  <a:pt x="657378" y="6359829"/>
                </a:cubicBezTo>
                <a:cubicBezTo>
                  <a:pt x="713896" y="6359829"/>
                  <a:pt x="759713" y="6318177"/>
                  <a:pt x="759713" y="6266797"/>
                </a:cubicBezTo>
                <a:cubicBezTo>
                  <a:pt x="759713" y="6215417"/>
                  <a:pt x="713896" y="6173765"/>
                  <a:pt x="657378" y="6173765"/>
                </a:cubicBezTo>
                <a:close/>
                <a:moveTo>
                  <a:pt x="658985" y="3473536"/>
                </a:moveTo>
                <a:cubicBezTo>
                  <a:pt x="616522" y="3473536"/>
                  <a:pt x="582099" y="3507959"/>
                  <a:pt x="582099" y="3550422"/>
                </a:cubicBezTo>
                <a:cubicBezTo>
                  <a:pt x="582099" y="3592885"/>
                  <a:pt x="616522" y="3627308"/>
                  <a:pt x="658985" y="3627308"/>
                </a:cubicBezTo>
                <a:cubicBezTo>
                  <a:pt x="701448" y="3627308"/>
                  <a:pt x="735871" y="3592885"/>
                  <a:pt x="735871" y="3550422"/>
                </a:cubicBezTo>
                <a:cubicBezTo>
                  <a:pt x="735871" y="3507959"/>
                  <a:pt x="701448" y="3473536"/>
                  <a:pt x="658985" y="3473536"/>
                </a:cubicBezTo>
                <a:close/>
                <a:moveTo>
                  <a:pt x="545012" y="418362"/>
                </a:moveTo>
                <a:lnTo>
                  <a:pt x="545012" y="472362"/>
                </a:lnTo>
                <a:lnTo>
                  <a:pt x="6301205" y="472362"/>
                </a:lnTo>
                <a:lnTo>
                  <a:pt x="6301205" y="418362"/>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55E7FE-72E8-AEBD-8CA6-F58CC98D5B1B}"/>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F124513A-D554-6C08-13C8-FA017FE442C9}"/>
              </a:ext>
            </a:extLst>
          </p:cNvPr>
          <p:cNvSpPr txBox="1"/>
          <p:nvPr/>
        </p:nvSpPr>
        <p:spPr>
          <a:xfrm>
            <a:off x="770844" y="3414308"/>
            <a:ext cx="2675732"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4-1. Blend Color Checker</a:t>
            </a:r>
            <a:endParaRPr kumimoji="1" lang="ja-JP" altLang="en-US" sz="16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D9D4B3F2-F9CF-7585-861C-805DB1A013E8}"/>
              </a:ext>
            </a:extLst>
          </p:cNvPr>
          <p:cNvSpPr txBox="1"/>
          <p:nvPr/>
        </p:nvSpPr>
        <p:spPr>
          <a:xfrm>
            <a:off x="668508" y="3803395"/>
            <a:ext cx="5649491" cy="1384995"/>
          </a:xfrm>
          <a:prstGeom prst="rect">
            <a:avLst/>
          </a:prstGeom>
          <a:noFill/>
        </p:spPr>
        <p:txBody>
          <a:bodyPr wrap="square" rtlCol="0">
            <a:spAutoFit/>
          </a:bodyPr>
          <a:lstStyle/>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ブリム内側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シリーズ略称「</a:t>
            </a:r>
            <a:r>
              <a:rPr lang="en-US" altLang="ja-JP" sz="1050" dirty="0">
                <a:latin typeface="IBM Plex Sans JP" panose="020B0503050203000203" pitchFamily="50" charset="-128"/>
                <a:ea typeface="IBM Plex Sans JP" panose="020B0503050203000203" pitchFamily="50" charset="-128"/>
              </a:rPr>
              <a:t>BL</a:t>
            </a:r>
            <a:r>
              <a:rPr lang="ja-JP" altLang="en-US" sz="1050" dirty="0">
                <a:latin typeface="IBM Plex Sans JP" panose="020B0503050203000203" pitchFamily="50" charset="-128"/>
                <a:ea typeface="IBM Plex Sans JP" panose="020B0503050203000203" pitchFamily="50" charset="-128"/>
              </a:rPr>
              <a:t>」の後に「</a:t>
            </a:r>
            <a:r>
              <a:rPr lang="en-US" altLang="ja-JP" sz="1050" dirty="0">
                <a:latin typeface="IBM Plex Sans JP" panose="020B0503050203000203" pitchFamily="50" charset="-128"/>
                <a:ea typeface="IBM Plex Sans JP" panose="020B0503050203000203" pitchFamily="50" charset="-128"/>
              </a:rPr>
              <a:t>/</a:t>
            </a:r>
            <a:r>
              <a:rPr lang="ja-JP" altLang="en-US" sz="1050" dirty="0">
                <a:latin typeface="IBM Plex Sans JP" panose="020B0503050203000203" pitchFamily="50" charset="-128"/>
                <a:ea typeface="IBM Plex Sans JP" panose="020B0503050203000203" pitchFamily="50" charset="-128"/>
              </a:rPr>
              <a:t>」と、ツールの略称「</a:t>
            </a:r>
            <a:r>
              <a:rPr lang="en-US" altLang="ja-JP" sz="1050" dirty="0">
                <a:latin typeface="IBM Plex Sans JP" panose="020B0503050203000203" pitchFamily="50" charset="-128"/>
                <a:ea typeface="IBM Plex Sans JP" panose="020B0503050203000203" pitchFamily="50" charset="-128"/>
              </a:rPr>
              <a:t>T1</a:t>
            </a:r>
            <a:r>
              <a:rPr lang="ja-JP" altLang="en-US" sz="1050" dirty="0">
                <a:latin typeface="IBM Plex Sans JP" panose="020B0503050203000203" pitchFamily="50" charset="-128"/>
                <a:ea typeface="IBM Plex Sans JP" panose="020B0503050203000203" pitchFamily="50" charset="-128"/>
              </a:rPr>
              <a:t>」が続きます。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ja-JP" altLang="en-US" sz="1050" dirty="0">
                <a:latin typeface="IBM Plex Sans JP" panose="020B0503050203000203" pitchFamily="50" charset="-128"/>
                <a:ea typeface="IBM Plex Sans JP" panose="020B0503050203000203" pitchFamily="50" charset="-128"/>
              </a:rPr>
              <a:t>例：   </a:t>
            </a:r>
            <a:r>
              <a:rPr lang="en-US" altLang="ja-JP" sz="1050" dirty="0">
                <a:latin typeface="IBM Plex Sans JP" panose="020B0503050203000203" pitchFamily="50" charset="-128"/>
                <a:ea typeface="IBM Plex Sans JP" panose="020B0503050203000203" pitchFamily="50" charset="-128"/>
              </a:rPr>
              <a:t>BL/T1    </a:t>
            </a:r>
            <a:r>
              <a:rPr lang="ja-JP" altLang="en-US" sz="1050" dirty="0">
                <a:latin typeface="IBM Plex Sans JP" panose="020B0503050203000203" pitchFamily="50" charset="-128"/>
                <a:ea typeface="IBM Plex Sans JP" panose="020B0503050203000203" pitchFamily="50" charset="-128"/>
              </a:rPr>
              <a:t>は、ブレンドカラーチェッカーを示します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ブリム外側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ブレンドフィラメントモデルには、「</a:t>
            </a:r>
            <a:r>
              <a:rPr lang="en-US" altLang="ja-JP" sz="1050" dirty="0">
                <a:latin typeface="IBM Plex Sans JP" panose="020B0503050203000203" pitchFamily="50" charset="-128"/>
                <a:ea typeface="IBM Plex Sans JP" panose="020B0503050203000203" pitchFamily="50" charset="-128"/>
              </a:rPr>
              <a:t>Standard</a:t>
            </a:r>
            <a:r>
              <a:rPr lang="ja-JP" altLang="en-US" sz="1050" dirty="0">
                <a:latin typeface="IBM Plex Sans JP" panose="020B0503050203000203" pitchFamily="50" charset="-128"/>
                <a:ea typeface="IBM Plex Sans JP" panose="020B0503050203000203" pitchFamily="50" charset="-128"/>
              </a:rPr>
              <a:t>」と「</a:t>
            </a:r>
            <a:r>
              <a:rPr lang="en-US" altLang="ja-JP" sz="1050" dirty="0">
                <a:latin typeface="IBM Plex Sans JP" panose="020B0503050203000203" pitchFamily="50" charset="-128"/>
                <a:ea typeface="IBM Plex Sans JP" panose="020B0503050203000203" pitchFamily="50" charset="-128"/>
              </a:rPr>
              <a:t>Detail</a:t>
            </a:r>
            <a:r>
              <a:rPr lang="ja-JP" altLang="en-US" sz="1050" dirty="0">
                <a:latin typeface="IBM Plex Sans JP" panose="020B0503050203000203" pitchFamily="50" charset="-128"/>
                <a:ea typeface="IBM Plex Sans JP" panose="020B0503050203000203" pitchFamily="50" charset="-128"/>
              </a:rPr>
              <a:t>」の</a:t>
            </a:r>
            <a:r>
              <a:rPr lang="en-US" altLang="ja-JP" sz="1050" dirty="0">
                <a:latin typeface="IBM Plex Sans JP" panose="020B0503050203000203" pitchFamily="50" charset="-128"/>
                <a:ea typeface="IBM Plex Sans JP" panose="020B0503050203000203" pitchFamily="50" charset="-128"/>
              </a:rPr>
              <a:t>2</a:t>
            </a:r>
            <a:r>
              <a:rPr lang="ja-JP" altLang="en-US" sz="1050" dirty="0">
                <a:latin typeface="IBM Plex Sans JP" panose="020B0503050203000203" pitchFamily="50" charset="-128"/>
                <a:ea typeface="IBM Plex Sans JP" panose="020B0503050203000203" pitchFamily="50" charset="-128"/>
              </a:rPr>
              <a:t>種類があります。それぞれの識別情報は、以下の表に示されています。</a:t>
            </a:r>
            <a:endParaRPr lang="ja-JP" altLang="ja-JP" sz="1050" dirty="0">
              <a:latin typeface="IBM Plex Sans JP" panose="020B0503050203000203" pitchFamily="50" charset="-128"/>
              <a:ea typeface="IBM Plex Sans JP" panose="020B0503050203000203" pitchFamily="50" charset="-128"/>
            </a:endParaRPr>
          </a:p>
        </p:txBody>
      </p:sp>
      <p:grpSp>
        <p:nvGrpSpPr>
          <p:cNvPr id="21" name="グループ化 20">
            <a:extLst>
              <a:ext uri="{FF2B5EF4-FFF2-40B4-BE49-F238E27FC236}">
                <a16:creationId xmlns:a16="http://schemas.microsoft.com/office/drawing/2014/main" id="{3EB7CB54-F5C5-163A-39F3-AD2D26D5D9E5}"/>
              </a:ext>
            </a:extLst>
          </p:cNvPr>
          <p:cNvGrpSpPr/>
          <p:nvPr/>
        </p:nvGrpSpPr>
        <p:grpSpPr>
          <a:xfrm>
            <a:off x="880208" y="525495"/>
            <a:ext cx="5307282" cy="2485553"/>
            <a:chOff x="-167676" y="0"/>
            <a:chExt cx="5796409" cy="2714625"/>
          </a:xfrm>
        </p:grpSpPr>
        <p:pic>
          <p:nvPicPr>
            <p:cNvPr id="22" name="図 21">
              <a:extLst>
                <a:ext uri="{FF2B5EF4-FFF2-40B4-BE49-F238E27FC236}">
                  <a16:creationId xmlns:a16="http://schemas.microsoft.com/office/drawing/2014/main" id="{6E5D54A6-285F-E68A-06F9-C20227BBD4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76" y="1589453"/>
              <a:ext cx="2809875" cy="1114425"/>
            </a:xfrm>
            <a:prstGeom prst="rect">
              <a:avLst/>
            </a:prstGeom>
            <a:noFill/>
            <a:extLst>
              <a:ext uri="{909E8E84-426E-40DD-AFC4-6F175D3DCCD1}">
                <a14:hiddenFill xmlns:a14="http://schemas.microsoft.com/office/drawing/2010/main">
                  <a:solidFill>
                    <a:srgbClr val="FFFFFF"/>
                  </a:solidFill>
                </a14:hiddenFill>
              </a:ext>
            </a:extLst>
          </p:spPr>
        </p:pic>
        <p:pic>
          <p:nvPicPr>
            <p:cNvPr id="25" name="図 24">
              <a:extLst>
                <a:ext uri="{FF2B5EF4-FFF2-40B4-BE49-F238E27FC236}">
                  <a16:creationId xmlns:a16="http://schemas.microsoft.com/office/drawing/2014/main" id="{58111E49-B1CC-A355-F25A-E400E20AD2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8857" y="0"/>
              <a:ext cx="2809876" cy="2714625"/>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テキスト ボックス 2">
            <a:extLst>
              <a:ext uri="{FF2B5EF4-FFF2-40B4-BE49-F238E27FC236}">
                <a16:creationId xmlns:a16="http://schemas.microsoft.com/office/drawing/2014/main" id="{C894A1B6-75A3-B634-B2D7-19CB3EFFA551}"/>
              </a:ext>
            </a:extLst>
          </p:cNvPr>
          <p:cNvSpPr txBox="1"/>
          <p:nvPr/>
        </p:nvSpPr>
        <p:spPr>
          <a:xfrm>
            <a:off x="604254" y="675403"/>
            <a:ext cx="3053345" cy="977191"/>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基本色の割合を％で表示します。</a:t>
            </a:r>
            <a:endParaRPr lang="en-US" altLang="ja-JP" sz="1050" dirty="0"/>
          </a:p>
          <a:p>
            <a:endParaRPr lang="ja-JP" altLang="ja-JP" sz="1050" dirty="0"/>
          </a:p>
          <a:p>
            <a:r>
              <a:rPr lang="ja-JP" altLang="ja-JP" sz="1050" dirty="0"/>
              <a:t>例：黄色いブリムの上に青字の</a:t>
            </a:r>
            <a:r>
              <a:rPr lang="en-US" altLang="ja-JP" sz="1050" dirty="0"/>
              <a:t>     75%</a:t>
            </a:r>
            <a:endParaRPr lang="ja-JP" altLang="ja-JP" sz="1050" dirty="0"/>
          </a:p>
          <a:p>
            <a:endParaRPr lang="en-US" altLang="ja-JP" sz="500" dirty="0"/>
          </a:p>
          <a:p>
            <a:r>
              <a:rPr lang="en-US" altLang="ja-JP" sz="1050" dirty="0"/>
              <a:t> (</a:t>
            </a:r>
            <a:r>
              <a:rPr lang="ja-JP" altLang="ja-JP" sz="1050" dirty="0"/>
              <a:t>黄色</a:t>
            </a:r>
            <a:r>
              <a:rPr lang="en-US" altLang="ja-JP" sz="1050" dirty="0"/>
              <a:t>75%</a:t>
            </a:r>
            <a:r>
              <a:rPr lang="ja-JP" altLang="ja-JP" sz="1050" dirty="0"/>
              <a:t>、青</a:t>
            </a:r>
            <a:r>
              <a:rPr lang="en-US" altLang="ja-JP" sz="1050" dirty="0"/>
              <a:t>25%</a:t>
            </a:r>
            <a:r>
              <a:rPr lang="ja-JP" altLang="ja-JP" sz="1050" dirty="0"/>
              <a:t>となる混色比を示す</a:t>
            </a:r>
            <a:r>
              <a:rPr lang="en-US" altLang="ja-JP" sz="1050" dirty="0"/>
              <a:t>)</a:t>
            </a:r>
            <a:endParaRPr lang="ja-JP" altLang="ja-JP" sz="1050" dirty="0"/>
          </a:p>
        </p:txBody>
      </p:sp>
      <p:sp>
        <p:nvSpPr>
          <p:cNvPr id="11" name="テキスト ボックス 10">
            <a:extLst>
              <a:ext uri="{FF2B5EF4-FFF2-40B4-BE49-F238E27FC236}">
                <a16:creationId xmlns:a16="http://schemas.microsoft.com/office/drawing/2014/main" id="{A4E23F12-554D-5580-CE83-334B6915152A}"/>
              </a:ext>
            </a:extLst>
          </p:cNvPr>
          <p:cNvSpPr txBox="1"/>
          <p:nvPr/>
        </p:nvSpPr>
        <p:spPr>
          <a:xfrm>
            <a:off x="769237" y="6101245"/>
            <a:ext cx="2739853" cy="363736"/>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EC0AA4DC-DB2A-9062-C275-F74CBD84B6F2}"/>
              </a:ext>
            </a:extLst>
          </p:cNvPr>
          <p:cNvSpPr txBox="1"/>
          <p:nvPr/>
        </p:nvSpPr>
        <p:spPr>
          <a:xfrm>
            <a:off x="666901" y="6545170"/>
            <a:ext cx="5649491" cy="1708160"/>
          </a:xfrm>
          <a:prstGeom prst="rect">
            <a:avLst/>
          </a:prstGeom>
          <a:noFill/>
        </p:spPr>
        <p:txBody>
          <a:bodyPr wrap="square" rtlCol="0">
            <a:spAutoFit/>
          </a:bodyPr>
          <a:lstStyle/>
          <a:p>
            <a:r>
              <a:rPr lang="en-US" altLang="ja-JP" sz="1050" dirty="0"/>
              <a:t>Gradient Filament</a:t>
            </a:r>
            <a:r>
              <a:rPr lang="ja-JP" altLang="ja-JP" sz="1050" dirty="0"/>
              <a:t>は色の組み合わせに合わせた複数のカラーカーブとサイクル数が異なるモデルがあり、推奨される印刷方向を持つモデルです。</a:t>
            </a:r>
          </a:p>
          <a:p>
            <a:r>
              <a:rPr lang="ja-JP" altLang="ja-JP" sz="1050" dirty="0"/>
              <a:t>情報が多いため外側ブリムは上下２段の</a:t>
            </a:r>
            <a:r>
              <a:rPr lang="en-US" altLang="ja-JP" sz="1050" dirty="0"/>
              <a:t>Text</a:t>
            </a:r>
            <a:r>
              <a:rPr lang="ja-JP" altLang="ja-JP" sz="1050" dirty="0"/>
              <a:t>情報を持ちます。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GR</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GR/S4b</a:t>
            </a:r>
            <a:r>
              <a:rPr lang="ja-JP" altLang="ja-JP" sz="1050" dirty="0"/>
              <a:t>　</a:t>
            </a:r>
            <a:r>
              <a:rPr lang="ja-JP" altLang="en-US" sz="1050" dirty="0"/>
              <a:t>　</a:t>
            </a:r>
            <a:r>
              <a:rPr lang="en-US" altLang="ja-JP" sz="1050" dirty="0"/>
              <a:t>(Gradient Filament M4 Beta model</a:t>
            </a:r>
            <a:r>
              <a:rPr lang="ja-JP" altLang="ja-JP" sz="1050" dirty="0"/>
              <a:t>を示す</a:t>
            </a:r>
            <a:r>
              <a:rPr lang="en-US" altLang="ja-JP" sz="1050" dirty="0"/>
              <a:t>)</a:t>
            </a:r>
            <a:endParaRPr lang="ja-JP" altLang="ja-JP" sz="1050" dirty="0"/>
          </a:p>
        </p:txBody>
      </p:sp>
      <p:pic>
        <p:nvPicPr>
          <p:cNvPr id="18" name="図 17">
            <a:extLst>
              <a:ext uri="{FF2B5EF4-FFF2-40B4-BE49-F238E27FC236}">
                <a16:creationId xmlns:a16="http://schemas.microsoft.com/office/drawing/2014/main" id="{48D1B717-FC02-16C3-C256-99705A48F87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906240" y="5211453"/>
            <a:ext cx="2529840" cy="693420"/>
          </a:xfrm>
          <a:prstGeom prst="rect">
            <a:avLst/>
          </a:prstGeom>
          <a:noFill/>
          <a:extLst>
            <a:ext uri="{909E8E84-426E-40DD-AFC4-6F175D3DCCD1}">
              <a14:hiddenFill xmlns:a14="http://schemas.microsoft.com/office/drawing/2010/main">
                <a:solidFill>
                  <a:srgbClr val="FFFFFF"/>
                </a:solidFill>
              </a14:hiddenFill>
            </a:ext>
          </a:extLst>
        </p:spPr>
      </p:pic>
      <p:sp>
        <p:nvSpPr>
          <p:cNvPr id="19" name="四角形: 角を丸くする 18">
            <a:extLst>
              <a:ext uri="{FF2B5EF4-FFF2-40B4-BE49-F238E27FC236}">
                <a16:creationId xmlns:a16="http://schemas.microsoft.com/office/drawing/2014/main" id="{45A08820-C28C-B77C-8C18-2570E1EFD83B}"/>
              </a:ext>
            </a:extLst>
          </p:cNvPr>
          <p:cNvSpPr/>
          <p:nvPr/>
        </p:nvSpPr>
        <p:spPr>
          <a:xfrm>
            <a:off x="2634389" y="1163998"/>
            <a:ext cx="474802" cy="204964"/>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49F28658-6007-E720-25B3-D7EDC01130D2}"/>
              </a:ext>
            </a:extLst>
          </p:cNvPr>
          <p:cNvSpPr/>
          <p:nvPr/>
        </p:nvSpPr>
        <p:spPr>
          <a:xfrm>
            <a:off x="1082560" y="4280429"/>
            <a:ext cx="474802"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498ED23-26FA-9DD6-9BFC-073879FD6F0C}"/>
              </a:ext>
            </a:extLst>
          </p:cNvPr>
          <p:cNvSpPr/>
          <p:nvPr/>
        </p:nvSpPr>
        <p:spPr>
          <a:xfrm>
            <a:off x="1072885" y="7971852"/>
            <a:ext cx="631961"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164025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D60F8-8E1E-94AA-339E-890E1C4BB1C2}"/>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3C362B1A-84CB-1ED3-3115-52C18E7E17A0}"/>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3BD75A38-03D4-4724-C46F-EA7F62DF1BEB}"/>
              </a:ext>
            </a:extLst>
          </p:cNvPr>
          <p:cNvSpPr/>
          <p:nvPr/>
        </p:nvSpPr>
        <p:spPr>
          <a:xfrm>
            <a:off x="6064" y="-3583"/>
            <a:ext cx="6858000" cy="9144000"/>
          </a:xfrm>
          <a:custGeom>
            <a:avLst/>
            <a:gdLst>
              <a:gd name="connsiteX0" fmla="*/ 3728780 w 6858000"/>
              <a:gd name="connsiteY0" fmla="*/ 8665500 h 9144000"/>
              <a:gd name="connsiteX1" fmla="*/ 3728780 w 6858000"/>
              <a:gd name="connsiteY1" fmla="*/ 8719500 h 9144000"/>
              <a:gd name="connsiteX2" fmla="*/ 6320780 w 6858000"/>
              <a:gd name="connsiteY2" fmla="*/ 8719500 h 9144000"/>
              <a:gd name="connsiteX3" fmla="*/ 6320780 w 6858000"/>
              <a:gd name="connsiteY3" fmla="*/ 8665500 h 9144000"/>
              <a:gd name="connsiteX4" fmla="*/ 548474 w 6858000"/>
              <a:gd name="connsiteY4" fmla="*/ 8665500 h 9144000"/>
              <a:gd name="connsiteX5" fmla="*/ 548474 w 6858000"/>
              <a:gd name="connsiteY5" fmla="*/ 8719500 h 9144000"/>
              <a:gd name="connsiteX6" fmla="*/ 3140474 w 6858000"/>
              <a:gd name="connsiteY6" fmla="*/ 8719500 h 9144000"/>
              <a:gd name="connsiteX7" fmla="*/ 3140474 w 6858000"/>
              <a:gd name="connsiteY7" fmla="*/ 8665500 h 9144000"/>
              <a:gd name="connsiteX8" fmla="*/ 642619 w 6858000"/>
              <a:gd name="connsiteY8" fmla="*/ 7304634 h 9144000"/>
              <a:gd name="connsiteX9" fmla="*/ 540284 w 6858000"/>
              <a:gd name="connsiteY9" fmla="*/ 7406969 h 9144000"/>
              <a:gd name="connsiteX10" fmla="*/ 642619 w 6858000"/>
              <a:gd name="connsiteY10" fmla="*/ 7509304 h 9144000"/>
              <a:gd name="connsiteX11" fmla="*/ 744954 w 6858000"/>
              <a:gd name="connsiteY11" fmla="*/ 7406969 h 9144000"/>
              <a:gd name="connsiteX12" fmla="*/ 642619 w 6858000"/>
              <a:gd name="connsiteY12" fmla="*/ 7304634 h 9144000"/>
              <a:gd name="connsiteX13" fmla="*/ 660839 w 6858000"/>
              <a:gd name="connsiteY13" fmla="*/ 4139061 h 9144000"/>
              <a:gd name="connsiteX14" fmla="*/ 558504 w 6858000"/>
              <a:gd name="connsiteY14" fmla="*/ 4232093 h 9144000"/>
              <a:gd name="connsiteX15" fmla="*/ 660839 w 6858000"/>
              <a:gd name="connsiteY15" fmla="*/ 4325125 h 9144000"/>
              <a:gd name="connsiteX16" fmla="*/ 763174 w 6858000"/>
              <a:gd name="connsiteY16" fmla="*/ 4232093 h 9144000"/>
              <a:gd name="connsiteX17" fmla="*/ 660839 w 6858000"/>
              <a:gd name="connsiteY17" fmla="*/ 4139061 h 9144000"/>
              <a:gd name="connsiteX18" fmla="*/ 548473 w 6858000"/>
              <a:gd name="connsiteY18" fmla="*/ 427476 h 9144000"/>
              <a:gd name="connsiteX19" fmla="*/ 548473 w 6858000"/>
              <a:gd name="connsiteY19" fmla="*/ 481476 h 9144000"/>
              <a:gd name="connsiteX20" fmla="*/ 6304666 w 6858000"/>
              <a:gd name="connsiteY20" fmla="*/ 481476 h 9144000"/>
              <a:gd name="connsiteX21" fmla="*/ 6304666 w 6858000"/>
              <a:gd name="connsiteY21" fmla="*/ 427476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8780" y="8665500"/>
                </a:moveTo>
                <a:lnTo>
                  <a:pt x="3728780" y="8719500"/>
                </a:lnTo>
                <a:lnTo>
                  <a:pt x="6320780" y="8719500"/>
                </a:lnTo>
                <a:lnTo>
                  <a:pt x="6320780" y="8665500"/>
                </a:lnTo>
                <a:close/>
                <a:moveTo>
                  <a:pt x="548474" y="8665500"/>
                </a:moveTo>
                <a:lnTo>
                  <a:pt x="548474" y="8719500"/>
                </a:lnTo>
                <a:lnTo>
                  <a:pt x="3140474" y="8719500"/>
                </a:lnTo>
                <a:lnTo>
                  <a:pt x="3140474" y="8665500"/>
                </a:lnTo>
                <a:close/>
                <a:moveTo>
                  <a:pt x="642619" y="7304634"/>
                </a:moveTo>
                <a:cubicBezTo>
                  <a:pt x="586101" y="7304634"/>
                  <a:pt x="540284" y="7350451"/>
                  <a:pt x="540284" y="7406969"/>
                </a:cubicBezTo>
                <a:cubicBezTo>
                  <a:pt x="540284" y="7463487"/>
                  <a:pt x="586101" y="7509304"/>
                  <a:pt x="642619" y="7509304"/>
                </a:cubicBezTo>
                <a:cubicBezTo>
                  <a:pt x="699137" y="7509304"/>
                  <a:pt x="744954" y="7463487"/>
                  <a:pt x="744954" y="7406969"/>
                </a:cubicBezTo>
                <a:cubicBezTo>
                  <a:pt x="744954" y="7350451"/>
                  <a:pt x="699137" y="7304634"/>
                  <a:pt x="642619" y="7304634"/>
                </a:cubicBezTo>
                <a:close/>
                <a:moveTo>
                  <a:pt x="660839" y="4139061"/>
                </a:moveTo>
                <a:cubicBezTo>
                  <a:pt x="604321" y="4139061"/>
                  <a:pt x="558504" y="4180713"/>
                  <a:pt x="558504" y="4232093"/>
                </a:cubicBezTo>
                <a:cubicBezTo>
                  <a:pt x="558504" y="4283473"/>
                  <a:pt x="604321" y="4325125"/>
                  <a:pt x="660839" y="4325125"/>
                </a:cubicBezTo>
                <a:cubicBezTo>
                  <a:pt x="717357" y="4325125"/>
                  <a:pt x="763174" y="4283473"/>
                  <a:pt x="763174" y="4232093"/>
                </a:cubicBezTo>
                <a:cubicBezTo>
                  <a:pt x="763174" y="4180713"/>
                  <a:pt x="717357" y="4139061"/>
                  <a:pt x="660839" y="4139061"/>
                </a:cubicBezTo>
                <a:close/>
                <a:moveTo>
                  <a:pt x="548473" y="427476"/>
                </a:moveTo>
                <a:lnTo>
                  <a:pt x="548473" y="481476"/>
                </a:lnTo>
                <a:lnTo>
                  <a:pt x="6304666" y="481476"/>
                </a:lnTo>
                <a:lnTo>
                  <a:pt x="6304666" y="427476"/>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43DF714C-D97F-2A05-D15F-EA1DA43F8A6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4</a:t>
            </a:r>
            <a:endParaRPr kumimoji="1" lang="ja-JP" altLang="en-US" dirty="0"/>
          </a:p>
        </p:txBody>
      </p:sp>
      <p:sp>
        <p:nvSpPr>
          <p:cNvPr id="34" name="テキスト ボックス 33">
            <a:extLst>
              <a:ext uri="{FF2B5EF4-FFF2-40B4-BE49-F238E27FC236}">
                <a16:creationId xmlns:a16="http://schemas.microsoft.com/office/drawing/2014/main" id="{A162F138-8523-8C0C-CEEF-8FBEBBAF9725}"/>
              </a:ext>
            </a:extLst>
          </p:cNvPr>
          <p:cNvSpPr txBox="1"/>
          <p:nvPr/>
        </p:nvSpPr>
        <p:spPr>
          <a:xfrm>
            <a:off x="778114" y="7219472"/>
            <a:ext cx="356860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7. </a:t>
            </a:r>
            <a:r>
              <a:rPr lang="ja-JP" altLang="en-US" sz="2000" dirty="0">
                <a:latin typeface="IBM Plex Sans JP SemiBold" panose="020B0703050203000203" pitchFamily="50" charset="-128"/>
                <a:ea typeface="IBM Plex Sans JP SemiBold" panose="020B0703050203000203" pitchFamily="50" charset="-128"/>
              </a:rPr>
              <a:t>ブリムの取り扱いについて</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BE988904-CD73-25E7-AE0E-4E02FA1CC474}"/>
              </a:ext>
            </a:extLst>
          </p:cNvPr>
          <p:cNvSpPr txBox="1"/>
          <p:nvPr/>
        </p:nvSpPr>
        <p:spPr>
          <a:xfrm>
            <a:off x="676426" y="7599215"/>
            <a:ext cx="5649491" cy="684803"/>
          </a:xfrm>
          <a:prstGeom prst="rect">
            <a:avLst/>
          </a:prstGeom>
          <a:noFill/>
        </p:spPr>
        <p:txBody>
          <a:bodyPr wrap="square" rtlCol="0">
            <a:spAutoFit/>
          </a:bodyPr>
          <a:lstStyle/>
          <a:p>
            <a:r>
              <a:rPr lang="ja-JP" altLang="ja-JP" sz="1050" dirty="0"/>
              <a:t>ブリムはフィラメント使用時には不要なものであるため、除去してから使って下さい。</a:t>
            </a:r>
          </a:p>
          <a:p>
            <a:r>
              <a:rPr lang="ja-JP" altLang="ja-JP" sz="1050" dirty="0"/>
              <a:t>どの様な仕様のフィラメントとして印刷されたかを読み解くことが出来るものであるため、すぐに使わない場合はすぐに外さずブリムがついたまま保管することを推奨いたします。</a:t>
            </a:r>
          </a:p>
          <a:p>
            <a:endParaRPr kumimoji="1" lang="ja-JP" altLang="en-US" sz="600" b="1" dirty="0">
              <a:latin typeface="IBM Plex Sans JP" panose="020B0503050203000203" pitchFamily="50" charset="-128"/>
              <a:ea typeface="IBM Plex Sans JP" panose="020B0503050203000203" pitchFamily="50" charset="-128"/>
            </a:endParaRPr>
          </a:p>
        </p:txBody>
      </p:sp>
      <p:sp>
        <p:nvSpPr>
          <p:cNvPr id="11" name="テキスト ボックス 10">
            <a:extLst>
              <a:ext uri="{FF2B5EF4-FFF2-40B4-BE49-F238E27FC236}">
                <a16:creationId xmlns:a16="http://schemas.microsoft.com/office/drawing/2014/main" id="{FC199E2F-B1A5-EF51-D820-1840C9E2C177}"/>
              </a:ext>
            </a:extLst>
          </p:cNvPr>
          <p:cNvSpPr txBox="1"/>
          <p:nvPr/>
        </p:nvSpPr>
        <p:spPr>
          <a:xfrm>
            <a:off x="769237" y="4066952"/>
            <a:ext cx="30604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6. New Series Preview</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462436EF-BDF5-7E9C-FA11-74EECEEB7E3E}"/>
              </a:ext>
            </a:extLst>
          </p:cNvPr>
          <p:cNvSpPr txBox="1"/>
          <p:nvPr/>
        </p:nvSpPr>
        <p:spPr>
          <a:xfrm>
            <a:off x="666901" y="4520402"/>
            <a:ext cx="5649491" cy="2192908"/>
          </a:xfrm>
          <a:prstGeom prst="rect">
            <a:avLst/>
          </a:prstGeom>
          <a:noFill/>
        </p:spPr>
        <p:txBody>
          <a:bodyPr wrap="square" rtlCol="0">
            <a:spAutoFit/>
          </a:bodyPr>
          <a:lstStyle/>
          <a:p>
            <a:r>
              <a:rPr lang="en-US" altLang="ja-JP" sz="1050" dirty="0"/>
              <a:t>New Series Preview</a:t>
            </a:r>
            <a:r>
              <a:rPr lang="ja-JP" altLang="ja-JP" sz="1050" dirty="0"/>
              <a:t>は次に来るシリーズを示唆するプレビューモデルです。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Prev</a:t>
            </a:r>
            <a:r>
              <a:rPr lang="ja-JP" altLang="ja-JP" sz="1050" dirty="0"/>
              <a:t>」のみを記載します。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Prev</a:t>
            </a:r>
            <a:r>
              <a:rPr lang="ja-JP" altLang="en-US" sz="1050" dirty="0"/>
              <a:t>　</a:t>
            </a:r>
            <a:r>
              <a:rPr lang="ja-JP" altLang="ja-JP" sz="1050" dirty="0"/>
              <a:t>　</a:t>
            </a:r>
            <a:r>
              <a:rPr lang="en-US" altLang="ja-JP" sz="1050" dirty="0"/>
              <a:t>(Gradient Filament M4 Beta model</a:t>
            </a:r>
            <a:r>
              <a:rPr lang="ja-JP" altLang="ja-JP" sz="1050" dirty="0"/>
              <a:t>を示す</a:t>
            </a:r>
            <a:r>
              <a:rPr lang="en-US" altLang="ja-JP" sz="1050" dirty="0"/>
              <a:t>)</a:t>
            </a:r>
            <a:endParaRPr lang="ja-JP" altLang="ja-JP" sz="1050" dirty="0"/>
          </a:p>
          <a:p>
            <a:r>
              <a:rPr lang="en-US" altLang="ja-JP" sz="1050" dirty="0"/>
              <a:t> </a:t>
            </a:r>
            <a:endParaRPr lang="ja-JP" altLang="ja-JP" sz="1050" dirty="0"/>
          </a:p>
          <a:p>
            <a:r>
              <a:rPr lang="en-US" altLang="ja-JP" sz="1050" b="1" dirty="0"/>
              <a:t>【</a:t>
            </a:r>
            <a:r>
              <a:rPr lang="ja-JP" altLang="en-US" sz="1050" b="1" dirty="0"/>
              <a:t>外側ブリム</a:t>
            </a:r>
            <a:r>
              <a:rPr lang="en-US" altLang="ja-JP" sz="1050" b="1" dirty="0"/>
              <a:t>】</a:t>
            </a:r>
            <a:endParaRPr lang="ja-JP" altLang="ja-JP" sz="1050" dirty="0"/>
          </a:p>
          <a:p>
            <a:r>
              <a:rPr lang="ja-JP" altLang="en-US" sz="1050" dirty="0"/>
              <a:t>決まった表記方法はありません。「新シリーズ」への期待感を高めるため、新しいシリーズ予告モデルが作成されます。その結果、外側の縁にヒントが表示されます。</a:t>
            </a:r>
            <a:endParaRPr lang="en-US" altLang="ja-JP" sz="1050" dirty="0"/>
          </a:p>
          <a:p>
            <a:endParaRPr lang="en-US" altLang="ja-JP" sz="1050" dirty="0"/>
          </a:p>
          <a:p>
            <a:r>
              <a:rPr lang="ja-JP" altLang="en-US" sz="1050" dirty="0"/>
              <a:t>例：    </a:t>
            </a:r>
            <a:r>
              <a:rPr lang="en-US" altLang="ja-JP" sz="1050" dirty="0"/>
              <a:t>GRD     </a:t>
            </a:r>
            <a:r>
              <a:rPr lang="ja-JP" altLang="en-US" sz="1050" dirty="0"/>
              <a:t> は、「グラデーションフィラメント」という答えへのヒントです。</a:t>
            </a:r>
            <a:endParaRPr kumimoji="1" lang="ja-JP" altLang="en-US" sz="1050" b="1" dirty="0">
              <a:latin typeface="IBM Plex Sans JP" panose="020B0503050203000203" pitchFamily="50" charset="-128"/>
              <a:ea typeface="IBM Plex Sans JP" panose="020B0503050203000203" pitchFamily="50" charset="-128"/>
            </a:endParaRPr>
          </a:p>
        </p:txBody>
      </p:sp>
      <p:sp>
        <p:nvSpPr>
          <p:cNvPr id="19" name="テキスト ボックス 18">
            <a:extLst>
              <a:ext uri="{FF2B5EF4-FFF2-40B4-BE49-F238E27FC236}">
                <a16:creationId xmlns:a16="http://schemas.microsoft.com/office/drawing/2014/main" id="{C4692296-7F43-8421-2662-130E77DB1791}"/>
              </a:ext>
            </a:extLst>
          </p:cNvPr>
          <p:cNvSpPr txBox="1"/>
          <p:nvPr/>
        </p:nvSpPr>
        <p:spPr>
          <a:xfrm>
            <a:off x="666901" y="638958"/>
            <a:ext cx="5649491" cy="1477328"/>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上段に推奨される挿入方向を示す「</a:t>
            </a:r>
            <a:r>
              <a:rPr lang="en-US" altLang="ja-JP" sz="1050" dirty="0"/>
              <a:t>IN</a:t>
            </a:r>
            <a:r>
              <a:rPr lang="ja-JP" altLang="ja-JP" sz="1050" dirty="0"/>
              <a:t>→」を記載し、下段にカラーカーブの略号の後に「</a:t>
            </a:r>
            <a:r>
              <a:rPr lang="en-US" altLang="ja-JP" sz="1050" dirty="0"/>
              <a:t>-</a:t>
            </a:r>
            <a:r>
              <a:rPr lang="ja-JP" altLang="ja-JP" sz="1050" dirty="0"/>
              <a:t>」、その後にサイクル数をつなげて記載します。</a:t>
            </a:r>
          </a:p>
          <a:p>
            <a:endParaRPr lang="en-US" altLang="ja-JP" sz="1050" dirty="0"/>
          </a:p>
          <a:p>
            <a:r>
              <a:rPr lang="ja-JP" altLang="en-US" sz="1050" dirty="0"/>
              <a:t>　　　　</a:t>
            </a:r>
            <a:r>
              <a:rPr lang="en-US" altLang="ja-JP" sz="1050" dirty="0"/>
              <a:t>IN</a:t>
            </a:r>
            <a:r>
              <a:rPr lang="ja-JP" altLang="ja-JP" sz="1050" dirty="0"/>
              <a:t>→</a:t>
            </a:r>
          </a:p>
          <a:p>
            <a:r>
              <a:rPr lang="ja-JP" altLang="en-US" sz="1050" dirty="0"/>
              <a:t>　　　　</a:t>
            </a:r>
            <a:r>
              <a:rPr lang="en-US" altLang="ja-JP" sz="1050" dirty="0"/>
              <a:t>Vvd-.5cyc</a:t>
            </a:r>
          </a:p>
          <a:p>
            <a:r>
              <a:rPr lang="ja-JP" altLang="ja-JP" sz="600" dirty="0"/>
              <a:t>　</a:t>
            </a:r>
            <a:endParaRPr lang="en-US" altLang="ja-JP" sz="600" dirty="0"/>
          </a:p>
          <a:p>
            <a:r>
              <a:rPr lang="ja-JP" altLang="ja-JP" sz="1050" dirty="0"/>
              <a:t>矢印が挿入方向を示し、</a:t>
            </a:r>
            <a:r>
              <a:rPr lang="en-US" altLang="ja-JP" sz="1050" dirty="0"/>
              <a:t>Vivid</a:t>
            </a:r>
            <a:r>
              <a:rPr lang="ja-JP" altLang="ja-JP" sz="1050" dirty="0"/>
              <a:t>カラーカーブの</a:t>
            </a:r>
            <a:r>
              <a:rPr lang="en-US" altLang="ja-JP" sz="1050" dirty="0"/>
              <a:t>0.5</a:t>
            </a:r>
            <a:r>
              <a:rPr lang="ja-JP" altLang="ja-JP" sz="1050" dirty="0"/>
              <a:t>サイクル数のグラデーションであることを示す</a:t>
            </a:r>
          </a:p>
        </p:txBody>
      </p:sp>
      <p:sp>
        <p:nvSpPr>
          <p:cNvPr id="20" name="テキスト ボックス 19">
            <a:extLst>
              <a:ext uri="{FF2B5EF4-FFF2-40B4-BE49-F238E27FC236}">
                <a16:creationId xmlns:a16="http://schemas.microsoft.com/office/drawing/2014/main" id="{974D7CFA-0331-0ED6-CB5D-29A4927980AB}"/>
              </a:ext>
            </a:extLst>
          </p:cNvPr>
          <p:cNvSpPr txBox="1"/>
          <p:nvPr/>
        </p:nvSpPr>
        <p:spPr>
          <a:xfrm>
            <a:off x="769237" y="1351707"/>
            <a:ext cx="803035" cy="253916"/>
          </a:xfrm>
          <a:prstGeom prst="rect">
            <a:avLst/>
          </a:prstGeom>
          <a:noFill/>
        </p:spPr>
        <p:txBody>
          <a:bodyPr wrap="square" rtlCol="0">
            <a:spAutoFit/>
          </a:bodyPr>
          <a:lstStyle/>
          <a:p>
            <a:r>
              <a:rPr lang="ja-JP" altLang="en-US" sz="1050" dirty="0"/>
              <a:t>例：</a:t>
            </a:r>
            <a:endParaRPr lang="en-US" altLang="ja-JP" sz="1050" dirty="0"/>
          </a:p>
        </p:txBody>
      </p:sp>
      <p:sp>
        <p:nvSpPr>
          <p:cNvPr id="23" name="四角形: 角を丸くする 22">
            <a:extLst>
              <a:ext uri="{FF2B5EF4-FFF2-40B4-BE49-F238E27FC236}">
                <a16:creationId xmlns:a16="http://schemas.microsoft.com/office/drawing/2014/main" id="{4CCADD7B-63D7-98E9-6EA7-AE83BEED5870}"/>
              </a:ext>
            </a:extLst>
          </p:cNvPr>
          <p:cNvSpPr/>
          <p:nvPr/>
        </p:nvSpPr>
        <p:spPr>
          <a:xfrm>
            <a:off x="1162049" y="1256996"/>
            <a:ext cx="838200" cy="423228"/>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103A5C31-18E9-233B-8945-B334C090CF46}"/>
              </a:ext>
            </a:extLst>
          </p:cNvPr>
          <p:cNvGrpSpPr/>
          <p:nvPr/>
        </p:nvGrpSpPr>
        <p:grpSpPr>
          <a:xfrm>
            <a:off x="560196" y="2159462"/>
            <a:ext cx="5756193" cy="1642545"/>
            <a:chOff x="0" y="0"/>
            <a:chExt cx="6069081" cy="1818034"/>
          </a:xfrm>
        </p:grpSpPr>
        <p:pic>
          <p:nvPicPr>
            <p:cNvPr id="26" name="図 25">
              <a:extLst>
                <a:ext uri="{FF2B5EF4-FFF2-40B4-BE49-F238E27FC236}">
                  <a16:creationId xmlns:a16="http://schemas.microsoft.com/office/drawing/2014/main" id="{D90A1C3F-79DA-B898-1B4F-CED4AD500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2673" y="1"/>
              <a:ext cx="1994038" cy="181803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55D7ABCF-23AC-B72E-2205-580D6D49D3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6567"/>
              <a:ext cx="1955938" cy="665508"/>
            </a:xfrm>
            <a:prstGeom prst="rect">
              <a:avLst/>
            </a:prstGeom>
            <a:noFill/>
            <a:extLst>
              <a:ext uri="{909E8E84-426E-40DD-AFC4-6F175D3DCCD1}">
                <a14:hiddenFill xmlns:a14="http://schemas.microsoft.com/office/drawing/2010/main">
                  <a:solidFill>
                    <a:srgbClr val="FFFFFF"/>
                  </a:solidFill>
                </a14:hiddenFill>
              </a:ext>
            </a:extLst>
          </p:spPr>
        </p:pic>
        <p:pic>
          <p:nvPicPr>
            <p:cNvPr id="28" name="図 27">
              <a:extLst>
                <a:ext uri="{FF2B5EF4-FFF2-40B4-BE49-F238E27FC236}">
                  <a16:creationId xmlns:a16="http://schemas.microsoft.com/office/drawing/2014/main" id="{CD3892CC-4EDF-6E78-8F39-941AC94A496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5043" y="0"/>
              <a:ext cx="1994038" cy="1367873"/>
            </a:xfrm>
            <a:prstGeom prst="rect">
              <a:avLst/>
            </a:prstGeom>
            <a:noFill/>
            <a:extLst>
              <a:ext uri="{909E8E84-426E-40DD-AFC4-6F175D3DCCD1}">
                <a14:hiddenFill xmlns:a14="http://schemas.microsoft.com/office/drawing/2010/main">
                  <a:solidFill>
                    <a:srgbClr val="FFFFFF"/>
                  </a:solidFill>
                </a14:hiddenFill>
              </a:ext>
            </a:extLst>
          </p:spPr>
        </p:pic>
      </p:grpSp>
      <p:sp>
        <p:nvSpPr>
          <p:cNvPr id="29" name="四角形: 角を丸くする 28">
            <a:extLst>
              <a:ext uri="{FF2B5EF4-FFF2-40B4-BE49-F238E27FC236}">
                <a16:creationId xmlns:a16="http://schemas.microsoft.com/office/drawing/2014/main" id="{FBB2AD5E-1BDF-7CFD-A9E8-6106A4027851}"/>
              </a:ext>
            </a:extLst>
          </p:cNvPr>
          <p:cNvSpPr/>
          <p:nvPr/>
        </p:nvSpPr>
        <p:spPr>
          <a:xfrm>
            <a:off x="1058750" y="5474048"/>
            <a:ext cx="492354"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1F8B2F5B-7696-60B2-A457-063169E3941E}"/>
              </a:ext>
            </a:extLst>
          </p:cNvPr>
          <p:cNvSpPr/>
          <p:nvPr/>
        </p:nvSpPr>
        <p:spPr>
          <a:xfrm>
            <a:off x="1049306" y="6428862"/>
            <a:ext cx="473142"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1452768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4835A-0000-3443-65DC-2540E3C757D6}"/>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A6D5E7D5-26C3-0C89-B974-B6A78FE946DC}"/>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フリーフォーム: 図形 11">
            <a:extLst>
              <a:ext uri="{FF2B5EF4-FFF2-40B4-BE49-F238E27FC236}">
                <a16:creationId xmlns:a16="http://schemas.microsoft.com/office/drawing/2014/main" id="{CC47E6BC-816E-0F2B-71DB-D0ECF15E3CDD}"/>
              </a:ext>
            </a:extLst>
          </p:cNvPr>
          <p:cNvSpPr/>
          <p:nvPr/>
        </p:nvSpPr>
        <p:spPr>
          <a:xfrm>
            <a:off x="6064" y="-3583"/>
            <a:ext cx="6858000" cy="9144000"/>
          </a:xfrm>
          <a:custGeom>
            <a:avLst/>
            <a:gdLst>
              <a:gd name="connsiteX0" fmla="*/ 3728780 w 6858000"/>
              <a:gd name="connsiteY0" fmla="*/ 8665500 h 9144000"/>
              <a:gd name="connsiteX1" fmla="*/ 3728780 w 6858000"/>
              <a:gd name="connsiteY1" fmla="*/ 8719500 h 9144000"/>
              <a:gd name="connsiteX2" fmla="*/ 6320780 w 6858000"/>
              <a:gd name="connsiteY2" fmla="*/ 8719500 h 9144000"/>
              <a:gd name="connsiteX3" fmla="*/ 6320780 w 6858000"/>
              <a:gd name="connsiteY3" fmla="*/ 8665500 h 9144000"/>
              <a:gd name="connsiteX4" fmla="*/ 548474 w 6858000"/>
              <a:gd name="connsiteY4" fmla="*/ 8665500 h 9144000"/>
              <a:gd name="connsiteX5" fmla="*/ 548474 w 6858000"/>
              <a:gd name="connsiteY5" fmla="*/ 8719500 h 9144000"/>
              <a:gd name="connsiteX6" fmla="*/ 3140474 w 6858000"/>
              <a:gd name="connsiteY6" fmla="*/ 8719500 h 9144000"/>
              <a:gd name="connsiteX7" fmla="*/ 3140474 w 6858000"/>
              <a:gd name="connsiteY7" fmla="*/ 8665500 h 9144000"/>
              <a:gd name="connsiteX8" fmla="*/ 642619 w 6858000"/>
              <a:gd name="connsiteY8" fmla="*/ 885090 h 9144000"/>
              <a:gd name="connsiteX9" fmla="*/ 540284 w 6858000"/>
              <a:gd name="connsiteY9" fmla="*/ 987425 h 9144000"/>
              <a:gd name="connsiteX10" fmla="*/ 642619 w 6858000"/>
              <a:gd name="connsiteY10" fmla="*/ 1089760 h 9144000"/>
              <a:gd name="connsiteX11" fmla="*/ 744954 w 6858000"/>
              <a:gd name="connsiteY11" fmla="*/ 987425 h 9144000"/>
              <a:gd name="connsiteX12" fmla="*/ 642619 w 6858000"/>
              <a:gd name="connsiteY12" fmla="*/ 885090 h 9144000"/>
              <a:gd name="connsiteX13" fmla="*/ 548473 w 6858000"/>
              <a:gd name="connsiteY13" fmla="*/ 427476 h 9144000"/>
              <a:gd name="connsiteX14" fmla="*/ 548473 w 6858000"/>
              <a:gd name="connsiteY14" fmla="*/ 481476 h 9144000"/>
              <a:gd name="connsiteX15" fmla="*/ 6304666 w 6858000"/>
              <a:gd name="connsiteY15" fmla="*/ 481476 h 9144000"/>
              <a:gd name="connsiteX16" fmla="*/ 6304666 w 6858000"/>
              <a:gd name="connsiteY16" fmla="*/ 427476 h 9144000"/>
              <a:gd name="connsiteX17" fmla="*/ 0 w 6858000"/>
              <a:gd name="connsiteY17" fmla="*/ 0 h 9144000"/>
              <a:gd name="connsiteX18" fmla="*/ 6858000 w 6858000"/>
              <a:gd name="connsiteY18" fmla="*/ 0 h 9144000"/>
              <a:gd name="connsiteX19" fmla="*/ 6858000 w 6858000"/>
              <a:gd name="connsiteY19" fmla="*/ 9144000 h 9144000"/>
              <a:gd name="connsiteX20" fmla="*/ 0 w 6858000"/>
              <a:gd name="connsiteY20"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858000" h="9144000">
                <a:moveTo>
                  <a:pt x="3728780" y="8665500"/>
                </a:moveTo>
                <a:lnTo>
                  <a:pt x="3728780" y="8719500"/>
                </a:lnTo>
                <a:lnTo>
                  <a:pt x="6320780" y="8719500"/>
                </a:lnTo>
                <a:lnTo>
                  <a:pt x="6320780" y="8665500"/>
                </a:lnTo>
                <a:close/>
                <a:moveTo>
                  <a:pt x="548474" y="8665500"/>
                </a:moveTo>
                <a:lnTo>
                  <a:pt x="548474" y="8719500"/>
                </a:lnTo>
                <a:lnTo>
                  <a:pt x="3140474" y="8719500"/>
                </a:lnTo>
                <a:lnTo>
                  <a:pt x="3140474" y="8665500"/>
                </a:lnTo>
                <a:close/>
                <a:moveTo>
                  <a:pt x="642619" y="885090"/>
                </a:moveTo>
                <a:cubicBezTo>
                  <a:pt x="586101" y="885090"/>
                  <a:pt x="540284" y="930907"/>
                  <a:pt x="540284" y="987425"/>
                </a:cubicBezTo>
                <a:cubicBezTo>
                  <a:pt x="540284" y="1043943"/>
                  <a:pt x="586101" y="1089760"/>
                  <a:pt x="642619" y="1089760"/>
                </a:cubicBezTo>
                <a:cubicBezTo>
                  <a:pt x="699137" y="1089760"/>
                  <a:pt x="744954" y="1043943"/>
                  <a:pt x="744954" y="987425"/>
                </a:cubicBezTo>
                <a:cubicBezTo>
                  <a:pt x="744954" y="930907"/>
                  <a:pt x="699137" y="885090"/>
                  <a:pt x="642619" y="885090"/>
                </a:cubicBezTo>
                <a:close/>
                <a:moveTo>
                  <a:pt x="548473" y="427476"/>
                </a:moveTo>
                <a:lnTo>
                  <a:pt x="548473" y="481476"/>
                </a:lnTo>
                <a:lnTo>
                  <a:pt x="6304666" y="481476"/>
                </a:lnTo>
                <a:lnTo>
                  <a:pt x="6304666" y="427476"/>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4CB5E7F5-8693-25F2-23F6-A47E8BD3424A}"/>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5</a:t>
            </a:r>
            <a:endParaRPr kumimoji="1" lang="ja-JP" altLang="en-US" dirty="0"/>
          </a:p>
        </p:txBody>
      </p:sp>
      <p:sp>
        <p:nvSpPr>
          <p:cNvPr id="34" name="テキスト ボックス 33">
            <a:extLst>
              <a:ext uri="{FF2B5EF4-FFF2-40B4-BE49-F238E27FC236}">
                <a16:creationId xmlns:a16="http://schemas.microsoft.com/office/drawing/2014/main" id="{4B842E4F-5383-A2EF-22F7-F36B0563D1CB}"/>
              </a:ext>
            </a:extLst>
          </p:cNvPr>
          <p:cNvSpPr txBox="1"/>
          <p:nvPr/>
        </p:nvSpPr>
        <p:spPr>
          <a:xfrm>
            <a:off x="778114" y="810625"/>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8. </a:t>
            </a:r>
            <a:r>
              <a:rPr lang="ja-JP" altLang="en-US" sz="2000" dirty="0">
                <a:latin typeface="IBM Plex Sans JP SemiBold" panose="020B0703050203000203" pitchFamily="50" charset="-128"/>
                <a:ea typeface="IBM Plex Sans JP SemiBold" panose="020B0703050203000203" pitchFamily="50" charset="-128"/>
              </a:rPr>
              <a:t>更新履歴</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BCF6E34-FE29-E779-E2C8-F2E8F1B4FC98}"/>
              </a:ext>
            </a:extLst>
          </p:cNvPr>
          <p:cNvSpPr txBox="1"/>
          <p:nvPr/>
        </p:nvSpPr>
        <p:spPr>
          <a:xfrm>
            <a:off x="638323" y="117967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2026-07-21  First Edition Published</a:t>
            </a:r>
          </a:p>
          <a:p>
            <a:r>
              <a:rPr lang="en-US" altLang="ja-JP" sz="900" dirty="0">
                <a:latin typeface="IBM Plex Sans JP" panose="020B0503050203000203" pitchFamily="50" charset="-128"/>
                <a:ea typeface="IBM Plex Sans JP" panose="020B0503050203000203" pitchFamily="50" charset="-128"/>
              </a:rPr>
              <a:t>Ver.1.10  2026-07-24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601973314"/>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ユーザー定義 1">
      <a:majorFont>
        <a:latin typeface="IBM Plex Sans JP SemiBold"/>
        <a:ea typeface="IBM Plex Sans JP SemiBold"/>
        <a:cs typeface=""/>
      </a:majorFont>
      <a:minorFont>
        <a:latin typeface="IBM Plex Sans JP"/>
        <a:ea typeface="IBM Plex Sans JP"/>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321</TotalTime>
  <Words>1821</Words>
  <Application>Microsoft Office PowerPoint</Application>
  <PresentationFormat>画面に合わせる (4:3)</PresentationFormat>
  <Paragraphs>169</Paragraphs>
  <Slides>11</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IBM Plex Sans JP</vt:lpstr>
      <vt:lpstr>IBM Plex Sans JP Medium</vt:lpstr>
      <vt:lpstr>IBM Plex Sans JP SemiBold</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MAKOTO YAZAKI (矢﨑 誠)</cp:lastModifiedBy>
  <cp:revision>18</cp:revision>
  <cp:lastPrinted>2026-07-24T02:49:25Z</cp:lastPrinted>
  <dcterms:created xsi:type="dcterms:W3CDTF">2026-07-22T02:46:18Z</dcterms:created>
  <dcterms:modified xsi:type="dcterms:W3CDTF">2026-07-24T02:49:31Z</dcterms:modified>
</cp:coreProperties>
</file>