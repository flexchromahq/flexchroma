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6858000" cy="9144000" type="screen4x3"/>
  <p:notesSz cx="7104063" cy="10234613"/>
  <p:embeddedFontLst>
    <p:embeddedFont>
      <p:font typeface="IBM Plex Sans JP" panose="020B0503050203000203" pitchFamily="50" charset="-128"/>
      <p:regular r:id="rId16"/>
      <p:bold r:id="rId17"/>
    </p:embeddedFont>
    <p:embeddedFont>
      <p:font typeface="Jost" pitchFamily="2" charset="0"/>
      <p:regular r:id="rId18"/>
      <p:bold r:id="rId19"/>
      <p:italic r:id="rId20"/>
      <p:boldItalic r:id="rId21"/>
    </p:embeddedFont>
    <p:embeddedFont>
      <p:font typeface="Jost Medium" pitchFamily="2" charset="0"/>
      <p:regular r:id="rId22"/>
      <p:italic r:id="rId23"/>
    </p:embeddedFont>
    <p:embeddedFont>
      <p:font typeface="Jost SemiBold" pitchFamily="2" charset="0"/>
      <p:bold r:id="rId24"/>
      <p:boldItalic r:id="rId25"/>
    </p:embeddedFont>
    <p:embeddedFont>
      <p:font typeface="Noto Sans JP" panose="020B0200000000000000" pitchFamily="50" charset="-128"/>
      <p:regular r:id="rId26"/>
      <p:bold r:id="rId27"/>
    </p:embeddedFont>
    <p:embeddedFont>
      <p:font typeface="Play" panose="020B0600070205080204" charset="0"/>
      <p:regular r:id="rId28"/>
      <p:bold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50" d="100"/>
          <a:sy n="150" d="100"/>
        </p:scale>
        <p:origin x="1554" y="-19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font" Target="fonts/font13.fntdata"/><Relationship Id="rId10" Type="http://schemas.openxmlformats.org/officeDocument/2006/relationships/slide" Target="slides/slide9.xml"/><Relationship Id="rId19" Type="http://schemas.openxmlformats.org/officeDocument/2006/relationships/font" Target="fonts/font4.fntdata"/><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10400" y="4861425"/>
            <a:ext cx="5683225" cy="46055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82" name="Google Shape;82;p1:notes"/>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4: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5: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f70e81ac3d_0_4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f70e81ac3d_0_6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A8BDFE83-9C37-B982-9D75-3F5BD9D66265}"/>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F56E7351-1285-5FFC-E55E-DAD5898AB569}"/>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B4F65E4A-B9E5-5217-BBFC-F4B1D695DD2A}"/>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966166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E89A6EB6-84F9-9E07-C2BF-7A027A55CF1C}"/>
            </a:ext>
          </a:extLst>
        </p:cNvPr>
        <p:cNvGrpSpPr/>
        <p:nvPr/>
      </p:nvGrpSpPr>
      <p:grpSpPr>
        <a:xfrm>
          <a:off x="0" y="0"/>
          <a:ext cx="0" cy="0"/>
          <a:chOff x="0" y="0"/>
          <a:chExt cx="0" cy="0"/>
        </a:xfrm>
      </p:grpSpPr>
      <p:sp>
        <p:nvSpPr>
          <p:cNvPr id="131" name="Google Shape;131;p3:notes">
            <a:extLst>
              <a:ext uri="{FF2B5EF4-FFF2-40B4-BE49-F238E27FC236}">
                <a16:creationId xmlns:a16="http://schemas.microsoft.com/office/drawing/2014/main" id="{3BCD6BCA-CE87-BF3B-592A-97967C9F3034}"/>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a:extLst>
              <a:ext uri="{FF2B5EF4-FFF2-40B4-BE49-F238E27FC236}">
                <a16:creationId xmlns:a16="http://schemas.microsoft.com/office/drawing/2014/main" id="{3B53C820-916E-093E-FF8F-4636C384053B}"/>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079166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77F53696-43CB-7BD2-3C09-B11D9449C34A}"/>
            </a:ext>
          </a:extLst>
        </p:cNvPr>
        <p:cNvGrpSpPr/>
        <p:nvPr/>
      </p:nvGrpSpPr>
      <p:grpSpPr>
        <a:xfrm>
          <a:off x="0" y="0"/>
          <a:ext cx="0" cy="0"/>
          <a:chOff x="0" y="0"/>
          <a:chExt cx="0" cy="0"/>
        </a:xfrm>
      </p:grpSpPr>
      <p:sp>
        <p:nvSpPr>
          <p:cNvPr id="156" name="Google Shape;156;p4:notes">
            <a:extLst>
              <a:ext uri="{FF2B5EF4-FFF2-40B4-BE49-F238E27FC236}">
                <a16:creationId xmlns:a16="http://schemas.microsoft.com/office/drawing/2014/main" id="{57BB8606-205E-8AEC-5A5D-1027A7F3461C}"/>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a:extLst>
              <a:ext uri="{FF2B5EF4-FFF2-40B4-BE49-F238E27FC236}">
                <a16:creationId xmlns:a16="http://schemas.microsoft.com/office/drawing/2014/main" id="{57389A07-A02E-367E-BDBB-F3CD85DD9979}"/>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551903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7DC61265-0429-BBD4-86E3-90C0CBD5487C}"/>
            </a:ext>
          </a:extLst>
        </p:cNvPr>
        <p:cNvGrpSpPr/>
        <p:nvPr/>
      </p:nvGrpSpPr>
      <p:grpSpPr>
        <a:xfrm>
          <a:off x="0" y="0"/>
          <a:ext cx="0" cy="0"/>
          <a:chOff x="0" y="0"/>
          <a:chExt cx="0" cy="0"/>
        </a:xfrm>
      </p:grpSpPr>
      <p:sp>
        <p:nvSpPr>
          <p:cNvPr id="178" name="Google Shape;178;p5:notes">
            <a:extLst>
              <a:ext uri="{FF2B5EF4-FFF2-40B4-BE49-F238E27FC236}">
                <a16:creationId xmlns:a16="http://schemas.microsoft.com/office/drawing/2014/main" id="{64628583-2C52-B2A1-461F-7692DD5A015E}"/>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a:extLst>
              <a:ext uri="{FF2B5EF4-FFF2-40B4-BE49-F238E27FC236}">
                <a16:creationId xmlns:a16="http://schemas.microsoft.com/office/drawing/2014/main" id="{12FF15E8-6E25-3DB8-757E-32A92B777716}"/>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173375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a:extLst>
            <a:ext uri="{FF2B5EF4-FFF2-40B4-BE49-F238E27FC236}">
              <a16:creationId xmlns:a16="http://schemas.microsoft.com/office/drawing/2014/main" id="{A2A28092-49FA-75A1-F688-582B22F3B2FC}"/>
            </a:ext>
          </a:extLst>
        </p:cNvPr>
        <p:cNvGrpSpPr/>
        <p:nvPr/>
      </p:nvGrpSpPr>
      <p:grpSpPr>
        <a:xfrm>
          <a:off x="0" y="0"/>
          <a:ext cx="0" cy="0"/>
          <a:chOff x="0" y="0"/>
          <a:chExt cx="0" cy="0"/>
        </a:xfrm>
      </p:grpSpPr>
      <p:sp>
        <p:nvSpPr>
          <p:cNvPr id="202" name="Google Shape;202;g3f70e81ac3d_0_45:notes">
            <a:extLst>
              <a:ext uri="{FF2B5EF4-FFF2-40B4-BE49-F238E27FC236}">
                <a16:creationId xmlns:a16="http://schemas.microsoft.com/office/drawing/2014/main" id="{5679621A-F4B3-3F1A-0FB2-F7D2E28E8B64}"/>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a:extLst>
              <a:ext uri="{FF2B5EF4-FFF2-40B4-BE49-F238E27FC236}">
                <a16:creationId xmlns:a16="http://schemas.microsoft.com/office/drawing/2014/main" id="{24F16807-F87B-7BCD-DA1D-92CB2BE2CB6E}"/>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109258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C7CA8A0B-D113-BB8E-4AF5-70D2B92920FE}"/>
            </a:ext>
          </a:extLst>
        </p:cNvPr>
        <p:cNvGrpSpPr/>
        <p:nvPr/>
      </p:nvGrpSpPr>
      <p:grpSpPr>
        <a:xfrm>
          <a:off x="0" y="0"/>
          <a:ext cx="0" cy="0"/>
          <a:chOff x="0" y="0"/>
          <a:chExt cx="0" cy="0"/>
        </a:xfrm>
      </p:grpSpPr>
      <p:sp>
        <p:nvSpPr>
          <p:cNvPr id="223" name="Google Shape;223;g3f70e81ac3d_0_65:notes">
            <a:extLst>
              <a:ext uri="{FF2B5EF4-FFF2-40B4-BE49-F238E27FC236}">
                <a16:creationId xmlns:a16="http://schemas.microsoft.com/office/drawing/2014/main" id="{DD37112F-D6E6-6364-FC3A-80306C37A882}"/>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a:extLst>
              <a:ext uri="{FF2B5EF4-FFF2-40B4-BE49-F238E27FC236}">
                <a16:creationId xmlns:a16="http://schemas.microsoft.com/office/drawing/2014/main" id="{19398D0E-E1B4-085D-CE5A-429638233D4C}"/>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090521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514350" y="1496484"/>
            <a:ext cx="5829300" cy="318346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857250" y="4802717"/>
            <a:ext cx="5143500" cy="220768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4" name="Google Shape;14;p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67916" y="2279653"/>
            <a:ext cx="5915025" cy="38036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467916" y="6119286"/>
            <a:ext cx="5915025" cy="200024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757575"/>
              </a:buClr>
              <a:buSzPts val="1800"/>
              <a:buNone/>
              <a:defRPr sz="1800">
                <a:solidFill>
                  <a:srgbClr val="757575"/>
                </a:solidFill>
              </a:defRPr>
            </a:lvl1pPr>
            <a:lvl2pPr marL="914400" lvl="1" indent="-228600" algn="l">
              <a:lnSpc>
                <a:spcPct val="90000"/>
              </a:lnSpc>
              <a:spcBef>
                <a:spcPts val="375"/>
              </a:spcBef>
              <a:spcAft>
                <a:spcPts val="0"/>
              </a:spcAft>
              <a:buClr>
                <a:srgbClr val="757575"/>
              </a:buClr>
              <a:buSzPts val="1500"/>
              <a:buNone/>
              <a:defRPr sz="1500">
                <a:solidFill>
                  <a:srgbClr val="757575"/>
                </a:solidFill>
              </a:defRPr>
            </a:lvl2pPr>
            <a:lvl3pPr marL="1371600" lvl="2" indent="-228600" algn="l">
              <a:lnSpc>
                <a:spcPct val="90000"/>
              </a:lnSpc>
              <a:spcBef>
                <a:spcPts val="375"/>
              </a:spcBef>
              <a:spcAft>
                <a:spcPts val="0"/>
              </a:spcAft>
              <a:buClr>
                <a:srgbClr val="757575"/>
              </a:buClr>
              <a:buSzPts val="1350"/>
              <a:buNone/>
              <a:defRPr sz="1350">
                <a:solidFill>
                  <a:srgbClr val="757575"/>
                </a:solidFill>
              </a:defRPr>
            </a:lvl3pPr>
            <a:lvl4pPr marL="1828800" lvl="3" indent="-228600" algn="l">
              <a:lnSpc>
                <a:spcPct val="90000"/>
              </a:lnSpc>
              <a:spcBef>
                <a:spcPts val="375"/>
              </a:spcBef>
              <a:spcAft>
                <a:spcPts val="0"/>
              </a:spcAft>
              <a:buClr>
                <a:srgbClr val="757575"/>
              </a:buClr>
              <a:buSzPts val="1200"/>
              <a:buNone/>
              <a:defRPr sz="1200">
                <a:solidFill>
                  <a:srgbClr val="757575"/>
                </a:solidFill>
              </a:defRPr>
            </a:lvl4pPr>
            <a:lvl5pPr marL="2286000" lvl="4" indent="-228600" algn="l">
              <a:lnSpc>
                <a:spcPct val="90000"/>
              </a:lnSpc>
              <a:spcBef>
                <a:spcPts val="375"/>
              </a:spcBef>
              <a:spcAft>
                <a:spcPts val="0"/>
              </a:spcAft>
              <a:buClr>
                <a:srgbClr val="757575"/>
              </a:buClr>
              <a:buSzPts val="1200"/>
              <a:buNone/>
              <a:defRPr sz="1200">
                <a:solidFill>
                  <a:srgbClr val="757575"/>
                </a:solidFill>
              </a:defRPr>
            </a:lvl5pPr>
            <a:lvl6pPr marL="2743200" lvl="5" indent="-228600" algn="l">
              <a:lnSpc>
                <a:spcPct val="90000"/>
              </a:lnSpc>
              <a:spcBef>
                <a:spcPts val="375"/>
              </a:spcBef>
              <a:spcAft>
                <a:spcPts val="0"/>
              </a:spcAft>
              <a:buClr>
                <a:srgbClr val="757575"/>
              </a:buClr>
              <a:buSzPts val="1200"/>
              <a:buNone/>
              <a:defRPr sz="1200">
                <a:solidFill>
                  <a:srgbClr val="757575"/>
                </a:solidFill>
              </a:defRPr>
            </a:lvl6pPr>
            <a:lvl7pPr marL="3200400" lvl="6" indent="-228600" algn="l">
              <a:lnSpc>
                <a:spcPct val="90000"/>
              </a:lnSpc>
              <a:spcBef>
                <a:spcPts val="375"/>
              </a:spcBef>
              <a:spcAft>
                <a:spcPts val="0"/>
              </a:spcAft>
              <a:buClr>
                <a:srgbClr val="757575"/>
              </a:buClr>
              <a:buSzPts val="1200"/>
              <a:buNone/>
              <a:defRPr sz="1200">
                <a:solidFill>
                  <a:srgbClr val="757575"/>
                </a:solidFill>
              </a:defRPr>
            </a:lvl7pPr>
            <a:lvl8pPr marL="3657600" lvl="7" indent="-228600" algn="l">
              <a:lnSpc>
                <a:spcPct val="90000"/>
              </a:lnSpc>
              <a:spcBef>
                <a:spcPts val="375"/>
              </a:spcBef>
              <a:spcAft>
                <a:spcPts val="0"/>
              </a:spcAft>
              <a:buClr>
                <a:srgbClr val="757575"/>
              </a:buClr>
              <a:buSzPts val="1200"/>
              <a:buNone/>
              <a:defRPr sz="1200">
                <a:solidFill>
                  <a:srgbClr val="757575"/>
                </a:solidFill>
              </a:defRPr>
            </a:lvl8pPr>
            <a:lvl9pPr marL="4114800" lvl="8" indent="-228600" algn="l">
              <a:lnSpc>
                <a:spcPct val="90000"/>
              </a:lnSpc>
              <a:spcBef>
                <a:spcPts val="375"/>
              </a:spcBef>
              <a:spcAft>
                <a:spcPts val="0"/>
              </a:spcAft>
              <a:buClr>
                <a:srgbClr val="757575"/>
              </a:buClr>
              <a:buSzPts val="1200"/>
              <a:buNone/>
              <a:defRPr sz="1200">
                <a:solidFill>
                  <a:srgbClr val="757575"/>
                </a:solidFill>
              </a:defRPr>
            </a:lvl9pPr>
          </a:lstStyle>
          <a:p>
            <a:endParaRPr/>
          </a:p>
        </p:txBody>
      </p:sp>
      <p:sp>
        <p:nvSpPr>
          <p:cNvPr id="26" name="Google Shape;26;p4"/>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471488"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2" name="Google Shape;32;p5"/>
          <p:cNvSpPr txBox="1">
            <a:spLocks noGrp="1"/>
          </p:cNvSpPr>
          <p:nvPr>
            <p:ph type="body" idx="2"/>
          </p:nvPr>
        </p:nvSpPr>
        <p:spPr>
          <a:xfrm>
            <a:off x="3471863"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72381"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472381" y="2241551"/>
            <a:ext cx="2901255"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39" name="Google Shape;39;p6"/>
          <p:cNvSpPr txBox="1">
            <a:spLocks noGrp="1"/>
          </p:cNvSpPr>
          <p:nvPr>
            <p:ph type="body" idx="2"/>
          </p:nvPr>
        </p:nvSpPr>
        <p:spPr>
          <a:xfrm>
            <a:off x="472381" y="3340100"/>
            <a:ext cx="2901255"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0" name="Google Shape;40;p6"/>
          <p:cNvSpPr txBox="1">
            <a:spLocks noGrp="1"/>
          </p:cNvSpPr>
          <p:nvPr>
            <p:ph type="body" idx="3"/>
          </p:nvPr>
        </p:nvSpPr>
        <p:spPr>
          <a:xfrm>
            <a:off x="3471863" y="2241551"/>
            <a:ext cx="2915543"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41" name="Google Shape;41;p6"/>
          <p:cNvSpPr txBox="1">
            <a:spLocks noGrp="1"/>
          </p:cNvSpPr>
          <p:nvPr>
            <p:ph type="body" idx="4"/>
          </p:nvPr>
        </p:nvSpPr>
        <p:spPr>
          <a:xfrm>
            <a:off x="3471863" y="3340100"/>
            <a:ext cx="2915543"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2" name="Google Shape;42;p6"/>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2915543" y="1316569"/>
            <a:ext cx="3471863" cy="649816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57" name="Google Shape;57;p9"/>
          <p:cNvSpPr txBox="1">
            <a:spLocks noGrp="1"/>
          </p:cNvSpPr>
          <p:nvPr>
            <p:ph type="body" idx="2"/>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58" name="Google Shape;58;p9"/>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2915543" y="1316569"/>
            <a:ext cx="3471863" cy="6498167"/>
          </a:xfrm>
          <a:prstGeom prst="rect">
            <a:avLst/>
          </a:prstGeom>
          <a:noFill/>
          <a:ln>
            <a:noFill/>
          </a:ln>
        </p:spPr>
      </p:sp>
      <p:sp>
        <p:nvSpPr>
          <p:cNvPr id="64" name="Google Shape;64;p10"/>
          <p:cNvSpPr txBox="1">
            <a:spLocks noGrp="1"/>
          </p:cNvSpPr>
          <p:nvPr>
            <p:ph type="body" idx="1"/>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65" name="Google Shape;65;p10"/>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528108" y="2377546"/>
            <a:ext cx="5801784"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1772577" y="3622015"/>
            <a:ext cx="774911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1227798" y="2186121"/>
            <a:ext cx="774911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Play"/>
              <a:buNone/>
              <a:defRPr sz="33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rgbClr val="757575"/>
                </a:solidFill>
                <a:latin typeface="Arial"/>
                <a:ea typeface="Arial"/>
                <a:cs typeface="Arial"/>
                <a:sym typeface="Arial"/>
              </a:defRPr>
            </a:lvl1pPr>
            <a:lvl2pPr marL="0" marR="0" lvl="1" indent="0" algn="r" rtl="0">
              <a:spcBef>
                <a:spcPts val="0"/>
              </a:spcBef>
              <a:buNone/>
              <a:defRPr sz="900" b="0" i="0" u="none" strike="noStrike" cap="none">
                <a:solidFill>
                  <a:srgbClr val="757575"/>
                </a:solidFill>
                <a:latin typeface="Arial"/>
                <a:ea typeface="Arial"/>
                <a:cs typeface="Arial"/>
                <a:sym typeface="Arial"/>
              </a:defRPr>
            </a:lvl2pPr>
            <a:lvl3pPr marL="0" marR="0" lvl="2" indent="0" algn="r" rtl="0">
              <a:spcBef>
                <a:spcPts val="0"/>
              </a:spcBef>
              <a:buNone/>
              <a:defRPr sz="900" b="0" i="0" u="none" strike="noStrike" cap="none">
                <a:solidFill>
                  <a:srgbClr val="757575"/>
                </a:solidFill>
                <a:latin typeface="Arial"/>
                <a:ea typeface="Arial"/>
                <a:cs typeface="Arial"/>
                <a:sym typeface="Arial"/>
              </a:defRPr>
            </a:lvl3pPr>
            <a:lvl4pPr marL="0" marR="0" lvl="3" indent="0" algn="r" rtl="0">
              <a:spcBef>
                <a:spcPts val="0"/>
              </a:spcBef>
              <a:buNone/>
              <a:defRPr sz="900" b="0" i="0" u="none" strike="noStrike" cap="none">
                <a:solidFill>
                  <a:srgbClr val="757575"/>
                </a:solidFill>
                <a:latin typeface="Arial"/>
                <a:ea typeface="Arial"/>
                <a:cs typeface="Arial"/>
                <a:sym typeface="Arial"/>
              </a:defRPr>
            </a:lvl4pPr>
            <a:lvl5pPr marL="0" marR="0" lvl="4" indent="0" algn="r" rtl="0">
              <a:spcBef>
                <a:spcPts val="0"/>
              </a:spcBef>
              <a:buNone/>
              <a:defRPr sz="900" b="0" i="0" u="none" strike="noStrike" cap="none">
                <a:solidFill>
                  <a:srgbClr val="757575"/>
                </a:solidFill>
                <a:latin typeface="Arial"/>
                <a:ea typeface="Arial"/>
                <a:cs typeface="Arial"/>
                <a:sym typeface="Arial"/>
              </a:defRPr>
            </a:lvl5pPr>
            <a:lvl6pPr marL="0" marR="0" lvl="5" indent="0" algn="r" rtl="0">
              <a:spcBef>
                <a:spcPts val="0"/>
              </a:spcBef>
              <a:buNone/>
              <a:defRPr sz="900" b="0" i="0" u="none" strike="noStrike" cap="none">
                <a:solidFill>
                  <a:srgbClr val="757575"/>
                </a:solidFill>
                <a:latin typeface="Arial"/>
                <a:ea typeface="Arial"/>
                <a:cs typeface="Arial"/>
                <a:sym typeface="Arial"/>
              </a:defRPr>
            </a:lvl6pPr>
            <a:lvl7pPr marL="0" marR="0" lvl="6" indent="0" algn="r" rtl="0">
              <a:spcBef>
                <a:spcPts val="0"/>
              </a:spcBef>
              <a:buNone/>
              <a:defRPr sz="900" b="0" i="0" u="none" strike="noStrike" cap="none">
                <a:solidFill>
                  <a:srgbClr val="757575"/>
                </a:solidFill>
                <a:latin typeface="Arial"/>
                <a:ea typeface="Arial"/>
                <a:cs typeface="Arial"/>
                <a:sym typeface="Arial"/>
              </a:defRPr>
            </a:lvl7pPr>
            <a:lvl8pPr marL="0" marR="0" lvl="7" indent="0" algn="r" rtl="0">
              <a:spcBef>
                <a:spcPts val="0"/>
              </a:spcBef>
              <a:buNone/>
              <a:defRPr sz="900" b="0" i="0" u="none" strike="noStrike" cap="none">
                <a:solidFill>
                  <a:srgbClr val="757575"/>
                </a:solidFill>
                <a:latin typeface="Arial"/>
                <a:ea typeface="Arial"/>
                <a:cs typeface="Arial"/>
                <a:sym typeface="Arial"/>
              </a:defRPr>
            </a:lvl8pPr>
            <a:lvl9pPr marL="0" marR="0" lvl="8" indent="0" algn="r" rtl="0">
              <a:spcBef>
                <a:spcPts val="0"/>
              </a:spcBef>
              <a:buNone/>
              <a:defRPr sz="9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85" name="Google Shape;85;p13"/>
          <p:cNvSpPr/>
          <p:nvPr/>
        </p:nvSpPr>
        <p:spPr>
          <a:xfrm>
            <a:off x="16975"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grpSp>
        <p:nvGrpSpPr>
          <p:cNvPr id="86" name="Google Shape;86;p13"/>
          <p:cNvGrpSpPr/>
          <p:nvPr/>
        </p:nvGrpSpPr>
        <p:grpSpPr>
          <a:xfrm>
            <a:off x="0" y="0"/>
            <a:ext cx="6865269" cy="9144001"/>
            <a:chOff x="0" y="0"/>
            <a:chExt cx="6865269" cy="9144001"/>
          </a:xfrm>
        </p:grpSpPr>
        <p:sp>
          <p:nvSpPr>
            <p:cNvPr id="87" name="Google Shape;87;p13"/>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88" name="Google Shape;88;p13"/>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89" name="Google Shape;89;p13"/>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90" name="Google Shape;90;p13"/>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grpSp>
      <p:sp>
        <p:nvSpPr>
          <p:cNvPr id="91" name="Google Shape;91;p13"/>
          <p:cNvSpPr/>
          <p:nvPr/>
        </p:nvSpPr>
        <p:spPr>
          <a:xfrm>
            <a:off x="539999" y="431999"/>
            <a:ext cx="5785269"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92" name="Google Shape;92;p13"/>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93" name="Google Shape;93;p13"/>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94" name="Google Shape;94;p13"/>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dirty="0">
                <a:solidFill>
                  <a:schemeClr val="dk1"/>
                </a:solidFill>
                <a:latin typeface="Arial"/>
                <a:ea typeface="Arial"/>
                <a:cs typeface="Arial"/>
                <a:sym typeface="Arial"/>
              </a:rPr>
              <a:t>1</a:t>
            </a:r>
            <a:endParaRPr sz="1800" b="0" i="0" u="none" strike="noStrike" cap="none" dirty="0">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4"/>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0" name="Google Shape;100;p14"/>
          <p:cNvSpPr/>
          <p:nvPr/>
        </p:nvSpPr>
        <p:spPr>
          <a:xfrm>
            <a:off x="13088" y="17022"/>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grpSp>
        <p:nvGrpSpPr>
          <p:cNvPr id="101" name="Google Shape;101;p14"/>
          <p:cNvGrpSpPr/>
          <p:nvPr/>
        </p:nvGrpSpPr>
        <p:grpSpPr>
          <a:xfrm>
            <a:off x="0" y="0"/>
            <a:ext cx="6865269" cy="9144001"/>
            <a:chOff x="0" y="0"/>
            <a:chExt cx="6865269" cy="9144001"/>
          </a:xfrm>
        </p:grpSpPr>
        <p:sp>
          <p:nvSpPr>
            <p:cNvPr id="102" name="Google Shape;102;p14"/>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3" name="Google Shape;103;p14"/>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4" name="Google Shape;104;p14"/>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5" name="Google Shape;105;p14"/>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grpSp>
      <p:sp>
        <p:nvSpPr>
          <p:cNvPr id="106" name="Google Shape;106;p14"/>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7" name="Google Shape;107;p14"/>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8" name="Google Shape;108;p14"/>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dirty="0">
                <a:solidFill>
                  <a:schemeClr val="dk1"/>
                </a:solidFill>
                <a:latin typeface="Jost" pitchFamily="2" charset="0"/>
                <a:ea typeface="Jost" pitchFamily="2" charset="0"/>
                <a:sym typeface="Arial"/>
              </a:rPr>
              <a:t>1</a:t>
            </a:r>
            <a:endParaRPr sz="1800" b="0" i="0" u="none" strike="noStrike" cap="none" dirty="0">
              <a:solidFill>
                <a:schemeClr val="dk1"/>
              </a:solidFill>
              <a:latin typeface="Jost" pitchFamily="2" charset="0"/>
              <a:ea typeface="Jost" pitchFamily="2" charset="0"/>
              <a:sym typeface="Arial"/>
            </a:endParaRPr>
          </a:p>
        </p:txBody>
      </p:sp>
      <p:sp>
        <p:nvSpPr>
          <p:cNvPr id="109" name="Google Shape;109;p14"/>
          <p:cNvSpPr txBox="1"/>
          <p:nvPr/>
        </p:nvSpPr>
        <p:spPr>
          <a:xfrm>
            <a:off x="1012140" y="843788"/>
            <a:ext cx="5246398"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i="0" u="none" strike="noStrike" cap="none" dirty="0">
                <a:solidFill>
                  <a:schemeClr val="dk1"/>
                </a:solidFill>
                <a:latin typeface="Jost SemiBold" pitchFamily="2" charset="0"/>
                <a:ea typeface="Jost SemiBold" pitchFamily="2" charset="0"/>
                <a:cs typeface="Segoe UI Semibold" panose="020B0702040204020203" pitchFamily="34" charset="0"/>
                <a:sym typeface="Quattrocento Sans"/>
              </a:rPr>
              <a:t>FlexChroma</a:t>
            </a:r>
            <a:r>
              <a:rPr lang="en-US" sz="2800" i="0" u="none" strike="noStrike" cap="none" dirty="0">
                <a:solidFill>
                  <a:schemeClr val="dk1"/>
                </a:solidFill>
                <a:latin typeface="Jost" pitchFamily="2" charset="0"/>
                <a:ea typeface="Jost" pitchFamily="2" charset="0"/>
                <a:cs typeface="Segoe UI Semibold" panose="020B0702040204020203" pitchFamily="34" charset="0"/>
                <a:sym typeface="IBM Plex Sans JP"/>
              </a:rPr>
              <a:t> </a:t>
            </a:r>
            <a:r>
              <a:rPr lang="en-US" sz="22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Blend</a:t>
            </a:r>
            <a:r>
              <a:rPr lang="en-US" sz="2200" dirty="0">
                <a:solidFill>
                  <a:schemeClr val="dk1"/>
                </a:solidFill>
                <a:latin typeface="Jost Medium" pitchFamily="2" charset="0"/>
                <a:ea typeface="Jost Medium" pitchFamily="2" charset="0"/>
                <a:cs typeface="Segoe UI Semibold" panose="020B0702040204020203" pitchFamily="34" charset="0"/>
                <a:sym typeface="IBM Plex Sans JP"/>
              </a:rPr>
              <a:t> Filament Guide</a:t>
            </a:r>
            <a:endParaRPr sz="2200" dirty="0">
              <a:solidFill>
                <a:schemeClr val="dk1"/>
              </a:solidFill>
              <a:latin typeface="Jost Medium" pitchFamily="2" charset="0"/>
              <a:ea typeface="Jost Medium" pitchFamily="2" charset="0"/>
              <a:cs typeface="Segoe UI Semibold" panose="020B0702040204020203" pitchFamily="34" charset="0"/>
              <a:sym typeface="IBM Plex Sans JP"/>
            </a:endParaRPr>
          </a:p>
        </p:txBody>
      </p:sp>
      <p:sp>
        <p:nvSpPr>
          <p:cNvPr id="110" name="Google Shape;110;p14"/>
          <p:cNvSpPr/>
          <p:nvPr/>
        </p:nvSpPr>
        <p:spPr>
          <a:xfrm>
            <a:off x="566175" y="3074681"/>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11" name="Google Shape;111;p14"/>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１．はじめに </a:t>
            </a:r>
            <a:endParaRPr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12" name="Google Shape;112;p14"/>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ブランド概要</a:t>
            </a:r>
            <a:r>
              <a:rPr lang="en-US" sz="1200" b="1"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Jost SemiBold" pitchFamily="2" charset="0"/>
                <a:ea typeface="Jost SemiBold" pitchFamily="2" charset="0"/>
                <a:cs typeface="Quattrocento Sans"/>
                <a:sym typeface="Quattrocento Sans"/>
              </a:rPr>
              <a:t>FlexChroma</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は既存のフィラメントの持つ色では満足できない人だけでなく、保有フィラメントが少ないせいで創造性を十分に</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発揮できていない人に向けた、色の自由度を開放するブランドです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grpSp>
        <p:nvGrpSpPr>
          <p:cNvPr id="113" name="Google Shape;113;p14"/>
          <p:cNvGrpSpPr/>
          <p:nvPr/>
        </p:nvGrpSpPr>
        <p:grpSpPr>
          <a:xfrm>
            <a:off x="826610" y="441444"/>
            <a:ext cx="5260583" cy="400120"/>
            <a:chOff x="1042026" y="430737"/>
            <a:chExt cx="4781214" cy="377792"/>
          </a:xfrm>
        </p:grpSpPr>
        <p:sp>
          <p:nvSpPr>
            <p:cNvPr id="114" name="Google Shape;114;p14"/>
            <p:cNvSpPr/>
            <p:nvPr/>
          </p:nvSpPr>
          <p:spPr>
            <a:xfrm>
              <a:off x="1042026" y="430737"/>
              <a:ext cx="4781214" cy="377792"/>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sp>
          <p:nvSpPr>
            <p:cNvPr id="115" name="Google Shape;115;p14"/>
            <p:cNvSpPr/>
            <p:nvPr/>
          </p:nvSpPr>
          <p:spPr>
            <a:xfrm>
              <a:off x="1042026" y="697920"/>
              <a:ext cx="4781214" cy="110609"/>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grpSp>
      <p:grpSp>
        <p:nvGrpSpPr>
          <p:cNvPr id="116" name="Google Shape;116;p14"/>
          <p:cNvGrpSpPr/>
          <p:nvPr/>
        </p:nvGrpSpPr>
        <p:grpSpPr>
          <a:xfrm rot="10800000">
            <a:off x="826608" y="2224664"/>
            <a:ext cx="5260584" cy="377792"/>
            <a:chOff x="1042026" y="430737"/>
            <a:chExt cx="4781214" cy="377792"/>
          </a:xfrm>
        </p:grpSpPr>
        <p:sp>
          <p:nvSpPr>
            <p:cNvPr id="117" name="Google Shape;117;p14"/>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8" name="Google Shape;118;p14"/>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19" name="Google Shape;119;p14"/>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Jost" pitchFamily="2" charset="0"/>
                <a:ea typeface="Jost" pitchFamily="2" charset="0"/>
                <a:cs typeface="Segoe UI Semibold" panose="020B0702040204020203" pitchFamily="34" charset="0"/>
                <a:sym typeface="IBM Plex Sans JP"/>
              </a:rPr>
              <a:t>-  Print Colors You Imagine. -</a:t>
            </a:r>
            <a:endParaRPr sz="1600" dirty="0">
              <a:solidFill>
                <a:schemeClr val="dk1"/>
              </a:solidFill>
              <a:latin typeface="Jost" pitchFamily="2" charset="0"/>
              <a:ea typeface="Jost" pitchFamily="2" charset="0"/>
              <a:cs typeface="Segoe UI Semibold" panose="020B0702040204020203" pitchFamily="34" charset="0"/>
              <a:sym typeface="IBM Plex Sans JP"/>
            </a:endParaRPr>
          </a:p>
        </p:txBody>
      </p:sp>
      <p:sp>
        <p:nvSpPr>
          <p:cNvPr id="120" name="Google Shape;120;p14"/>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Jost" pitchFamily="2" charset="0"/>
                <a:ea typeface="Jost" pitchFamily="2" charset="0"/>
                <a:cs typeface="IBM Plex Sans JP"/>
                <a:sym typeface="IBM Plex Sans JP"/>
              </a:rPr>
              <a:t>Ver.</a:t>
            </a:r>
            <a:r>
              <a:rPr lang="en-US" altLang="ja-JP" sz="1400" dirty="0">
                <a:solidFill>
                  <a:schemeClr val="dk1"/>
                </a:solidFill>
                <a:latin typeface="Jost" pitchFamily="2" charset="0"/>
                <a:ea typeface="Jost" pitchFamily="2" charset="0"/>
                <a:cs typeface="IBM Plex Sans JP"/>
                <a:sym typeface="IBM Plex Sans JP"/>
              </a:rPr>
              <a:t>2</a:t>
            </a:r>
            <a:r>
              <a:rPr lang="en-US" sz="1400" dirty="0">
                <a:solidFill>
                  <a:schemeClr val="dk1"/>
                </a:solidFill>
                <a:latin typeface="Jost" pitchFamily="2" charset="0"/>
                <a:ea typeface="Jost" pitchFamily="2" charset="0"/>
                <a:cs typeface="IBM Plex Sans JP"/>
                <a:sym typeface="IBM Plex Sans JP"/>
              </a:rPr>
              <a:t>.11  2026.9.</a:t>
            </a:r>
            <a:r>
              <a:rPr lang="en-US" dirty="0">
                <a:solidFill>
                  <a:schemeClr val="dk1"/>
                </a:solidFill>
                <a:latin typeface="Jost" pitchFamily="2" charset="0"/>
                <a:ea typeface="Jost" pitchFamily="2" charset="0"/>
                <a:cs typeface="IBM Plex Sans JP"/>
                <a:sym typeface="IBM Plex Sans JP"/>
              </a:rPr>
              <a:t>1</a:t>
            </a:r>
            <a:r>
              <a:rPr lang="en-US" altLang="ja-JP" dirty="0">
                <a:solidFill>
                  <a:schemeClr val="dk1"/>
                </a:solidFill>
                <a:latin typeface="Jost" pitchFamily="2" charset="0"/>
                <a:ea typeface="Jost" pitchFamily="2" charset="0"/>
                <a:cs typeface="IBM Plex Sans JP"/>
                <a:sym typeface="IBM Plex Sans JP"/>
              </a:rPr>
              <a:t>6</a:t>
            </a:r>
            <a:endParaRPr sz="1400" dirty="0">
              <a:solidFill>
                <a:schemeClr val="dk1"/>
              </a:solidFill>
              <a:latin typeface="Jost" pitchFamily="2" charset="0"/>
              <a:ea typeface="Jost" pitchFamily="2" charset="0"/>
              <a:cs typeface="IBM Plex Sans JP"/>
              <a:sym typeface="IBM Plex Sans JP"/>
            </a:endParaRPr>
          </a:p>
        </p:txBody>
      </p:sp>
      <p:sp>
        <p:nvSpPr>
          <p:cNvPr id="121" name="Google Shape;121;p14"/>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シリーズ概要</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Blend Filamentシリーズは</a:t>
            </a:r>
            <a:r>
              <a:rPr lang="en-US" sz="1050" dirty="0">
                <a:solidFill>
                  <a:schemeClr val="dk1"/>
                </a:solidFill>
                <a:latin typeface="Jost SemiBold" pitchFamily="2" charset="0"/>
                <a:ea typeface="Jost SemiBold" pitchFamily="2" charset="0"/>
                <a:cs typeface="Quattrocento Sans"/>
                <a:sym typeface="Quattrocento Sans"/>
              </a:rPr>
              <a:t>FlexChroma</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の最も基礎的なシリーズです。2つのフィラメントを様々な混合比で混ぜ合わせ、あ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なただけの新しい色を作ることが出来ます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また、更なるこだわりや明暗差の大きい色の混合のためにDetailモデルも用意しており、Standardモデルでは扱いきれな</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い細かい調整を行えます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22" name="Google Shape;122;p14"/>
          <p:cNvSpPr/>
          <p:nvPr/>
        </p:nvSpPr>
        <p:spPr>
          <a:xfrm>
            <a:off x="554550" y="570357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3" name="Google Shape;123;p14"/>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２．モデル構成  </a:t>
            </a:r>
            <a:endParaRPr sz="2000" b="1">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24" name="Google Shape;124;p14"/>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Noto Sans JP" panose="020B0200000000000000" pitchFamily="50" charset="-128"/>
                <a:ea typeface="Noto Sans JP" panose="020B0200000000000000" pitchFamily="50" charset="-128"/>
                <a:cs typeface="Quattrocento Sans"/>
                <a:sym typeface="Quattrocento Sans"/>
              </a:rPr>
              <a:t>混色比 </a:t>
            </a:r>
            <a:endParaRPr sz="1200" b="1">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5" name="Google Shape;125;p14"/>
          <p:cNvSpPr/>
          <p:nvPr/>
        </p:nvSpPr>
        <p:spPr>
          <a:xfrm>
            <a:off x="607651" y="4459122"/>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6" name="Google Shape;126;p14"/>
          <p:cNvSpPr/>
          <p:nvPr/>
        </p:nvSpPr>
        <p:spPr>
          <a:xfrm>
            <a:off x="607651" y="3613110"/>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7" name="Google Shape;127;p14"/>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Noto Sans JP" panose="020B0200000000000000" pitchFamily="50" charset="-128"/>
                <a:ea typeface="Noto Sans JP" panose="020B0200000000000000"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8" name="Google Shape;128;p14"/>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混色比は主に2つのモデルで決められます。</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・Standard モデル：50～95％まで5％刻み。10モデル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・Detail モデル：90%, 92.5%, 95%, 96%, 97%, 98%, 98.5%, 99%, 99.5%の 9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モデル</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※90%, 95％のデータは同一のものとなります。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Bを入れ替えることで別の混合比を</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取ることが出来ます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Quattrocento Sans"/>
                <a:sym typeface="Quattrocento Sans"/>
              </a:rPr>
              <a:t>例：75％モデルを使うと[A:B＝75:25]、</a:t>
            </a:r>
            <a:r>
              <a:rPr lang="en-US" sz="9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入れ替えると</a:t>
            </a:r>
            <a:r>
              <a:rPr lang="en-US" sz="900" dirty="0">
                <a:solidFill>
                  <a:schemeClr val="dk1"/>
                </a:solidFill>
                <a:latin typeface="Noto Sans JP" panose="020B0200000000000000" pitchFamily="50" charset="-128"/>
                <a:ea typeface="Noto Sans JP" panose="020B0200000000000000" pitchFamily="50" charset="-128"/>
                <a:cs typeface="Quattrocento Sans"/>
                <a:sym typeface="Quattrocento Sans"/>
              </a:rPr>
              <a:t>[A:B＝25:75]となり、25%モデル相当となります。</a:t>
            </a:r>
            <a:endParaRPr sz="9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Standard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モデルは容量を少なく</a:t>
            </a:r>
            <a:r>
              <a:rPr lang="ja-JP" alt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する</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ためStandard1, Standard2と分けられる</a:t>
            </a:r>
            <a:r>
              <a:rPr lang="ja-JP" alt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事</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があります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9" name="Google Shape;129;p14"/>
          <p:cNvSpPr/>
          <p:nvPr/>
        </p:nvSpPr>
        <p:spPr>
          <a:xfrm>
            <a:off x="713476" y="6659597"/>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3" name="図 2">
            <a:extLst>
              <a:ext uri="{FF2B5EF4-FFF2-40B4-BE49-F238E27FC236}">
                <a16:creationId xmlns:a16="http://schemas.microsoft.com/office/drawing/2014/main" id="{3BFB578B-2FC5-0CFA-B9F7-66AFD3E53782}"/>
              </a:ext>
            </a:extLst>
          </p:cNvPr>
          <p:cNvPicPr>
            <a:picLocks noChangeAspect="1"/>
          </p:cNvPicPr>
          <p:nvPr/>
        </p:nvPicPr>
        <p:blipFill>
          <a:blip r:embed="rId3"/>
          <a:stretch>
            <a:fillRect/>
          </a:stretch>
        </p:blipFill>
        <p:spPr>
          <a:xfrm>
            <a:off x="813507" y="946491"/>
            <a:ext cx="356510" cy="34367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5"/>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5" name="Google Shape;135;p15"/>
          <p:cNvSpPr/>
          <p:nvPr/>
        </p:nvSpPr>
        <p:spPr>
          <a:xfrm>
            <a:off x="20300" y="-17213"/>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36" name="Google Shape;136;p15"/>
          <p:cNvGrpSpPr/>
          <p:nvPr/>
        </p:nvGrpSpPr>
        <p:grpSpPr>
          <a:xfrm>
            <a:off x="0" y="0"/>
            <a:ext cx="6865269" cy="9144001"/>
            <a:chOff x="0" y="0"/>
            <a:chExt cx="6865269" cy="9144001"/>
          </a:xfrm>
        </p:grpSpPr>
        <p:sp>
          <p:nvSpPr>
            <p:cNvPr id="137" name="Google Shape;137;p15"/>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8" name="Google Shape;138;p15"/>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9" name="Google Shape;139;p15"/>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0" name="Google Shape;140;p15"/>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41" name="Google Shape;141;p15"/>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3" name="Google Shape;143;p15"/>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Jost" pitchFamily="2" charset="0"/>
                <a:ea typeface="Jost" pitchFamily="2" charset="0"/>
                <a:sym typeface="Arial"/>
              </a:rPr>
              <a:t>2</a:t>
            </a:r>
            <a:endParaRPr sz="1800">
              <a:solidFill>
                <a:schemeClr val="dk1"/>
              </a:solidFill>
              <a:latin typeface="Jost" pitchFamily="2" charset="0"/>
              <a:ea typeface="Jost" pitchFamily="2" charset="0"/>
              <a:sym typeface="Arial"/>
            </a:endParaRPr>
          </a:p>
        </p:txBody>
      </p:sp>
      <p:sp>
        <p:nvSpPr>
          <p:cNvPr id="145" name="Google Shape;145;p15"/>
          <p:cNvSpPr/>
          <p:nvPr/>
        </p:nvSpPr>
        <p:spPr>
          <a:xfrm>
            <a:off x="549450" y="435018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6" name="Google Shape;146;p15"/>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３．混色結果 </a:t>
            </a:r>
            <a:endParaRPr sz="2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47" name="Google Shape;147;p15"/>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48" name="Google Shape;148;p15"/>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サイズ</a:t>
            </a:r>
            <a:r>
              <a:rPr lang="en-US" sz="1200" b="1"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49" name="Google Shape;149;p15"/>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Mで始まるモデルをM</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Familyと呼んでおりBambu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S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で始まるモデルをS</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Familyと呼んでおりBambu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A1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miniで印刷できるサイズとなります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L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で始まるモデルはBambu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50" name="Google Shape;150;p15"/>
          <p:cNvSpPr/>
          <p:nvPr/>
        </p:nvSpPr>
        <p:spPr>
          <a:xfrm>
            <a:off x="566176" y="66621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1" name="Google Shape;151;p15"/>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混色の特徴</a:t>
            </a:r>
            <a:r>
              <a:rPr lang="en-US" sz="12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2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明度差の小さい組み合わせ（CMY</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シアン・マゼンタ・イエローなどの明度差の小さい組合せは、混合比と最終色が比較的リニアに対応します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この様なケースではStandardモデルだけで十分な結果を得る事が出来ます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53" name="Google Shape;153;p15"/>
          <p:cNvSpPr/>
          <p:nvPr/>
        </p:nvSpPr>
        <p:spPr>
          <a:xfrm>
            <a:off x="580600" y="595450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4" name="Google Shape;154;p15"/>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6"/>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0" name="Google Shape;160;p16"/>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61" name="Google Shape;161;p16"/>
          <p:cNvGrpSpPr/>
          <p:nvPr/>
        </p:nvGrpSpPr>
        <p:grpSpPr>
          <a:xfrm>
            <a:off x="0" y="0"/>
            <a:ext cx="6865269" cy="9144001"/>
            <a:chOff x="0" y="0"/>
            <a:chExt cx="6865269" cy="9144001"/>
          </a:xfrm>
        </p:grpSpPr>
        <p:sp>
          <p:nvSpPr>
            <p:cNvPr id="162" name="Google Shape;162;p16"/>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3" name="Google Shape;163;p16"/>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5" name="Google Shape;165;p16"/>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66" name="Google Shape;166;p16"/>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7" name="Google Shape;167;p16"/>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8" name="Google Shape;168;p16"/>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sym typeface="Arial"/>
              </a:rPr>
              <a:t>3</a:t>
            </a:r>
            <a:endParaRPr sz="1800" dirty="0">
              <a:solidFill>
                <a:schemeClr val="dk1"/>
              </a:solidFill>
              <a:latin typeface="Jost" pitchFamily="2" charset="0"/>
              <a:ea typeface="Jost" pitchFamily="2" charset="0"/>
              <a:sym typeface="Arial"/>
            </a:endParaRPr>
          </a:p>
        </p:txBody>
      </p:sp>
      <p:sp>
        <p:nvSpPr>
          <p:cNvPr id="170" name="Google Shape;170;p16"/>
          <p:cNvSpPr/>
          <p:nvPr/>
        </p:nvSpPr>
        <p:spPr>
          <a:xfrm>
            <a:off x="575725" y="5930002"/>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71" name="Google Shape;171;p16"/>
          <p:cNvSpPr txBox="1"/>
          <p:nvPr/>
        </p:nvSpPr>
        <p:spPr>
          <a:xfrm>
            <a:off x="748128" y="5867504"/>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４．揃えるべきフィラメント </a:t>
            </a:r>
            <a:endParaRPr sz="24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72" name="Google Shape;172;p16"/>
          <p:cNvSpPr txBox="1"/>
          <p:nvPr/>
        </p:nvSpPr>
        <p:spPr>
          <a:xfrm>
            <a:off x="678058" y="6285057"/>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73" name="Google Shape;173;p16"/>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明度差の大きい組み合わせ（白・黒</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まいます。このような場合はDetailモデルを活用してください</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なってしまう事があります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Filament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で薄いグレーの</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pic>
        <p:nvPicPr>
          <p:cNvPr id="174" name="Google Shape;174;p16"/>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p:cNvSpPr txBox="1"/>
          <p:nvPr/>
        </p:nvSpPr>
        <p:spPr>
          <a:xfrm>
            <a:off x="666532" y="4269345"/>
            <a:ext cx="56421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材質による違い</a:t>
            </a:r>
            <a:endParaRPr sz="12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特にPLA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一方でPETG</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HTの白は透過性が低く、PLA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Basicよりも白の影響が強い結果となります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混色時にはベースとなるフィラメントの色だけではなく、透過性の影響も受けます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76" name="Google Shape;176;p16"/>
          <p:cNvSpPr/>
          <p:nvPr/>
        </p:nvSpPr>
        <p:spPr>
          <a:xfrm>
            <a:off x="594750" y="434325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17"/>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2" name="Google Shape;182;p17"/>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83" name="Google Shape;183;p17"/>
          <p:cNvGrpSpPr/>
          <p:nvPr/>
        </p:nvGrpSpPr>
        <p:grpSpPr>
          <a:xfrm>
            <a:off x="0" y="0"/>
            <a:ext cx="6865269" cy="9144001"/>
            <a:chOff x="0" y="0"/>
            <a:chExt cx="6865269" cy="9144001"/>
          </a:xfrm>
        </p:grpSpPr>
        <p:sp>
          <p:nvSpPr>
            <p:cNvPr id="184" name="Google Shape;184;p17"/>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5" name="Google Shape;185;p17"/>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6" name="Google Shape;186;p17"/>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7" name="Google Shape;187;p17"/>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88" name="Google Shape;188;p17"/>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0" name="Google Shape;190;p17"/>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sym typeface="Arial"/>
              </a:rPr>
              <a:t>4</a:t>
            </a:r>
            <a:endParaRPr sz="1800" dirty="0">
              <a:solidFill>
                <a:schemeClr val="dk1"/>
              </a:solidFill>
              <a:latin typeface="Jost" pitchFamily="2" charset="0"/>
              <a:ea typeface="Jost" pitchFamily="2" charset="0"/>
              <a:sym typeface="Arial"/>
            </a:endParaRPr>
          </a:p>
        </p:txBody>
      </p:sp>
      <p:sp>
        <p:nvSpPr>
          <p:cNvPr id="192" name="Google Shape;192;p17"/>
          <p:cNvSpPr/>
          <p:nvPr/>
        </p:nvSpPr>
        <p:spPr>
          <a:xfrm>
            <a:off x="571996" y="447045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3" name="Google Shape;193;p17"/>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５．使用上の注意 </a:t>
            </a:r>
            <a:endParaRPr sz="24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94" name="Google Shape;194;p17"/>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印刷手順：</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この様に2段階の印刷で作りたい形の物を好きな色で作ることが出来ます。 </a:t>
            </a:r>
            <a:endParaRPr sz="1000" dirty="0">
              <a:latin typeface="Noto Sans JP" panose="020B0200000000000000" pitchFamily="50" charset="-128"/>
              <a:ea typeface="Noto Sans JP" panose="020B0200000000000000" pitchFamily="50" charset="-128"/>
            </a:endParaRPr>
          </a:p>
        </p:txBody>
      </p:sp>
      <p:sp>
        <p:nvSpPr>
          <p:cNvPr id="195" name="Google Shape;195;p17"/>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Cyan・Magenta・Yellow</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また、Jade</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White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とBlack</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は明度差が大きくまだらになってしまう傾向にあります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そこで、これらの区間に対しては</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 </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Cyan–Yellow → Bamboo Green,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Magenta-Cyan → Purple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といったブリッジ色</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を提案いたします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96" name="Google Shape;196;p17"/>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p:cNvPicPr preferRelativeResize="0"/>
          <p:nvPr/>
        </p:nvPicPr>
        <p:blipFill>
          <a:blip r:embed="rId3">
            <a:alphaModFix/>
          </a:blip>
          <a:stretch>
            <a:fillRect/>
          </a:stretch>
        </p:blipFill>
        <p:spPr>
          <a:xfrm>
            <a:off x="785500" y="2258112"/>
            <a:ext cx="5536976" cy="2111324"/>
          </a:xfrm>
          <a:prstGeom prst="rect">
            <a:avLst/>
          </a:prstGeom>
          <a:noFill/>
          <a:ln>
            <a:noFill/>
          </a:ln>
        </p:spPr>
      </p:pic>
      <p:sp>
        <p:nvSpPr>
          <p:cNvPr id="198" name="Google Shape;198;p17"/>
          <p:cNvSpPr/>
          <p:nvPr/>
        </p:nvSpPr>
        <p:spPr>
          <a:xfrm>
            <a:off x="612050" y="695930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99" name="Google Shape;199;p17"/>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p:cNvSpPr txBox="1"/>
          <p:nvPr/>
        </p:nvSpPr>
        <p:spPr>
          <a:xfrm>
            <a:off x="672873" y="6916423"/>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Noto Sans JP" panose="020B0200000000000000" pitchFamily="50" charset="-128"/>
                <a:ea typeface="Noto Sans JP" panose="020B0200000000000000" pitchFamily="50" charset="-128"/>
              </a:rPr>
              <a:t>印刷</a:t>
            </a:r>
            <a:r>
              <a:rPr lang="en-US" sz="1200" b="1" dirty="0">
                <a:latin typeface="Noto Sans JP" panose="020B0200000000000000" pitchFamily="50" charset="-128"/>
                <a:ea typeface="Noto Sans JP" panose="020B0200000000000000" pitchFamily="50" charset="-128"/>
              </a:rPr>
              <a:t> #1（Blend Filament </a:t>
            </a:r>
            <a:r>
              <a:rPr lang="en-US" sz="1200" b="1" dirty="0" err="1">
                <a:latin typeface="Noto Sans JP" panose="020B0200000000000000" pitchFamily="50" charset="-128"/>
                <a:ea typeface="Noto Sans JP" panose="020B0200000000000000" pitchFamily="50" charset="-128"/>
              </a:rPr>
              <a:t>の印刷）前</a:t>
            </a:r>
            <a:endParaRPr sz="12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5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b="1" dirty="0" err="1">
                <a:latin typeface="Noto Sans JP" panose="020B0200000000000000" pitchFamily="50" charset="-128"/>
                <a:ea typeface="Noto Sans JP" panose="020B0200000000000000" pitchFamily="50" charset="-128"/>
              </a:rPr>
              <a:t>必須の項目</a:t>
            </a:r>
            <a:r>
              <a:rPr lang="en-US" sz="1000" b="1" dirty="0">
                <a:latin typeface="Noto Sans JP" panose="020B0200000000000000" pitchFamily="50" charset="-128"/>
                <a:ea typeface="Noto Sans JP" panose="020B0200000000000000" pitchFamily="50" charset="-128"/>
              </a:rPr>
              <a:t> </a:t>
            </a:r>
            <a:endParaRPr sz="10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4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・AMS </a:t>
            </a:r>
            <a:r>
              <a:rPr lang="en-US" sz="1000" dirty="0" err="1">
                <a:latin typeface="Noto Sans JP" panose="020B0200000000000000" pitchFamily="50" charset="-128"/>
                <a:ea typeface="Noto Sans JP" panose="020B0200000000000000" pitchFamily="50" charset="-128"/>
              </a:rPr>
              <a:t>必須</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a:latin typeface="Noto Sans JP" panose="020B0200000000000000" pitchFamily="50" charset="-128"/>
                <a:ea typeface="Noto Sans JP" panose="020B0200000000000000" pitchFamily="50" charset="-128"/>
              </a:rPr>
              <a:t>2 </a:t>
            </a:r>
            <a:r>
              <a:rPr lang="en-US" sz="900" dirty="0" err="1">
                <a:latin typeface="Noto Sans JP" panose="020B0200000000000000" pitchFamily="50" charset="-128"/>
                <a:ea typeface="Noto Sans JP" panose="020B0200000000000000" pitchFamily="50" charset="-128"/>
              </a:rPr>
              <a:t>色の頻繁な色の切り替えが必要です。AMSまたは同等のマルチマテリアルシステム必須です</a:t>
            </a:r>
            <a:r>
              <a:rPr lang="en-US" sz="900" dirty="0">
                <a:latin typeface="Noto Sans JP" panose="020B0200000000000000" pitchFamily="50" charset="-128"/>
                <a:ea typeface="Noto Sans JP" panose="020B0200000000000000" pitchFamily="50" charset="-128"/>
              </a:rPr>
              <a:t>。</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・0.4 mm </a:t>
            </a:r>
            <a:r>
              <a:rPr lang="en-US" sz="1000" dirty="0" err="1">
                <a:latin typeface="Noto Sans JP" panose="020B0200000000000000" pitchFamily="50" charset="-128"/>
                <a:ea typeface="Noto Sans JP" panose="020B0200000000000000" pitchFamily="50" charset="-128"/>
              </a:rPr>
              <a:t>ノズル必須</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a:latin typeface="Noto Sans JP" panose="020B0200000000000000" pitchFamily="50" charset="-128"/>
                <a:ea typeface="Noto Sans JP" panose="020B0200000000000000"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Noto Sans JP" panose="020B0200000000000000" pitchFamily="50" charset="-128"/>
              <a:ea typeface="Noto Sans JP" panose="020B02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18"/>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6" name="Google Shape;206;p18"/>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07" name="Google Shape;207;p18"/>
          <p:cNvGrpSpPr/>
          <p:nvPr/>
        </p:nvGrpSpPr>
        <p:grpSpPr>
          <a:xfrm>
            <a:off x="0" y="0"/>
            <a:ext cx="6865269" cy="9144001"/>
            <a:chOff x="0" y="0"/>
            <a:chExt cx="6865269" cy="9144001"/>
          </a:xfrm>
        </p:grpSpPr>
        <p:sp>
          <p:nvSpPr>
            <p:cNvPr id="208" name="Google Shape;208;p18"/>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9" name="Google Shape;209;p18"/>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0" name="Google Shape;210;p18"/>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1" name="Google Shape;211;p18"/>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12" name="Google Shape;212;p18"/>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3" name="Google Shape;213;p18"/>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4" name="Google Shape;214;p18"/>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rPr>
              <a:t>5</a:t>
            </a:r>
            <a:endParaRPr sz="1800" dirty="0">
              <a:solidFill>
                <a:schemeClr val="dk1"/>
              </a:solidFill>
              <a:latin typeface="Jost" pitchFamily="2" charset="0"/>
              <a:ea typeface="Jost" pitchFamily="2" charset="0"/>
              <a:sym typeface="Arial"/>
            </a:endParaRPr>
          </a:p>
        </p:txBody>
      </p:sp>
      <p:sp>
        <p:nvSpPr>
          <p:cNvPr id="216" name="Google Shape;216;p18"/>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非推奨の項目</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糊の使用</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印刷</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#2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にて糊がノズルに詰まる可能性があります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異素材混合</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印刷温度が異なる素材の混合フィラメントは、印刷＃２にてノズルが詰まる可能性があります。 PLA Basic と PLA Matte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の様に印刷温度が一致しており、同素材であれば使用できる可能性はあります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基本的に</a:t>
            </a:r>
            <a:r>
              <a:rPr lang="en-US" sz="9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同一メーカー同一商品の色違いを使うことを推奨</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します。挑戦する場合は自己責任でお願いします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latin typeface="Noto Sans JP" panose="020B0200000000000000" pitchFamily="50" charset="-128"/>
              <a:ea typeface="Noto Sans JP" panose="020B0200000000000000" pitchFamily="50" charset="-128"/>
            </a:endParaRPr>
          </a:p>
        </p:txBody>
      </p:sp>
      <p:sp>
        <p:nvSpPr>
          <p:cNvPr id="217" name="Google Shape;217;p18"/>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a:t>
            </a:r>
            <a:r>
              <a:rPr lang="en-US" sz="1000" dirty="0" err="1">
                <a:latin typeface="Noto Sans JP" panose="020B0200000000000000" pitchFamily="50" charset="-128"/>
                <a:ea typeface="Noto Sans JP" panose="020B0200000000000000" pitchFamily="50" charset="-128"/>
              </a:rPr>
              <a:t>プレートと手の脱脂</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err="1">
                <a:latin typeface="Noto Sans JP" panose="020B0200000000000000" pitchFamily="50" charset="-128"/>
                <a:ea typeface="Noto Sans JP" panose="020B0200000000000000" pitchFamily="50" charset="-128"/>
              </a:rPr>
              <a:t>本モデルは定着性がシビアです。十分な脱脂を行って、定着性を高めてください</a:t>
            </a:r>
            <a:r>
              <a:rPr lang="en-US" sz="900" dirty="0">
                <a:latin typeface="Noto Sans JP" panose="020B0200000000000000" pitchFamily="50" charset="-128"/>
                <a:ea typeface="Noto Sans JP" panose="020B0200000000000000" pitchFamily="50" charset="-128"/>
              </a:rPr>
              <a:t>。 定着が困難な場合は1サイズ小さいモデルを検討してください。 </a:t>
            </a:r>
            <a:endParaRPr sz="9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err="1">
                <a:latin typeface="Noto Sans JP" panose="020B0200000000000000" pitchFamily="50" charset="-128"/>
                <a:ea typeface="Noto Sans JP" panose="020B0200000000000000" pitchFamily="50" charset="-128"/>
              </a:rPr>
              <a:t>定着のしやすさ</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err="1">
                <a:latin typeface="Noto Sans JP" panose="020B0200000000000000" pitchFamily="50" charset="-128"/>
                <a:ea typeface="Noto Sans JP" panose="020B0200000000000000" pitchFamily="50" charset="-128"/>
              </a:rPr>
              <a:t>ビ</a:t>
            </a:r>
            <a:r>
              <a:rPr lang="en-US" sz="900" dirty="0" err="1">
                <a:latin typeface="Noto Sans JP" panose="020B0200000000000000" pitchFamily="50" charset="-128"/>
                <a:ea typeface="Noto Sans JP" panose="020B0200000000000000" pitchFamily="50" charset="-128"/>
              </a:rPr>
              <a:t>ルドプレートとフィラメントによって定着性が変わります。下表を参考にしてください</a:t>
            </a:r>
            <a:r>
              <a:rPr lang="en-US" sz="900" dirty="0">
                <a:latin typeface="Noto Sans JP" panose="020B0200000000000000" pitchFamily="50" charset="-128"/>
                <a:ea typeface="Noto Sans JP" panose="020B0200000000000000" pitchFamily="50" charset="-128"/>
              </a:rPr>
              <a:t>。 </a:t>
            </a:r>
            <a:endParaRPr sz="900" dirty="0">
              <a:latin typeface="Noto Sans JP" panose="020B0200000000000000" pitchFamily="50" charset="-128"/>
              <a:ea typeface="Noto Sans JP" panose="020B0200000000000000" pitchFamily="50" charset="-128"/>
            </a:endParaRPr>
          </a:p>
        </p:txBody>
      </p:sp>
      <p:sp>
        <p:nvSpPr>
          <p:cNvPr id="218" name="Google Shape;218;p18"/>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Noto Sans JP" panose="020B0200000000000000" pitchFamily="50" charset="-128"/>
                <a:ea typeface="Noto Sans JP" panose="020B0200000000000000" pitchFamily="50" charset="-128"/>
                <a:cs typeface="IBM Plex Sans JP"/>
                <a:sym typeface="IBM Plex Sans JP"/>
              </a:rPr>
              <a:t>印刷 #2（本番造形）前</a:t>
            </a:r>
            <a:endParaRPr sz="1200" b="1">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・ブリムの除去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Noto Sans JP" panose="020B0200000000000000" pitchFamily="50" charset="-128"/>
                <a:ea typeface="Noto Sans JP" panose="020B0200000000000000"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・バリの除去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Noto Sans JP" panose="020B0200000000000000" pitchFamily="50" charset="-128"/>
                <a:ea typeface="Noto Sans JP" panose="020B0200000000000000"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Noto Sans JP" panose="020B0200000000000000" pitchFamily="50" charset="-128"/>
              <a:ea typeface="Noto Sans JP" panose="020B0200000000000000" pitchFamily="50" charset="-128"/>
            </a:endParaRPr>
          </a:p>
        </p:txBody>
      </p:sp>
      <p:sp>
        <p:nvSpPr>
          <p:cNvPr id="221" name="Google Shape;221;p18"/>
          <p:cNvSpPr/>
          <p:nvPr/>
        </p:nvSpPr>
        <p:spPr>
          <a:xfrm>
            <a:off x="612050" y="7175724"/>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19"/>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27" name="Google Shape;227;p19"/>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28" name="Google Shape;228;p19"/>
          <p:cNvGrpSpPr/>
          <p:nvPr/>
        </p:nvGrpSpPr>
        <p:grpSpPr>
          <a:xfrm>
            <a:off x="0" y="0"/>
            <a:ext cx="6865269" cy="9144001"/>
            <a:chOff x="0" y="0"/>
            <a:chExt cx="6865269" cy="9144001"/>
          </a:xfrm>
        </p:grpSpPr>
        <p:sp>
          <p:nvSpPr>
            <p:cNvPr id="229" name="Google Shape;229;p19"/>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0" name="Google Shape;230;p19"/>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1" name="Google Shape;231;p19"/>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2" name="Google Shape;232;p19"/>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33" name="Google Shape;233;p19"/>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4" name="Google Shape;234;p19"/>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5" name="Google Shape;235;p19"/>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rPr>
              <a:t>6</a:t>
            </a:r>
            <a:endParaRPr sz="1800" dirty="0">
              <a:solidFill>
                <a:schemeClr val="dk1"/>
              </a:solidFill>
              <a:latin typeface="Jost" pitchFamily="2" charset="0"/>
              <a:ea typeface="Jost" pitchFamily="2" charset="0"/>
              <a:sym typeface="Arial"/>
            </a:endParaRPr>
          </a:p>
        </p:txBody>
      </p:sp>
      <p:sp>
        <p:nvSpPr>
          <p:cNvPr id="237" name="Google Shape;237;p19"/>
          <p:cNvSpPr/>
          <p:nvPr/>
        </p:nvSpPr>
        <p:spPr>
          <a:xfrm>
            <a:off x="580886" y="28823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8" name="Google Shape;238;p19"/>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7. </a:t>
            </a:r>
            <a:r>
              <a:rPr lang="ja-JP" alt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更新履歴</a:t>
            </a:r>
            <a:endParaRPr sz="1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239" name="Google Shape;239;p19"/>
          <p:cNvSpPr txBox="1"/>
          <p:nvPr/>
        </p:nvSpPr>
        <p:spPr>
          <a:xfrm>
            <a:off x="672860" y="3162690"/>
            <a:ext cx="5649600" cy="646290"/>
          </a:xfrm>
          <a:prstGeom prst="rect">
            <a:avLst/>
          </a:prstGeom>
          <a:noFill/>
          <a:ln>
            <a:noFill/>
          </a:ln>
        </p:spPr>
        <p:txBody>
          <a:bodyPr spcFirstLastPara="1" wrap="square" lIns="91425" tIns="45700" rIns="91425" bIns="45700" anchor="t" anchorCtr="0">
            <a:spAutoFit/>
          </a:bodyPr>
          <a:lstStyle/>
          <a:p>
            <a:pPr lvl="0"/>
            <a:r>
              <a:rPr lang="ja-JP" altLang="ja-JP" sz="900" dirty="0">
                <a:latin typeface="Noto Sans JP" panose="020B0200000000000000" pitchFamily="50" charset="-128"/>
                <a:ea typeface="Noto Sans JP" panose="020B0200000000000000" pitchFamily="50" charset="-128"/>
              </a:rPr>
              <a:t>Ver.1.0</a:t>
            </a:r>
            <a:r>
              <a:rPr lang="en-US" altLang="ja-JP" sz="900" dirty="0">
                <a:latin typeface="Noto Sans JP" panose="020B0200000000000000" pitchFamily="50" charset="-128"/>
                <a:ea typeface="Noto Sans JP" panose="020B0200000000000000" pitchFamily="50" charset="-128"/>
              </a:rPr>
              <a:t>0</a:t>
            </a:r>
            <a:r>
              <a:rPr lang="ja-JP" altLang="ja-JP" sz="900" dirty="0">
                <a:latin typeface="Noto Sans JP" panose="020B0200000000000000" pitchFamily="50" charset="-128"/>
                <a:ea typeface="Noto Sans JP" panose="020B0200000000000000" pitchFamily="50" charset="-128"/>
              </a:rPr>
              <a:t> 2026-03-24 初版公開 </a:t>
            </a:r>
            <a:endParaRPr lang="en-US" altLang="ja-JP" sz="900" dirty="0">
              <a:latin typeface="Noto Sans JP" panose="020B0200000000000000" pitchFamily="50" charset="-128"/>
              <a:ea typeface="Noto Sans JP" panose="020B0200000000000000" pitchFamily="50" charset="-128"/>
            </a:endParaRPr>
          </a:p>
          <a:p>
            <a:pPr lvl="0"/>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2.0</a:t>
            </a:r>
            <a:r>
              <a:rPr lang="en-US" altLang="ja-JP" sz="900" dirty="0">
                <a:latin typeface="Noto Sans JP" panose="020B0200000000000000" pitchFamily="50" charset="-128"/>
                <a:ea typeface="Noto Sans JP" panose="020B0200000000000000" pitchFamily="50" charset="-128"/>
              </a:rPr>
              <a:t>0</a:t>
            </a:r>
            <a:r>
              <a:rPr lang="ja-JP" altLang="ja-JP" sz="900" dirty="0">
                <a:latin typeface="Noto Sans JP" panose="020B0200000000000000" pitchFamily="50" charset="-128"/>
                <a:ea typeface="Noto Sans JP" panose="020B0200000000000000" pitchFamily="50" charset="-128"/>
              </a:rPr>
              <a:t> 2026-06-19 混色比の数値修正、グラフのアップデート、ブリッジフィラメント</a:t>
            </a:r>
            <a:endParaRPr lang="en-US" altLang="ja-JP" sz="900" dirty="0">
              <a:latin typeface="Noto Sans JP" panose="020B0200000000000000" pitchFamily="50" charset="-128"/>
              <a:ea typeface="Noto Sans JP" panose="020B0200000000000000" pitchFamily="50" charset="-128"/>
            </a:endParaRPr>
          </a:p>
          <a:p>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a:t>
            </a:r>
            <a:r>
              <a:rPr lang="en-US" altLang="ja-JP" sz="900" dirty="0">
                <a:latin typeface="Noto Sans JP" panose="020B0200000000000000" pitchFamily="50" charset="-128"/>
                <a:ea typeface="Noto Sans JP" panose="020B0200000000000000" pitchFamily="50" charset="-128"/>
              </a:rPr>
              <a:t>10</a:t>
            </a:r>
            <a:r>
              <a:rPr lang="ja-JP" altLang="ja-JP" sz="900" dirty="0">
                <a:latin typeface="Noto Sans JP" panose="020B0200000000000000" pitchFamily="50" charset="-128"/>
                <a:ea typeface="Noto Sans JP" panose="020B0200000000000000" pitchFamily="50" charset="-128"/>
              </a:rPr>
              <a:t> 2026-0</a:t>
            </a:r>
            <a:r>
              <a:rPr lang="en-US" altLang="ja-JP" sz="900" dirty="0">
                <a:latin typeface="Noto Sans JP" panose="020B0200000000000000" pitchFamily="50" charset="-128"/>
                <a:ea typeface="Noto Sans JP" panose="020B0200000000000000" pitchFamily="50" charset="-128"/>
              </a:rPr>
              <a:t>8</a:t>
            </a:r>
            <a:r>
              <a:rPr lang="ja-JP" altLang="ja-JP" sz="900" dirty="0">
                <a:latin typeface="Noto Sans JP" panose="020B0200000000000000" pitchFamily="50" charset="-128"/>
                <a:ea typeface="Noto Sans JP" panose="020B0200000000000000" pitchFamily="50" charset="-128"/>
              </a:rPr>
              <a:t>-</a:t>
            </a:r>
            <a:r>
              <a:rPr lang="en-US" altLang="ja-JP" sz="900" dirty="0">
                <a:latin typeface="Noto Sans JP" panose="020B0200000000000000" pitchFamily="50" charset="-128"/>
                <a:ea typeface="Noto Sans JP" panose="020B0200000000000000" pitchFamily="50" charset="-128"/>
              </a:rPr>
              <a:t>16</a:t>
            </a:r>
            <a:r>
              <a:rPr lang="ja-JP" altLang="en-US" sz="900" dirty="0">
                <a:latin typeface="Noto Sans JP" panose="020B0200000000000000" pitchFamily="50" charset="-128"/>
                <a:ea typeface="Noto Sans JP" panose="020B0200000000000000" pitchFamily="50" charset="-128"/>
              </a:rPr>
              <a:t> 統一デザイン反映</a:t>
            </a:r>
            <a:endParaRPr lang="en-US" altLang="ja-JP" sz="900" dirty="0">
              <a:latin typeface="Noto Sans JP" panose="020B0200000000000000" pitchFamily="50" charset="-128"/>
              <a:ea typeface="Noto Sans JP" panose="020B0200000000000000" pitchFamily="50" charset="-128"/>
            </a:endParaRPr>
          </a:p>
          <a:p>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a:t>
            </a:r>
            <a:r>
              <a:rPr lang="en-US" altLang="ja-JP" sz="900" dirty="0">
                <a:latin typeface="Noto Sans JP" panose="020B0200000000000000" pitchFamily="50" charset="-128"/>
                <a:ea typeface="Noto Sans JP" panose="020B0200000000000000" pitchFamily="50" charset="-128"/>
              </a:rPr>
              <a:t>11</a:t>
            </a:r>
            <a:r>
              <a:rPr lang="ja-JP" altLang="ja-JP" sz="900" dirty="0">
                <a:latin typeface="Noto Sans JP" panose="020B0200000000000000" pitchFamily="50" charset="-128"/>
                <a:ea typeface="Noto Sans JP" panose="020B0200000000000000" pitchFamily="50" charset="-128"/>
              </a:rPr>
              <a:t> 2026-0</a:t>
            </a:r>
            <a:r>
              <a:rPr lang="en-US" altLang="ja-JP" sz="900" dirty="0">
                <a:latin typeface="Noto Sans JP" panose="020B0200000000000000" pitchFamily="50" charset="-128"/>
                <a:ea typeface="Noto Sans JP" panose="020B0200000000000000" pitchFamily="50" charset="-128"/>
              </a:rPr>
              <a:t>9</a:t>
            </a:r>
            <a:r>
              <a:rPr lang="ja-JP" altLang="ja-JP" sz="900" dirty="0">
                <a:latin typeface="Noto Sans JP" panose="020B0200000000000000" pitchFamily="50" charset="-128"/>
                <a:ea typeface="Noto Sans JP" panose="020B0200000000000000" pitchFamily="50" charset="-128"/>
              </a:rPr>
              <a:t>-</a:t>
            </a:r>
            <a:r>
              <a:rPr lang="en-US" altLang="ja-JP" sz="900" dirty="0">
                <a:latin typeface="Noto Sans JP" panose="020B0200000000000000" pitchFamily="50" charset="-128"/>
                <a:ea typeface="Noto Sans JP" panose="020B0200000000000000" pitchFamily="50" charset="-128"/>
              </a:rPr>
              <a:t>16</a:t>
            </a:r>
            <a:r>
              <a:rPr lang="ja-JP" altLang="en-US" sz="900" dirty="0">
                <a:latin typeface="Noto Sans JP" panose="020B0200000000000000" pitchFamily="50" charset="-128"/>
                <a:ea typeface="Noto Sans JP" panose="020B0200000000000000" pitchFamily="50" charset="-128"/>
              </a:rPr>
              <a:t>ブランド用書体の適用</a:t>
            </a:r>
            <a:endParaRPr lang="en-US" altLang="ja-JP" sz="900" dirty="0">
              <a:latin typeface="Noto Sans JP" panose="020B0200000000000000" pitchFamily="50" charset="-128"/>
              <a:ea typeface="Noto Sans JP" panose="020B0200000000000000" pitchFamily="50" charset="-128"/>
            </a:endParaRPr>
          </a:p>
        </p:txBody>
      </p:sp>
      <p:sp>
        <p:nvSpPr>
          <p:cNvPr id="240" name="Google Shape;240;p19"/>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・印刷＃２におけるノズルの影響</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latin typeface="Noto Sans JP" panose="020B0200000000000000" pitchFamily="50" charset="-128"/>
              <a:ea typeface="Noto Sans JP" panose="020B0200000000000000" pitchFamily="50" charset="-128"/>
            </a:endParaRPr>
          </a:p>
        </p:txBody>
      </p:sp>
      <p:sp>
        <p:nvSpPr>
          <p:cNvPr id="241" name="Google Shape;241;p19"/>
          <p:cNvSpPr/>
          <p:nvPr/>
        </p:nvSpPr>
        <p:spPr>
          <a:xfrm>
            <a:off x="580898" y="14708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42" name="Google Shape;242;p19"/>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６．最後に </a:t>
            </a:r>
            <a:endParaRPr sz="1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243" name="Google Shape;243;p19"/>
          <p:cNvSpPr txBox="1"/>
          <p:nvPr/>
        </p:nvSpPr>
        <p:spPr>
          <a:xfrm>
            <a:off x="672873" y="1828465"/>
            <a:ext cx="5649600" cy="76940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お読みいただきありがとうございます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Jost SemiBold" pitchFamily="2" charset="0"/>
                <a:ea typeface="Jost SemiBold" pitchFamily="2" charset="0"/>
                <a:cs typeface="IBM Plex Sans JP"/>
                <a:sym typeface="IBM Plex Sans JP"/>
              </a:rPr>
              <a:t>FlexChroma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が、皆さまの造形表現をより広げることを願っています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b="1" dirty="0">
                <a:solidFill>
                  <a:schemeClr val="dk1"/>
                </a:solidFill>
                <a:latin typeface="Jost SemiBold" pitchFamily="2" charset="0"/>
                <a:ea typeface="Jost SemiBold" pitchFamily="2" charset="0"/>
                <a:cs typeface="IBM Plex Sans JP"/>
                <a:sym typeface="IBM Plex Sans JP"/>
              </a:rPr>
              <a:t>Print Colors You Imagine. </a:t>
            </a:r>
            <a:endParaRPr sz="1800" b="1" dirty="0">
              <a:latin typeface="Jost SemiBold" pitchFamily="2" charset="0"/>
              <a:ea typeface="Jost SemiBold" pitchFamily="2"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299952C7-AAA2-5B07-A9C7-EB1B2A5D053C}"/>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90CF8415-4DF3-2B93-7827-229FF7E32F30}"/>
              </a:ext>
            </a:extLst>
          </p:cNvPr>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3" name="フリーフォーム: 図形 12">
            <a:extLst>
              <a:ext uri="{FF2B5EF4-FFF2-40B4-BE49-F238E27FC236}">
                <a16:creationId xmlns:a16="http://schemas.microsoft.com/office/drawing/2014/main" id="{A562DEA4-C9FB-25F2-EACE-C737221FB436}"/>
              </a:ext>
            </a:extLst>
          </p:cNvPr>
          <p:cNvSpPr/>
          <p:nvPr/>
        </p:nvSpPr>
        <p:spPr>
          <a:xfrm>
            <a:off x="0" y="0"/>
            <a:ext cx="6858000" cy="9144000"/>
          </a:xfrm>
          <a:custGeom>
            <a:avLst/>
            <a:gdLst>
              <a:gd name="csX0" fmla="*/ 3734844 w 6858000"/>
              <a:gd name="csY0" fmla="*/ 8661917 h 9144000"/>
              <a:gd name="csX1" fmla="*/ 3734844 w 6858000"/>
              <a:gd name="csY1" fmla="*/ 8715917 h 9144000"/>
              <a:gd name="csX2" fmla="*/ 6326844 w 6858000"/>
              <a:gd name="csY2" fmla="*/ 8715917 h 9144000"/>
              <a:gd name="csX3" fmla="*/ 6326844 w 6858000"/>
              <a:gd name="csY3" fmla="*/ 8661917 h 9144000"/>
              <a:gd name="csX4" fmla="*/ 554538 w 6858000"/>
              <a:gd name="csY4" fmla="*/ 8661917 h 9144000"/>
              <a:gd name="csX5" fmla="*/ 554538 w 6858000"/>
              <a:gd name="csY5" fmla="*/ 8715917 h 9144000"/>
              <a:gd name="csX6" fmla="*/ 3146538 w 6858000"/>
              <a:gd name="csY6" fmla="*/ 8715917 h 9144000"/>
              <a:gd name="csX7" fmla="*/ 3146538 w 6858000"/>
              <a:gd name="csY7" fmla="*/ 8661917 h 9144000"/>
              <a:gd name="csX8" fmla="*/ 775726 w 6858000"/>
              <a:gd name="csY8" fmla="*/ 6659597 h 9144000"/>
              <a:gd name="csX9" fmla="*/ 713476 w 6858000"/>
              <a:gd name="csY9" fmla="*/ 6724547 h 9144000"/>
              <a:gd name="csX10" fmla="*/ 775726 w 6858000"/>
              <a:gd name="csY10" fmla="*/ 6789497 h 9144000"/>
              <a:gd name="csX11" fmla="*/ 837976 w 6858000"/>
              <a:gd name="csY11" fmla="*/ 6724547 h 9144000"/>
              <a:gd name="csX12" fmla="*/ 775726 w 6858000"/>
              <a:gd name="csY12" fmla="*/ 6659597 h 9144000"/>
              <a:gd name="csX13" fmla="*/ 656850 w 6858000"/>
              <a:gd name="csY13" fmla="*/ 5703577 h 9144000"/>
              <a:gd name="csX14" fmla="*/ 554550 w 6858000"/>
              <a:gd name="csY14" fmla="*/ 5805877 h 9144000"/>
              <a:gd name="csX15" fmla="*/ 656850 w 6858000"/>
              <a:gd name="csY15" fmla="*/ 5908177 h 9144000"/>
              <a:gd name="csX16" fmla="*/ 759150 w 6858000"/>
              <a:gd name="csY16" fmla="*/ 5805877 h 9144000"/>
              <a:gd name="csX17" fmla="*/ 656850 w 6858000"/>
              <a:gd name="csY17" fmla="*/ 5703577 h 9144000"/>
              <a:gd name="csX18" fmla="*/ 669901 w 6858000"/>
              <a:gd name="csY18" fmla="*/ 4459122 h 9144000"/>
              <a:gd name="csX19" fmla="*/ 607651 w 6858000"/>
              <a:gd name="csY19" fmla="*/ 4524072 h 9144000"/>
              <a:gd name="csX20" fmla="*/ 669901 w 6858000"/>
              <a:gd name="csY20" fmla="*/ 4589022 h 9144000"/>
              <a:gd name="csX21" fmla="*/ 732151 w 6858000"/>
              <a:gd name="csY21" fmla="*/ 4524072 h 9144000"/>
              <a:gd name="csX22" fmla="*/ 669901 w 6858000"/>
              <a:gd name="csY22" fmla="*/ 4459122 h 9144000"/>
              <a:gd name="csX23" fmla="*/ 669901 w 6858000"/>
              <a:gd name="csY23" fmla="*/ 3613110 h 9144000"/>
              <a:gd name="csX24" fmla="*/ 607651 w 6858000"/>
              <a:gd name="csY24" fmla="*/ 3678060 h 9144000"/>
              <a:gd name="csX25" fmla="*/ 669901 w 6858000"/>
              <a:gd name="csY25" fmla="*/ 3743010 h 9144000"/>
              <a:gd name="csX26" fmla="*/ 732151 w 6858000"/>
              <a:gd name="csY26" fmla="*/ 3678060 h 9144000"/>
              <a:gd name="csX27" fmla="*/ 669901 w 6858000"/>
              <a:gd name="csY27" fmla="*/ 3613110 h 9144000"/>
              <a:gd name="csX28" fmla="*/ 668475 w 6858000"/>
              <a:gd name="csY28" fmla="*/ 3074681 h 9144000"/>
              <a:gd name="csX29" fmla="*/ 566175 w 6858000"/>
              <a:gd name="csY29" fmla="*/ 3176981 h 9144000"/>
              <a:gd name="csX30" fmla="*/ 668475 w 6858000"/>
              <a:gd name="csY30" fmla="*/ 3279281 h 9144000"/>
              <a:gd name="csX31" fmla="*/ 770775 w 6858000"/>
              <a:gd name="csY31" fmla="*/ 3176981 h 9144000"/>
              <a:gd name="csX32" fmla="*/ 668475 w 6858000"/>
              <a:gd name="csY32" fmla="*/ 3074681 h 9144000"/>
              <a:gd name="csX33" fmla="*/ 6083560 w 6858000"/>
              <a:gd name="csY33" fmla="*/ 2279968 h 9144000"/>
              <a:gd name="csX34" fmla="*/ 6028255 w 6858000"/>
              <a:gd name="csY34" fmla="*/ 2335273 h 9144000"/>
              <a:gd name="csX35" fmla="*/ 878280 w 6858000"/>
              <a:gd name="csY35" fmla="*/ 2335273 h 9144000"/>
              <a:gd name="csX36" fmla="*/ 839174 w 6858000"/>
              <a:gd name="csY36" fmla="*/ 2319074 h 9144000"/>
              <a:gd name="csX37" fmla="*/ 822976 w 6858000"/>
              <a:gd name="csY37" fmla="*/ 2279970 h 9144000"/>
              <a:gd name="csX38" fmla="*/ 822976 w 6858000"/>
              <a:gd name="csY38" fmla="*/ 2413560 h 9144000"/>
              <a:gd name="csX39" fmla="*/ 1011872 w 6858000"/>
              <a:gd name="csY39" fmla="*/ 2602456 h 9144000"/>
              <a:gd name="csX40" fmla="*/ 5894664 w 6858000"/>
              <a:gd name="csY40" fmla="*/ 2602456 h 9144000"/>
              <a:gd name="csX41" fmla="*/ 6083560 w 6858000"/>
              <a:gd name="csY41" fmla="*/ 2413560 h 9144000"/>
              <a:gd name="csX42" fmla="*/ 1023038 w 6858000"/>
              <a:gd name="csY42" fmla="*/ 441445 h 9144000"/>
              <a:gd name="csX43" fmla="*/ 822978 w 6858000"/>
              <a:gd name="csY43" fmla="*/ 641505 h 9144000"/>
              <a:gd name="csX44" fmla="*/ 822978 w 6858000"/>
              <a:gd name="csY44" fmla="*/ 782992 h 9144000"/>
              <a:gd name="csX45" fmla="*/ 881551 w 6858000"/>
              <a:gd name="csY45" fmla="*/ 724419 h 9144000"/>
              <a:gd name="csX46" fmla="*/ 6024988 w 6858000"/>
              <a:gd name="csY46" fmla="*/ 724419 h 9144000"/>
              <a:gd name="csX47" fmla="*/ 6083561 w 6858000"/>
              <a:gd name="csY47" fmla="*/ 782992 h 9144000"/>
              <a:gd name="csX48" fmla="*/ 6083561 w 6858000"/>
              <a:gd name="csY48" fmla="*/ 641505 h 9144000"/>
              <a:gd name="csX49" fmla="*/ 5883501 w 6858000"/>
              <a:gd name="csY49" fmla="*/ 441445 h 9144000"/>
              <a:gd name="csX50" fmla="*/ 0 w 6858000"/>
              <a:gd name="csY50" fmla="*/ 0 h 9144000"/>
              <a:gd name="csX51" fmla="*/ 6858000 w 6858000"/>
              <a:gd name="csY51" fmla="*/ 0 h 9144000"/>
              <a:gd name="csX52" fmla="*/ 6858000 w 6858000"/>
              <a:gd name="csY52" fmla="*/ 9144000 h 9144000"/>
              <a:gd name="csX53" fmla="*/ 0 w 6858000"/>
              <a:gd name="csY53"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6858000" h="9144000">
                <a:moveTo>
                  <a:pt x="3734844" y="8661917"/>
                </a:moveTo>
                <a:lnTo>
                  <a:pt x="3734844" y="8715917"/>
                </a:lnTo>
                <a:lnTo>
                  <a:pt x="6326844" y="8715917"/>
                </a:lnTo>
                <a:lnTo>
                  <a:pt x="6326844" y="8661917"/>
                </a:lnTo>
                <a:close/>
                <a:moveTo>
                  <a:pt x="554538" y="8661917"/>
                </a:moveTo>
                <a:lnTo>
                  <a:pt x="554538" y="8715917"/>
                </a:lnTo>
                <a:lnTo>
                  <a:pt x="3146538" y="8715917"/>
                </a:lnTo>
                <a:lnTo>
                  <a:pt x="3146538" y="8661917"/>
                </a:lnTo>
                <a:close/>
                <a:moveTo>
                  <a:pt x="775726" y="6659597"/>
                </a:moveTo>
                <a:cubicBezTo>
                  <a:pt x="741346" y="6659597"/>
                  <a:pt x="713476" y="6688676"/>
                  <a:pt x="713476" y="6724547"/>
                </a:cubicBezTo>
                <a:cubicBezTo>
                  <a:pt x="713476" y="6760418"/>
                  <a:pt x="741346" y="6789497"/>
                  <a:pt x="775726" y="6789497"/>
                </a:cubicBezTo>
                <a:cubicBezTo>
                  <a:pt x="810106" y="6789497"/>
                  <a:pt x="837976" y="6760418"/>
                  <a:pt x="837976" y="6724547"/>
                </a:cubicBezTo>
                <a:cubicBezTo>
                  <a:pt x="837976" y="6688676"/>
                  <a:pt x="810106" y="6659597"/>
                  <a:pt x="775726" y="6659597"/>
                </a:cubicBezTo>
                <a:close/>
                <a:moveTo>
                  <a:pt x="656850" y="5703577"/>
                </a:moveTo>
                <a:cubicBezTo>
                  <a:pt x="600351" y="5703577"/>
                  <a:pt x="554550" y="5749378"/>
                  <a:pt x="554550" y="5805877"/>
                </a:cubicBezTo>
                <a:cubicBezTo>
                  <a:pt x="554550" y="5862376"/>
                  <a:pt x="600351" y="5908177"/>
                  <a:pt x="656850" y="5908177"/>
                </a:cubicBezTo>
                <a:cubicBezTo>
                  <a:pt x="713349" y="5908177"/>
                  <a:pt x="759150" y="5862376"/>
                  <a:pt x="759150" y="5805877"/>
                </a:cubicBezTo>
                <a:cubicBezTo>
                  <a:pt x="759150" y="5749378"/>
                  <a:pt x="713349" y="5703577"/>
                  <a:pt x="656850" y="5703577"/>
                </a:cubicBezTo>
                <a:close/>
                <a:moveTo>
                  <a:pt x="669901" y="4459122"/>
                </a:moveTo>
                <a:cubicBezTo>
                  <a:pt x="635521" y="4459122"/>
                  <a:pt x="607651" y="4488201"/>
                  <a:pt x="607651" y="4524072"/>
                </a:cubicBezTo>
                <a:cubicBezTo>
                  <a:pt x="607651" y="4559943"/>
                  <a:pt x="635521" y="4589022"/>
                  <a:pt x="669901" y="4589022"/>
                </a:cubicBezTo>
                <a:cubicBezTo>
                  <a:pt x="704281" y="4589022"/>
                  <a:pt x="732151" y="4559943"/>
                  <a:pt x="732151" y="4524072"/>
                </a:cubicBezTo>
                <a:cubicBezTo>
                  <a:pt x="732151" y="4488201"/>
                  <a:pt x="704281" y="4459122"/>
                  <a:pt x="669901" y="4459122"/>
                </a:cubicBezTo>
                <a:close/>
                <a:moveTo>
                  <a:pt x="669901" y="3613110"/>
                </a:moveTo>
                <a:cubicBezTo>
                  <a:pt x="635521" y="3613110"/>
                  <a:pt x="607651" y="3642189"/>
                  <a:pt x="607651" y="3678060"/>
                </a:cubicBezTo>
                <a:cubicBezTo>
                  <a:pt x="607651" y="3713931"/>
                  <a:pt x="635521" y="3743010"/>
                  <a:pt x="669901" y="3743010"/>
                </a:cubicBezTo>
                <a:cubicBezTo>
                  <a:pt x="704281" y="3743010"/>
                  <a:pt x="732151" y="3713931"/>
                  <a:pt x="732151" y="3678060"/>
                </a:cubicBezTo>
                <a:cubicBezTo>
                  <a:pt x="732151" y="3642189"/>
                  <a:pt x="704281" y="3613110"/>
                  <a:pt x="669901" y="3613110"/>
                </a:cubicBezTo>
                <a:close/>
                <a:moveTo>
                  <a:pt x="668475" y="3074681"/>
                </a:moveTo>
                <a:cubicBezTo>
                  <a:pt x="611976" y="3074681"/>
                  <a:pt x="566175" y="3120482"/>
                  <a:pt x="566175" y="3176981"/>
                </a:cubicBezTo>
                <a:cubicBezTo>
                  <a:pt x="566175" y="3233480"/>
                  <a:pt x="611976" y="3279281"/>
                  <a:pt x="668475" y="3279281"/>
                </a:cubicBezTo>
                <a:cubicBezTo>
                  <a:pt x="724974" y="3279281"/>
                  <a:pt x="770775" y="3233480"/>
                  <a:pt x="770775" y="3176981"/>
                </a:cubicBezTo>
                <a:cubicBezTo>
                  <a:pt x="770775" y="3120482"/>
                  <a:pt x="724974" y="3074681"/>
                  <a:pt x="668475" y="3074681"/>
                </a:cubicBezTo>
                <a:close/>
                <a:moveTo>
                  <a:pt x="6083560" y="2279968"/>
                </a:moveTo>
                <a:cubicBezTo>
                  <a:pt x="6083560" y="2310512"/>
                  <a:pt x="6058799" y="2335273"/>
                  <a:pt x="6028255" y="2335273"/>
                </a:cubicBezTo>
                <a:lnTo>
                  <a:pt x="878280" y="2335273"/>
                </a:lnTo>
                <a:cubicBezTo>
                  <a:pt x="863008" y="2335273"/>
                  <a:pt x="849182" y="2329083"/>
                  <a:pt x="839174" y="2319074"/>
                </a:cubicBezTo>
                <a:lnTo>
                  <a:pt x="822976" y="2279970"/>
                </a:lnTo>
                <a:lnTo>
                  <a:pt x="822976" y="2413560"/>
                </a:lnTo>
                <a:cubicBezTo>
                  <a:pt x="822976" y="2517884"/>
                  <a:pt x="907548" y="2602456"/>
                  <a:pt x="1011872" y="2602456"/>
                </a:cubicBezTo>
                <a:lnTo>
                  <a:pt x="5894664" y="2602456"/>
                </a:lnTo>
                <a:cubicBezTo>
                  <a:pt x="5998988" y="2602456"/>
                  <a:pt x="6083560" y="2517884"/>
                  <a:pt x="6083560" y="2413560"/>
                </a:cubicBezTo>
                <a:close/>
                <a:moveTo>
                  <a:pt x="1023038" y="441445"/>
                </a:moveTo>
                <a:cubicBezTo>
                  <a:pt x="912548" y="441445"/>
                  <a:pt x="822978" y="531015"/>
                  <a:pt x="822978" y="641505"/>
                </a:cubicBezTo>
                <a:lnTo>
                  <a:pt x="822978" y="782992"/>
                </a:lnTo>
                <a:cubicBezTo>
                  <a:pt x="822978" y="750643"/>
                  <a:pt x="849202" y="724419"/>
                  <a:pt x="881551" y="724419"/>
                </a:cubicBezTo>
                <a:lnTo>
                  <a:pt x="6024988" y="724419"/>
                </a:lnTo>
                <a:cubicBezTo>
                  <a:pt x="6057337" y="724419"/>
                  <a:pt x="6083561" y="750643"/>
                  <a:pt x="6083561" y="782992"/>
                </a:cubicBezTo>
                <a:lnTo>
                  <a:pt x="6083561" y="641505"/>
                </a:lnTo>
                <a:cubicBezTo>
                  <a:pt x="6083561" y="531015"/>
                  <a:pt x="5993991" y="441445"/>
                  <a:pt x="5883501" y="441445"/>
                </a:cubicBez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007D01C9-67FC-71E3-49DE-6E4EEF5C751D}"/>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dirty="0">
                <a:solidFill>
                  <a:schemeClr val="dk1"/>
                </a:solidFill>
                <a:latin typeface="Jost" pitchFamily="2" charset="0"/>
                <a:ea typeface="Jost" pitchFamily="2" charset="0"/>
                <a:sym typeface="Arial"/>
              </a:rPr>
              <a:t>1</a:t>
            </a:r>
            <a:endParaRPr sz="1800" b="0" i="0" u="none" strike="noStrike" cap="none" dirty="0">
              <a:solidFill>
                <a:schemeClr val="dk1"/>
              </a:solidFill>
              <a:latin typeface="Jost" pitchFamily="2" charset="0"/>
              <a:ea typeface="Jost" pitchFamily="2" charset="0"/>
              <a:sym typeface="Arial"/>
            </a:endParaRPr>
          </a:p>
        </p:txBody>
      </p:sp>
      <p:sp>
        <p:nvSpPr>
          <p:cNvPr id="109" name="Google Shape;109;p14">
            <a:extLst>
              <a:ext uri="{FF2B5EF4-FFF2-40B4-BE49-F238E27FC236}">
                <a16:creationId xmlns:a16="http://schemas.microsoft.com/office/drawing/2014/main" id="{A0540A37-A517-84F4-C0C9-E121285272A1}"/>
              </a:ext>
            </a:extLst>
          </p:cNvPr>
          <p:cNvSpPr txBox="1"/>
          <p:nvPr/>
        </p:nvSpPr>
        <p:spPr>
          <a:xfrm>
            <a:off x="1012140" y="843788"/>
            <a:ext cx="5246398"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i="0" u="none" strike="noStrike" cap="none" dirty="0">
                <a:solidFill>
                  <a:schemeClr val="dk1"/>
                </a:solidFill>
                <a:latin typeface="Jost SemiBold" pitchFamily="2" charset="0"/>
                <a:ea typeface="Jost SemiBold" pitchFamily="2" charset="0"/>
                <a:cs typeface="Segoe UI Semibold" panose="020B0702040204020203" pitchFamily="34" charset="0"/>
                <a:sym typeface="Quattrocento Sans"/>
              </a:rPr>
              <a:t>FlexChroma</a:t>
            </a:r>
            <a:r>
              <a:rPr lang="en-US" sz="2800" i="0" u="none" strike="noStrike" cap="none" dirty="0">
                <a:solidFill>
                  <a:schemeClr val="dk1"/>
                </a:solidFill>
                <a:latin typeface="Jost" pitchFamily="2" charset="0"/>
                <a:ea typeface="Jost" pitchFamily="2" charset="0"/>
                <a:cs typeface="Segoe UI Semibold" panose="020B0702040204020203" pitchFamily="34" charset="0"/>
                <a:sym typeface="IBM Plex Sans JP"/>
              </a:rPr>
              <a:t> </a:t>
            </a:r>
            <a:r>
              <a:rPr lang="en-US" sz="22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Blend</a:t>
            </a:r>
            <a:r>
              <a:rPr lang="en-US" sz="2200" dirty="0">
                <a:solidFill>
                  <a:schemeClr val="dk1"/>
                </a:solidFill>
                <a:latin typeface="Jost Medium" pitchFamily="2" charset="0"/>
                <a:ea typeface="Jost Medium" pitchFamily="2" charset="0"/>
                <a:cs typeface="Segoe UI Semibold" panose="020B0702040204020203" pitchFamily="34" charset="0"/>
                <a:sym typeface="IBM Plex Sans JP"/>
              </a:rPr>
              <a:t> Filament Guide</a:t>
            </a:r>
            <a:endParaRPr sz="2200" dirty="0">
              <a:solidFill>
                <a:schemeClr val="dk1"/>
              </a:solidFill>
              <a:latin typeface="Jost Medium" pitchFamily="2" charset="0"/>
              <a:ea typeface="Jost Medium" pitchFamily="2" charset="0"/>
              <a:cs typeface="Segoe UI Semibold" panose="020B0702040204020203" pitchFamily="34" charset="0"/>
              <a:sym typeface="IBM Plex Sans JP"/>
            </a:endParaRPr>
          </a:p>
        </p:txBody>
      </p:sp>
      <p:sp>
        <p:nvSpPr>
          <p:cNvPr id="111" name="Google Shape;111;p14">
            <a:extLst>
              <a:ext uri="{FF2B5EF4-FFF2-40B4-BE49-F238E27FC236}">
                <a16:creationId xmlns:a16="http://schemas.microsoft.com/office/drawing/2014/main" id="{DC3FA014-4816-DC49-C860-C9DE89BC7AAA}"/>
              </a:ext>
            </a:extLst>
          </p:cNvPr>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１．はじめに </a:t>
            </a:r>
            <a:endParaRPr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12" name="Google Shape;112;p14">
            <a:extLst>
              <a:ext uri="{FF2B5EF4-FFF2-40B4-BE49-F238E27FC236}">
                <a16:creationId xmlns:a16="http://schemas.microsoft.com/office/drawing/2014/main" id="{D9A70CE7-DEF5-1718-F5AA-19E4C220FE84}"/>
              </a:ext>
            </a:extLst>
          </p:cNvPr>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ブランド概要</a:t>
            </a:r>
            <a:r>
              <a:rPr lang="en-US" sz="1200" b="1"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Jost SemiBold" pitchFamily="2" charset="0"/>
                <a:ea typeface="Jost SemiBold" pitchFamily="2" charset="0"/>
                <a:cs typeface="Quattrocento Sans"/>
                <a:sym typeface="Quattrocento Sans"/>
              </a:rPr>
              <a:t>FlexChroma</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は既存のフィラメントの持つ色では満足できない人だけでなく、保有フィラメントが少ないせいで創造性を十分に</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発揮できていない人に向けた、色の自由度を開放するブランドです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19" name="Google Shape;119;p14">
            <a:extLst>
              <a:ext uri="{FF2B5EF4-FFF2-40B4-BE49-F238E27FC236}">
                <a16:creationId xmlns:a16="http://schemas.microsoft.com/office/drawing/2014/main" id="{7C5A643A-2CBC-521B-0B13-9F0B77029A52}"/>
              </a:ext>
            </a:extLst>
          </p:cNvPr>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Jost" pitchFamily="2" charset="0"/>
                <a:ea typeface="Jost" pitchFamily="2" charset="0"/>
                <a:cs typeface="Segoe UI Semibold" panose="020B0702040204020203" pitchFamily="34" charset="0"/>
                <a:sym typeface="IBM Plex Sans JP"/>
              </a:rPr>
              <a:t>-  Print Colors You Imagine. -</a:t>
            </a:r>
            <a:endParaRPr sz="1600" dirty="0">
              <a:solidFill>
                <a:schemeClr val="dk1"/>
              </a:solidFill>
              <a:latin typeface="Jost" pitchFamily="2" charset="0"/>
              <a:ea typeface="Jost" pitchFamily="2" charset="0"/>
              <a:cs typeface="Segoe UI Semibold" panose="020B0702040204020203" pitchFamily="34" charset="0"/>
              <a:sym typeface="IBM Plex Sans JP"/>
            </a:endParaRPr>
          </a:p>
        </p:txBody>
      </p:sp>
      <p:sp>
        <p:nvSpPr>
          <p:cNvPr id="120" name="Google Shape;120;p14">
            <a:extLst>
              <a:ext uri="{FF2B5EF4-FFF2-40B4-BE49-F238E27FC236}">
                <a16:creationId xmlns:a16="http://schemas.microsoft.com/office/drawing/2014/main" id="{2126A7F6-ECD0-7C5C-E108-F90083C9F368}"/>
              </a:ext>
            </a:extLst>
          </p:cNvPr>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Jost" pitchFamily="2" charset="0"/>
                <a:ea typeface="Jost" pitchFamily="2" charset="0"/>
                <a:cs typeface="IBM Plex Sans JP"/>
                <a:sym typeface="IBM Plex Sans JP"/>
              </a:rPr>
              <a:t>Ver.</a:t>
            </a:r>
            <a:r>
              <a:rPr lang="en-US" altLang="ja-JP" sz="1400" dirty="0">
                <a:solidFill>
                  <a:schemeClr val="dk1"/>
                </a:solidFill>
                <a:latin typeface="Jost" pitchFamily="2" charset="0"/>
                <a:ea typeface="Jost" pitchFamily="2" charset="0"/>
                <a:cs typeface="IBM Plex Sans JP"/>
                <a:sym typeface="IBM Plex Sans JP"/>
              </a:rPr>
              <a:t>2</a:t>
            </a:r>
            <a:r>
              <a:rPr lang="en-US" sz="1400" dirty="0">
                <a:solidFill>
                  <a:schemeClr val="dk1"/>
                </a:solidFill>
                <a:latin typeface="Jost" pitchFamily="2" charset="0"/>
                <a:ea typeface="Jost" pitchFamily="2" charset="0"/>
                <a:cs typeface="IBM Plex Sans JP"/>
                <a:sym typeface="IBM Plex Sans JP"/>
              </a:rPr>
              <a:t>.11  2026.9.</a:t>
            </a:r>
            <a:r>
              <a:rPr lang="en-US" dirty="0">
                <a:solidFill>
                  <a:schemeClr val="dk1"/>
                </a:solidFill>
                <a:latin typeface="Jost" pitchFamily="2" charset="0"/>
                <a:ea typeface="Jost" pitchFamily="2" charset="0"/>
                <a:cs typeface="IBM Plex Sans JP"/>
                <a:sym typeface="IBM Plex Sans JP"/>
              </a:rPr>
              <a:t>1</a:t>
            </a:r>
            <a:r>
              <a:rPr lang="en-US" altLang="ja-JP" dirty="0">
                <a:solidFill>
                  <a:schemeClr val="dk1"/>
                </a:solidFill>
                <a:latin typeface="Jost" pitchFamily="2" charset="0"/>
                <a:ea typeface="Jost" pitchFamily="2" charset="0"/>
                <a:cs typeface="IBM Plex Sans JP"/>
                <a:sym typeface="IBM Plex Sans JP"/>
              </a:rPr>
              <a:t>6</a:t>
            </a:r>
            <a:endParaRPr sz="1400" dirty="0">
              <a:solidFill>
                <a:schemeClr val="dk1"/>
              </a:solidFill>
              <a:latin typeface="Jost" pitchFamily="2" charset="0"/>
              <a:ea typeface="Jost" pitchFamily="2" charset="0"/>
              <a:cs typeface="IBM Plex Sans JP"/>
              <a:sym typeface="IBM Plex Sans JP"/>
            </a:endParaRPr>
          </a:p>
        </p:txBody>
      </p:sp>
      <p:sp>
        <p:nvSpPr>
          <p:cNvPr id="121" name="Google Shape;121;p14">
            <a:extLst>
              <a:ext uri="{FF2B5EF4-FFF2-40B4-BE49-F238E27FC236}">
                <a16:creationId xmlns:a16="http://schemas.microsoft.com/office/drawing/2014/main" id="{6EAE4901-080D-7138-1D4F-AACF0A75EDB9}"/>
              </a:ext>
            </a:extLst>
          </p:cNvPr>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シリーズ概要</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Blend Filamentシリーズは</a:t>
            </a:r>
            <a:r>
              <a:rPr lang="en-US" sz="1050" dirty="0">
                <a:solidFill>
                  <a:schemeClr val="dk1"/>
                </a:solidFill>
                <a:latin typeface="Jost SemiBold" pitchFamily="2" charset="0"/>
                <a:ea typeface="Jost SemiBold" pitchFamily="2" charset="0"/>
                <a:cs typeface="Quattrocento Sans"/>
                <a:sym typeface="Quattrocento Sans"/>
              </a:rPr>
              <a:t>FlexChroma</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の最も基礎的なシリーズです。2つのフィラメントを様々な混合比で混ぜ合わせ、あ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なただけの新しい色を作ることが出来ます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また、更なるこだわりや明暗差の大きい色の混合のためにDetailモデルも用意しており、Standardモデルでは扱いきれな</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い細かい調整を行えます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23" name="Google Shape;123;p14">
            <a:extLst>
              <a:ext uri="{FF2B5EF4-FFF2-40B4-BE49-F238E27FC236}">
                <a16:creationId xmlns:a16="http://schemas.microsoft.com/office/drawing/2014/main" id="{A4459E73-6526-0BD0-5B09-77388A6F9910}"/>
              </a:ext>
            </a:extLst>
          </p:cNvPr>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２．モデル構成  </a:t>
            </a:r>
            <a:endParaRPr sz="2000" b="1">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24" name="Google Shape;124;p14">
            <a:extLst>
              <a:ext uri="{FF2B5EF4-FFF2-40B4-BE49-F238E27FC236}">
                <a16:creationId xmlns:a16="http://schemas.microsoft.com/office/drawing/2014/main" id="{BB031A0E-A022-0E54-3E44-E0EEA38A2B51}"/>
              </a:ext>
            </a:extLst>
          </p:cNvPr>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Noto Sans JP" panose="020B0200000000000000" pitchFamily="50" charset="-128"/>
                <a:ea typeface="Noto Sans JP" panose="020B0200000000000000" pitchFamily="50" charset="-128"/>
                <a:cs typeface="Quattrocento Sans"/>
                <a:sym typeface="Quattrocento Sans"/>
              </a:rPr>
              <a:t>混色比 </a:t>
            </a:r>
            <a:endParaRPr sz="1200" b="1">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7" name="Google Shape;127;p14">
            <a:extLst>
              <a:ext uri="{FF2B5EF4-FFF2-40B4-BE49-F238E27FC236}">
                <a16:creationId xmlns:a16="http://schemas.microsoft.com/office/drawing/2014/main" id="{695528AA-0099-C016-6DFD-E6BDE081907F}"/>
              </a:ext>
            </a:extLst>
          </p:cNvPr>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Noto Sans JP" panose="020B0200000000000000" pitchFamily="50" charset="-128"/>
                <a:ea typeface="Noto Sans JP" panose="020B0200000000000000"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8" name="Google Shape;128;p14">
            <a:extLst>
              <a:ext uri="{FF2B5EF4-FFF2-40B4-BE49-F238E27FC236}">
                <a16:creationId xmlns:a16="http://schemas.microsoft.com/office/drawing/2014/main" id="{9562A9B1-8A3D-B5A0-C167-4FDA0147D7C7}"/>
              </a:ext>
            </a:extLst>
          </p:cNvPr>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混色比は主に2つのモデルで決められます。</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・Standard モデル：50～95％まで5％刻み。10モデル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・Detail モデル：90%, 92.5%, 95%, 96%, 97%, 98%, 98.5%, 99%, 99.5%の 9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モデル</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※90%, 95％のデータは同一のものとなります。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Bを入れ替えることで別の混合比を</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取ることが出来ます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Quattrocento Sans"/>
                <a:sym typeface="Quattrocento Sans"/>
              </a:rPr>
              <a:t>例：75％モデルを使うと[A:B＝75:25]、</a:t>
            </a:r>
            <a:r>
              <a:rPr lang="en-US" sz="9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入れ替えると</a:t>
            </a:r>
            <a:r>
              <a:rPr lang="en-US" sz="900" dirty="0">
                <a:solidFill>
                  <a:schemeClr val="dk1"/>
                </a:solidFill>
                <a:latin typeface="Noto Sans JP" panose="020B0200000000000000" pitchFamily="50" charset="-128"/>
                <a:ea typeface="Noto Sans JP" panose="020B0200000000000000" pitchFamily="50" charset="-128"/>
                <a:cs typeface="Quattrocento Sans"/>
                <a:sym typeface="Quattrocento Sans"/>
              </a:rPr>
              <a:t>[A:B＝25:75]となり、25%モデル相当となります。</a:t>
            </a:r>
            <a:endParaRPr sz="9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Standard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モデルは容量を少なく</a:t>
            </a:r>
            <a:r>
              <a:rPr lang="ja-JP" alt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する</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ためStandard1, Standard2と分けられる</a:t>
            </a:r>
            <a:r>
              <a:rPr lang="ja-JP" alt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事</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があります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pic>
        <p:nvPicPr>
          <p:cNvPr id="3" name="図 2">
            <a:extLst>
              <a:ext uri="{FF2B5EF4-FFF2-40B4-BE49-F238E27FC236}">
                <a16:creationId xmlns:a16="http://schemas.microsoft.com/office/drawing/2014/main" id="{54FB8FB5-48FF-C690-36D8-B0F4AC178E11}"/>
              </a:ext>
            </a:extLst>
          </p:cNvPr>
          <p:cNvPicPr>
            <a:picLocks noChangeAspect="1"/>
          </p:cNvPicPr>
          <p:nvPr/>
        </p:nvPicPr>
        <p:blipFill>
          <a:blip r:embed="rId3"/>
          <a:stretch>
            <a:fillRect/>
          </a:stretch>
        </p:blipFill>
        <p:spPr>
          <a:xfrm>
            <a:off x="813507" y="946491"/>
            <a:ext cx="356510" cy="343679"/>
          </a:xfrm>
          <a:prstGeom prst="rect">
            <a:avLst/>
          </a:prstGeom>
        </p:spPr>
      </p:pic>
    </p:spTree>
    <p:extLst>
      <p:ext uri="{BB962C8B-B14F-4D97-AF65-F5344CB8AC3E}">
        <p14:creationId xmlns:p14="http://schemas.microsoft.com/office/powerpoint/2010/main" val="14512351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3E07DFEE-9B19-EA62-EA6B-C3A3CC34D0EE}"/>
            </a:ext>
          </a:extLst>
        </p:cNvPr>
        <p:cNvGrpSpPr/>
        <p:nvPr/>
      </p:nvGrpSpPr>
      <p:grpSpPr>
        <a:xfrm>
          <a:off x="0" y="0"/>
          <a:ext cx="0" cy="0"/>
          <a:chOff x="0" y="0"/>
          <a:chExt cx="0" cy="0"/>
        </a:xfrm>
      </p:grpSpPr>
      <p:sp>
        <p:nvSpPr>
          <p:cNvPr id="134" name="Google Shape;134;p15">
            <a:extLst>
              <a:ext uri="{FF2B5EF4-FFF2-40B4-BE49-F238E27FC236}">
                <a16:creationId xmlns:a16="http://schemas.microsoft.com/office/drawing/2014/main" id="{2CC5BF5B-69CF-C5AD-AE96-C23765871F77}"/>
              </a:ext>
            </a:extLst>
          </p:cNvPr>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7" name="フリーフォーム: 図形 6">
            <a:extLst>
              <a:ext uri="{FF2B5EF4-FFF2-40B4-BE49-F238E27FC236}">
                <a16:creationId xmlns:a16="http://schemas.microsoft.com/office/drawing/2014/main" id="{42F17375-0D77-BE90-DE67-669BEA54028D}"/>
              </a:ext>
            </a:extLst>
          </p:cNvPr>
          <p:cNvSpPr/>
          <p:nvPr/>
        </p:nvSpPr>
        <p:spPr>
          <a:xfrm>
            <a:off x="20300" y="-17213"/>
            <a:ext cx="6858000" cy="9144000"/>
          </a:xfrm>
          <a:custGeom>
            <a:avLst/>
            <a:gdLst>
              <a:gd name="csX0" fmla="*/ 3714544 w 6858000"/>
              <a:gd name="csY0" fmla="*/ 8679130 h 9144000"/>
              <a:gd name="csX1" fmla="*/ 3714544 w 6858000"/>
              <a:gd name="csY1" fmla="*/ 8733130 h 9144000"/>
              <a:gd name="csX2" fmla="*/ 6306544 w 6858000"/>
              <a:gd name="csY2" fmla="*/ 8733130 h 9144000"/>
              <a:gd name="csX3" fmla="*/ 6306544 w 6858000"/>
              <a:gd name="csY3" fmla="*/ 8679130 h 9144000"/>
              <a:gd name="csX4" fmla="*/ 534238 w 6858000"/>
              <a:gd name="csY4" fmla="*/ 8679130 h 9144000"/>
              <a:gd name="csX5" fmla="*/ 534238 w 6858000"/>
              <a:gd name="csY5" fmla="*/ 8733130 h 9144000"/>
              <a:gd name="csX6" fmla="*/ 3126238 w 6858000"/>
              <a:gd name="csY6" fmla="*/ 8733130 h 9144000"/>
              <a:gd name="csX7" fmla="*/ 3126238 w 6858000"/>
              <a:gd name="csY7" fmla="*/ 8679130 h 9144000"/>
              <a:gd name="csX8" fmla="*/ 622550 w 6858000"/>
              <a:gd name="csY8" fmla="*/ 5971716 h 9144000"/>
              <a:gd name="csX9" fmla="*/ 560300 w 6858000"/>
              <a:gd name="csY9" fmla="*/ 6036666 h 9144000"/>
              <a:gd name="csX10" fmla="*/ 622550 w 6858000"/>
              <a:gd name="csY10" fmla="*/ 6101616 h 9144000"/>
              <a:gd name="csX11" fmla="*/ 684800 w 6858000"/>
              <a:gd name="csY11" fmla="*/ 6036666 h 9144000"/>
              <a:gd name="csX12" fmla="*/ 622550 w 6858000"/>
              <a:gd name="csY12" fmla="*/ 5971716 h 9144000"/>
              <a:gd name="csX13" fmla="*/ 631450 w 6858000"/>
              <a:gd name="csY13" fmla="*/ 4367400 h 9144000"/>
              <a:gd name="csX14" fmla="*/ 529150 w 6858000"/>
              <a:gd name="csY14" fmla="*/ 4469700 h 9144000"/>
              <a:gd name="csX15" fmla="*/ 631450 w 6858000"/>
              <a:gd name="csY15" fmla="*/ 4572000 h 9144000"/>
              <a:gd name="csX16" fmla="*/ 733750 w 6858000"/>
              <a:gd name="csY16" fmla="*/ 4469700 h 9144000"/>
              <a:gd name="csX17" fmla="*/ 631450 w 6858000"/>
              <a:gd name="csY17" fmla="*/ 4367400 h 9144000"/>
              <a:gd name="csX18" fmla="*/ 608126 w 6858000"/>
              <a:gd name="csY18" fmla="*/ 683432 h 9144000"/>
              <a:gd name="csX19" fmla="*/ 545876 w 6858000"/>
              <a:gd name="csY19" fmla="*/ 748382 h 9144000"/>
              <a:gd name="csX20" fmla="*/ 608126 w 6858000"/>
              <a:gd name="csY20" fmla="*/ 813332 h 9144000"/>
              <a:gd name="csX21" fmla="*/ 670376 w 6858000"/>
              <a:gd name="csY21" fmla="*/ 748382 h 9144000"/>
              <a:gd name="csX22" fmla="*/ 608126 w 6858000"/>
              <a:gd name="csY22" fmla="*/ 683432 h 9144000"/>
              <a:gd name="csX23" fmla="*/ 534237 w 6858000"/>
              <a:gd name="csY23" fmla="*/ 469681 h 9144000"/>
              <a:gd name="csX24" fmla="*/ 534237 w 6858000"/>
              <a:gd name="csY24" fmla="*/ 523681 h 9144000"/>
              <a:gd name="csX25" fmla="*/ 6290430 w 6858000"/>
              <a:gd name="csY25" fmla="*/ 523681 h 9144000"/>
              <a:gd name="csX26" fmla="*/ 6290430 w 6858000"/>
              <a:gd name="csY26" fmla="*/ 469681 h 9144000"/>
              <a:gd name="csX27" fmla="*/ 0 w 6858000"/>
              <a:gd name="csY27" fmla="*/ 0 h 9144000"/>
              <a:gd name="csX28" fmla="*/ 6858000 w 6858000"/>
              <a:gd name="csY28" fmla="*/ 0 h 9144000"/>
              <a:gd name="csX29" fmla="*/ 6858000 w 6858000"/>
              <a:gd name="csY29" fmla="*/ 9144000 h 9144000"/>
              <a:gd name="csX30" fmla="*/ 0 w 6858000"/>
              <a:gd name="csY3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6858000" h="9144000">
                <a:moveTo>
                  <a:pt x="3714544" y="8679130"/>
                </a:moveTo>
                <a:lnTo>
                  <a:pt x="3714544" y="8733130"/>
                </a:lnTo>
                <a:lnTo>
                  <a:pt x="6306544" y="8733130"/>
                </a:lnTo>
                <a:lnTo>
                  <a:pt x="6306544" y="8679130"/>
                </a:lnTo>
                <a:close/>
                <a:moveTo>
                  <a:pt x="534238" y="8679130"/>
                </a:moveTo>
                <a:lnTo>
                  <a:pt x="534238" y="8733130"/>
                </a:lnTo>
                <a:lnTo>
                  <a:pt x="3126238" y="8733130"/>
                </a:lnTo>
                <a:lnTo>
                  <a:pt x="3126238" y="8679130"/>
                </a:lnTo>
                <a:close/>
                <a:moveTo>
                  <a:pt x="622550" y="5971716"/>
                </a:moveTo>
                <a:cubicBezTo>
                  <a:pt x="588170" y="5971716"/>
                  <a:pt x="560300" y="6000795"/>
                  <a:pt x="560300" y="6036666"/>
                </a:cubicBezTo>
                <a:cubicBezTo>
                  <a:pt x="560300" y="6072537"/>
                  <a:pt x="588170" y="6101616"/>
                  <a:pt x="622550" y="6101616"/>
                </a:cubicBezTo>
                <a:cubicBezTo>
                  <a:pt x="656930" y="6101616"/>
                  <a:pt x="684800" y="6072537"/>
                  <a:pt x="684800" y="6036666"/>
                </a:cubicBezTo>
                <a:cubicBezTo>
                  <a:pt x="684800" y="6000795"/>
                  <a:pt x="656930" y="5971716"/>
                  <a:pt x="622550" y="5971716"/>
                </a:cubicBezTo>
                <a:close/>
                <a:moveTo>
                  <a:pt x="631450" y="4367400"/>
                </a:moveTo>
                <a:cubicBezTo>
                  <a:pt x="574951" y="4367400"/>
                  <a:pt x="529150" y="4413201"/>
                  <a:pt x="529150" y="4469700"/>
                </a:cubicBezTo>
                <a:cubicBezTo>
                  <a:pt x="529150" y="4526199"/>
                  <a:pt x="574951" y="4572000"/>
                  <a:pt x="631450" y="4572000"/>
                </a:cubicBezTo>
                <a:cubicBezTo>
                  <a:pt x="687949" y="4572000"/>
                  <a:pt x="733750" y="4526199"/>
                  <a:pt x="733750" y="4469700"/>
                </a:cubicBezTo>
                <a:cubicBezTo>
                  <a:pt x="733750" y="4413201"/>
                  <a:pt x="687949" y="4367400"/>
                  <a:pt x="631450" y="4367400"/>
                </a:cubicBezTo>
                <a:close/>
                <a:moveTo>
                  <a:pt x="608126" y="683432"/>
                </a:moveTo>
                <a:cubicBezTo>
                  <a:pt x="573746" y="683432"/>
                  <a:pt x="545876" y="712511"/>
                  <a:pt x="545876" y="748382"/>
                </a:cubicBezTo>
                <a:cubicBezTo>
                  <a:pt x="545876" y="784253"/>
                  <a:pt x="573746" y="813332"/>
                  <a:pt x="608126" y="813332"/>
                </a:cubicBezTo>
                <a:cubicBezTo>
                  <a:pt x="642506" y="813332"/>
                  <a:pt x="670376" y="784253"/>
                  <a:pt x="670376" y="748382"/>
                </a:cubicBezTo>
                <a:cubicBezTo>
                  <a:pt x="670376" y="712511"/>
                  <a:pt x="642506" y="683432"/>
                  <a:pt x="608126" y="683432"/>
                </a:cubicBezTo>
                <a:close/>
                <a:moveTo>
                  <a:pt x="534237" y="469681"/>
                </a:moveTo>
                <a:lnTo>
                  <a:pt x="534237" y="523681"/>
                </a:lnTo>
                <a:lnTo>
                  <a:pt x="6290430" y="523681"/>
                </a:lnTo>
                <a:lnTo>
                  <a:pt x="6290430" y="469681"/>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a:extLst>
              <a:ext uri="{FF2B5EF4-FFF2-40B4-BE49-F238E27FC236}">
                <a16:creationId xmlns:a16="http://schemas.microsoft.com/office/drawing/2014/main" id="{6E952037-2211-071B-1E68-A09C9F63DD4D}"/>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Jost" pitchFamily="2" charset="0"/>
                <a:ea typeface="Jost" pitchFamily="2" charset="0"/>
                <a:sym typeface="Arial"/>
              </a:rPr>
              <a:t>2</a:t>
            </a:r>
            <a:endParaRPr sz="1800">
              <a:solidFill>
                <a:schemeClr val="dk1"/>
              </a:solidFill>
              <a:latin typeface="Jost" pitchFamily="2" charset="0"/>
              <a:ea typeface="Jost" pitchFamily="2" charset="0"/>
              <a:sym typeface="Arial"/>
            </a:endParaRPr>
          </a:p>
        </p:txBody>
      </p:sp>
      <p:sp>
        <p:nvSpPr>
          <p:cNvPr id="146" name="Google Shape;146;p15">
            <a:extLst>
              <a:ext uri="{FF2B5EF4-FFF2-40B4-BE49-F238E27FC236}">
                <a16:creationId xmlns:a16="http://schemas.microsoft.com/office/drawing/2014/main" id="{FC9D2B5E-20AD-785E-FC02-B40A20E376C2}"/>
              </a:ext>
            </a:extLst>
          </p:cNvPr>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３．混色結果 </a:t>
            </a:r>
            <a:endParaRPr sz="2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47" name="Google Shape;147;p15">
            <a:extLst>
              <a:ext uri="{FF2B5EF4-FFF2-40B4-BE49-F238E27FC236}">
                <a16:creationId xmlns:a16="http://schemas.microsoft.com/office/drawing/2014/main" id="{015614A5-0049-CFEC-AAD3-B7595F952866}"/>
              </a:ext>
            </a:extLst>
          </p:cNvPr>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48" name="Google Shape;148;p15">
            <a:extLst>
              <a:ext uri="{FF2B5EF4-FFF2-40B4-BE49-F238E27FC236}">
                <a16:creationId xmlns:a16="http://schemas.microsoft.com/office/drawing/2014/main" id="{0437AFBA-34C2-42C2-6651-4E95742EF75B}"/>
              </a:ext>
            </a:extLst>
          </p:cNvPr>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サイズ</a:t>
            </a:r>
            <a:r>
              <a:rPr lang="en-US" sz="1200" b="1"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49" name="Google Shape;149;p15">
            <a:extLst>
              <a:ext uri="{FF2B5EF4-FFF2-40B4-BE49-F238E27FC236}">
                <a16:creationId xmlns:a16="http://schemas.microsoft.com/office/drawing/2014/main" id="{295F70D7-7E56-0203-FE09-D18DA7DA32C8}"/>
              </a:ext>
            </a:extLst>
          </p:cNvPr>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Mで始まるモデルをM</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Familyと呼んでおりBambu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S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で始まるモデルをS</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Familyと呼んでおりBambu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A1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miniで印刷できるサイズとなります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L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で始まるモデルはBambu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pic>
        <p:nvPicPr>
          <p:cNvPr id="151" name="Google Shape;151;p15">
            <a:extLst>
              <a:ext uri="{FF2B5EF4-FFF2-40B4-BE49-F238E27FC236}">
                <a16:creationId xmlns:a16="http://schemas.microsoft.com/office/drawing/2014/main" id="{A1AA18FA-F99E-E8B7-40FE-5A23E7FFA0F0}"/>
              </a:ext>
            </a:extLst>
          </p:cNvPr>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a:extLst>
              <a:ext uri="{FF2B5EF4-FFF2-40B4-BE49-F238E27FC236}">
                <a16:creationId xmlns:a16="http://schemas.microsoft.com/office/drawing/2014/main" id="{5C94DBA4-07BD-E174-EF05-222AF4EF3BB8}"/>
              </a:ext>
            </a:extLst>
          </p:cNvPr>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混色の特徴</a:t>
            </a:r>
            <a:r>
              <a:rPr lang="en-US" sz="12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2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明度差の小さい組み合わせ（CMY</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シアン・マゼンタ・イエローなどの明度差の小さい組合せは、混合比と最終色が比較的リニアに対応します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この様なケースではStandardモデルだけで十分な結果を得る事が出来ます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pic>
        <p:nvPicPr>
          <p:cNvPr id="154" name="Google Shape;154;p15">
            <a:extLst>
              <a:ext uri="{FF2B5EF4-FFF2-40B4-BE49-F238E27FC236}">
                <a16:creationId xmlns:a16="http://schemas.microsoft.com/office/drawing/2014/main" id="{00D4D418-3349-CE08-44BB-F8FDE7F9F08F}"/>
              </a:ext>
            </a:extLst>
          </p:cNvPr>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Tree>
    <p:extLst>
      <p:ext uri="{BB962C8B-B14F-4D97-AF65-F5344CB8AC3E}">
        <p14:creationId xmlns:p14="http://schemas.microsoft.com/office/powerpoint/2010/main" val="24988831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B3D494DF-371E-ED4F-FB4E-D3A97E668A99}"/>
            </a:ext>
          </a:extLst>
        </p:cNvPr>
        <p:cNvGrpSpPr/>
        <p:nvPr/>
      </p:nvGrpSpPr>
      <p:grpSpPr>
        <a:xfrm>
          <a:off x="0" y="0"/>
          <a:ext cx="0" cy="0"/>
          <a:chOff x="0" y="0"/>
          <a:chExt cx="0" cy="0"/>
        </a:xfrm>
      </p:grpSpPr>
      <p:sp>
        <p:nvSpPr>
          <p:cNvPr id="159" name="Google Shape;159;p16">
            <a:extLst>
              <a:ext uri="{FF2B5EF4-FFF2-40B4-BE49-F238E27FC236}">
                <a16:creationId xmlns:a16="http://schemas.microsoft.com/office/drawing/2014/main" id="{02E485A8-A093-ECA2-47FF-7C926E0A19CD}"/>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5E46076D-4965-E2D7-A838-25832BB84C07}"/>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0974 w 6858000"/>
              <a:gd name="csY8" fmla="*/ 5924471 h 9144000"/>
              <a:gd name="csX9" fmla="*/ 558674 w 6858000"/>
              <a:gd name="csY9" fmla="*/ 6026771 h 9144000"/>
              <a:gd name="csX10" fmla="*/ 660974 w 6858000"/>
              <a:gd name="csY10" fmla="*/ 6129071 h 9144000"/>
              <a:gd name="csX11" fmla="*/ 763274 w 6858000"/>
              <a:gd name="csY11" fmla="*/ 6026771 h 9144000"/>
              <a:gd name="csX12" fmla="*/ 660974 w 6858000"/>
              <a:gd name="csY12" fmla="*/ 5924471 h 9144000"/>
              <a:gd name="csX13" fmla="*/ 639949 w 6858000"/>
              <a:gd name="csY13" fmla="*/ 4337722 h 9144000"/>
              <a:gd name="csX14" fmla="*/ 577699 w 6858000"/>
              <a:gd name="csY14" fmla="*/ 4402672 h 9144000"/>
              <a:gd name="csX15" fmla="*/ 639949 w 6858000"/>
              <a:gd name="csY15" fmla="*/ 4467622 h 9144000"/>
              <a:gd name="csX16" fmla="*/ 702199 w 6858000"/>
              <a:gd name="csY16" fmla="*/ 4402672 h 9144000"/>
              <a:gd name="csX17" fmla="*/ 639949 w 6858000"/>
              <a:gd name="csY17" fmla="*/ 4337722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0974" y="5924471"/>
                </a:moveTo>
                <a:cubicBezTo>
                  <a:pt x="604475" y="5924471"/>
                  <a:pt x="558674" y="5970272"/>
                  <a:pt x="558674" y="6026771"/>
                </a:cubicBezTo>
                <a:cubicBezTo>
                  <a:pt x="558674" y="6083270"/>
                  <a:pt x="604475" y="6129071"/>
                  <a:pt x="660974" y="6129071"/>
                </a:cubicBezTo>
                <a:cubicBezTo>
                  <a:pt x="717473" y="6129071"/>
                  <a:pt x="763274" y="6083270"/>
                  <a:pt x="763274" y="6026771"/>
                </a:cubicBezTo>
                <a:cubicBezTo>
                  <a:pt x="763274" y="5970272"/>
                  <a:pt x="717473" y="5924471"/>
                  <a:pt x="660974" y="5924471"/>
                </a:cubicBezTo>
                <a:close/>
                <a:moveTo>
                  <a:pt x="639949" y="4337722"/>
                </a:moveTo>
                <a:cubicBezTo>
                  <a:pt x="605569" y="4337722"/>
                  <a:pt x="577699" y="4366801"/>
                  <a:pt x="577699" y="4402672"/>
                </a:cubicBezTo>
                <a:cubicBezTo>
                  <a:pt x="577699" y="4438543"/>
                  <a:pt x="605569" y="4467622"/>
                  <a:pt x="639949" y="4467622"/>
                </a:cubicBezTo>
                <a:cubicBezTo>
                  <a:pt x="674329" y="4467622"/>
                  <a:pt x="702199" y="4438543"/>
                  <a:pt x="702199" y="4402672"/>
                </a:cubicBezTo>
                <a:cubicBezTo>
                  <a:pt x="702199" y="4366801"/>
                  <a:pt x="674329" y="4337722"/>
                  <a:pt x="639949" y="4337722"/>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a:extLst>
              <a:ext uri="{FF2B5EF4-FFF2-40B4-BE49-F238E27FC236}">
                <a16:creationId xmlns:a16="http://schemas.microsoft.com/office/drawing/2014/main" id="{FE364511-FBB8-779A-6885-06C6046A9CD9}"/>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sym typeface="Arial"/>
              </a:rPr>
              <a:t>3</a:t>
            </a:r>
            <a:endParaRPr sz="1800" dirty="0">
              <a:solidFill>
                <a:schemeClr val="dk1"/>
              </a:solidFill>
              <a:latin typeface="Jost" pitchFamily="2" charset="0"/>
              <a:ea typeface="Jost" pitchFamily="2" charset="0"/>
              <a:sym typeface="Arial"/>
            </a:endParaRPr>
          </a:p>
        </p:txBody>
      </p:sp>
      <p:sp>
        <p:nvSpPr>
          <p:cNvPr id="171" name="Google Shape;171;p16">
            <a:extLst>
              <a:ext uri="{FF2B5EF4-FFF2-40B4-BE49-F238E27FC236}">
                <a16:creationId xmlns:a16="http://schemas.microsoft.com/office/drawing/2014/main" id="{E381DD4E-B10F-BA46-96B0-F645F3064996}"/>
              </a:ext>
            </a:extLst>
          </p:cNvPr>
          <p:cNvSpPr txBox="1"/>
          <p:nvPr/>
        </p:nvSpPr>
        <p:spPr>
          <a:xfrm>
            <a:off x="748128" y="5855312"/>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４．揃えるべきフィラメント </a:t>
            </a:r>
            <a:endParaRPr sz="24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72" name="Google Shape;172;p16">
            <a:extLst>
              <a:ext uri="{FF2B5EF4-FFF2-40B4-BE49-F238E27FC236}">
                <a16:creationId xmlns:a16="http://schemas.microsoft.com/office/drawing/2014/main" id="{6D401115-B6A7-72B6-0405-CB618D12E186}"/>
              </a:ext>
            </a:extLst>
          </p:cNvPr>
          <p:cNvSpPr txBox="1"/>
          <p:nvPr/>
        </p:nvSpPr>
        <p:spPr>
          <a:xfrm>
            <a:off x="678058" y="6272865"/>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73" name="Google Shape;173;p16">
            <a:extLst>
              <a:ext uri="{FF2B5EF4-FFF2-40B4-BE49-F238E27FC236}">
                <a16:creationId xmlns:a16="http://schemas.microsoft.com/office/drawing/2014/main" id="{07F4C22D-7222-0557-B3E1-2A177A9B1C19}"/>
              </a:ext>
            </a:extLst>
          </p:cNvPr>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明度差の大きい組み合わせ（白・黒</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まいます。このような場合はDetailモデルを活用してください</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なってしまう事があります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Filament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で薄いグレーの</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pic>
        <p:nvPicPr>
          <p:cNvPr id="174" name="Google Shape;174;p16">
            <a:extLst>
              <a:ext uri="{FF2B5EF4-FFF2-40B4-BE49-F238E27FC236}">
                <a16:creationId xmlns:a16="http://schemas.microsoft.com/office/drawing/2014/main" id="{4BE6AEAC-00A8-3E43-44EC-878EEFF8E93F}"/>
              </a:ext>
            </a:extLst>
          </p:cNvPr>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a:extLst>
              <a:ext uri="{FF2B5EF4-FFF2-40B4-BE49-F238E27FC236}">
                <a16:creationId xmlns:a16="http://schemas.microsoft.com/office/drawing/2014/main" id="{6D95C384-04BB-E5A5-4904-F8B24FE942E0}"/>
              </a:ext>
            </a:extLst>
          </p:cNvPr>
          <p:cNvSpPr txBox="1"/>
          <p:nvPr/>
        </p:nvSpPr>
        <p:spPr>
          <a:xfrm>
            <a:off x="666532" y="4269345"/>
            <a:ext cx="56421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材質による違い</a:t>
            </a:r>
            <a:endParaRPr sz="12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特にPLA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一方でPETG</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HTの白は透過性が低く、PLA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Basicよりも白の影響が強い結果となります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混色時にはベースとなるフィラメントの色だけではなく、透過性の影響も受けます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Tree>
    <p:extLst>
      <p:ext uri="{BB962C8B-B14F-4D97-AF65-F5344CB8AC3E}">
        <p14:creationId xmlns:p14="http://schemas.microsoft.com/office/powerpoint/2010/main" val="590535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9C81FD24-B58B-29A9-7E05-BC79A33AE2FC}"/>
            </a:ext>
          </a:extLst>
        </p:cNvPr>
        <p:cNvGrpSpPr/>
        <p:nvPr/>
      </p:nvGrpSpPr>
      <p:grpSpPr>
        <a:xfrm>
          <a:off x="0" y="0"/>
          <a:ext cx="0" cy="0"/>
          <a:chOff x="0" y="0"/>
          <a:chExt cx="0" cy="0"/>
        </a:xfrm>
      </p:grpSpPr>
      <p:sp>
        <p:nvSpPr>
          <p:cNvPr id="181" name="Google Shape;181;p17">
            <a:extLst>
              <a:ext uri="{FF2B5EF4-FFF2-40B4-BE49-F238E27FC236}">
                <a16:creationId xmlns:a16="http://schemas.microsoft.com/office/drawing/2014/main" id="{9273BBBB-99C2-AB77-42C0-0F6678CFB462}"/>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71AAAAE9-1BBD-B7DF-6D99-23E6B134DBE0}"/>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6953778 h 9144000"/>
              <a:gd name="csX9" fmla="*/ 594999 w 6858000"/>
              <a:gd name="csY9" fmla="*/ 7018728 h 9144000"/>
              <a:gd name="csX10" fmla="*/ 657249 w 6858000"/>
              <a:gd name="csY10" fmla="*/ 7083678 h 9144000"/>
              <a:gd name="csX11" fmla="*/ 719499 w 6858000"/>
              <a:gd name="csY11" fmla="*/ 7018728 h 9144000"/>
              <a:gd name="csX12" fmla="*/ 657249 w 6858000"/>
              <a:gd name="csY12" fmla="*/ 6953778 h 9144000"/>
              <a:gd name="csX13" fmla="*/ 657245 w 6858000"/>
              <a:gd name="csY13" fmla="*/ 4464919 h 9144000"/>
              <a:gd name="csX14" fmla="*/ 554945 w 6858000"/>
              <a:gd name="csY14" fmla="*/ 4567219 h 9144000"/>
              <a:gd name="csX15" fmla="*/ 657245 w 6858000"/>
              <a:gd name="csY15" fmla="*/ 4669519 h 9144000"/>
              <a:gd name="csX16" fmla="*/ 759545 w 6858000"/>
              <a:gd name="csY16" fmla="*/ 4567219 h 9144000"/>
              <a:gd name="csX17" fmla="*/ 657245 w 6858000"/>
              <a:gd name="csY17" fmla="*/ 4464919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6953778"/>
                </a:moveTo>
                <a:cubicBezTo>
                  <a:pt x="622869" y="6953778"/>
                  <a:pt x="594999" y="6982857"/>
                  <a:pt x="594999" y="7018728"/>
                </a:cubicBezTo>
                <a:cubicBezTo>
                  <a:pt x="594999" y="7054599"/>
                  <a:pt x="622869" y="7083678"/>
                  <a:pt x="657249" y="7083678"/>
                </a:cubicBezTo>
                <a:cubicBezTo>
                  <a:pt x="691629" y="7083678"/>
                  <a:pt x="719499" y="7054599"/>
                  <a:pt x="719499" y="7018728"/>
                </a:cubicBezTo>
                <a:cubicBezTo>
                  <a:pt x="719499" y="6982857"/>
                  <a:pt x="691629" y="6953778"/>
                  <a:pt x="657249" y="6953778"/>
                </a:cubicBezTo>
                <a:close/>
                <a:moveTo>
                  <a:pt x="657245" y="4464919"/>
                </a:moveTo>
                <a:cubicBezTo>
                  <a:pt x="600746" y="4464919"/>
                  <a:pt x="554945" y="4510720"/>
                  <a:pt x="554945" y="4567219"/>
                </a:cubicBezTo>
                <a:cubicBezTo>
                  <a:pt x="554945" y="4623718"/>
                  <a:pt x="600746" y="4669519"/>
                  <a:pt x="657245" y="4669519"/>
                </a:cubicBezTo>
                <a:cubicBezTo>
                  <a:pt x="713744" y="4669519"/>
                  <a:pt x="759545" y="4623718"/>
                  <a:pt x="759545" y="4567219"/>
                </a:cubicBezTo>
                <a:cubicBezTo>
                  <a:pt x="759545" y="4510720"/>
                  <a:pt x="713744" y="4464919"/>
                  <a:pt x="657245" y="4464919"/>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a:extLst>
              <a:ext uri="{FF2B5EF4-FFF2-40B4-BE49-F238E27FC236}">
                <a16:creationId xmlns:a16="http://schemas.microsoft.com/office/drawing/2014/main" id="{043B22FF-F932-F4B5-D292-94357590D0CA}"/>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sym typeface="Arial"/>
              </a:rPr>
              <a:t>4</a:t>
            </a:r>
            <a:endParaRPr sz="1800" dirty="0">
              <a:solidFill>
                <a:schemeClr val="dk1"/>
              </a:solidFill>
              <a:latin typeface="Jost" pitchFamily="2" charset="0"/>
              <a:ea typeface="Jost" pitchFamily="2" charset="0"/>
              <a:sym typeface="Arial"/>
            </a:endParaRPr>
          </a:p>
        </p:txBody>
      </p:sp>
      <p:sp>
        <p:nvSpPr>
          <p:cNvPr id="193" name="Google Shape;193;p17">
            <a:extLst>
              <a:ext uri="{FF2B5EF4-FFF2-40B4-BE49-F238E27FC236}">
                <a16:creationId xmlns:a16="http://schemas.microsoft.com/office/drawing/2014/main" id="{8DBCDF84-B670-5804-490F-4E83A4E0C091}"/>
              </a:ext>
            </a:extLst>
          </p:cNvPr>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５．使用上の注意 </a:t>
            </a:r>
            <a:endParaRPr sz="24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94" name="Google Shape;194;p17">
            <a:extLst>
              <a:ext uri="{FF2B5EF4-FFF2-40B4-BE49-F238E27FC236}">
                <a16:creationId xmlns:a16="http://schemas.microsoft.com/office/drawing/2014/main" id="{F33A499D-6AC1-0284-DE40-7EA7BA59810C}"/>
              </a:ext>
            </a:extLst>
          </p:cNvPr>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印刷手順：</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この様に2段階の印刷で作りたい形の物を好きな色で作ることが出来ます。 </a:t>
            </a:r>
            <a:endParaRPr sz="1000" dirty="0">
              <a:latin typeface="Noto Sans JP" panose="020B0200000000000000" pitchFamily="50" charset="-128"/>
              <a:ea typeface="Noto Sans JP" panose="020B0200000000000000" pitchFamily="50" charset="-128"/>
            </a:endParaRPr>
          </a:p>
        </p:txBody>
      </p:sp>
      <p:sp>
        <p:nvSpPr>
          <p:cNvPr id="195" name="Google Shape;195;p17">
            <a:extLst>
              <a:ext uri="{FF2B5EF4-FFF2-40B4-BE49-F238E27FC236}">
                <a16:creationId xmlns:a16="http://schemas.microsoft.com/office/drawing/2014/main" id="{FD8330F1-8E0B-754D-776B-BA7AD6F01243}"/>
              </a:ext>
            </a:extLst>
          </p:cNvPr>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Cyan・Magenta・Yellow</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また、Jade</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White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とBlack</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は明度差が大きくまだらになってしまう傾向にあります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そこで、これらの区間に対しては</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 </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Cyan–Yellow → Bamboo Green,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Magenta-Cyan → Purple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といったブリッジ色</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を提案いたします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96" name="Google Shape;196;p17">
            <a:extLst>
              <a:ext uri="{FF2B5EF4-FFF2-40B4-BE49-F238E27FC236}">
                <a16:creationId xmlns:a16="http://schemas.microsoft.com/office/drawing/2014/main" id="{EE1507CE-388D-E94A-0B76-C130B54C6801}"/>
              </a:ext>
            </a:extLst>
          </p:cNvPr>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a:extLst>
              <a:ext uri="{FF2B5EF4-FFF2-40B4-BE49-F238E27FC236}">
                <a16:creationId xmlns:a16="http://schemas.microsoft.com/office/drawing/2014/main" id="{DEA6D3DB-A8B9-4CD7-A174-D55D36CD8CFD}"/>
              </a:ext>
            </a:extLst>
          </p:cNvPr>
          <p:cNvPicPr preferRelativeResize="0"/>
          <p:nvPr/>
        </p:nvPicPr>
        <p:blipFill>
          <a:blip r:embed="rId3">
            <a:alphaModFix/>
          </a:blip>
          <a:stretch>
            <a:fillRect/>
          </a:stretch>
        </p:blipFill>
        <p:spPr>
          <a:xfrm>
            <a:off x="785500" y="2258112"/>
            <a:ext cx="5536976" cy="2111324"/>
          </a:xfrm>
          <a:prstGeom prst="rect">
            <a:avLst/>
          </a:prstGeom>
          <a:noFill/>
          <a:ln>
            <a:noFill/>
          </a:ln>
        </p:spPr>
      </p:pic>
      <p:pic>
        <p:nvPicPr>
          <p:cNvPr id="199" name="Google Shape;199;p17">
            <a:extLst>
              <a:ext uri="{FF2B5EF4-FFF2-40B4-BE49-F238E27FC236}">
                <a16:creationId xmlns:a16="http://schemas.microsoft.com/office/drawing/2014/main" id="{7BD12271-DDF2-9145-4943-1C91B617B8F7}"/>
              </a:ext>
            </a:extLst>
          </p:cNvPr>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a:extLst>
              <a:ext uri="{FF2B5EF4-FFF2-40B4-BE49-F238E27FC236}">
                <a16:creationId xmlns:a16="http://schemas.microsoft.com/office/drawing/2014/main" id="{EFDE0C16-EBE7-3BB4-D01D-BA55162775DF}"/>
              </a:ext>
            </a:extLst>
          </p:cNvPr>
          <p:cNvSpPr txBox="1"/>
          <p:nvPr/>
        </p:nvSpPr>
        <p:spPr>
          <a:xfrm>
            <a:off x="672873" y="6904231"/>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Noto Sans JP" panose="020B0200000000000000" pitchFamily="50" charset="-128"/>
                <a:ea typeface="Noto Sans JP" panose="020B0200000000000000" pitchFamily="50" charset="-128"/>
              </a:rPr>
              <a:t>印刷</a:t>
            </a:r>
            <a:r>
              <a:rPr lang="en-US" sz="1200" b="1" dirty="0">
                <a:latin typeface="Noto Sans JP" panose="020B0200000000000000" pitchFamily="50" charset="-128"/>
                <a:ea typeface="Noto Sans JP" panose="020B0200000000000000" pitchFamily="50" charset="-128"/>
              </a:rPr>
              <a:t> #1（Blend Filament </a:t>
            </a:r>
            <a:r>
              <a:rPr lang="en-US" sz="1200" b="1" dirty="0" err="1">
                <a:latin typeface="Noto Sans JP" panose="020B0200000000000000" pitchFamily="50" charset="-128"/>
                <a:ea typeface="Noto Sans JP" panose="020B0200000000000000" pitchFamily="50" charset="-128"/>
              </a:rPr>
              <a:t>の印刷）前</a:t>
            </a:r>
            <a:endParaRPr sz="12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5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b="1" dirty="0" err="1">
                <a:latin typeface="Noto Sans JP" panose="020B0200000000000000" pitchFamily="50" charset="-128"/>
                <a:ea typeface="Noto Sans JP" panose="020B0200000000000000" pitchFamily="50" charset="-128"/>
              </a:rPr>
              <a:t>必須の項目</a:t>
            </a:r>
            <a:r>
              <a:rPr lang="en-US" sz="1000" b="1" dirty="0">
                <a:latin typeface="Noto Sans JP" panose="020B0200000000000000" pitchFamily="50" charset="-128"/>
                <a:ea typeface="Noto Sans JP" panose="020B0200000000000000" pitchFamily="50" charset="-128"/>
              </a:rPr>
              <a:t> </a:t>
            </a:r>
            <a:endParaRPr sz="10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4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・AMS </a:t>
            </a:r>
            <a:r>
              <a:rPr lang="en-US" sz="1000" dirty="0" err="1">
                <a:latin typeface="Noto Sans JP" panose="020B0200000000000000" pitchFamily="50" charset="-128"/>
                <a:ea typeface="Noto Sans JP" panose="020B0200000000000000" pitchFamily="50" charset="-128"/>
              </a:rPr>
              <a:t>必須</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a:latin typeface="Noto Sans JP" panose="020B0200000000000000" pitchFamily="50" charset="-128"/>
                <a:ea typeface="Noto Sans JP" panose="020B0200000000000000" pitchFamily="50" charset="-128"/>
              </a:rPr>
              <a:t>2 </a:t>
            </a:r>
            <a:r>
              <a:rPr lang="en-US" sz="900" dirty="0" err="1">
                <a:latin typeface="Noto Sans JP" panose="020B0200000000000000" pitchFamily="50" charset="-128"/>
                <a:ea typeface="Noto Sans JP" panose="020B0200000000000000" pitchFamily="50" charset="-128"/>
              </a:rPr>
              <a:t>色の頻繁な色の切り替えが必要です。AMSまたは同等のマルチマテリアルシステム必須です</a:t>
            </a:r>
            <a:r>
              <a:rPr lang="en-US" sz="900" dirty="0">
                <a:latin typeface="Noto Sans JP" panose="020B0200000000000000" pitchFamily="50" charset="-128"/>
                <a:ea typeface="Noto Sans JP" panose="020B0200000000000000" pitchFamily="50" charset="-128"/>
              </a:rPr>
              <a:t>。</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・0.4 mm </a:t>
            </a:r>
            <a:r>
              <a:rPr lang="en-US" sz="1000" dirty="0" err="1">
                <a:latin typeface="Noto Sans JP" panose="020B0200000000000000" pitchFamily="50" charset="-128"/>
                <a:ea typeface="Noto Sans JP" panose="020B0200000000000000" pitchFamily="50" charset="-128"/>
              </a:rPr>
              <a:t>ノズル必須</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a:latin typeface="Noto Sans JP" panose="020B0200000000000000" pitchFamily="50" charset="-128"/>
                <a:ea typeface="Noto Sans JP" panose="020B0200000000000000"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Noto Sans JP" panose="020B0200000000000000" pitchFamily="50" charset="-128"/>
              <a:ea typeface="Noto Sans JP" panose="020B0200000000000000" pitchFamily="50" charset="-128"/>
            </a:endParaRPr>
          </a:p>
        </p:txBody>
      </p:sp>
    </p:spTree>
    <p:extLst>
      <p:ext uri="{BB962C8B-B14F-4D97-AF65-F5344CB8AC3E}">
        <p14:creationId xmlns:p14="http://schemas.microsoft.com/office/powerpoint/2010/main" val="34394477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4">
          <a:extLst>
            <a:ext uri="{FF2B5EF4-FFF2-40B4-BE49-F238E27FC236}">
              <a16:creationId xmlns:a16="http://schemas.microsoft.com/office/drawing/2014/main" id="{6776C3E5-1E14-91C2-9180-A6355DE98DD4}"/>
            </a:ext>
          </a:extLst>
        </p:cNvPr>
        <p:cNvGrpSpPr/>
        <p:nvPr/>
      </p:nvGrpSpPr>
      <p:grpSpPr>
        <a:xfrm>
          <a:off x="0" y="0"/>
          <a:ext cx="0" cy="0"/>
          <a:chOff x="0" y="0"/>
          <a:chExt cx="0" cy="0"/>
        </a:xfrm>
      </p:grpSpPr>
      <p:sp>
        <p:nvSpPr>
          <p:cNvPr id="205" name="Google Shape;205;p18">
            <a:extLst>
              <a:ext uri="{FF2B5EF4-FFF2-40B4-BE49-F238E27FC236}">
                <a16:creationId xmlns:a16="http://schemas.microsoft.com/office/drawing/2014/main" id="{DA22200D-E4DF-6983-6917-052BBC07E225}"/>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 name="フリーフォーム: 図形 4">
            <a:extLst>
              <a:ext uri="{FF2B5EF4-FFF2-40B4-BE49-F238E27FC236}">
                <a16:creationId xmlns:a16="http://schemas.microsoft.com/office/drawing/2014/main" id="{C560E2BA-54BE-D0AF-986B-26631574ECF2}"/>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7170193 h 9144000"/>
              <a:gd name="csX9" fmla="*/ 594999 w 6858000"/>
              <a:gd name="csY9" fmla="*/ 7235143 h 9144000"/>
              <a:gd name="csX10" fmla="*/ 657249 w 6858000"/>
              <a:gd name="csY10" fmla="*/ 7300093 h 9144000"/>
              <a:gd name="csX11" fmla="*/ 719499 w 6858000"/>
              <a:gd name="csY11" fmla="*/ 7235143 h 9144000"/>
              <a:gd name="csX12" fmla="*/ 657249 w 6858000"/>
              <a:gd name="csY12" fmla="*/ 7170193 h 9144000"/>
              <a:gd name="csX13" fmla="*/ 537486 w 6858000"/>
              <a:gd name="csY13" fmla="*/ 446937 h 9144000"/>
              <a:gd name="csX14" fmla="*/ 537486 w 6858000"/>
              <a:gd name="csY14" fmla="*/ 500937 h 9144000"/>
              <a:gd name="csX15" fmla="*/ 6293586 w 6858000"/>
              <a:gd name="csY15" fmla="*/ 500937 h 9144000"/>
              <a:gd name="csX16" fmla="*/ 6293586 w 6858000"/>
              <a:gd name="csY16" fmla="*/ 446937 h 9144000"/>
              <a:gd name="csX17" fmla="*/ 0 w 6858000"/>
              <a:gd name="csY17" fmla="*/ 0 h 9144000"/>
              <a:gd name="csX18" fmla="*/ 6858000 w 6858000"/>
              <a:gd name="csY18" fmla="*/ 0 h 9144000"/>
              <a:gd name="csX19" fmla="*/ 6858000 w 6858000"/>
              <a:gd name="csY19" fmla="*/ 9144000 h 9144000"/>
              <a:gd name="csX20" fmla="*/ 0 w 6858000"/>
              <a:gd name="csY2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7170193"/>
                </a:moveTo>
                <a:cubicBezTo>
                  <a:pt x="622869" y="7170193"/>
                  <a:pt x="594999" y="7199272"/>
                  <a:pt x="594999" y="7235143"/>
                </a:cubicBezTo>
                <a:cubicBezTo>
                  <a:pt x="594999" y="7271014"/>
                  <a:pt x="622869" y="7300093"/>
                  <a:pt x="657249" y="7300093"/>
                </a:cubicBezTo>
                <a:cubicBezTo>
                  <a:pt x="691629" y="7300093"/>
                  <a:pt x="719499" y="7271014"/>
                  <a:pt x="719499" y="7235143"/>
                </a:cubicBezTo>
                <a:cubicBezTo>
                  <a:pt x="719499" y="7199272"/>
                  <a:pt x="691629" y="7170193"/>
                  <a:pt x="657249" y="7170193"/>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a:extLst>
              <a:ext uri="{FF2B5EF4-FFF2-40B4-BE49-F238E27FC236}">
                <a16:creationId xmlns:a16="http://schemas.microsoft.com/office/drawing/2014/main" id="{0331ADCD-B3B3-91CC-B2B5-1FF8E37BF3C7}"/>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rPr>
              <a:t>5</a:t>
            </a:r>
            <a:endParaRPr sz="1800" dirty="0">
              <a:solidFill>
                <a:schemeClr val="dk1"/>
              </a:solidFill>
              <a:latin typeface="Jost" pitchFamily="2" charset="0"/>
              <a:ea typeface="Jost" pitchFamily="2" charset="0"/>
              <a:sym typeface="Arial"/>
            </a:endParaRPr>
          </a:p>
        </p:txBody>
      </p:sp>
      <p:sp>
        <p:nvSpPr>
          <p:cNvPr id="216" name="Google Shape;216;p18">
            <a:extLst>
              <a:ext uri="{FF2B5EF4-FFF2-40B4-BE49-F238E27FC236}">
                <a16:creationId xmlns:a16="http://schemas.microsoft.com/office/drawing/2014/main" id="{E863C95B-50E7-1333-E5E5-8ED4851AD5B5}"/>
              </a:ext>
            </a:extLst>
          </p:cNvPr>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非推奨の項目</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糊の使用</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印刷</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#2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にて糊がノズルに詰まる可能性があります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異素材混合</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印刷温度が異なる素材の混合フィラメントは、印刷＃２にてノズルが詰まる可能性があります。 PLA Basic と PLA Matte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の様に印刷温度が一致しており、同素材であれば使用できる可能性はあります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基本的に</a:t>
            </a:r>
            <a:r>
              <a:rPr lang="en-US" sz="9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同一メーカー同一商品の色違いを使うことを推奨</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します。挑戦する場合は自己責任でお願いします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latin typeface="Noto Sans JP" panose="020B0200000000000000" pitchFamily="50" charset="-128"/>
              <a:ea typeface="Noto Sans JP" panose="020B0200000000000000" pitchFamily="50" charset="-128"/>
            </a:endParaRPr>
          </a:p>
        </p:txBody>
      </p:sp>
      <p:sp>
        <p:nvSpPr>
          <p:cNvPr id="217" name="Google Shape;217;p18">
            <a:extLst>
              <a:ext uri="{FF2B5EF4-FFF2-40B4-BE49-F238E27FC236}">
                <a16:creationId xmlns:a16="http://schemas.microsoft.com/office/drawing/2014/main" id="{FD475EB6-9883-9AC1-BE32-3515CDB0C641}"/>
              </a:ext>
            </a:extLst>
          </p:cNvPr>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a:t>
            </a:r>
            <a:r>
              <a:rPr lang="en-US" sz="1000" dirty="0" err="1">
                <a:latin typeface="Noto Sans JP" panose="020B0200000000000000" pitchFamily="50" charset="-128"/>
                <a:ea typeface="Noto Sans JP" panose="020B0200000000000000" pitchFamily="50" charset="-128"/>
              </a:rPr>
              <a:t>プレートと手の脱脂</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err="1">
                <a:latin typeface="Noto Sans JP" panose="020B0200000000000000" pitchFamily="50" charset="-128"/>
                <a:ea typeface="Noto Sans JP" panose="020B0200000000000000" pitchFamily="50" charset="-128"/>
              </a:rPr>
              <a:t>本モデルは定着性がシビアです。十分な脱脂を行って、定着性を高めてください</a:t>
            </a:r>
            <a:r>
              <a:rPr lang="en-US" sz="900" dirty="0">
                <a:latin typeface="Noto Sans JP" panose="020B0200000000000000" pitchFamily="50" charset="-128"/>
                <a:ea typeface="Noto Sans JP" panose="020B0200000000000000" pitchFamily="50" charset="-128"/>
              </a:rPr>
              <a:t>。 定着が困難な場合は1サイズ小さいモデルを検討してください。 </a:t>
            </a:r>
            <a:endParaRPr sz="9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err="1">
                <a:latin typeface="Noto Sans JP" panose="020B0200000000000000" pitchFamily="50" charset="-128"/>
                <a:ea typeface="Noto Sans JP" panose="020B0200000000000000" pitchFamily="50" charset="-128"/>
              </a:rPr>
              <a:t>定着のしやすさ</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err="1">
                <a:latin typeface="Noto Sans JP" panose="020B0200000000000000" pitchFamily="50" charset="-128"/>
                <a:ea typeface="Noto Sans JP" panose="020B0200000000000000" pitchFamily="50" charset="-128"/>
              </a:rPr>
              <a:t>ビ</a:t>
            </a:r>
            <a:r>
              <a:rPr lang="en-US" sz="900" dirty="0" err="1">
                <a:latin typeface="Noto Sans JP" panose="020B0200000000000000" pitchFamily="50" charset="-128"/>
                <a:ea typeface="Noto Sans JP" panose="020B0200000000000000" pitchFamily="50" charset="-128"/>
              </a:rPr>
              <a:t>ルドプレートとフィラメントによって定着性が変わります。下表を参考にしてください</a:t>
            </a:r>
            <a:r>
              <a:rPr lang="en-US" sz="900" dirty="0">
                <a:latin typeface="Noto Sans JP" panose="020B0200000000000000" pitchFamily="50" charset="-128"/>
                <a:ea typeface="Noto Sans JP" panose="020B0200000000000000" pitchFamily="50" charset="-128"/>
              </a:rPr>
              <a:t>。 </a:t>
            </a:r>
            <a:endParaRPr sz="900" dirty="0">
              <a:latin typeface="Noto Sans JP" panose="020B0200000000000000" pitchFamily="50" charset="-128"/>
              <a:ea typeface="Noto Sans JP" panose="020B0200000000000000" pitchFamily="50" charset="-128"/>
            </a:endParaRPr>
          </a:p>
        </p:txBody>
      </p:sp>
      <p:sp>
        <p:nvSpPr>
          <p:cNvPr id="218" name="Google Shape;218;p18">
            <a:extLst>
              <a:ext uri="{FF2B5EF4-FFF2-40B4-BE49-F238E27FC236}">
                <a16:creationId xmlns:a16="http://schemas.microsoft.com/office/drawing/2014/main" id="{86991EEE-AAFF-B96E-A398-2EBEFE3770C9}"/>
              </a:ext>
            </a:extLst>
          </p:cNvPr>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a:extLst>
              <a:ext uri="{FF2B5EF4-FFF2-40B4-BE49-F238E27FC236}">
                <a16:creationId xmlns:a16="http://schemas.microsoft.com/office/drawing/2014/main" id="{765F7173-771F-7BF6-7ED8-6CC7FDE832F7}"/>
              </a:ext>
            </a:extLst>
          </p:cNvPr>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a:extLst>
              <a:ext uri="{FF2B5EF4-FFF2-40B4-BE49-F238E27FC236}">
                <a16:creationId xmlns:a16="http://schemas.microsoft.com/office/drawing/2014/main" id="{A011C00D-99FC-4127-EFAE-832C307DC1D7}"/>
              </a:ext>
            </a:extLst>
          </p:cNvPr>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Noto Sans JP" panose="020B0200000000000000" pitchFamily="50" charset="-128"/>
                <a:ea typeface="Noto Sans JP" panose="020B0200000000000000" pitchFamily="50" charset="-128"/>
                <a:cs typeface="IBM Plex Sans JP"/>
                <a:sym typeface="IBM Plex Sans JP"/>
              </a:rPr>
              <a:t>印刷 #2（本番造形）前</a:t>
            </a:r>
            <a:endParaRPr sz="1200" b="1">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・ブリムの除去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Noto Sans JP" panose="020B0200000000000000" pitchFamily="50" charset="-128"/>
                <a:ea typeface="Noto Sans JP" panose="020B0200000000000000"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・バリの除去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Noto Sans JP" panose="020B0200000000000000" pitchFamily="50" charset="-128"/>
                <a:ea typeface="Noto Sans JP" panose="020B0200000000000000"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Noto Sans JP" panose="020B0200000000000000" pitchFamily="50" charset="-128"/>
              <a:ea typeface="Noto Sans JP" panose="020B0200000000000000" pitchFamily="50" charset="-128"/>
            </a:endParaRPr>
          </a:p>
        </p:txBody>
      </p:sp>
    </p:spTree>
    <p:extLst>
      <p:ext uri="{BB962C8B-B14F-4D97-AF65-F5344CB8AC3E}">
        <p14:creationId xmlns:p14="http://schemas.microsoft.com/office/powerpoint/2010/main" val="5993315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a:extLst>
            <a:ext uri="{FF2B5EF4-FFF2-40B4-BE49-F238E27FC236}">
              <a16:creationId xmlns:a16="http://schemas.microsoft.com/office/drawing/2014/main" id="{27F8204C-13BF-613B-E072-E2D53F09411A}"/>
            </a:ext>
          </a:extLst>
        </p:cNvPr>
        <p:cNvGrpSpPr/>
        <p:nvPr/>
      </p:nvGrpSpPr>
      <p:grpSpPr>
        <a:xfrm>
          <a:off x="0" y="0"/>
          <a:ext cx="0" cy="0"/>
          <a:chOff x="0" y="0"/>
          <a:chExt cx="0" cy="0"/>
        </a:xfrm>
      </p:grpSpPr>
      <p:sp>
        <p:nvSpPr>
          <p:cNvPr id="226" name="Google Shape;226;p19">
            <a:extLst>
              <a:ext uri="{FF2B5EF4-FFF2-40B4-BE49-F238E27FC236}">
                <a16:creationId xmlns:a16="http://schemas.microsoft.com/office/drawing/2014/main" id="{F4FD12D1-F8D3-43FC-F561-B9789C6BF005}"/>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469277EE-571B-580C-84C6-8E9A14ACF2F3}"/>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6135 w 6858000"/>
              <a:gd name="csY8" fmla="*/ 2876799 h 9144000"/>
              <a:gd name="csX9" fmla="*/ 563835 w 6858000"/>
              <a:gd name="csY9" fmla="*/ 2979099 h 9144000"/>
              <a:gd name="csX10" fmla="*/ 666135 w 6858000"/>
              <a:gd name="csY10" fmla="*/ 3081399 h 9144000"/>
              <a:gd name="csX11" fmla="*/ 768435 w 6858000"/>
              <a:gd name="csY11" fmla="*/ 2979099 h 9144000"/>
              <a:gd name="csX12" fmla="*/ 666135 w 6858000"/>
              <a:gd name="csY12" fmla="*/ 2876799 h 9144000"/>
              <a:gd name="csX13" fmla="*/ 666147 w 6858000"/>
              <a:gd name="csY13" fmla="*/ 1465299 h 9144000"/>
              <a:gd name="csX14" fmla="*/ 563847 w 6858000"/>
              <a:gd name="csY14" fmla="*/ 1567599 h 9144000"/>
              <a:gd name="csX15" fmla="*/ 666147 w 6858000"/>
              <a:gd name="csY15" fmla="*/ 1669899 h 9144000"/>
              <a:gd name="csX16" fmla="*/ 768447 w 6858000"/>
              <a:gd name="csY16" fmla="*/ 1567599 h 9144000"/>
              <a:gd name="csX17" fmla="*/ 666147 w 6858000"/>
              <a:gd name="csY17" fmla="*/ 1465299 h 9144000"/>
              <a:gd name="csX18" fmla="*/ 537486 w 6858000"/>
              <a:gd name="csY18" fmla="*/ 446937 h 9144000"/>
              <a:gd name="csX19" fmla="*/ 537486 w 6858000"/>
              <a:gd name="csY19" fmla="*/ 500937 h 9144000"/>
              <a:gd name="csX20" fmla="*/ 6293586 w 6858000"/>
              <a:gd name="csY20" fmla="*/ 500937 h 9144000"/>
              <a:gd name="csX21" fmla="*/ 6293586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6135" y="2876799"/>
                </a:moveTo>
                <a:cubicBezTo>
                  <a:pt x="609636" y="2876799"/>
                  <a:pt x="563835" y="2922600"/>
                  <a:pt x="563835" y="2979099"/>
                </a:cubicBezTo>
                <a:cubicBezTo>
                  <a:pt x="563835" y="3035598"/>
                  <a:pt x="609636" y="3081399"/>
                  <a:pt x="666135" y="3081399"/>
                </a:cubicBezTo>
                <a:cubicBezTo>
                  <a:pt x="722634" y="3081399"/>
                  <a:pt x="768435" y="3035598"/>
                  <a:pt x="768435" y="2979099"/>
                </a:cubicBezTo>
                <a:cubicBezTo>
                  <a:pt x="768435" y="2922600"/>
                  <a:pt x="722634" y="2876799"/>
                  <a:pt x="666135" y="2876799"/>
                </a:cubicBezTo>
                <a:close/>
                <a:moveTo>
                  <a:pt x="666147" y="1465299"/>
                </a:moveTo>
                <a:cubicBezTo>
                  <a:pt x="609648" y="1465299"/>
                  <a:pt x="563847" y="1511100"/>
                  <a:pt x="563847" y="1567599"/>
                </a:cubicBezTo>
                <a:cubicBezTo>
                  <a:pt x="563847" y="1624098"/>
                  <a:pt x="609648" y="1669899"/>
                  <a:pt x="666147" y="1669899"/>
                </a:cubicBezTo>
                <a:cubicBezTo>
                  <a:pt x="722646" y="1669899"/>
                  <a:pt x="768447" y="1624098"/>
                  <a:pt x="768447" y="1567599"/>
                </a:cubicBezTo>
                <a:cubicBezTo>
                  <a:pt x="768447" y="1511100"/>
                  <a:pt x="722646" y="1465299"/>
                  <a:pt x="666147" y="1465299"/>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a:extLst>
              <a:ext uri="{FF2B5EF4-FFF2-40B4-BE49-F238E27FC236}">
                <a16:creationId xmlns:a16="http://schemas.microsoft.com/office/drawing/2014/main" id="{956AB1D5-BAA5-6621-1C78-1BAE096CF0EA}"/>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rPr>
              <a:t>6</a:t>
            </a:r>
            <a:endParaRPr sz="1800" dirty="0">
              <a:solidFill>
                <a:schemeClr val="dk1"/>
              </a:solidFill>
              <a:latin typeface="Jost" pitchFamily="2" charset="0"/>
              <a:ea typeface="Jost" pitchFamily="2" charset="0"/>
              <a:sym typeface="Arial"/>
            </a:endParaRPr>
          </a:p>
        </p:txBody>
      </p:sp>
      <p:sp>
        <p:nvSpPr>
          <p:cNvPr id="238" name="Google Shape;238;p19">
            <a:extLst>
              <a:ext uri="{FF2B5EF4-FFF2-40B4-BE49-F238E27FC236}">
                <a16:creationId xmlns:a16="http://schemas.microsoft.com/office/drawing/2014/main" id="{355E0655-AF7D-EC4F-8DA0-08AF36534C71}"/>
              </a:ext>
            </a:extLst>
          </p:cNvPr>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7. </a:t>
            </a:r>
            <a:r>
              <a:rPr lang="ja-JP" alt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更新履歴</a:t>
            </a:r>
            <a:endParaRPr sz="1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239" name="Google Shape;239;p19">
            <a:extLst>
              <a:ext uri="{FF2B5EF4-FFF2-40B4-BE49-F238E27FC236}">
                <a16:creationId xmlns:a16="http://schemas.microsoft.com/office/drawing/2014/main" id="{8387ED89-E665-33E9-39AC-022A87D01B17}"/>
              </a:ext>
            </a:extLst>
          </p:cNvPr>
          <p:cNvSpPr txBox="1"/>
          <p:nvPr/>
        </p:nvSpPr>
        <p:spPr>
          <a:xfrm>
            <a:off x="672860" y="3162690"/>
            <a:ext cx="5649600" cy="646290"/>
          </a:xfrm>
          <a:prstGeom prst="rect">
            <a:avLst/>
          </a:prstGeom>
          <a:noFill/>
          <a:ln>
            <a:noFill/>
          </a:ln>
        </p:spPr>
        <p:txBody>
          <a:bodyPr spcFirstLastPara="1" wrap="square" lIns="91425" tIns="45700" rIns="91425" bIns="45700" anchor="t" anchorCtr="0">
            <a:spAutoFit/>
          </a:bodyPr>
          <a:lstStyle/>
          <a:p>
            <a:pPr lvl="0"/>
            <a:r>
              <a:rPr lang="ja-JP" altLang="ja-JP" sz="900" dirty="0">
                <a:latin typeface="Noto Sans JP" panose="020B0200000000000000" pitchFamily="50" charset="-128"/>
                <a:ea typeface="Noto Sans JP" panose="020B0200000000000000" pitchFamily="50" charset="-128"/>
              </a:rPr>
              <a:t>Ver.1.0</a:t>
            </a:r>
            <a:r>
              <a:rPr lang="en-US" altLang="ja-JP" sz="900" dirty="0">
                <a:latin typeface="Noto Sans JP" panose="020B0200000000000000" pitchFamily="50" charset="-128"/>
                <a:ea typeface="Noto Sans JP" panose="020B0200000000000000" pitchFamily="50" charset="-128"/>
              </a:rPr>
              <a:t>0</a:t>
            </a:r>
            <a:r>
              <a:rPr lang="ja-JP" altLang="ja-JP" sz="900" dirty="0">
                <a:latin typeface="Noto Sans JP" panose="020B0200000000000000" pitchFamily="50" charset="-128"/>
                <a:ea typeface="Noto Sans JP" panose="020B0200000000000000" pitchFamily="50" charset="-128"/>
              </a:rPr>
              <a:t> 2026-03-24 初版公開 </a:t>
            </a:r>
            <a:endParaRPr lang="en-US" altLang="ja-JP" sz="900" dirty="0">
              <a:latin typeface="Noto Sans JP" panose="020B0200000000000000" pitchFamily="50" charset="-128"/>
              <a:ea typeface="Noto Sans JP" panose="020B0200000000000000" pitchFamily="50" charset="-128"/>
            </a:endParaRPr>
          </a:p>
          <a:p>
            <a:pPr lvl="0"/>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2.0</a:t>
            </a:r>
            <a:r>
              <a:rPr lang="en-US" altLang="ja-JP" sz="900" dirty="0">
                <a:latin typeface="Noto Sans JP" panose="020B0200000000000000" pitchFamily="50" charset="-128"/>
                <a:ea typeface="Noto Sans JP" panose="020B0200000000000000" pitchFamily="50" charset="-128"/>
              </a:rPr>
              <a:t>0</a:t>
            </a:r>
            <a:r>
              <a:rPr lang="ja-JP" altLang="ja-JP" sz="900" dirty="0">
                <a:latin typeface="Noto Sans JP" panose="020B0200000000000000" pitchFamily="50" charset="-128"/>
                <a:ea typeface="Noto Sans JP" panose="020B0200000000000000" pitchFamily="50" charset="-128"/>
              </a:rPr>
              <a:t> 2026-06-19 混色比の数値修正、グラフのアップデート、ブリッジフィラメント</a:t>
            </a:r>
            <a:endParaRPr lang="en-US" altLang="ja-JP" sz="900" dirty="0">
              <a:latin typeface="Noto Sans JP" panose="020B0200000000000000" pitchFamily="50" charset="-128"/>
              <a:ea typeface="Noto Sans JP" panose="020B0200000000000000" pitchFamily="50" charset="-128"/>
            </a:endParaRPr>
          </a:p>
          <a:p>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a:t>
            </a:r>
            <a:r>
              <a:rPr lang="en-US" altLang="ja-JP" sz="900" dirty="0">
                <a:latin typeface="Noto Sans JP" panose="020B0200000000000000" pitchFamily="50" charset="-128"/>
                <a:ea typeface="Noto Sans JP" panose="020B0200000000000000" pitchFamily="50" charset="-128"/>
              </a:rPr>
              <a:t>10</a:t>
            </a:r>
            <a:r>
              <a:rPr lang="ja-JP" altLang="ja-JP" sz="900" dirty="0">
                <a:latin typeface="Noto Sans JP" panose="020B0200000000000000" pitchFamily="50" charset="-128"/>
                <a:ea typeface="Noto Sans JP" panose="020B0200000000000000" pitchFamily="50" charset="-128"/>
              </a:rPr>
              <a:t> 2026-0</a:t>
            </a:r>
            <a:r>
              <a:rPr lang="en-US" altLang="ja-JP" sz="900" dirty="0">
                <a:latin typeface="Noto Sans JP" panose="020B0200000000000000" pitchFamily="50" charset="-128"/>
                <a:ea typeface="Noto Sans JP" panose="020B0200000000000000" pitchFamily="50" charset="-128"/>
              </a:rPr>
              <a:t>8</a:t>
            </a:r>
            <a:r>
              <a:rPr lang="ja-JP" altLang="ja-JP" sz="900" dirty="0">
                <a:latin typeface="Noto Sans JP" panose="020B0200000000000000" pitchFamily="50" charset="-128"/>
                <a:ea typeface="Noto Sans JP" panose="020B0200000000000000" pitchFamily="50" charset="-128"/>
              </a:rPr>
              <a:t>-</a:t>
            </a:r>
            <a:r>
              <a:rPr lang="en-US" altLang="ja-JP" sz="900" dirty="0">
                <a:latin typeface="Noto Sans JP" panose="020B0200000000000000" pitchFamily="50" charset="-128"/>
                <a:ea typeface="Noto Sans JP" panose="020B0200000000000000" pitchFamily="50" charset="-128"/>
              </a:rPr>
              <a:t>16</a:t>
            </a:r>
            <a:r>
              <a:rPr lang="ja-JP" altLang="en-US" sz="900" dirty="0">
                <a:latin typeface="Noto Sans JP" panose="020B0200000000000000" pitchFamily="50" charset="-128"/>
                <a:ea typeface="Noto Sans JP" panose="020B0200000000000000" pitchFamily="50" charset="-128"/>
              </a:rPr>
              <a:t> 統一デザイン反映</a:t>
            </a:r>
            <a:endParaRPr lang="en-US" altLang="ja-JP" sz="900" dirty="0">
              <a:latin typeface="Noto Sans JP" panose="020B0200000000000000" pitchFamily="50" charset="-128"/>
              <a:ea typeface="Noto Sans JP" panose="020B0200000000000000" pitchFamily="50" charset="-128"/>
            </a:endParaRPr>
          </a:p>
          <a:p>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a:t>
            </a:r>
            <a:r>
              <a:rPr lang="en-US" altLang="ja-JP" sz="900" dirty="0">
                <a:latin typeface="Noto Sans JP" panose="020B0200000000000000" pitchFamily="50" charset="-128"/>
                <a:ea typeface="Noto Sans JP" panose="020B0200000000000000" pitchFamily="50" charset="-128"/>
              </a:rPr>
              <a:t>11</a:t>
            </a:r>
            <a:r>
              <a:rPr lang="ja-JP" altLang="ja-JP" sz="900" dirty="0">
                <a:latin typeface="Noto Sans JP" panose="020B0200000000000000" pitchFamily="50" charset="-128"/>
                <a:ea typeface="Noto Sans JP" panose="020B0200000000000000" pitchFamily="50" charset="-128"/>
              </a:rPr>
              <a:t> 2026-0</a:t>
            </a:r>
            <a:r>
              <a:rPr lang="en-US" altLang="ja-JP" sz="900" dirty="0">
                <a:latin typeface="Noto Sans JP" panose="020B0200000000000000" pitchFamily="50" charset="-128"/>
                <a:ea typeface="Noto Sans JP" panose="020B0200000000000000" pitchFamily="50" charset="-128"/>
              </a:rPr>
              <a:t>9</a:t>
            </a:r>
            <a:r>
              <a:rPr lang="ja-JP" altLang="ja-JP" sz="900" dirty="0">
                <a:latin typeface="Noto Sans JP" panose="020B0200000000000000" pitchFamily="50" charset="-128"/>
                <a:ea typeface="Noto Sans JP" panose="020B0200000000000000" pitchFamily="50" charset="-128"/>
              </a:rPr>
              <a:t>-</a:t>
            </a:r>
            <a:r>
              <a:rPr lang="en-US" altLang="ja-JP" sz="900" dirty="0">
                <a:latin typeface="Noto Sans JP" panose="020B0200000000000000" pitchFamily="50" charset="-128"/>
                <a:ea typeface="Noto Sans JP" panose="020B0200000000000000" pitchFamily="50" charset="-128"/>
              </a:rPr>
              <a:t>16</a:t>
            </a:r>
            <a:r>
              <a:rPr lang="ja-JP" altLang="en-US" sz="900" dirty="0">
                <a:latin typeface="Noto Sans JP" panose="020B0200000000000000" pitchFamily="50" charset="-128"/>
                <a:ea typeface="Noto Sans JP" panose="020B0200000000000000" pitchFamily="50" charset="-128"/>
              </a:rPr>
              <a:t>ブランド用書体の適用</a:t>
            </a:r>
            <a:endParaRPr lang="en-US" altLang="ja-JP" sz="900" dirty="0">
              <a:latin typeface="Noto Sans JP" panose="020B0200000000000000" pitchFamily="50" charset="-128"/>
              <a:ea typeface="Noto Sans JP" panose="020B0200000000000000" pitchFamily="50" charset="-128"/>
            </a:endParaRPr>
          </a:p>
        </p:txBody>
      </p:sp>
      <p:sp>
        <p:nvSpPr>
          <p:cNvPr id="240" name="Google Shape;240;p19">
            <a:extLst>
              <a:ext uri="{FF2B5EF4-FFF2-40B4-BE49-F238E27FC236}">
                <a16:creationId xmlns:a16="http://schemas.microsoft.com/office/drawing/2014/main" id="{57FC65A7-A674-6A95-667F-5A07CFABD2ED}"/>
              </a:ext>
            </a:extLst>
          </p:cNvPr>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・印刷＃２におけるノズルの影響</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latin typeface="Noto Sans JP" panose="020B0200000000000000" pitchFamily="50" charset="-128"/>
              <a:ea typeface="Noto Sans JP" panose="020B0200000000000000" pitchFamily="50" charset="-128"/>
            </a:endParaRPr>
          </a:p>
        </p:txBody>
      </p:sp>
      <p:sp>
        <p:nvSpPr>
          <p:cNvPr id="242" name="Google Shape;242;p19">
            <a:extLst>
              <a:ext uri="{FF2B5EF4-FFF2-40B4-BE49-F238E27FC236}">
                <a16:creationId xmlns:a16="http://schemas.microsoft.com/office/drawing/2014/main" id="{A9D338B4-7655-8560-18D1-1293963109C1}"/>
              </a:ext>
            </a:extLst>
          </p:cNvPr>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６．最後に </a:t>
            </a:r>
            <a:endParaRPr sz="1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243" name="Google Shape;243;p19">
            <a:extLst>
              <a:ext uri="{FF2B5EF4-FFF2-40B4-BE49-F238E27FC236}">
                <a16:creationId xmlns:a16="http://schemas.microsoft.com/office/drawing/2014/main" id="{728CF5A7-EB66-E8F6-C40F-A1D4851761BC}"/>
              </a:ext>
            </a:extLst>
          </p:cNvPr>
          <p:cNvSpPr txBox="1"/>
          <p:nvPr/>
        </p:nvSpPr>
        <p:spPr>
          <a:xfrm>
            <a:off x="672873" y="1828465"/>
            <a:ext cx="5649600" cy="76940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お読みいただきありがとうございます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Jost SemiBold" pitchFamily="2" charset="0"/>
                <a:ea typeface="Jost SemiBold" pitchFamily="2" charset="0"/>
                <a:cs typeface="IBM Plex Sans JP"/>
                <a:sym typeface="IBM Plex Sans JP"/>
              </a:rPr>
              <a:t>FlexChroma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が、皆さまの造形表現をより広げることを願っています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b="1" dirty="0">
                <a:solidFill>
                  <a:schemeClr val="dk1"/>
                </a:solidFill>
                <a:latin typeface="Jost SemiBold" pitchFamily="2" charset="0"/>
                <a:ea typeface="Jost SemiBold" pitchFamily="2" charset="0"/>
                <a:cs typeface="IBM Plex Sans JP"/>
                <a:sym typeface="IBM Plex Sans JP"/>
              </a:rPr>
              <a:t>Print Colors You Imagine. </a:t>
            </a:r>
            <a:endParaRPr sz="1800" b="1" dirty="0">
              <a:latin typeface="Jost SemiBold" pitchFamily="2" charset="0"/>
              <a:ea typeface="Jost SemiBold" pitchFamily="2" charset="0"/>
            </a:endParaRPr>
          </a:p>
        </p:txBody>
      </p:sp>
    </p:spTree>
    <p:extLst>
      <p:ext uri="{BB962C8B-B14F-4D97-AF65-F5344CB8AC3E}">
        <p14:creationId xmlns:p14="http://schemas.microsoft.com/office/powerpoint/2010/main" val="1590775233"/>
      </p:ext>
    </p:extLst>
  </p:cSld>
  <p:clrMapOvr>
    <a:masterClrMapping/>
  </p:clrMapOvr>
</p:sld>
</file>

<file path=ppt/theme/theme1.xml><?xml version="1.0" encoding="utf-8"?>
<a:theme xmlns:a="http://schemas.openxmlformats.org/drawingml/2006/main" name="Office テーマ">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50</TotalTime>
  <Words>1375</Words>
  <Application>Microsoft Office PowerPoint</Application>
  <PresentationFormat>画面に合わせる (4:3)</PresentationFormat>
  <Paragraphs>231</Paragraphs>
  <Slides>13</Slides>
  <Notes>13</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13</vt:i4>
      </vt:variant>
    </vt:vector>
  </HeadingPairs>
  <TitlesOfParts>
    <vt:vector size="21" baseType="lpstr">
      <vt:lpstr>Jost</vt:lpstr>
      <vt:lpstr>Jost SemiBold</vt:lpstr>
      <vt:lpstr>Play</vt:lpstr>
      <vt:lpstr>Jost Medium</vt:lpstr>
      <vt:lpstr>Noto Sans JP</vt:lpstr>
      <vt:lpstr>Arial</vt:lpstr>
      <vt:lpstr>IBM Plex Sans JP</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MAKOTO YAZAKI (矢﨑 誠)</cp:lastModifiedBy>
  <cp:revision>13</cp:revision>
  <cp:lastPrinted>2026-08-15T17:19:26Z</cp:lastPrinted>
  <dcterms:modified xsi:type="dcterms:W3CDTF">2026-09-23T05:02:46Z</dcterms:modified>
</cp:coreProperties>
</file>