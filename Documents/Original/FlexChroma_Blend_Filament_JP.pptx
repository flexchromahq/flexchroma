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6858000" cy="9144000" type="screen4x3"/>
  <p:notesSz cx="7104063" cy="10234613"/>
  <p:embeddedFontLst>
    <p:embeddedFont>
      <p:font typeface="IBM Plex Sans JP" panose="020B0503050203000203" pitchFamily="50" charset="-128"/>
      <p:regular r:id="rId16"/>
      <p:bold r:id="rId17"/>
    </p:embeddedFont>
    <p:embeddedFont>
      <p:font typeface="Play" panose="020B0600070205080204" charset="0"/>
      <p:regular r:id="rId18"/>
      <p:bold r:id="rId19"/>
    </p:embeddedFont>
    <p:embeddedFont>
      <p:font typeface="Segoe UI Semibold" panose="020B0702040204020203" pitchFamily="34" charset="0"/>
      <p:bold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2" d="100"/>
          <a:sy n="142" d="100"/>
        </p:scale>
        <p:origin x="5059" y="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70e81ac3d_0_4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f70e81ac3d_0_6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05998DF6-329D-A1A3-0D2A-FBC2DBEF7D97}"/>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62891E14-ACFC-B820-263F-406B4D2DBBD0}"/>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7A480F0D-75F9-F316-C3C5-9AE4815B91FD}"/>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059796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CD5D6C92-B134-E591-A34F-B37797664860}"/>
            </a:ext>
          </a:extLst>
        </p:cNvPr>
        <p:cNvGrpSpPr/>
        <p:nvPr/>
      </p:nvGrpSpPr>
      <p:grpSpPr>
        <a:xfrm>
          <a:off x="0" y="0"/>
          <a:ext cx="0" cy="0"/>
          <a:chOff x="0" y="0"/>
          <a:chExt cx="0" cy="0"/>
        </a:xfrm>
      </p:grpSpPr>
      <p:sp>
        <p:nvSpPr>
          <p:cNvPr id="131" name="Google Shape;131;p3:notes">
            <a:extLst>
              <a:ext uri="{FF2B5EF4-FFF2-40B4-BE49-F238E27FC236}">
                <a16:creationId xmlns:a16="http://schemas.microsoft.com/office/drawing/2014/main" id="{21EC2433-B460-C720-797E-628C0146E53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8D5FB640-1DF2-AC6F-3CCB-C5A73B212D82}"/>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706564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FE7E5EE0-CE9E-87B2-2EE0-AA691CCB2A4E}"/>
            </a:ext>
          </a:extLst>
        </p:cNvPr>
        <p:cNvGrpSpPr/>
        <p:nvPr/>
      </p:nvGrpSpPr>
      <p:grpSpPr>
        <a:xfrm>
          <a:off x="0" y="0"/>
          <a:ext cx="0" cy="0"/>
          <a:chOff x="0" y="0"/>
          <a:chExt cx="0" cy="0"/>
        </a:xfrm>
      </p:grpSpPr>
      <p:sp>
        <p:nvSpPr>
          <p:cNvPr id="156" name="Google Shape;156;p4:notes">
            <a:extLst>
              <a:ext uri="{FF2B5EF4-FFF2-40B4-BE49-F238E27FC236}">
                <a16:creationId xmlns:a16="http://schemas.microsoft.com/office/drawing/2014/main" id="{C43AB8AF-94A9-14E5-6921-6E7CFDF34CB4}"/>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a:extLst>
              <a:ext uri="{FF2B5EF4-FFF2-40B4-BE49-F238E27FC236}">
                <a16:creationId xmlns:a16="http://schemas.microsoft.com/office/drawing/2014/main" id="{3F2A55CF-5929-8B5B-4529-AAD0BE02E393}"/>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02658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1FCEC973-570B-C10C-A1EC-DA989221E004}"/>
            </a:ext>
          </a:extLst>
        </p:cNvPr>
        <p:cNvGrpSpPr/>
        <p:nvPr/>
      </p:nvGrpSpPr>
      <p:grpSpPr>
        <a:xfrm>
          <a:off x="0" y="0"/>
          <a:ext cx="0" cy="0"/>
          <a:chOff x="0" y="0"/>
          <a:chExt cx="0" cy="0"/>
        </a:xfrm>
      </p:grpSpPr>
      <p:sp>
        <p:nvSpPr>
          <p:cNvPr id="178" name="Google Shape;178;p5:notes">
            <a:extLst>
              <a:ext uri="{FF2B5EF4-FFF2-40B4-BE49-F238E27FC236}">
                <a16:creationId xmlns:a16="http://schemas.microsoft.com/office/drawing/2014/main" id="{572C1271-02BF-D212-B117-572DEBC0BA6A}"/>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a:extLst>
              <a:ext uri="{FF2B5EF4-FFF2-40B4-BE49-F238E27FC236}">
                <a16:creationId xmlns:a16="http://schemas.microsoft.com/office/drawing/2014/main" id="{08E7E4E9-0320-B624-84C9-C2A0668F5590}"/>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849181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a:extLst>
            <a:ext uri="{FF2B5EF4-FFF2-40B4-BE49-F238E27FC236}">
              <a16:creationId xmlns:a16="http://schemas.microsoft.com/office/drawing/2014/main" id="{78A6C7BE-C87C-C943-0D81-A16ADCB03856}"/>
            </a:ext>
          </a:extLst>
        </p:cNvPr>
        <p:cNvGrpSpPr/>
        <p:nvPr/>
      </p:nvGrpSpPr>
      <p:grpSpPr>
        <a:xfrm>
          <a:off x="0" y="0"/>
          <a:ext cx="0" cy="0"/>
          <a:chOff x="0" y="0"/>
          <a:chExt cx="0" cy="0"/>
        </a:xfrm>
      </p:grpSpPr>
      <p:sp>
        <p:nvSpPr>
          <p:cNvPr id="202" name="Google Shape;202;g3f70e81ac3d_0_45:notes">
            <a:extLst>
              <a:ext uri="{FF2B5EF4-FFF2-40B4-BE49-F238E27FC236}">
                <a16:creationId xmlns:a16="http://schemas.microsoft.com/office/drawing/2014/main" id="{26C2DB14-8785-75E4-C262-FF6CE2E22CE3}"/>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a:extLst>
              <a:ext uri="{FF2B5EF4-FFF2-40B4-BE49-F238E27FC236}">
                <a16:creationId xmlns:a16="http://schemas.microsoft.com/office/drawing/2014/main" id="{E5DDC6F3-6002-243E-8926-16255BEF5FE0}"/>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606342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9FB530CC-8599-1E4C-D411-AEB5ED8CC6AD}"/>
            </a:ext>
          </a:extLst>
        </p:cNvPr>
        <p:cNvGrpSpPr/>
        <p:nvPr/>
      </p:nvGrpSpPr>
      <p:grpSpPr>
        <a:xfrm>
          <a:off x="0" y="0"/>
          <a:ext cx="0" cy="0"/>
          <a:chOff x="0" y="0"/>
          <a:chExt cx="0" cy="0"/>
        </a:xfrm>
      </p:grpSpPr>
      <p:sp>
        <p:nvSpPr>
          <p:cNvPr id="223" name="Google Shape;223;g3f70e81ac3d_0_65:notes">
            <a:extLst>
              <a:ext uri="{FF2B5EF4-FFF2-40B4-BE49-F238E27FC236}">
                <a16:creationId xmlns:a16="http://schemas.microsoft.com/office/drawing/2014/main" id="{0DF6A5F9-A778-9698-F1BE-230E8F62BC62}"/>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a:extLst>
              <a:ext uri="{FF2B5EF4-FFF2-40B4-BE49-F238E27FC236}">
                <a16:creationId xmlns:a16="http://schemas.microsoft.com/office/drawing/2014/main" id="{09BBB4F2-A4E2-C2E8-DE25-AC412C17E419}"/>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1293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4"/>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0" name="Google Shape;100;p14"/>
          <p:cNvSpPr/>
          <p:nvPr/>
        </p:nvSpPr>
        <p:spPr>
          <a:xfrm>
            <a:off x="3632"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101" name="Google Shape;101;p14"/>
          <p:cNvGrpSpPr/>
          <p:nvPr/>
        </p:nvGrpSpPr>
        <p:grpSpPr>
          <a:xfrm>
            <a:off x="0" y="0"/>
            <a:ext cx="6865269" cy="9144001"/>
            <a:chOff x="0" y="0"/>
            <a:chExt cx="6865269" cy="9144001"/>
          </a:xfrm>
        </p:grpSpPr>
        <p:sp>
          <p:nvSpPr>
            <p:cNvPr id="102" name="Google Shape;102;p14"/>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3" name="Google Shape;103;p14"/>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4" name="Google Shape;104;p14"/>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5" name="Google Shape;105;p14"/>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106" name="Google Shape;106;p14"/>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7" name="Google Shape;107;p14"/>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p:cNvSpPr txBox="1"/>
          <p:nvPr/>
        </p:nvSpPr>
        <p:spPr>
          <a:xfrm>
            <a:off x="1038113" y="843788"/>
            <a:ext cx="5194453"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28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a:t>
            </a:r>
            <a:r>
              <a:rPr lang="en-US"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 Filament Guide</a:t>
            </a:r>
            <a:endParaRPr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10" name="Google Shape;110;p14"/>
          <p:cNvSpPr/>
          <p:nvPr/>
        </p:nvSpPr>
        <p:spPr>
          <a:xfrm>
            <a:off x="566175" y="307468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1" name="Google Shape;111;p14"/>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１．はじめに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ブランド概要</a:t>
            </a:r>
            <a:r>
              <a:rPr lang="en-US"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FlexChromaは既存のフィラメントの持つ色では満足できない人だけでなく、保有フィラメントが少ないせいで創造性を十分に</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発揮できていない人に向けた、色の自由度を開放するブランドです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grpSp>
        <p:nvGrpSpPr>
          <p:cNvPr id="113" name="Google Shape;113;p14"/>
          <p:cNvGrpSpPr/>
          <p:nvPr/>
        </p:nvGrpSpPr>
        <p:grpSpPr>
          <a:xfrm>
            <a:off x="826610" y="441444"/>
            <a:ext cx="5260583" cy="400120"/>
            <a:chOff x="1042026" y="430737"/>
            <a:chExt cx="4781214" cy="377792"/>
          </a:xfrm>
        </p:grpSpPr>
        <p:sp>
          <p:nvSpPr>
            <p:cNvPr id="114" name="Google Shape;114;p14"/>
            <p:cNvSpPr/>
            <p:nvPr/>
          </p:nvSpPr>
          <p:spPr>
            <a:xfrm>
              <a:off x="1042026" y="430737"/>
              <a:ext cx="4781214" cy="377792"/>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sp>
          <p:nvSpPr>
            <p:cNvPr id="115" name="Google Shape;115;p14"/>
            <p:cNvSpPr/>
            <p:nvPr/>
          </p:nvSpPr>
          <p:spPr>
            <a:xfrm>
              <a:off x="1042026" y="697920"/>
              <a:ext cx="4781214" cy="110609"/>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grpSp>
      <p:grpSp>
        <p:nvGrpSpPr>
          <p:cNvPr id="116" name="Google Shape;116;p14"/>
          <p:cNvGrpSpPr/>
          <p:nvPr/>
        </p:nvGrpSpPr>
        <p:grpSpPr>
          <a:xfrm rot="10800000">
            <a:off x="826608" y="2224664"/>
            <a:ext cx="5260584" cy="377792"/>
            <a:chOff x="1042026" y="430737"/>
            <a:chExt cx="4781214" cy="377792"/>
          </a:xfrm>
        </p:grpSpPr>
        <p:sp>
          <p:nvSpPr>
            <p:cNvPr id="117" name="Google Shape;117;p14"/>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19" name="Google Shape;119;p14"/>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Segoe UI Semibold" panose="020B0702040204020203" pitchFamily="34" charset="0"/>
                <a:ea typeface="IBM Plex Sans JP"/>
                <a:cs typeface="Segoe UI Semibold" panose="020B0702040204020203" pitchFamily="34" charset="0"/>
                <a:sym typeface="IBM Plex Sans JP"/>
              </a:rPr>
              <a:t>-  Print Any Colors You Imagine. -</a:t>
            </a:r>
            <a:endParaRPr sz="1600"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20" name="Google Shape;120;p14"/>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Ver.</a:t>
            </a:r>
            <a:r>
              <a:rPr lang="en-US" altLang="ja-JP"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2</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a:t>
            </a:r>
            <a:r>
              <a:rPr lang="en-US" altLang="ja-JP" dirty="0">
                <a:solidFill>
                  <a:schemeClr val="dk1"/>
                </a:solidFill>
                <a:latin typeface="IBM Plex Sans JP" panose="020B0503050203000203" pitchFamily="50" charset="-128"/>
                <a:ea typeface="IBM Plex Sans JP" panose="020B0503050203000203" pitchFamily="50" charset="-128"/>
                <a:cs typeface="IBM Plex Sans JP"/>
                <a:sym typeface="IBM Plex Sans JP"/>
              </a:rPr>
              <a:t>6</a:t>
            </a:r>
            <a:endParaRPr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1" name="Google Shape;121;p14"/>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シリーズ概要</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FilamentシリーズはFlexChromaの最も基礎的なシリーズです。2つのフィラメントを様々な混合比で混ぜ合わせ、あ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なただけの新しい色を作ることが出来ます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また、更なるこだわりや明暗差の大きい色の混合のためにDetailモデルも用意してしており、Standardモデルでは扱いきれな</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い細かい調整を行えます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2" name="Google Shape;122;p14"/>
          <p:cNvSpPr/>
          <p:nvPr/>
        </p:nvSpPr>
        <p:spPr>
          <a:xfrm>
            <a:off x="554550" y="570357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3" name="Google Shape;123;p14"/>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２．モデル構成  </a:t>
            </a:r>
            <a:endParaRPr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4" name="Google Shape;124;p14"/>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5" name="Google Shape;125;p14"/>
          <p:cNvSpPr/>
          <p:nvPr/>
        </p:nvSpPr>
        <p:spPr>
          <a:xfrm>
            <a:off x="607651" y="4459122"/>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6" name="Google Shape;126;p14"/>
          <p:cNvSpPr/>
          <p:nvPr/>
        </p:nvSpPr>
        <p:spPr>
          <a:xfrm>
            <a:off x="607651" y="3613110"/>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7" name="Google Shape;127;p14"/>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8" name="Google Shape;128;p14"/>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混色比は主に2つのモデルで決められます。</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・Standard モデル：50～95％まで5％刻み。10モデル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・Detail モデル：90%, 92.5%, 95%, 96%, 97%, 98%, 98.5%, 99%, 99.5%の 9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※90%, 95％のデータは同一のものとなります。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Bを入れ替えることで別の混合比を</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取ることが出来ます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例：75％モデルを使うと[A:B＝75:25]、</a:t>
            </a:r>
            <a:r>
              <a:rPr lang="en-US" sz="9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入れ替えると</a:t>
            </a: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[A:B＝25:75]となり、25%モデル相当となります。</a:t>
            </a: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Standard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モデルは容量を少なく</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する</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ためStandard1, Standard2と分けられる</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事</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9" name="Google Shape;129;p14"/>
          <p:cNvSpPr/>
          <p:nvPr/>
        </p:nvSpPr>
        <p:spPr>
          <a:xfrm>
            <a:off x="713476" y="6659597"/>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3" name="図 2">
            <a:extLst>
              <a:ext uri="{FF2B5EF4-FFF2-40B4-BE49-F238E27FC236}">
                <a16:creationId xmlns:a16="http://schemas.microsoft.com/office/drawing/2014/main" id="{3BFB578B-2FC5-0CFA-B9F7-66AFD3E53782}"/>
              </a:ext>
            </a:extLst>
          </p:cNvPr>
          <p:cNvPicPr>
            <a:picLocks noChangeAspect="1"/>
          </p:cNvPicPr>
          <p:nvPr/>
        </p:nvPicPr>
        <p:blipFill>
          <a:blip r:embed="rId3"/>
          <a:stretch>
            <a:fillRect/>
          </a:stretch>
        </p:blipFill>
        <p:spPr>
          <a:xfrm>
            <a:off x="813507" y="946491"/>
            <a:ext cx="356510" cy="34367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5"/>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5" name="Google Shape;135;p15"/>
          <p:cNvSpPr/>
          <p:nvPr/>
        </p:nvSpPr>
        <p:spPr>
          <a:xfrm>
            <a:off x="-6" y="-2"/>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6" name="Google Shape;136;p15"/>
          <p:cNvGrpSpPr/>
          <p:nvPr/>
        </p:nvGrpSpPr>
        <p:grpSpPr>
          <a:xfrm>
            <a:off x="0" y="0"/>
            <a:ext cx="6865269" cy="9144001"/>
            <a:chOff x="0" y="0"/>
            <a:chExt cx="6865269" cy="9144001"/>
          </a:xfrm>
        </p:grpSpPr>
        <p:sp>
          <p:nvSpPr>
            <p:cNvPr id="137" name="Google Shape;137;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9" name="Google Shape;139;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41" name="Google Shape;141;p15"/>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3" name="Google Shape;143;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5" name="Google Shape;145;p15"/>
          <p:cNvSpPr/>
          <p:nvPr/>
        </p:nvSpPr>
        <p:spPr>
          <a:xfrm>
            <a:off x="549450" y="435018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３．混色結果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8" name="Google Shape;148;p15"/>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サイズ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49" name="Google Shape;149;p15"/>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Mで始まるモデルをM</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で始まるモデルをS</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A1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miniで印刷できるサイズとなります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L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で始まるモデルはBambu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50" name="Google Shape;150;p15"/>
          <p:cNvSpPr/>
          <p:nvPr/>
        </p:nvSpPr>
        <p:spPr>
          <a:xfrm>
            <a:off x="566176" y="66621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1" name="Google Shape;151;p15"/>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混色の特徴</a:t>
            </a:r>
            <a:r>
              <a:rPr lang="en-US" sz="120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明度差の小さい組み合わせ（CMY）</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シアン・マゼンタ・イエローなどの明度差の小さい組合せはは、混合比と最終色が比較的リニアに対応します。 この様なケースではStandardモデルだけで十分な結果を得る事が出来ます。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53" name="Google Shape;153;p15"/>
          <p:cNvSpPr/>
          <p:nvPr/>
        </p:nvSpPr>
        <p:spPr>
          <a:xfrm>
            <a:off x="580600" y="595450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4" name="Google Shape;154;p15"/>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6"/>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61" name="Google Shape;161;p16"/>
          <p:cNvGrpSpPr/>
          <p:nvPr/>
        </p:nvGrpSpPr>
        <p:grpSpPr>
          <a:xfrm>
            <a:off x="0" y="0"/>
            <a:ext cx="6865269" cy="9144001"/>
            <a:chOff x="0" y="0"/>
            <a:chExt cx="6865269" cy="9144001"/>
          </a:xfrm>
        </p:grpSpPr>
        <p:sp>
          <p:nvSpPr>
            <p:cNvPr id="162" name="Google Shape;162;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5" name="Google Shape;165;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6" name="Google Shape;166;p16"/>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7" name="Google Shape;167;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8" name="Google Shape;168;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0" name="Google Shape;170;p16"/>
          <p:cNvSpPr/>
          <p:nvPr/>
        </p:nvSpPr>
        <p:spPr>
          <a:xfrm>
            <a:off x="575725" y="5930002"/>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1" name="Google Shape;171;p16"/>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４．揃えるべきフィラメント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2" name="Google Shape;172;p16"/>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3" name="Google Shape;173;p16"/>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明度差の大きい組み合わせ（白・黒</a:t>
            </a:r>
            <a:r>
              <a:rPr lang="en-US"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まいます。このような場合はDetailモデルを活用してください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なってしまう事があります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で薄いグレーの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74" name="Google Shape;174;p16"/>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材質による違い</a:t>
            </a:r>
            <a:endParaRPr sz="12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特にPLA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一方でPETG</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HTの白は透過性が低く、PLA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Basicよりも白の影響が強い結果となります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6" name="Google Shape;176;p16"/>
          <p:cNvSpPr/>
          <p:nvPr/>
        </p:nvSpPr>
        <p:spPr>
          <a:xfrm>
            <a:off x="594750" y="434325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2" name="Google Shape;182;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3" name="Google Shape;183;p17"/>
          <p:cNvGrpSpPr/>
          <p:nvPr/>
        </p:nvGrpSpPr>
        <p:grpSpPr>
          <a:xfrm>
            <a:off x="0" y="0"/>
            <a:ext cx="6865269" cy="9144001"/>
            <a:chOff x="0" y="0"/>
            <a:chExt cx="6865269" cy="9144001"/>
          </a:xfrm>
        </p:grpSpPr>
        <p:sp>
          <p:nvSpPr>
            <p:cNvPr id="184" name="Google Shape;184;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6" name="Google Shape;186;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8" name="Google Shape;188;p17"/>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 name="Google Shape;190;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2" name="Google Shape;192;p17"/>
          <p:cNvSpPr/>
          <p:nvPr/>
        </p:nvSpPr>
        <p:spPr>
          <a:xfrm>
            <a:off x="571996" y="447045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3" name="Google Shape;193;p17"/>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５．使用上の注意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印刷手順：</a:t>
            </a: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この様に2段階の印刷で作りたい形の物を好きな色で作ることが出来ます。 </a:t>
            </a:r>
            <a:endParaRPr sz="1000">
              <a:latin typeface="IBM Plex Sans JP" panose="020B0503050203000203" pitchFamily="50" charset="-128"/>
              <a:ea typeface="IBM Plex Sans JP" panose="020B0503050203000203" pitchFamily="50" charset="-128"/>
            </a:endParaRPr>
          </a:p>
        </p:txBody>
      </p:sp>
      <p:sp>
        <p:nvSpPr>
          <p:cNvPr id="195" name="Google Shape;195;p17"/>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Cyan・Magenta・Yellow</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また、Jade</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White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とBlack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は明度差が大きくまだらになってしまう傾向にあります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そこで、これらの区間に対しては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Cyan–Yellow → Bamboo Green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Magenta-Cyan → Purple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といったブリッジ色</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を提案いたします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96" name="Google Shape;196;p17"/>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p:cNvPicPr preferRelativeResize="0"/>
          <p:nvPr/>
        </p:nvPicPr>
        <p:blipFill>
          <a:blip r:embed="rId3">
            <a:alphaModFix/>
          </a:blip>
          <a:stretch>
            <a:fillRect/>
          </a:stretch>
        </p:blipFill>
        <p:spPr>
          <a:xfrm>
            <a:off x="785500" y="2258112"/>
            <a:ext cx="5536976" cy="2111324"/>
          </a:xfrm>
          <a:prstGeom prst="rect">
            <a:avLst/>
          </a:prstGeom>
          <a:noFill/>
          <a:ln>
            <a:noFill/>
          </a:ln>
        </p:spPr>
      </p:pic>
      <p:sp>
        <p:nvSpPr>
          <p:cNvPr id="198" name="Google Shape;198;p17"/>
          <p:cNvSpPr/>
          <p:nvPr/>
        </p:nvSpPr>
        <p:spPr>
          <a:xfrm>
            <a:off x="612050" y="695930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99" name="Google Shape;199;p17"/>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IBM Plex Sans JP" panose="020B0503050203000203" pitchFamily="50" charset="-128"/>
                <a:ea typeface="IBM Plex Sans JP" panose="020B0503050203000203" pitchFamily="50" charset="-128"/>
              </a:rPr>
              <a:t>印刷</a:t>
            </a:r>
            <a:r>
              <a:rPr lang="en-US" sz="1200" b="1" dirty="0">
                <a:latin typeface="IBM Plex Sans JP" panose="020B0503050203000203" pitchFamily="50" charset="-128"/>
                <a:ea typeface="IBM Plex Sans JP" panose="020B0503050203000203" pitchFamily="50" charset="-128"/>
              </a:rPr>
              <a:t> #1（Blend Filament </a:t>
            </a:r>
            <a:r>
              <a:rPr lang="en-US" sz="1200" b="1" dirty="0" err="1">
                <a:latin typeface="IBM Plex Sans JP" panose="020B0503050203000203" pitchFamily="50" charset="-128"/>
                <a:ea typeface="IBM Plex Sans JP" panose="020B0503050203000203" pitchFamily="50" charset="-128"/>
              </a:rPr>
              <a:t>の印刷）前</a:t>
            </a:r>
            <a:endParaRPr sz="12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5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b="1" dirty="0" err="1">
                <a:latin typeface="IBM Plex Sans JP" panose="020B0503050203000203" pitchFamily="50" charset="-128"/>
                <a:ea typeface="IBM Plex Sans JP" panose="020B0503050203000203" pitchFamily="50" charset="-128"/>
              </a:rPr>
              <a:t>必須の項目</a:t>
            </a:r>
            <a:r>
              <a:rPr lang="en-US" sz="1000" b="1" dirty="0">
                <a:latin typeface="IBM Plex Sans JP" panose="020B0503050203000203" pitchFamily="50" charset="-128"/>
                <a:ea typeface="IBM Plex Sans JP" panose="020B0503050203000203" pitchFamily="50" charset="-128"/>
              </a:rPr>
              <a:t> </a:t>
            </a:r>
            <a:endParaRPr sz="10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4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・AMS </a:t>
            </a:r>
            <a:r>
              <a:rPr lang="en-US" sz="1000" dirty="0" err="1">
                <a:latin typeface="IBM Plex Sans JP" panose="020B0503050203000203" pitchFamily="50" charset="-128"/>
                <a:ea typeface="IBM Plex Sans JP" panose="020B0503050203000203" pitchFamily="50" charset="-128"/>
              </a:rPr>
              <a:t>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2 </a:t>
            </a:r>
            <a:r>
              <a:rPr lang="en-US" sz="900" dirty="0" err="1">
                <a:latin typeface="IBM Plex Sans JP" panose="020B0503050203000203" pitchFamily="50" charset="-128"/>
                <a:ea typeface="IBM Plex Sans JP" panose="020B0503050203000203" pitchFamily="50" charset="-128"/>
              </a:rPr>
              <a:t>色の頻繁な色の切り替えが必要です。AMSまたは同等のマルチマテリアルシステム必須です</a:t>
            </a:r>
            <a:r>
              <a:rPr lang="en-US" sz="900" dirty="0">
                <a:latin typeface="IBM Plex Sans JP" panose="020B0503050203000203" pitchFamily="50" charset="-128"/>
                <a:ea typeface="IBM Plex Sans JP" panose="020B0503050203000203" pitchFamily="50" charset="-128"/>
              </a:rPr>
              <a:t>。</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・0.4 mm </a:t>
            </a:r>
            <a:r>
              <a:rPr lang="en-US" sz="1000" dirty="0" err="1">
                <a:latin typeface="IBM Plex Sans JP" panose="020B0503050203000203" pitchFamily="50" charset="-128"/>
                <a:ea typeface="IBM Plex Sans JP" panose="020B0503050203000203" pitchFamily="50" charset="-128"/>
              </a:rPr>
              <a:t>ノズル必須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IBM Plex Sans JP" panose="020B0503050203000203" pitchFamily="50" charset="-128"/>
              <a:ea typeface="IBM Plex Sans JP" panose="020B0503050203000203"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18"/>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6" name="Google Shape;206;p18"/>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07" name="Google Shape;207;p18"/>
          <p:cNvGrpSpPr/>
          <p:nvPr/>
        </p:nvGrpSpPr>
        <p:grpSpPr>
          <a:xfrm>
            <a:off x="0" y="0"/>
            <a:ext cx="6865269" cy="9144001"/>
            <a:chOff x="0" y="0"/>
            <a:chExt cx="6865269" cy="9144001"/>
          </a:xfrm>
        </p:grpSpPr>
        <p:sp>
          <p:nvSpPr>
            <p:cNvPr id="208" name="Google Shape;208;p18"/>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9" name="Google Shape;209;p18"/>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0" name="Google Shape;210;p18"/>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1" name="Google Shape;211;p18"/>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12" name="Google Shape;212;p18"/>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3" name="Google Shape;213;p18"/>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4" name="Google Shape;214;p18"/>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非推奨の項目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 にて糊がノズルに詰まる可能性があります。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・異素材混合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印刷温度が異なる素材の混合フィラメントは、印刷＃２にてノズルが詰まる可能性があります。 PLA Basic と PLA Matte の様に印刷温度が一致しており、同素材であれば使用できる可能性はあります。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基本的に</a:t>
            </a:r>
            <a:r>
              <a:rPr lang="en-US" sz="900" b="1">
                <a:solidFill>
                  <a:schemeClr val="dk1"/>
                </a:solidFill>
                <a:latin typeface="IBM Plex Sans JP" panose="020B0503050203000203" pitchFamily="50" charset="-128"/>
                <a:ea typeface="IBM Plex Sans JP" panose="020B0503050203000203" pitchFamily="50" charset="-128"/>
                <a:cs typeface="IBM Plex Sans JP"/>
                <a:sym typeface="IBM Plex Sans JP"/>
              </a:rPr>
              <a:t>同一メーカー同一商品の色違いを使うことを推奨</a:t>
            </a: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します。挑戦する場合は自己責任でお願いします。 </a:t>
            </a:r>
            <a:endParaRPr sz="900">
              <a:latin typeface="IBM Plex Sans JP" panose="020B0503050203000203" pitchFamily="50" charset="-128"/>
              <a:ea typeface="IBM Plex Sans JP" panose="020B0503050203000203" pitchFamily="50" charset="-128"/>
            </a:endParaRPr>
          </a:p>
        </p:txBody>
      </p:sp>
      <p:sp>
        <p:nvSpPr>
          <p:cNvPr id="217" name="Google Shape;217;p18"/>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t>
            </a:r>
            <a:r>
              <a:rPr lang="en-US" sz="1000" dirty="0" err="1">
                <a:latin typeface="IBM Plex Sans JP" panose="020B0503050203000203" pitchFamily="50" charset="-128"/>
                <a:ea typeface="IBM Plex Sans JP" panose="020B0503050203000203" pitchFamily="50" charset="-128"/>
              </a:rPr>
              <a:t>プレートと手の脱脂</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err="1">
                <a:latin typeface="IBM Plex Sans JP" panose="020B0503050203000203" pitchFamily="50" charset="-128"/>
                <a:ea typeface="IBM Plex Sans JP" panose="020B0503050203000203" pitchFamily="50" charset="-128"/>
              </a:rPr>
              <a:t>本モデルは定着性がシビアです。十分な脱脂を行って、定着性を高めてください</a:t>
            </a:r>
            <a:r>
              <a:rPr lang="en-US" sz="900" dirty="0">
                <a:latin typeface="IBM Plex Sans JP" panose="020B0503050203000203" pitchFamily="50" charset="-128"/>
                <a:ea typeface="IBM Plex Sans JP" panose="020B0503050203000203" pitchFamily="50" charset="-128"/>
              </a:rPr>
              <a:t>。 定着が困難な場合は1サイズ小さいモデルを検討してください。 </a:t>
            </a:r>
            <a:endParaRPr sz="9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定着のしやすさ</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ビ</a:t>
            </a:r>
            <a:r>
              <a:rPr lang="en-US" sz="900" dirty="0" err="1">
                <a:latin typeface="IBM Plex Sans JP" panose="020B0503050203000203" pitchFamily="50" charset="-128"/>
                <a:ea typeface="IBM Plex Sans JP" panose="020B0503050203000203" pitchFamily="50" charset="-128"/>
              </a:rPr>
              <a:t>ルドプレートとフィラメントによって定着性が変わります。下表を参考にしてください</a:t>
            </a:r>
            <a:r>
              <a:rPr lang="en-US" sz="900" dirty="0">
                <a:latin typeface="IBM Plex Sans JP" panose="020B0503050203000203" pitchFamily="50" charset="-128"/>
                <a:ea typeface="IBM Plex Sans JP" panose="020B0503050203000203" pitchFamily="50" charset="-128"/>
              </a:rPr>
              <a:t>。 </a:t>
            </a:r>
            <a:endParaRPr sz="900" dirty="0">
              <a:latin typeface="IBM Plex Sans JP" panose="020B0503050203000203" pitchFamily="50" charset="-128"/>
              <a:ea typeface="IBM Plex Sans JP" panose="020B0503050203000203" pitchFamily="50" charset="-128"/>
            </a:endParaRPr>
          </a:p>
        </p:txBody>
      </p:sp>
      <p:sp>
        <p:nvSpPr>
          <p:cNvPr id="218" name="Google Shape;218;p18"/>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#2（本番造形）前</a:t>
            </a:r>
            <a:endParaRPr sz="12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IBM Plex Sans JP" panose="020B0503050203000203" pitchFamily="50" charset="-128"/>
              <a:ea typeface="IBM Plex Sans JP" panose="020B0503050203000203" pitchFamily="50" charset="-128"/>
            </a:endParaRPr>
          </a:p>
        </p:txBody>
      </p:sp>
      <p:sp>
        <p:nvSpPr>
          <p:cNvPr id="221" name="Google Shape;221;p18"/>
          <p:cNvSpPr/>
          <p:nvPr/>
        </p:nvSpPr>
        <p:spPr>
          <a:xfrm>
            <a:off x="612050" y="7175724"/>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9"/>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27" name="Google Shape;227;p19"/>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28" name="Google Shape;228;p19"/>
          <p:cNvGrpSpPr/>
          <p:nvPr/>
        </p:nvGrpSpPr>
        <p:grpSpPr>
          <a:xfrm>
            <a:off x="0" y="0"/>
            <a:ext cx="6865269" cy="9144001"/>
            <a:chOff x="0" y="0"/>
            <a:chExt cx="6865269" cy="9144001"/>
          </a:xfrm>
        </p:grpSpPr>
        <p:sp>
          <p:nvSpPr>
            <p:cNvPr id="229" name="Google Shape;229;p19"/>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0" name="Google Shape;230;p19"/>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1" name="Google Shape;231;p19"/>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2" name="Google Shape;232;p19"/>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33" name="Google Shape;233;p19"/>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4" name="Google Shape;234;p19"/>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5" name="Google Shape;235;p19"/>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7" name="Google Shape;237;p19"/>
          <p:cNvSpPr/>
          <p:nvPr/>
        </p:nvSpPr>
        <p:spPr>
          <a:xfrm>
            <a:off x="580886" y="28823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8" name="Google Shape;238;p19"/>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a:t>
            </a:r>
            <a:r>
              <a:rPr lang="ja-JP" alt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39" name="Google Shape;239;p19"/>
          <p:cNvSpPr txBox="1"/>
          <p:nvPr/>
        </p:nvSpPr>
        <p:spPr>
          <a:xfrm>
            <a:off x="672860" y="3162690"/>
            <a:ext cx="5649600" cy="507791"/>
          </a:xfrm>
          <a:prstGeom prst="rect">
            <a:avLst/>
          </a:prstGeom>
          <a:noFill/>
          <a:ln>
            <a:noFill/>
          </a:ln>
        </p:spPr>
        <p:txBody>
          <a:bodyPr spcFirstLastPara="1" wrap="square" lIns="91425" tIns="45700" rIns="91425" bIns="45700" anchor="t" anchorCtr="0">
            <a:spAutoFit/>
          </a:bodyPr>
          <a:lstStyle/>
          <a:p>
            <a:pPr lvl="0"/>
            <a:r>
              <a:rPr lang="ja-JP" altLang="ja-JP" sz="900" dirty="0"/>
              <a:t>Ver.1.0</a:t>
            </a:r>
            <a:r>
              <a:rPr lang="en-US" altLang="ja-JP" sz="900" dirty="0"/>
              <a:t>0</a:t>
            </a:r>
            <a:r>
              <a:rPr lang="ja-JP" altLang="ja-JP" sz="900" dirty="0"/>
              <a:t> 2026-03-24 初版公開 </a:t>
            </a:r>
            <a:endParaRPr lang="en-US" altLang="ja-JP" sz="900" dirty="0"/>
          </a:p>
          <a:p>
            <a:pPr lvl="0"/>
            <a:r>
              <a:rPr lang="ja-JP" altLang="ja-JP" sz="900" dirty="0"/>
              <a:t>Ver</a:t>
            </a:r>
            <a:r>
              <a:rPr lang="en-US" altLang="ja-JP" sz="900" dirty="0"/>
              <a:t>.</a:t>
            </a:r>
            <a:r>
              <a:rPr lang="ja-JP" altLang="ja-JP" sz="900" dirty="0"/>
              <a:t>2.0</a:t>
            </a:r>
            <a:r>
              <a:rPr lang="en-US" altLang="ja-JP" sz="900" dirty="0"/>
              <a:t>0</a:t>
            </a:r>
            <a:r>
              <a:rPr lang="ja-JP" altLang="ja-JP" sz="900" dirty="0"/>
              <a:t> 2026-06-19 混色比の数値修正、グラフのアップデート、ブリッジフィラメント</a:t>
            </a:r>
            <a:endParaRPr lang="en-US" altLang="ja-JP" sz="900" dirty="0"/>
          </a:p>
          <a:p>
            <a:r>
              <a:rPr lang="ja-JP" altLang="ja-JP" sz="900" dirty="0"/>
              <a:t>Ver</a:t>
            </a:r>
            <a:r>
              <a:rPr lang="en-US" altLang="ja-JP" sz="900" dirty="0"/>
              <a:t>.</a:t>
            </a:r>
            <a:r>
              <a:rPr lang="ja-JP" altLang="ja-JP" sz="900" dirty="0"/>
              <a:t>2.</a:t>
            </a:r>
            <a:r>
              <a:rPr lang="en-US" altLang="ja-JP" sz="900" dirty="0"/>
              <a:t>10</a:t>
            </a:r>
            <a:r>
              <a:rPr lang="ja-JP" altLang="ja-JP" sz="900" dirty="0"/>
              <a:t> 2026-0</a:t>
            </a:r>
            <a:r>
              <a:rPr lang="en-US" altLang="ja-JP" sz="900" dirty="0"/>
              <a:t>8</a:t>
            </a:r>
            <a:r>
              <a:rPr lang="ja-JP" altLang="ja-JP" sz="900" dirty="0"/>
              <a:t>-</a:t>
            </a:r>
            <a:r>
              <a:rPr lang="en-US" altLang="ja-JP" sz="900" dirty="0"/>
              <a:t>16</a:t>
            </a:r>
            <a:r>
              <a:rPr lang="ja-JP" altLang="en-US" sz="900" dirty="0"/>
              <a:t> 統一デザイン反映</a:t>
            </a:r>
            <a:endParaRPr lang="en-US" altLang="ja-JP" sz="900" dirty="0"/>
          </a:p>
        </p:txBody>
      </p:sp>
      <p:sp>
        <p:nvSpPr>
          <p:cNvPr id="240" name="Google Shape;240;p19"/>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・印刷＃２におけるノズルの影響</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latin typeface="IBM Plex Sans JP" panose="020B0503050203000203" pitchFamily="50" charset="-128"/>
              <a:ea typeface="IBM Plex Sans JP" panose="020B0503050203000203" pitchFamily="50" charset="-128"/>
            </a:endParaRPr>
          </a:p>
        </p:txBody>
      </p:sp>
      <p:sp>
        <p:nvSpPr>
          <p:cNvPr id="241" name="Google Shape;241;p19"/>
          <p:cNvSpPr/>
          <p:nvPr/>
        </p:nvSpPr>
        <p:spPr>
          <a:xfrm>
            <a:off x="580898" y="14708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42" name="Google Shape;242;p19"/>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６．最後に </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43" name="Google Shape;243;p19"/>
          <p:cNvSpPr txBox="1"/>
          <p:nvPr/>
        </p:nvSpPr>
        <p:spPr>
          <a:xfrm>
            <a:off x="672873" y="1828465"/>
            <a:ext cx="56496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お読みいただきありがとうございます。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FlexChroma が、皆さまの造形表現をより広げることを願っています。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Print Colors You Imagine. </a:t>
            </a:r>
            <a:endParaRPr sz="1700" b="1">
              <a:latin typeface="IBM Plex Sans JP" panose="020B0503050203000203" pitchFamily="50" charset="-128"/>
              <a:ea typeface="IBM Plex Sans JP" panose="020B0503050203000203" pitchFamily="50" charset="-128"/>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1A4B24A5-8B7D-35FF-4F2A-BCF8FB057119}"/>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8EF549FB-C36D-4EF2-D09A-2654474CB249}"/>
              </a:ext>
            </a:extLst>
          </p:cNvPr>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2" name="フリーフォーム: 図形 11">
            <a:extLst>
              <a:ext uri="{FF2B5EF4-FFF2-40B4-BE49-F238E27FC236}">
                <a16:creationId xmlns:a16="http://schemas.microsoft.com/office/drawing/2014/main" id="{8ADAFE07-08A4-BB56-87C3-8CB9A526888C}"/>
              </a:ext>
            </a:extLst>
          </p:cNvPr>
          <p:cNvSpPr/>
          <p:nvPr/>
        </p:nvSpPr>
        <p:spPr>
          <a:xfrm>
            <a:off x="-1747" y="0"/>
            <a:ext cx="6858000" cy="9144000"/>
          </a:xfrm>
          <a:custGeom>
            <a:avLst/>
            <a:gdLst>
              <a:gd name="csX0" fmla="*/ 3736591 w 6858000"/>
              <a:gd name="csY0" fmla="*/ 8661917 h 9144000"/>
              <a:gd name="csX1" fmla="*/ 3736591 w 6858000"/>
              <a:gd name="csY1" fmla="*/ 8715917 h 9144000"/>
              <a:gd name="csX2" fmla="*/ 6328591 w 6858000"/>
              <a:gd name="csY2" fmla="*/ 8715917 h 9144000"/>
              <a:gd name="csX3" fmla="*/ 6328591 w 6858000"/>
              <a:gd name="csY3" fmla="*/ 8661917 h 9144000"/>
              <a:gd name="csX4" fmla="*/ 556285 w 6858000"/>
              <a:gd name="csY4" fmla="*/ 8661917 h 9144000"/>
              <a:gd name="csX5" fmla="*/ 556285 w 6858000"/>
              <a:gd name="csY5" fmla="*/ 8715917 h 9144000"/>
              <a:gd name="csX6" fmla="*/ 3148285 w 6858000"/>
              <a:gd name="csY6" fmla="*/ 8715917 h 9144000"/>
              <a:gd name="csX7" fmla="*/ 3148285 w 6858000"/>
              <a:gd name="csY7" fmla="*/ 8661917 h 9144000"/>
              <a:gd name="csX8" fmla="*/ 777473 w 6858000"/>
              <a:gd name="csY8" fmla="*/ 6659597 h 9144000"/>
              <a:gd name="csX9" fmla="*/ 715223 w 6858000"/>
              <a:gd name="csY9" fmla="*/ 6724547 h 9144000"/>
              <a:gd name="csX10" fmla="*/ 777473 w 6858000"/>
              <a:gd name="csY10" fmla="*/ 6789497 h 9144000"/>
              <a:gd name="csX11" fmla="*/ 839723 w 6858000"/>
              <a:gd name="csY11" fmla="*/ 6724547 h 9144000"/>
              <a:gd name="csX12" fmla="*/ 777473 w 6858000"/>
              <a:gd name="csY12" fmla="*/ 6659597 h 9144000"/>
              <a:gd name="csX13" fmla="*/ 658597 w 6858000"/>
              <a:gd name="csY13" fmla="*/ 5703577 h 9144000"/>
              <a:gd name="csX14" fmla="*/ 556297 w 6858000"/>
              <a:gd name="csY14" fmla="*/ 5805877 h 9144000"/>
              <a:gd name="csX15" fmla="*/ 658597 w 6858000"/>
              <a:gd name="csY15" fmla="*/ 5908177 h 9144000"/>
              <a:gd name="csX16" fmla="*/ 760897 w 6858000"/>
              <a:gd name="csY16" fmla="*/ 5805877 h 9144000"/>
              <a:gd name="csX17" fmla="*/ 658597 w 6858000"/>
              <a:gd name="csY17" fmla="*/ 5703577 h 9144000"/>
              <a:gd name="csX18" fmla="*/ 671648 w 6858000"/>
              <a:gd name="csY18" fmla="*/ 4459122 h 9144000"/>
              <a:gd name="csX19" fmla="*/ 609398 w 6858000"/>
              <a:gd name="csY19" fmla="*/ 4524072 h 9144000"/>
              <a:gd name="csX20" fmla="*/ 671648 w 6858000"/>
              <a:gd name="csY20" fmla="*/ 4589022 h 9144000"/>
              <a:gd name="csX21" fmla="*/ 733898 w 6858000"/>
              <a:gd name="csY21" fmla="*/ 4524072 h 9144000"/>
              <a:gd name="csX22" fmla="*/ 671648 w 6858000"/>
              <a:gd name="csY22" fmla="*/ 4459122 h 9144000"/>
              <a:gd name="csX23" fmla="*/ 671648 w 6858000"/>
              <a:gd name="csY23" fmla="*/ 3613110 h 9144000"/>
              <a:gd name="csX24" fmla="*/ 609398 w 6858000"/>
              <a:gd name="csY24" fmla="*/ 3678060 h 9144000"/>
              <a:gd name="csX25" fmla="*/ 671648 w 6858000"/>
              <a:gd name="csY25" fmla="*/ 3743010 h 9144000"/>
              <a:gd name="csX26" fmla="*/ 733898 w 6858000"/>
              <a:gd name="csY26" fmla="*/ 3678060 h 9144000"/>
              <a:gd name="csX27" fmla="*/ 671648 w 6858000"/>
              <a:gd name="csY27" fmla="*/ 3613110 h 9144000"/>
              <a:gd name="csX28" fmla="*/ 670222 w 6858000"/>
              <a:gd name="csY28" fmla="*/ 3074681 h 9144000"/>
              <a:gd name="csX29" fmla="*/ 567922 w 6858000"/>
              <a:gd name="csY29" fmla="*/ 3176981 h 9144000"/>
              <a:gd name="csX30" fmla="*/ 670222 w 6858000"/>
              <a:gd name="csY30" fmla="*/ 3279281 h 9144000"/>
              <a:gd name="csX31" fmla="*/ 772522 w 6858000"/>
              <a:gd name="csY31" fmla="*/ 3176981 h 9144000"/>
              <a:gd name="csX32" fmla="*/ 670222 w 6858000"/>
              <a:gd name="csY32" fmla="*/ 3074681 h 9144000"/>
              <a:gd name="csX33" fmla="*/ 6088939 w 6858000"/>
              <a:gd name="csY33" fmla="*/ 2279968 h 9144000"/>
              <a:gd name="csX34" fmla="*/ 6033634 w 6858000"/>
              <a:gd name="csY34" fmla="*/ 2335273 h 9144000"/>
              <a:gd name="csX35" fmla="*/ 883659 w 6858000"/>
              <a:gd name="csY35" fmla="*/ 2335273 h 9144000"/>
              <a:gd name="csX36" fmla="*/ 844553 w 6858000"/>
              <a:gd name="csY36" fmla="*/ 2319074 h 9144000"/>
              <a:gd name="csX37" fmla="*/ 828355 w 6858000"/>
              <a:gd name="csY37" fmla="*/ 2279970 h 9144000"/>
              <a:gd name="csX38" fmla="*/ 828355 w 6858000"/>
              <a:gd name="csY38" fmla="*/ 2413560 h 9144000"/>
              <a:gd name="csX39" fmla="*/ 1017251 w 6858000"/>
              <a:gd name="csY39" fmla="*/ 2602456 h 9144000"/>
              <a:gd name="csX40" fmla="*/ 5900043 w 6858000"/>
              <a:gd name="csY40" fmla="*/ 2602456 h 9144000"/>
              <a:gd name="csX41" fmla="*/ 6088939 w 6858000"/>
              <a:gd name="csY41" fmla="*/ 2413560 h 9144000"/>
              <a:gd name="csX42" fmla="*/ 1028417 w 6858000"/>
              <a:gd name="csY42" fmla="*/ 441445 h 9144000"/>
              <a:gd name="csX43" fmla="*/ 828357 w 6858000"/>
              <a:gd name="csY43" fmla="*/ 641505 h 9144000"/>
              <a:gd name="csX44" fmla="*/ 828357 w 6858000"/>
              <a:gd name="csY44" fmla="*/ 782992 h 9144000"/>
              <a:gd name="csX45" fmla="*/ 886930 w 6858000"/>
              <a:gd name="csY45" fmla="*/ 724419 h 9144000"/>
              <a:gd name="csX46" fmla="*/ 6030367 w 6858000"/>
              <a:gd name="csY46" fmla="*/ 724419 h 9144000"/>
              <a:gd name="csX47" fmla="*/ 6088940 w 6858000"/>
              <a:gd name="csY47" fmla="*/ 782992 h 9144000"/>
              <a:gd name="csX48" fmla="*/ 6088940 w 6858000"/>
              <a:gd name="csY48" fmla="*/ 641505 h 9144000"/>
              <a:gd name="csX49" fmla="*/ 5888880 w 6858000"/>
              <a:gd name="csY49" fmla="*/ 441445 h 9144000"/>
              <a:gd name="csX50" fmla="*/ 0 w 6858000"/>
              <a:gd name="csY50" fmla="*/ 0 h 9144000"/>
              <a:gd name="csX51" fmla="*/ 6858000 w 6858000"/>
              <a:gd name="csY51" fmla="*/ 0 h 9144000"/>
              <a:gd name="csX52" fmla="*/ 6858000 w 6858000"/>
              <a:gd name="csY52" fmla="*/ 9144000 h 9144000"/>
              <a:gd name="csX53" fmla="*/ 0 w 6858000"/>
              <a:gd name="csY53"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6858000" h="9144000">
                <a:moveTo>
                  <a:pt x="3736591" y="8661917"/>
                </a:moveTo>
                <a:lnTo>
                  <a:pt x="3736591" y="8715917"/>
                </a:lnTo>
                <a:lnTo>
                  <a:pt x="6328591" y="8715917"/>
                </a:lnTo>
                <a:lnTo>
                  <a:pt x="6328591" y="8661917"/>
                </a:lnTo>
                <a:close/>
                <a:moveTo>
                  <a:pt x="556285" y="8661917"/>
                </a:moveTo>
                <a:lnTo>
                  <a:pt x="556285" y="8715917"/>
                </a:lnTo>
                <a:lnTo>
                  <a:pt x="3148285" y="8715917"/>
                </a:lnTo>
                <a:lnTo>
                  <a:pt x="3148285" y="8661917"/>
                </a:lnTo>
                <a:close/>
                <a:moveTo>
                  <a:pt x="777473" y="6659597"/>
                </a:moveTo>
                <a:cubicBezTo>
                  <a:pt x="743093" y="6659597"/>
                  <a:pt x="715223" y="6688676"/>
                  <a:pt x="715223" y="6724547"/>
                </a:cubicBezTo>
                <a:cubicBezTo>
                  <a:pt x="715223" y="6760418"/>
                  <a:pt x="743093" y="6789497"/>
                  <a:pt x="777473" y="6789497"/>
                </a:cubicBezTo>
                <a:cubicBezTo>
                  <a:pt x="811853" y="6789497"/>
                  <a:pt x="839723" y="6760418"/>
                  <a:pt x="839723" y="6724547"/>
                </a:cubicBezTo>
                <a:cubicBezTo>
                  <a:pt x="839723" y="6688676"/>
                  <a:pt x="811853" y="6659597"/>
                  <a:pt x="777473" y="6659597"/>
                </a:cubicBezTo>
                <a:close/>
                <a:moveTo>
                  <a:pt x="658597" y="5703577"/>
                </a:moveTo>
                <a:cubicBezTo>
                  <a:pt x="602098" y="5703577"/>
                  <a:pt x="556297" y="5749378"/>
                  <a:pt x="556297" y="5805877"/>
                </a:cubicBezTo>
                <a:cubicBezTo>
                  <a:pt x="556297" y="5862376"/>
                  <a:pt x="602098" y="5908177"/>
                  <a:pt x="658597" y="5908177"/>
                </a:cubicBezTo>
                <a:cubicBezTo>
                  <a:pt x="715096" y="5908177"/>
                  <a:pt x="760897" y="5862376"/>
                  <a:pt x="760897" y="5805877"/>
                </a:cubicBezTo>
                <a:cubicBezTo>
                  <a:pt x="760897" y="5749378"/>
                  <a:pt x="715096" y="5703577"/>
                  <a:pt x="658597" y="5703577"/>
                </a:cubicBezTo>
                <a:close/>
                <a:moveTo>
                  <a:pt x="671648" y="4459122"/>
                </a:moveTo>
                <a:cubicBezTo>
                  <a:pt x="637268" y="4459122"/>
                  <a:pt x="609398" y="4488201"/>
                  <a:pt x="609398" y="4524072"/>
                </a:cubicBezTo>
                <a:cubicBezTo>
                  <a:pt x="609398" y="4559943"/>
                  <a:pt x="637268" y="4589022"/>
                  <a:pt x="671648" y="4589022"/>
                </a:cubicBezTo>
                <a:cubicBezTo>
                  <a:pt x="706028" y="4589022"/>
                  <a:pt x="733898" y="4559943"/>
                  <a:pt x="733898" y="4524072"/>
                </a:cubicBezTo>
                <a:cubicBezTo>
                  <a:pt x="733898" y="4488201"/>
                  <a:pt x="706028" y="4459122"/>
                  <a:pt x="671648" y="4459122"/>
                </a:cubicBezTo>
                <a:close/>
                <a:moveTo>
                  <a:pt x="671648" y="3613110"/>
                </a:moveTo>
                <a:cubicBezTo>
                  <a:pt x="637268" y="3613110"/>
                  <a:pt x="609398" y="3642189"/>
                  <a:pt x="609398" y="3678060"/>
                </a:cubicBezTo>
                <a:cubicBezTo>
                  <a:pt x="609398" y="3713931"/>
                  <a:pt x="637268" y="3743010"/>
                  <a:pt x="671648" y="3743010"/>
                </a:cubicBezTo>
                <a:cubicBezTo>
                  <a:pt x="706028" y="3743010"/>
                  <a:pt x="733898" y="3713931"/>
                  <a:pt x="733898" y="3678060"/>
                </a:cubicBezTo>
                <a:cubicBezTo>
                  <a:pt x="733898" y="3642189"/>
                  <a:pt x="706028" y="3613110"/>
                  <a:pt x="671648" y="3613110"/>
                </a:cubicBezTo>
                <a:close/>
                <a:moveTo>
                  <a:pt x="670222" y="3074681"/>
                </a:moveTo>
                <a:cubicBezTo>
                  <a:pt x="613723" y="3074681"/>
                  <a:pt x="567922" y="3120482"/>
                  <a:pt x="567922" y="3176981"/>
                </a:cubicBezTo>
                <a:cubicBezTo>
                  <a:pt x="567922" y="3233480"/>
                  <a:pt x="613723" y="3279281"/>
                  <a:pt x="670222" y="3279281"/>
                </a:cubicBezTo>
                <a:cubicBezTo>
                  <a:pt x="726721" y="3279281"/>
                  <a:pt x="772522" y="3233480"/>
                  <a:pt x="772522" y="3176981"/>
                </a:cubicBezTo>
                <a:cubicBezTo>
                  <a:pt x="772522" y="3120482"/>
                  <a:pt x="726721" y="3074681"/>
                  <a:pt x="670222" y="3074681"/>
                </a:cubicBezTo>
                <a:close/>
                <a:moveTo>
                  <a:pt x="6088939" y="2279968"/>
                </a:moveTo>
                <a:cubicBezTo>
                  <a:pt x="6088939" y="2310512"/>
                  <a:pt x="6064178" y="2335273"/>
                  <a:pt x="6033634" y="2335273"/>
                </a:cubicBezTo>
                <a:lnTo>
                  <a:pt x="883659" y="2335273"/>
                </a:lnTo>
                <a:cubicBezTo>
                  <a:pt x="868387" y="2335273"/>
                  <a:pt x="854561" y="2329083"/>
                  <a:pt x="844553" y="2319074"/>
                </a:cubicBezTo>
                <a:lnTo>
                  <a:pt x="828355" y="2279970"/>
                </a:lnTo>
                <a:lnTo>
                  <a:pt x="828355" y="2413560"/>
                </a:lnTo>
                <a:cubicBezTo>
                  <a:pt x="828355" y="2517884"/>
                  <a:pt x="912927" y="2602456"/>
                  <a:pt x="1017251" y="2602456"/>
                </a:cubicBezTo>
                <a:lnTo>
                  <a:pt x="5900043" y="2602456"/>
                </a:lnTo>
                <a:cubicBezTo>
                  <a:pt x="6004367" y="2602456"/>
                  <a:pt x="6088939" y="2517884"/>
                  <a:pt x="6088939" y="2413560"/>
                </a:cubicBezTo>
                <a:close/>
                <a:moveTo>
                  <a:pt x="1028417" y="441445"/>
                </a:moveTo>
                <a:cubicBezTo>
                  <a:pt x="917927" y="441445"/>
                  <a:pt x="828357" y="531015"/>
                  <a:pt x="828357" y="641505"/>
                </a:cubicBezTo>
                <a:lnTo>
                  <a:pt x="828357" y="782992"/>
                </a:lnTo>
                <a:cubicBezTo>
                  <a:pt x="828357" y="750643"/>
                  <a:pt x="854581" y="724419"/>
                  <a:pt x="886930" y="724419"/>
                </a:cubicBezTo>
                <a:lnTo>
                  <a:pt x="6030367" y="724419"/>
                </a:lnTo>
                <a:cubicBezTo>
                  <a:pt x="6062716" y="724419"/>
                  <a:pt x="6088940" y="750643"/>
                  <a:pt x="6088940" y="782992"/>
                </a:cubicBezTo>
                <a:lnTo>
                  <a:pt x="6088940" y="641505"/>
                </a:lnTo>
                <a:cubicBezTo>
                  <a:pt x="6088940" y="531015"/>
                  <a:pt x="5999370" y="441445"/>
                  <a:pt x="5888880" y="441445"/>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F0419AEA-7D82-797B-586D-CC8A63267043}"/>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11" name="Google Shape;111;p14">
            <a:extLst>
              <a:ext uri="{FF2B5EF4-FFF2-40B4-BE49-F238E27FC236}">
                <a16:creationId xmlns:a16="http://schemas.microsoft.com/office/drawing/2014/main" id="{8191B378-F955-3BCB-058B-31E53FCBEFA1}"/>
              </a:ext>
            </a:extLst>
          </p:cNvPr>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１．はじめに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2FE0BD53-71E1-6E46-410A-D957ECE19F4D}"/>
              </a:ext>
            </a:extLst>
          </p:cNvPr>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ブランド概要</a:t>
            </a:r>
            <a:r>
              <a:rPr lang="en-US"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FlexChromaは既存のフィラメントの持つ色では満足できない人だけでなく、保有フィラメントが少ないせいで創造性を十分に</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発揮できていない人に向けた、色の自由度を開放するブランドです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19" name="Google Shape;119;p14">
            <a:extLst>
              <a:ext uri="{FF2B5EF4-FFF2-40B4-BE49-F238E27FC236}">
                <a16:creationId xmlns:a16="http://schemas.microsoft.com/office/drawing/2014/main" id="{FB735FBB-14DB-A09F-4E84-C6B8244B8023}"/>
              </a:ext>
            </a:extLst>
          </p:cNvPr>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Segoe UI Semibold" panose="020B0702040204020203" pitchFamily="34" charset="0"/>
                <a:ea typeface="IBM Plex Sans JP"/>
                <a:cs typeface="Segoe UI Semibold" panose="020B0702040204020203" pitchFamily="34" charset="0"/>
                <a:sym typeface="IBM Plex Sans JP"/>
              </a:rPr>
              <a:t>-  Print Any Colors You Imagine. -</a:t>
            </a:r>
            <a:endParaRPr sz="1600"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20" name="Google Shape;120;p14">
            <a:extLst>
              <a:ext uri="{FF2B5EF4-FFF2-40B4-BE49-F238E27FC236}">
                <a16:creationId xmlns:a16="http://schemas.microsoft.com/office/drawing/2014/main" id="{AD951FA3-9101-F4C3-D0D1-FCC3A28E9B25}"/>
              </a:ext>
            </a:extLst>
          </p:cNvPr>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Ver.2.1</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16</a:t>
            </a:r>
            <a:endParaRPr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1" name="Google Shape;121;p14">
            <a:extLst>
              <a:ext uri="{FF2B5EF4-FFF2-40B4-BE49-F238E27FC236}">
                <a16:creationId xmlns:a16="http://schemas.microsoft.com/office/drawing/2014/main" id="{62F1F248-9B9B-494A-FA57-61F91366105D}"/>
              </a:ext>
            </a:extLst>
          </p:cNvPr>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シリーズ概要</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FilamentシリーズはFlexChromaの最も基礎的なシリーズです。2つのフィラメントを様々な混合比で混ぜ合わせ、あ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なただけの新しい色を作ることが出来ます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また、更なるこだわりや明暗差の大きい色の混合のためにDetailモデルも用意してしており、Standardモデルでは扱いきれな</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い細かい調整を行えます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3" name="Google Shape;123;p14">
            <a:extLst>
              <a:ext uri="{FF2B5EF4-FFF2-40B4-BE49-F238E27FC236}">
                <a16:creationId xmlns:a16="http://schemas.microsoft.com/office/drawing/2014/main" id="{08973E24-7B15-6F09-DAA8-0632582C4283}"/>
              </a:ext>
            </a:extLst>
          </p:cNvPr>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２．モデル構成  </a:t>
            </a:r>
            <a:endParaRPr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4" name="Google Shape;124;p14">
            <a:extLst>
              <a:ext uri="{FF2B5EF4-FFF2-40B4-BE49-F238E27FC236}">
                <a16:creationId xmlns:a16="http://schemas.microsoft.com/office/drawing/2014/main" id="{D49CDE56-2F44-4487-F5D5-766FDFEA2099}"/>
              </a:ext>
            </a:extLst>
          </p:cNvPr>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7" name="Google Shape;127;p14">
            <a:extLst>
              <a:ext uri="{FF2B5EF4-FFF2-40B4-BE49-F238E27FC236}">
                <a16:creationId xmlns:a16="http://schemas.microsoft.com/office/drawing/2014/main" id="{F798AB77-6F92-12E4-C4E6-B1A53516FAE1}"/>
              </a:ext>
            </a:extLst>
          </p:cNvPr>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8" name="Google Shape;128;p14">
            <a:extLst>
              <a:ext uri="{FF2B5EF4-FFF2-40B4-BE49-F238E27FC236}">
                <a16:creationId xmlns:a16="http://schemas.microsoft.com/office/drawing/2014/main" id="{00DCEA3F-9C6E-977E-4C48-05093D7D0666}"/>
              </a:ext>
            </a:extLst>
          </p:cNvPr>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混色比は主に2つのモデルで決められます。</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・Standard モデル：50～95％まで5％刻み。10モデル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・Detail モデル：90%, 92.5%, 95%, 96%, 97%, 98%, 98.5%, 99%, 99.5%の 9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※90%, 95％のデータは同一のものとなります。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Bを入れ替えることで別の混合比を</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取ることが出来ます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例：75％モデルを使うと[A:B＝75:25]、</a:t>
            </a:r>
            <a:r>
              <a:rPr lang="en-US" sz="9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入れ替えると</a:t>
            </a: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[A:B＝25:75]となり、25%モデル相当となります。</a:t>
            </a: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Standard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モデルは容量を少なく</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する</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ためStandard1, Standard2と分けられる</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事</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3" name="Google Shape;109;p14">
            <a:extLst>
              <a:ext uri="{FF2B5EF4-FFF2-40B4-BE49-F238E27FC236}">
                <a16:creationId xmlns:a16="http://schemas.microsoft.com/office/drawing/2014/main" id="{F4BAE9DB-B53C-C650-2682-96A79543CA56}"/>
              </a:ext>
            </a:extLst>
          </p:cNvPr>
          <p:cNvSpPr txBox="1"/>
          <p:nvPr/>
        </p:nvSpPr>
        <p:spPr>
          <a:xfrm>
            <a:off x="1038113" y="843788"/>
            <a:ext cx="5194453"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28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a:t>
            </a:r>
            <a:r>
              <a:rPr lang="en-US"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 Filament Guide</a:t>
            </a:r>
            <a:endParaRPr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pic>
        <p:nvPicPr>
          <p:cNvPr id="5" name="図 4">
            <a:extLst>
              <a:ext uri="{FF2B5EF4-FFF2-40B4-BE49-F238E27FC236}">
                <a16:creationId xmlns:a16="http://schemas.microsoft.com/office/drawing/2014/main" id="{8A323D97-2969-DA5A-75A4-D934BD610600}"/>
              </a:ext>
            </a:extLst>
          </p:cNvPr>
          <p:cNvPicPr>
            <a:picLocks noChangeAspect="1"/>
          </p:cNvPicPr>
          <p:nvPr/>
        </p:nvPicPr>
        <p:blipFill>
          <a:blip r:embed="rId3"/>
          <a:stretch>
            <a:fillRect/>
          </a:stretch>
        </p:blipFill>
        <p:spPr>
          <a:xfrm>
            <a:off x="813507" y="946491"/>
            <a:ext cx="356510" cy="343679"/>
          </a:xfrm>
          <a:prstGeom prst="rect">
            <a:avLst/>
          </a:prstGeom>
        </p:spPr>
      </p:pic>
    </p:spTree>
    <p:extLst>
      <p:ext uri="{BB962C8B-B14F-4D97-AF65-F5344CB8AC3E}">
        <p14:creationId xmlns:p14="http://schemas.microsoft.com/office/powerpoint/2010/main" val="311845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AF6D4E6A-B1B0-3EA8-B83C-5A2A3A23190F}"/>
            </a:ext>
          </a:extLst>
        </p:cNvPr>
        <p:cNvGrpSpPr/>
        <p:nvPr/>
      </p:nvGrpSpPr>
      <p:grpSpPr>
        <a:xfrm>
          <a:off x="0" y="0"/>
          <a:ext cx="0" cy="0"/>
          <a:chOff x="0" y="0"/>
          <a:chExt cx="0" cy="0"/>
        </a:xfrm>
      </p:grpSpPr>
      <p:sp>
        <p:nvSpPr>
          <p:cNvPr id="134" name="Google Shape;134;p15">
            <a:extLst>
              <a:ext uri="{FF2B5EF4-FFF2-40B4-BE49-F238E27FC236}">
                <a16:creationId xmlns:a16="http://schemas.microsoft.com/office/drawing/2014/main" id="{34D23A58-BAFB-DCA8-A863-3113B2584CC6}"/>
              </a:ext>
            </a:extLst>
          </p:cNvPr>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 name="フリーフォーム: 図形 7">
            <a:extLst>
              <a:ext uri="{FF2B5EF4-FFF2-40B4-BE49-F238E27FC236}">
                <a16:creationId xmlns:a16="http://schemas.microsoft.com/office/drawing/2014/main" id="{7A86A942-BE23-0511-8625-6CB30EF5FB2A}"/>
              </a:ext>
            </a:extLst>
          </p:cNvPr>
          <p:cNvSpPr/>
          <p:nvPr/>
        </p:nvSpPr>
        <p:spPr>
          <a:xfrm>
            <a:off x="-6" y="-2"/>
            <a:ext cx="6858000" cy="9144000"/>
          </a:xfrm>
          <a:custGeom>
            <a:avLst/>
            <a:gdLst>
              <a:gd name="csX0" fmla="*/ 3734850 w 6858000"/>
              <a:gd name="csY0" fmla="*/ 8661919 h 9144000"/>
              <a:gd name="csX1" fmla="*/ 3734850 w 6858000"/>
              <a:gd name="csY1" fmla="*/ 8715919 h 9144000"/>
              <a:gd name="csX2" fmla="*/ 6326850 w 6858000"/>
              <a:gd name="csY2" fmla="*/ 8715919 h 9144000"/>
              <a:gd name="csX3" fmla="*/ 6326850 w 6858000"/>
              <a:gd name="csY3" fmla="*/ 8661919 h 9144000"/>
              <a:gd name="csX4" fmla="*/ 554544 w 6858000"/>
              <a:gd name="csY4" fmla="*/ 8661919 h 9144000"/>
              <a:gd name="csX5" fmla="*/ 554544 w 6858000"/>
              <a:gd name="csY5" fmla="*/ 8715919 h 9144000"/>
              <a:gd name="csX6" fmla="*/ 3146544 w 6858000"/>
              <a:gd name="csY6" fmla="*/ 8715919 h 9144000"/>
              <a:gd name="csX7" fmla="*/ 3146544 w 6858000"/>
              <a:gd name="csY7" fmla="*/ 8661919 h 9144000"/>
              <a:gd name="csX8" fmla="*/ 642856 w 6858000"/>
              <a:gd name="csY8" fmla="*/ 5938368 h 9144000"/>
              <a:gd name="csX9" fmla="*/ 580606 w 6858000"/>
              <a:gd name="csY9" fmla="*/ 6003318 h 9144000"/>
              <a:gd name="csX10" fmla="*/ 642856 w 6858000"/>
              <a:gd name="csY10" fmla="*/ 6068268 h 9144000"/>
              <a:gd name="csX11" fmla="*/ 705106 w 6858000"/>
              <a:gd name="csY11" fmla="*/ 6003318 h 9144000"/>
              <a:gd name="csX12" fmla="*/ 642856 w 6858000"/>
              <a:gd name="csY12" fmla="*/ 5938368 h 9144000"/>
              <a:gd name="csX13" fmla="*/ 651756 w 6858000"/>
              <a:gd name="csY13" fmla="*/ 4350189 h 9144000"/>
              <a:gd name="csX14" fmla="*/ 549456 w 6858000"/>
              <a:gd name="csY14" fmla="*/ 4452489 h 9144000"/>
              <a:gd name="csX15" fmla="*/ 651756 w 6858000"/>
              <a:gd name="csY15" fmla="*/ 4554789 h 9144000"/>
              <a:gd name="csX16" fmla="*/ 754056 w 6858000"/>
              <a:gd name="csY16" fmla="*/ 4452489 h 9144000"/>
              <a:gd name="csX17" fmla="*/ 651756 w 6858000"/>
              <a:gd name="csY17" fmla="*/ 4350189 h 9144000"/>
              <a:gd name="csX18" fmla="*/ 628432 w 6858000"/>
              <a:gd name="csY18" fmla="*/ 650084 h 9144000"/>
              <a:gd name="csX19" fmla="*/ 566182 w 6858000"/>
              <a:gd name="csY19" fmla="*/ 715034 h 9144000"/>
              <a:gd name="csX20" fmla="*/ 628432 w 6858000"/>
              <a:gd name="csY20" fmla="*/ 779984 h 9144000"/>
              <a:gd name="csX21" fmla="*/ 690682 w 6858000"/>
              <a:gd name="csY21" fmla="*/ 715034 h 9144000"/>
              <a:gd name="csX22" fmla="*/ 628432 w 6858000"/>
              <a:gd name="csY22" fmla="*/ 650084 h 9144000"/>
              <a:gd name="csX23" fmla="*/ 554543 w 6858000"/>
              <a:gd name="csY23" fmla="*/ 452470 h 9144000"/>
              <a:gd name="csX24" fmla="*/ 554543 w 6858000"/>
              <a:gd name="csY24" fmla="*/ 506470 h 9144000"/>
              <a:gd name="csX25" fmla="*/ 6310736 w 6858000"/>
              <a:gd name="csY25" fmla="*/ 506470 h 9144000"/>
              <a:gd name="csX26" fmla="*/ 6310736 w 6858000"/>
              <a:gd name="csY26" fmla="*/ 452470 h 9144000"/>
              <a:gd name="csX27" fmla="*/ 0 w 6858000"/>
              <a:gd name="csY27" fmla="*/ 0 h 9144000"/>
              <a:gd name="csX28" fmla="*/ 6858000 w 6858000"/>
              <a:gd name="csY28" fmla="*/ 0 h 9144000"/>
              <a:gd name="csX29" fmla="*/ 6858000 w 6858000"/>
              <a:gd name="csY29" fmla="*/ 9144000 h 9144000"/>
              <a:gd name="csX30" fmla="*/ 0 w 6858000"/>
              <a:gd name="csY3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6858000" h="9144000">
                <a:moveTo>
                  <a:pt x="3734850" y="8661919"/>
                </a:moveTo>
                <a:lnTo>
                  <a:pt x="3734850" y="8715919"/>
                </a:lnTo>
                <a:lnTo>
                  <a:pt x="6326850" y="8715919"/>
                </a:lnTo>
                <a:lnTo>
                  <a:pt x="6326850" y="8661919"/>
                </a:lnTo>
                <a:close/>
                <a:moveTo>
                  <a:pt x="554544" y="8661919"/>
                </a:moveTo>
                <a:lnTo>
                  <a:pt x="554544" y="8715919"/>
                </a:lnTo>
                <a:lnTo>
                  <a:pt x="3146544" y="8715919"/>
                </a:lnTo>
                <a:lnTo>
                  <a:pt x="3146544" y="8661919"/>
                </a:lnTo>
                <a:close/>
                <a:moveTo>
                  <a:pt x="642856" y="5938368"/>
                </a:moveTo>
                <a:cubicBezTo>
                  <a:pt x="608476" y="5938368"/>
                  <a:pt x="580606" y="5967447"/>
                  <a:pt x="580606" y="6003318"/>
                </a:cubicBezTo>
                <a:cubicBezTo>
                  <a:pt x="580606" y="6039189"/>
                  <a:pt x="608476" y="6068268"/>
                  <a:pt x="642856" y="6068268"/>
                </a:cubicBezTo>
                <a:cubicBezTo>
                  <a:pt x="677236" y="6068268"/>
                  <a:pt x="705106" y="6039189"/>
                  <a:pt x="705106" y="6003318"/>
                </a:cubicBezTo>
                <a:cubicBezTo>
                  <a:pt x="705106" y="5967447"/>
                  <a:pt x="677236" y="5938368"/>
                  <a:pt x="642856" y="5938368"/>
                </a:cubicBezTo>
                <a:close/>
                <a:moveTo>
                  <a:pt x="651756" y="4350189"/>
                </a:moveTo>
                <a:cubicBezTo>
                  <a:pt x="595257" y="4350189"/>
                  <a:pt x="549456" y="4395990"/>
                  <a:pt x="549456" y="4452489"/>
                </a:cubicBezTo>
                <a:cubicBezTo>
                  <a:pt x="549456" y="4508988"/>
                  <a:pt x="595257" y="4554789"/>
                  <a:pt x="651756" y="4554789"/>
                </a:cubicBezTo>
                <a:cubicBezTo>
                  <a:pt x="708255" y="4554789"/>
                  <a:pt x="754056" y="4508988"/>
                  <a:pt x="754056" y="4452489"/>
                </a:cubicBezTo>
                <a:cubicBezTo>
                  <a:pt x="754056" y="4395990"/>
                  <a:pt x="708255" y="4350189"/>
                  <a:pt x="651756" y="4350189"/>
                </a:cubicBezTo>
                <a:close/>
                <a:moveTo>
                  <a:pt x="628432" y="650084"/>
                </a:moveTo>
                <a:cubicBezTo>
                  <a:pt x="594052" y="650084"/>
                  <a:pt x="566182" y="679163"/>
                  <a:pt x="566182" y="715034"/>
                </a:cubicBezTo>
                <a:cubicBezTo>
                  <a:pt x="566182" y="750905"/>
                  <a:pt x="594052" y="779984"/>
                  <a:pt x="628432" y="779984"/>
                </a:cubicBezTo>
                <a:cubicBezTo>
                  <a:pt x="662812" y="779984"/>
                  <a:pt x="690682" y="750905"/>
                  <a:pt x="690682" y="715034"/>
                </a:cubicBezTo>
                <a:cubicBezTo>
                  <a:pt x="690682" y="679163"/>
                  <a:pt x="662812" y="650084"/>
                  <a:pt x="628432" y="650084"/>
                </a:cubicBezTo>
                <a:close/>
                <a:moveTo>
                  <a:pt x="554543" y="452470"/>
                </a:moveTo>
                <a:lnTo>
                  <a:pt x="554543" y="506470"/>
                </a:lnTo>
                <a:lnTo>
                  <a:pt x="6310736" y="506470"/>
                </a:lnTo>
                <a:lnTo>
                  <a:pt x="6310736" y="452470"/>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a:extLst>
              <a:ext uri="{FF2B5EF4-FFF2-40B4-BE49-F238E27FC236}">
                <a16:creationId xmlns:a16="http://schemas.microsoft.com/office/drawing/2014/main" id="{9ABD9319-780E-A5B9-2752-5363826D5DEB}"/>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6" name="Google Shape;146;p15">
            <a:extLst>
              <a:ext uri="{FF2B5EF4-FFF2-40B4-BE49-F238E27FC236}">
                <a16:creationId xmlns:a16="http://schemas.microsoft.com/office/drawing/2014/main" id="{BC92D3A5-78E7-F00C-BA75-CB680B982AB9}"/>
              </a:ext>
            </a:extLst>
          </p:cNvPr>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３．混色結果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a:extLst>
              <a:ext uri="{FF2B5EF4-FFF2-40B4-BE49-F238E27FC236}">
                <a16:creationId xmlns:a16="http://schemas.microsoft.com/office/drawing/2014/main" id="{E588016D-66F7-EB04-6F62-7EFDD49AC042}"/>
              </a:ext>
            </a:extLst>
          </p:cNvPr>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8" name="Google Shape;148;p15">
            <a:extLst>
              <a:ext uri="{FF2B5EF4-FFF2-40B4-BE49-F238E27FC236}">
                <a16:creationId xmlns:a16="http://schemas.microsoft.com/office/drawing/2014/main" id="{6FFAE485-6B28-7E7D-65F5-7C7D73DBC184}"/>
              </a:ext>
            </a:extLst>
          </p:cNvPr>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サイズ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49" name="Google Shape;149;p15">
            <a:extLst>
              <a:ext uri="{FF2B5EF4-FFF2-40B4-BE49-F238E27FC236}">
                <a16:creationId xmlns:a16="http://schemas.microsoft.com/office/drawing/2014/main" id="{F9F77DF5-E165-82E5-7773-9D547D87263F}"/>
              </a:ext>
            </a:extLst>
          </p:cNvPr>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Mで始まるモデルをM</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で始まるモデルをS</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A1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miniで印刷できるサイズとなります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L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で始まるモデルはBambu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pic>
        <p:nvPicPr>
          <p:cNvPr id="151" name="Google Shape;151;p15">
            <a:extLst>
              <a:ext uri="{FF2B5EF4-FFF2-40B4-BE49-F238E27FC236}">
                <a16:creationId xmlns:a16="http://schemas.microsoft.com/office/drawing/2014/main" id="{1F0203A6-5DB7-152B-D0AB-669B857D0198}"/>
              </a:ext>
            </a:extLst>
          </p:cNvPr>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a:extLst>
              <a:ext uri="{FF2B5EF4-FFF2-40B4-BE49-F238E27FC236}">
                <a16:creationId xmlns:a16="http://schemas.microsoft.com/office/drawing/2014/main" id="{AB595057-CCF3-5059-62D4-5340AC1B8DE5}"/>
              </a:ext>
            </a:extLst>
          </p:cNvPr>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混色の特徴</a:t>
            </a:r>
            <a:r>
              <a:rPr lang="en-US" sz="120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明度差の小さい組み合わせ（CMY）</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シアン・マゼンタ・イエローなどの明度差の小さい組合せはは、混合比と最終色が比較的リニアに対応します。 この様なケースではStandardモデルだけで十分な結果を得る事が出来ます。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54" name="Google Shape;154;p15">
            <a:extLst>
              <a:ext uri="{FF2B5EF4-FFF2-40B4-BE49-F238E27FC236}">
                <a16:creationId xmlns:a16="http://schemas.microsoft.com/office/drawing/2014/main" id="{80C1E09F-F24F-49B8-AC91-17CBBE1974D6}"/>
              </a:ext>
            </a:extLst>
          </p:cNvPr>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
        <p:nvSpPr>
          <p:cNvPr id="9" name="正方形/長方形 8">
            <a:extLst>
              <a:ext uri="{FF2B5EF4-FFF2-40B4-BE49-F238E27FC236}">
                <a16:creationId xmlns:a16="http://schemas.microsoft.com/office/drawing/2014/main" id="{D793BCB5-0B66-FC85-7077-E15EC0525029}"/>
              </a:ext>
            </a:extLst>
          </p:cNvPr>
          <p:cNvSpPr/>
          <p:nvPr/>
        </p:nvSpPr>
        <p:spPr>
          <a:xfrm>
            <a:off x="3388659" y="6773423"/>
            <a:ext cx="3162748" cy="156224"/>
          </a:xfrm>
          <a:prstGeom prst="rect">
            <a:avLst/>
          </a:prstGeom>
          <a:gradFill flip="none" rotWithShape="1">
            <a:gsLst>
              <a:gs pos="0">
                <a:schemeClr val="accent1">
                  <a:lumMod val="5000"/>
                  <a:lumOff val="95000"/>
                  <a:alpha val="0"/>
                </a:schemeClr>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0831B8ED-1033-E284-3564-4C5CCB186618}"/>
              </a:ext>
            </a:extLst>
          </p:cNvPr>
          <p:cNvSpPr/>
          <p:nvPr/>
        </p:nvSpPr>
        <p:spPr>
          <a:xfrm flipV="1">
            <a:off x="3539593" y="8410075"/>
            <a:ext cx="2875225" cy="207933"/>
          </a:xfrm>
          <a:prstGeom prst="rect">
            <a:avLst/>
          </a:prstGeom>
          <a:gradFill flip="none" rotWithShape="1">
            <a:gsLst>
              <a:gs pos="0">
                <a:schemeClr val="accent1">
                  <a:lumMod val="5000"/>
                  <a:lumOff val="95000"/>
                  <a:alpha val="0"/>
                </a:schemeClr>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4440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331135A0-EC8E-2A22-49D3-C3CAC4FD0E3B}"/>
            </a:ext>
          </a:extLst>
        </p:cNvPr>
        <p:cNvGrpSpPr/>
        <p:nvPr/>
      </p:nvGrpSpPr>
      <p:grpSpPr>
        <a:xfrm>
          <a:off x="0" y="0"/>
          <a:ext cx="0" cy="0"/>
          <a:chOff x="0" y="0"/>
          <a:chExt cx="0" cy="0"/>
        </a:xfrm>
      </p:grpSpPr>
      <p:sp>
        <p:nvSpPr>
          <p:cNvPr id="159" name="Google Shape;159;p16">
            <a:extLst>
              <a:ext uri="{FF2B5EF4-FFF2-40B4-BE49-F238E27FC236}">
                <a16:creationId xmlns:a16="http://schemas.microsoft.com/office/drawing/2014/main" id="{BE5B8C8B-AF85-E2D4-A9D4-2AEC791D7554}"/>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DFEFD032-A78E-E6CF-B234-D5EAA493F360}"/>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0974 w 6858000"/>
              <a:gd name="csY8" fmla="*/ 5924471 h 9144000"/>
              <a:gd name="csX9" fmla="*/ 558674 w 6858000"/>
              <a:gd name="csY9" fmla="*/ 6026771 h 9144000"/>
              <a:gd name="csX10" fmla="*/ 660974 w 6858000"/>
              <a:gd name="csY10" fmla="*/ 6129071 h 9144000"/>
              <a:gd name="csX11" fmla="*/ 763274 w 6858000"/>
              <a:gd name="csY11" fmla="*/ 6026771 h 9144000"/>
              <a:gd name="csX12" fmla="*/ 660974 w 6858000"/>
              <a:gd name="csY12" fmla="*/ 5924471 h 9144000"/>
              <a:gd name="csX13" fmla="*/ 639949 w 6858000"/>
              <a:gd name="csY13" fmla="*/ 4316206 h 9144000"/>
              <a:gd name="csX14" fmla="*/ 577699 w 6858000"/>
              <a:gd name="csY14" fmla="*/ 4381156 h 9144000"/>
              <a:gd name="csX15" fmla="*/ 639949 w 6858000"/>
              <a:gd name="csY15" fmla="*/ 4446106 h 9144000"/>
              <a:gd name="csX16" fmla="*/ 702199 w 6858000"/>
              <a:gd name="csY16" fmla="*/ 4381156 h 9144000"/>
              <a:gd name="csX17" fmla="*/ 639949 w 6858000"/>
              <a:gd name="csY17" fmla="*/ 4316206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0974" y="5924471"/>
                </a:moveTo>
                <a:cubicBezTo>
                  <a:pt x="604475" y="5924471"/>
                  <a:pt x="558674" y="5970272"/>
                  <a:pt x="558674" y="6026771"/>
                </a:cubicBezTo>
                <a:cubicBezTo>
                  <a:pt x="558674" y="6083270"/>
                  <a:pt x="604475" y="6129071"/>
                  <a:pt x="660974" y="6129071"/>
                </a:cubicBezTo>
                <a:cubicBezTo>
                  <a:pt x="717473" y="6129071"/>
                  <a:pt x="763274" y="6083270"/>
                  <a:pt x="763274" y="6026771"/>
                </a:cubicBezTo>
                <a:cubicBezTo>
                  <a:pt x="763274" y="5970272"/>
                  <a:pt x="717473" y="5924471"/>
                  <a:pt x="660974" y="5924471"/>
                </a:cubicBezTo>
                <a:close/>
                <a:moveTo>
                  <a:pt x="639949" y="4316206"/>
                </a:moveTo>
                <a:cubicBezTo>
                  <a:pt x="605569" y="4316206"/>
                  <a:pt x="577699" y="4345285"/>
                  <a:pt x="577699" y="4381156"/>
                </a:cubicBezTo>
                <a:cubicBezTo>
                  <a:pt x="577699" y="4417027"/>
                  <a:pt x="605569" y="4446106"/>
                  <a:pt x="639949" y="4446106"/>
                </a:cubicBezTo>
                <a:cubicBezTo>
                  <a:pt x="674329" y="4446106"/>
                  <a:pt x="702199" y="4417027"/>
                  <a:pt x="702199" y="4381156"/>
                </a:cubicBezTo>
                <a:cubicBezTo>
                  <a:pt x="702199" y="4345285"/>
                  <a:pt x="674329" y="4316206"/>
                  <a:pt x="639949" y="4316206"/>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a:extLst>
              <a:ext uri="{FF2B5EF4-FFF2-40B4-BE49-F238E27FC236}">
                <a16:creationId xmlns:a16="http://schemas.microsoft.com/office/drawing/2014/main" id="{4D272849-9DEE-FB2C-00F5-A8497A301DA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1" name="Google Shape;171;p16">
            <a:extLst>
              <a:ext uri="{FF2B5EF4-FFF2-40B4-BE49-F238E27FC236}">
                <a16:creationId xmlns:a16="http://schemas.microsoft.com/office/drawing/2014/main" id="{81552B57-B992-F6BD-8537-41D5BB74071A}"/>
              </a:ext>
            </a:extLst>
          </p:cNvPr>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４．揃えるべきフィラメント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2" name="Google Shape;172;p16">
            <a:extLst>
              <a:ext uri="{FF2B5EF4-FFF2-40B4-BE49-F238E27FC236}">
                <a16:creationId xmlns:a16="http://schemas.microsoft.com/office/drawing/2014/main" id="{62C17E29-B963-C073-629D-2838A2BBB02D}"/>
              </a:ext>
            </a:extLst>
          </p:cNvPr>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3" name="Google Shape;173;p16">
            <a:extLst>
              <a:ext uri="{FF2B5EF4-FFF2-40B4-BE49-F238E27FC236}">
                <a16:creationId xmlns:a16="http://schemas.microsoft.com/office/drawing/2014/main" id="{B05B10E6-00B1-8084-B216-A48CF55A01EA}"/>
              </a:ext>
            </a:extLst>
          </p:cNvPr>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明度差の大きい組み合わせ（白・黒</a:t>
            </a:r>
            <a:r>
              <a:rPr lang="en-US"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まいます。このような場合はDetailモデルを活用してください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なってしまう事があります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で薄いグレーの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74" name="Google Shape;174;p16">
            <a:extLst>
              <a:ext uri="{FF2B5EF4-FFF2-40B4-BE49-F238E27FC236}">
                <a16:creationId xmlns:a16="http://schemas.microsoft.com/office/drawing/2014/main" id="{69F2650E-D416-9406-51A3-C34411A45883}"/>
              </a:ext>
            </a:extLst>
          </p:cNvPr>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a:extLst>
              <a:ext uri="{FF2B5EF4-FFF2-40B4-BE49-F238E27FC236}">
                <a16:creationId xmlns:a16="http://schemas.microsoft.com/office/drawing/2014/main" id="{CD7DA3A0-B1F6-997B-CEF5-919C8DC635A1}"/>
              </a:ext>
            </a:extLst>
          </p:cNvPr>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材質による違い</a:t>
            </a:r>
            <a:endParaRPr sz="12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特にPLA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一方でPETG</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HTの白は透過性が低く、PLA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Basicよりも白の影響が強い結果となります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extLst>
      <p:ext uri="{BB962C8B-B14F-4D97-AF65-F5344CB8AC3E}">
        <p14:creationId xmlns:p14="http://schemas.microsoft.com/office/powerpoint/2010/main" val="4726424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77D955A5-57E5-5C3E-03AC-444BEB64E08D}"/>
            </a:ext>
          </a:extLst>
        </p:cNvPr>
        <p:cNvGrpSpPr/>
        <p:nvPr/>
      </p:nvGrpSpPr>
      <p:grpSpPr>
        <a:xfrm>
          <a:off x="0" y="0"/>
          <a:ext cx="0" cy="0"/>
          <a:chOff x="0" y="0"/>
          <a:chExt cx="0" cy="0"/>
        </a:xfrm>
      </p:grpSpPr>
      <p:sp>
        <p:nvSpPr>
          <p:cNvPr id="181" name="Google Shape;181;p17">
            <a:extLst>
              <a:ext uri="{FF2B5EF4-FFF2-40B4-BE49-F238E27FC236}">
                <a16:creationId xmlns:a16="http://schemas.microsoft.com/office/drawing/2014/main" id="{12731763-E121-1A4C-9B0F-40AEB82BCBEE}"/>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B83A0BB2-4289-E260-9C09-349CB557C731}"/>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6959157 h 9144000"/>
              <a:gd name="csX9" fmla="*/ 594999 w 6858000"/>
              <a:gd name="csY9" fmla="*/ 7024107 h 9144000"/>
              <a:gd name="csX10" fmla="*/ 657249 w 6858000"/>
              <a:gd name="csY10" fmla="*/ 7089057 h 9144000"/>
              <a:gd name="csX11" fmla="*/ 719499 w 6858000"/>
              <a:gd name="csY11" fmla="*/ 7024107 h 9144000"/>
              <a:gd name="csX12" fmla="*/ 657249 w 6858000"/>
              <a:gd name="csY12" fmla="*/ 6959157 h 9144000"/>
              <a:gd name="csX13" fmla="*/ 657245 w 6858000"/>
              <a:gd name="csY13" fmla="*/ 4464919 h 9144000"/>
              <a:gd name="csX14" fmla="*/ 554945 w 6858000"/>
              <a:gd name="csY14" fmla="*/ 4567219 h 9144000"/>
              <a:gd name="csX15" fmla="*/ 657245 w 6858000"/>
              <a:gd name="csY15" fmla="*/ 4669519 h 9144000"/>
              <a:gd name="csX16" fmla="*/ 759545 w 6858000"/>
              <a:gd name="csY16" fmla="*/ 4567219 h 9144000"/>
              <a:gd name="csX17" fmla="*/ 657245 w 6858000"/>
              <a:gd name="csY17" fmla="*/ 4464919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6959157"/>
                </a:moveTo>
                <a:cubicBezTo>
                  <a:pt x="622869" y="6959157"/>
                  <a:pt x="594999" y="6988236"/>
                  <a:pt x="594999" y="7024107"/>
                </a:cubicBezTo>
                <a:cubicBezTo>
                  <a:pt x="594999" y="7059978"/>
                  <a:pt x="622869" y="7089057"/>
                  <a:pt x="657249" y="7089057"/>
                </a:cubicBezTo>
                <a:cubicBezTo>
                  <a:pt x="691629" y="7089057"/>
                  <a:pt x="719499" y="7059978"/>
                  <a:pt x="719499" y="7024107"/>
                </a:cubicBezTo>
                <a:cubicBezTo>
                  <a:pt x="719499" y="6988236"/>
                  <a:pt x="691629" y="6959157"/>
                  <a:pt x="657249" y="6959157"/>
                </a:cubicBezTo>
                <a:close/>
                <a:moveTo>
                  <a:pt x="657245" y="4464919"/>
                </a:moveTo>
                <a:cubicBezTo>
                  <a:pt x="600746" y="4464919"/>
                  <a:pt x="554945" y="4510720"/>
                  <a:pt x="554945" y="4567219"/>
                </a:cubicBezTo>
                <a:cubicBezTo>
                  <a:pt x="554945" y="4623718"/>
                  <a:pt x="600746" y="4669519"/>
                  <a:pt x="657245" y="4669519"/>
                </a:cubicBezTo>
                <a:cubicBezTo>
                  <a:pt x="713744" y="4669519"/>
                  <a:pt x="759545" y="4623718"/>
                  <a:pt x="759545" y="4567219"/>
                </a:cubicBezTo>
                <a:cubicBezTo>
                  <a:pt x="759545" y="4510720"/>
                  <a:pt x="713744" y="4464919"/>
                  <a:pt x="657245" y="4464919"/>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B31899DA-8B8C-8ED5-65EF-C77B97781551}"/>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3" name="Google Shape;193;p17">
            <a:extLst>
              <a:ext uri="{FF2B5EF4-FFF2-40B4-BE49-F238E27FC236}">
                <a16:creationId xmlns:a16="http://schemas.microsoft.com/office/drawing/2014/main" id="{9CAC8942-2439-6445-5217-A5CC5A0B1E2E}"/>
              </a:ext>
            </a:extLst>
          </p:cNvPr>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５．使用上の注意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a:extLst>
              <a:ext uri="{FF2B5EF4-FFF2-40B4-BE49-F238E27FC236}">
                <a16:creationId xmlns:a16="http://schemas.microsoft.com/office/drawing/2014/main" id="{6F8C76CA-0DA9-5496-1D2F-FCB891F8827B}"/>
              </a:ext>
            </a:extLst>
          </p:cNvPr>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印刷手順：</a:t>
            </a: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この様に2段階の印刷で作りたい形の物を好きな色で作ることが出来ます。 </a:t>
            </a:r>
            <a:endParaRPr sz="1000">
              <a:latin typeface="IBM Plex Sans JP" panose="020B0503050203000203" pitchFamily="50" charset="-128"/>
              <a:ea typeface="IBM Plex Sans JP" panose="020B0503050203000203" pitchFamily="50" charset="-128"/>
            </a:endParaRPr>
          </a:p>
        </p:txBody>
      </p:sp>
      <p:sp>
        <p:nvSpPr>
          <p:cNvPr id="195" name="Google Shape;195;p17">
            <a:extLst>
              <a:ext uri="{FF2B5EF4-FFF2-40B4-BE49-F238E27FC236}">
                <a16:creationId xmlns:a16="http://schemas.microsoft.com/office/drawing/2014/main" id="{80FB70D5-8B7C-36C7-8BA9-ED5C3588EEB2}"/>
              </a:ext>
            </a:extLst>
          </p:cNvPr>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Cyan・Magenta・Yellow</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また、Jade</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White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とBlack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は明度差が大きくまだらになってしまう傾向にあります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そこで、これらの区間に対しては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Cyan–Yellow → Bamboo Green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Magenta-Cyan → Purple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といったブリッジ色</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を提案いたします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96" name="Google Shape;196;p17">
            <a:extLst>
              <a:ext uri="{FF2B5EF4-FFF2-40B4-BE49-F238E27FC236}">
                <a16:creationId xmlns:a16="http://schemas.microsoft.com/office/drawing/2014/main" id="{97AEB27C-99CF-799C-5420-751FA0DC1692}"/>
              </a:ext>
            </a:extLst>
          </p:cNvPr>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a:extLst>
              <a:ext uri="{FF2B5EF4-FFF2-40B4-BE49-F238E27FC236}">
                <a16:creationId xmlns:a16="http://schemas.microsoft.com/office/drawing/2014/main" id="{5D9BC887-7907-103F-2B10-94E0586BBCD7}"/>
              </a:ext>
            </a:extLst>
          </p:cNvPr>
          <p:cNvPicPr preferRelativeResize="0"/>
          <p:nvPr/>
        </p:nvPicPr>
        <p:blipFill>
          <a:blip r:embed="rId3">
            <a:alphaModFix/>
          </a:blip>
          <a:stretch>
            <a:fillRect/>
          </a:stretch>
        </p:blipFill>
        <p:spPr>
          <a:xfrm>
            <a:off x="785500" y="2258112"/>
            <a:ext cx="5536976" cy="2111324"/>
          </a:xfrm>
          <a:prstGeom prst="rect">
            <a:avLst/>
          </a:prstGeom>
          <a:noFill/>
          <a:ln>
            <a:noFill/>
          </a:ln>
        </p:spPr>
      </p:pic>
      <p:pic>
        <p:nvPicPr>
          <p:cNvPr id="199" name="Google Shape;199;p17">
            <a:extLst>
              <a:ext uri="{FF2B5EF4-FFF2-40B4-BE49-F238E27FC236}">
                <a16:creationId xmlns:a16="http://schemas.microsoft.com/office/drawing/2014/main" id="{E1E2CE23-D115-92A5-12ED-86326FE4254C}"/>
              </a:ext>
            </a:extLst>
          </p:cNvPr>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a:extLst>
              <a:ext uri="{FF2B5EF4-FFF2-40B4-BE49-F238E27FC236}">
                <a16:creationId xmlns:a16="http://schemas.microsoft.com/office/drawing/2014/main" id="{410092FB-0DD6-E5E3-8362-AAABBEDC8632}"/>
              </a:ext>
            </a:extLst>
          </p:cNvPr>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IBM Plex Sans JP" panose="020B0503050203000203" pitchFamily="50" charset="-128"/>
                <a:ea typeface="IBM Plex Sans JP" panose="020B0503050203000203" pitchFamily="50" charset="-128"/>
              </a:rPr>
              <a:t>印刷</a:t>
            </a:r>
            <a:r>
              <a:rPr lang="en-US" sz="1200" b="1" dirty="0">
                <a:latin typeface="IBM Plex Sans JP" panose="020B0503050203000203" pitchFamily="50" charset="-128"/>
                <a:ea typeface="IBM Plex Sans JP" panose="020B0503050203000203" pitchFamily="50" charset="-128"/>
              </a:rPr>
              <a:t> #1（Blend Filament </a:t>
            </a:r>
            <a:r>
              <a:rPr lang="en-US" sz="1200" b="1" dirty="0" err="1">
                <a:latin typeface="IBM Plex Sans JP" panose="020B0503050203000203" pitchFamily="50" charset="-128"/>
                <a:ea typeface="IBM Plex Sans JP" panose="020B0503050203000203" pitchFamily="50" charset="-128"/>
              </a:rPr>
              <a:t>の印刷）前</a:t>
            </a:r>
            <a:endParaRPr sz="12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5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b="1" dirty="0" err="1">
                <a:latin typeface="IBM Plex Sans JP" panose="020B0503050203000203" pitchFamily="50" charset="-128"/>
                <a:ea typeface="IBM Plex Sans JP" panose="020B0503050203000203" pitchFamily="50" charset="-128"/>
              </a:rPr>
              <a:t>必須の項目</a:t>
            </a:r>
            <a:r>
              <a:rPr lang="en-US" sz="1000" b="1" dirty="0">
                <a:latin typeface="IBM Plex Sans JP" panose="020B0503050203000203" pitchFamily="50" charset="-128"/>
                <a:ea typeface="IBM Plex Sans JP" panose="020B0503050203000203" pitchFamily="50" charset="-128"/>
              </a:rPr>
              <a:t> </a:t>
            </a:r>
            <a:endParaRPr sz="10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4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・AMS </a:t>
            </a:r>
            <a:r>
              <a:rPr lang="en-US" sz="1000" dirty="0" err="1">
                <a:latin typeface="IBM Plex Sans JP" panose="020B0503050203000203" pitchFamily="50" charset="-128"/>
                <a:ea typeface="IBM Plex Sans JP" panose="020B0503050203000203" pitchFamily="50" charset="-128"/>
              </a:rPr>
              <a:t>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2 </a:t>
            </a:r>
            <a:r>
              <a:rPr lang="en-US" sz="900" dirty="0" err="1">
                <a:latin typeface="IBM Plex Sans JP" panose="020B0503050203000203" pitchFamily="50" charset="-128"/>
                <a:ea typeface="IBM Plex Sans JP" panose="020B0503050203000203" pitchFamily="50" charset="-128"/>
              </a:rPr>
              <a:t>色の頻繁な色の切り替えが必要です。AMSまたは同等のマルチマテリアルシステム必須です</a:t>
            </a:r>
            <a:r>
              <a:rPr lang="en-US" sz="900" dirty="0">
                <a:latin typeface="IBM Plex Sans JP" panose="020B0503050203000203" pitchFamily="50" charset="-128"/>
                <a:ea typeface="IBM Plex Sans JP" panose="020B0503050203000203" pitchFamily="50" charset="-128"/>
              </a:rPr>
              <a:t>。</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・0.4 mm </a:t>
            </a:r>
            <a:r>
              <a:rPr lang="en-US" sz="1000" dirty="0" err="1">
                <a:latin typeface="IBM Plex Sans JP" panose="020B0503050203000203" pitchFamily="50" charset="-128"/>
                <a:ea typeface="IBM Plex Sans JP" panose="020B0503050203000203" pitchFamily="50" charset="-128"/>
              </a:rPr>
              <a:t>ノズル必須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23438818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a:extLst>
            <a:ext uri="{FF2B5EF4-FFF2-40B4-BE49-F238E27FC236}">
              <a16:creationId xmlns:a16="http://schemas.microsoft.com/office/drawing/2014/main" id="{F0F2A6F6-6330-ECA7-5159-57DD528FE01C}"/>
            </a:ext>
          </a:extLst>
        </p:cNvPr>
        <p:cNvGrpSpPr/>
        <p:nvPr/>
      </p:nvGrpSpPr>
      <p:grpSpPr>
        <a:xfrm>
          <a:off x="0" y="0"/>
          <a:ext cx="0" cy="0"/>
          <a:chOff x="0" y="0"/>
          <a:chExt cx="0" cy="0"/>
        </a:xfrm>
      </p:grpSpPr>
      <p:sp>
        <p:nvSpPr>
          <p:cNvPr id="205" name="Google Shape;205;p18">
            <a:extLst>
              <a:ext uri="{FF2B5EF4-FFF2-40B4-BE49-F238E27FC236}">
                <a16:creationId xmlns:a16="http://schemas.microsoft.com/office/drawing/2014/main" id="{74E7E149-E36A-8763-2298-8C3F9C64FF39}"/>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 name="フリーフォーム: 図形 4">
            <a:extLst>
              <a:ext uri="{FF2B5EF4-FFF2-40B4-BE49-F238E27FC236}">
                <a16:creationId xmlns:a16="http://schemas.microsoft.com/office/drawing/2014/main" id="{7A3295ED-AB35-2080-78EE-9996633FFEA4}"/>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7170193 h 9144000"/>
              <a:gd name="csX9" fmla="*/ 594999 w 6858000"/>
              <a:gd name="csY9" fmla="*/ 7235143 h 9144000"/>
              <a:gd name="csX10" fmla="*/ 657249 w 6858000"/>
              <a:gd name="csY10" fmla="*/ 7300093 h 9144000"/>
              <a:gd name="csX11" fmla="*/ 719499 w 6858000"/>
              <a:gd name="csY11" fmla="*/ 7235143 h 9144000"/>
              <a:gd name="csX12" fmla="*/ 657249 w 6858000"/>
              <a:gd name="csY12" fmla="*/ 7170193 h 9144000"/>
              <a:gd name="csX13" fmla="*/ 537486 w 6858000"/>
              <a:gd name="csY13" fmla="*/ 446937 h 9144000"/>
              <a:gd name="csX14" fmla="*/ 537486 w 6858000"/>
              <a:gd name="csY14" fmla="*/ 500937 h 9144000"/>
              <a:gd name="csX15" fmla="*/ 6293586 w 6858000"/>
              <a:gd name="csY15" fmla="*/ 500937 h 9144000"/>
              <a:gd name="csX16" fmla="*/ 6293586 w 6858000"/>
              <a:gd name="csY16" fmla="*/ 446937 h 9144000"/>
              <a:gd name="csX17" fmla="*/ 0 w 6858000"/>
              <a:gd name="csY17" fmla="*/ 0 h 9144000"/>
              <a:gd name="csX18" fmla="*/ 6858000 w 6858000"/>
              <a:gd name="csY18" fmla="*/ 0 h 9144000"/>
              <a:gd name="csX19" fmla="*/ 6858000 w 6858000"/>
              <a:gd name="csY19" fmla="*/ 9144000 h 9144000"/>
              <a:gd name="csX20" fmla="*/ 0 w 6858000"/>
              <a:gd name="csY2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7170193"/>
                </a:moveTo>
                <a:cubicBezTo>
                  <a:pt x="622869" y="7170193"/>
                  <a:pt x="594999" y="7199272"/>
                  <a:pt x="594999" y="7235143"/>
                </a:cubicBezTo>
                <a:cubicBezTo>
                  <a:pt x="594999" y="7271014"/>
                  <a:pt x="622869" y="7300093"/>
                  <a:pt x="657249" y="7300093"/>
                </a:cubicBezTo>
                <a:cubicBezTo>
                  <a:pt x="691629" y="7300093"/>
                  <a:pt x="719499" y="7271014"/>
                  <a:pt x="719499" y="7235143"/>
                </a:cubicBezTo>
                <a:cubicBezTo>
                  <a:pt x="719499" y="7199272"/>
                  <a:pt x="691629" y="7170193"/>
                  <a:pt x="657249" y="7170193"/>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a:extLst>
              <a:ext uri="{FF2B5EF4-FFF2-40B4-BE49-F238E27FC236}">
                <a16:creationId xmlns:a16="http://schemas.microsoft.com/office/drawing/2014/main" id="{28797124-C62F-BEC5-0C43-3ACCD75325AD}"/>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a:extLst>
              <a:ext uri="{FF2B5EF4-FFF2-40B4-BE49-F238E27FC236}">
                <a16:creationId xmlns:a16="http://schemas.microsoft.com/office/drawing/2014/main" id="{A925BD67-902F-7AAC-D1F1-81CE68FCFB0E}"/>
              </a:ext>
            </a:extLst>
          </p:cNvPr>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非推奨の項目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 にて糊がノズルに詰まる可能性があります。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・異素材混合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印刷温度が異なる素材の混合フィラメントは、印刷＃２にてノズルが詰まる可能性があります。 PLA Basic と PLA Matte の様に印刷温度が一致しており、同素材であれば使用できる可能性はあります。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基本的に</a:t>
            </a:r>
            <a:r>
              <a:rPr lang="en-US" sz="900" b="1">
                <a:solidFill>
                  <a:schemeClr val="dk1"/>
                </a:solidFill>
                <a:latin typeface="IBM Plex Sans JP" panose="020B0503050203000203" pitchFamily="50" charset="-128"/>
                <a:ea typeface="IBM Plex Sans JP" panose="020B0503050203000203" pitchFamily="50" charset="-128"/>
                <a:cs typeface="IBM Plex Sans JP"/>
                <a:sym typeface="IBM Plex Sans JP"/>
              </a:rPr>
              <a:t>同一メーカー同一商品の色違いを使うことを推奨</a:t>
            </a: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します。挑戦する場合は自己責任でお願いします。 </a:t>
            </a:r>
            <a:endParaRPr sz="900">
              <a:latin typeface="IBM Plex Sans JP" panose="020B0503050203000203" pitchFamily="50" charset="-128"/>
              <a:ea typeface="IBM Plex Sans JP" panose="020B0503050203000203" pitchFamily="50" charset="-128"/>
            </a:endParaRPr>
          </a:p>
        </p:txBody>
      </p:sp>
      <p:sp>
        <p:nvSpPr>
          <p:cNvPr id="217" name="Google Shape;217;p18">
            <a:extLst>
              <a:ext uri="{FF2B5EF4-FFF2-40B4-BE49-F238E27FC236}">
                <a16:creationId xmlns:a16="http://schemas.microsoft.com/office/drawing/2014/main" id="{9BD7F315-0030-291A-6D9D-E12891778E03}"/>
              </a:ext>
            </a:extLst>
          </p:cNvPr>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t>
            </a:r>
            <a:r>
              <a:rPr lang="en-US" sz="1000" dirty="0" err="1">
                <a:latin typeface="IBM Plex Sans JP" panose="020B0503050203000203" pitchFamily="50" charset="-128"/>
                <a:ea typeface="IBM Plex Sans JP" panose="020B0503050203000203" pitchFamily="50" charset="-128"/>
              </a:rPr>
              <a:t>プレートと手の脱脂</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err="1">
                <a:latin typeface="IBM Plex Sans JP" panose="020B0503050203000203" pitchFamily="50" charset="-128"/>
                <a:ea typeface="IBM Plex Sans JP" panose="020B0503050203000203" pitchFamily="50" charset="-128"/>
              </a:rPr>
              <a:t>本モデルは定着性がシビアです。十分な脱脂を行って、定着性を高めてください</a:t>
            </a:r>
            <a:r>
              <a:rPr lang="en-US" sz="900" dirty="0">
                <a:latin typeface="IBM Plex Sans JP" panose="020B0503050203000203" pitchFamily="50" charset="-128"/>
                <a:ea typeface="IBM Plex Sans JP" panose="020B0503050203000203" pitchFamily="50" charset="-128"/>
              </a:rPr>
              <a:t>。 定着が困難な場合は1サイズ小さいモデルを検討してください。 </a:t>
            </a:r>
            <a:endParaRPr sz="9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定着のしやすさ</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ビ</a:t>
            </a:r>
            <a:r>
              <a:rPr lang="en-US" sz="900" dirty="0" err="1">
                <a:latin typeface="IBM Plex Sans JP" panose="020B0503050203000203" pitchFamily="50" charset="-128"/>
                <a:ea typeface="IBM Plex Sans JP" panose="020B0503050203000203" pitchFamily="50" charset="-128"/>
              </a:rPr>
              <a:t>ルドプレートとフィラメントによって定着性が変わります。下表を参考にしてください</a:t>
            </a:r>
            <a:r>
              <a:rPr lang="en-US" sz="900" dirty="0">
                <a:latin typeface="IBM Plex Sans JP" panose="020B0503050203000203" pitchFamily="50" charset="-128"/>
                <a:ea typeface="IBM Plex Sans JP" panose="020B0503050203000203" pitchFamily="50" charset="-128"/>
              </a:rPr>
              <a:t>。 </a:t>
            </a:r>
            <a:endParaRPr sz="900" dirty="0">
              <a:latin typeface="IBM Plex Sans JP" panose="020B0503050203000203" pitchFamily="50" charset="-128"/>
              <a:ea typeface="IBM Plex Sans JP" panose="020B0503050203000203" pitchFamily="50" charset="-128"/>
            </a:endParaRPr>
          </a:p>
        </p:txBody>
      </p:sp>
      <p:sp>
        <p:nvSpPr>
          <p:cNvPr id="218" name="Google Shape;218;p18">
            <a:extLst>
              <a:ext uri="{FF2B5EF4-FFF2-40B4-BE49-F238E27FC236}">
                <a16:creationId xmlns:a16="http://schemas.microsoft.com/office/drawing/2014/main" id="{A6E8EFC7-20D7-1EDC-35D8-ACF8D48CF14F}"/>
              </a:ext>
            </a:extLst>
          </p:cNvPr>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a:extLst>
              <a:ext uri="{FF2B5EF4-FFF2-40B4-BE49-F238E27FC236}">
                <a16:creationId xmlns:a16="http://schemas.microsoft.com/office/drawing/2014/main" id="{586AA613-ACB5-7D8B-CD7D-1B4D26E2D1B9}"/>
              </a:ext>
            </a:extLst>
          </p:cNvPr>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a:extLst>
              <a:ext uri="{FF2B5EF4-FFF2-40B4-BE49-F238E27FC236}">
                <a16:creationId xmlns:a16="http://schemas.microsoft.com/office/drawing/2014/main" id="{3997505F-9366-0413-DA5B-43C234B12413}"/>
              </a:ext>
            </a:extLst>
          </p:cNvPr>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#2（本番造形）前</a:t>
            </a:r>
            <a:endParaRPr sz="12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1855218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AB1AE13C-C3F9-90E3-BCD0-D3D54E172A0B}"/>
            </a:ext>
          </a:extLst>
        </p:cNvPr>
        <p:cNvGrpSpPr/>
        <p:nvPr/>
      </p:nvGrpSpPr>
      <p:grpSpPr>
        <a:xfrm>
          <a:off x="0" y="0"/>
          <a:ext cx="0" cy="0"/>
          <a:chOff x="0" y="0"/>
          <a:chExt cx="0" cy="0"/>
        </a:xfrm>
      </p:grpSpPr>
      <p:sp>
        <p:nvSpPr>
          <p:cNvPr id="226" name="Google Shape;226;p19">
            <a:extLst>
              <a:ext uri="{FF2B5EF4-FFF2-40B4-BE49-F238E27FC236}">
                <a16:creationId xmlns:a16="http://schemas.microsoft.com/office/drawing/2014/main" id="{7080EC57-8219-A393-0C69-31F45976CD51}"/>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F4F1904A-DB78-AF7B-F0B9-54A5E92F3B4C}"/>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6135 w 6858000"/>
              <a:gd name="csY8" fmla="*/ 2876799 h 9144000"/>
              <a:gd name="csX9" fmla="*/ 563835 w 6858000"/>
              <a:gd name="csY9" fmla="*/ 2979099 h 9144000"/>
              <a:gd name="csX10" fmla="*/ 666135 w 6858000"/>
              <a:gd name="csY10" fmla="*/ 3081399 h 9144000"/>
              <a:gd name="csX11" fmla="*/ 768435 w 6858000"/>
              <a:gd name="csY11" fmla="*/ 2979099 h 9144000"/>
              <a:gd name="csX12" fmla="*/ 666135 w 6858000"/>
              <a:gd name="csY12" fmla="*/ 2876799 h 9144000"/>
              <a:gd name="csX13" fmla="*/ 666147 w 6858000"/>
              <a:gd name="csY13" fmla="*/ 1465299 h 9144000"/>
              <a:gd name="csX14" fmla="*/ 563847 w 6858000"/>
              <a:gd name="csY14" fmla="*/ 1567599 h 9144000"/>
              <a:gd name="csX15" fmla="*/ 666147 w 6858000"/>
              <a:gd name="csY15" fmla="*/ 1669899 h 9144000"/>
              <a:gd name="csX16" fmla="*/ 768447 w 6858000"/>
              <a:gd name="csY16" fmla="*/ 1567599 h 9144000"/>
              <a:gd name="csX17" fmla="*/ 666147 w 6858000"/>
              <a:gd name="csY17" fmla="*/ 1465299 h 9144000"/>
              <a:gd name="csX18" fmla="*/ 537486 w 6858000"/>
              <a:gd name="csY18" fmla="*/ 446937 h 9144000"/>
              <a:gd name="csX19" fmla="*/ 537486 w 6858000"/>
              <a:gd name="csY19" fmla="*/ 500937 h 9144000"/>
              <a:gd name="csX20" fmla="*/ 6293586 w 6858000"/>
              <a:gd name="csY20" fmla="*/ 500937 h 9144000"/>
              <a:gd name="csX21" fmla="*/ 6293586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6135" y="2876799"/>
                </a:moveTo>
                <a:cubicBezTo>
                  <a:pt x="609636" y="2876799"/>
                  <a:pt x="563835" y="2922600"/>
                  <a:pt x="563835" y="2979099"/>
                </a:cubicBezTo>
                <a:cubicBezTo>
                  <a:pt x="563835" y="3035598"/>
                  <a:pt x="609636" y="3081399"/>
                  <a:pt x="666135" y="3081399"/>
                </a:cubicBezTo>
                <a:cubicBezTo>
                  <a:pt x="722634" y="3081399"/>
                  <a:pt x="768435" y="3035598"/>
                  <a:pt x="768435" y="2979099"/>
                </a:cubicBezTo>
                <a:cubicBezTo>
                  <a:pt x="768435" y="2922600"/>
                  <a:pt x="722634" y="2876799"/>
                  <a:pt x="666135" y="2876799"/>
                </a:cubicBezTo>
                <a:close/>
                <a:moveTo>
                  <a:pt x="666147" y="1465299"/>
                </a:moveTo>
                <a:cubicBezTo>
                  <a:pt x="609648" y="1465299"/>
                  <a:pt x="563847" y="1511100"/>
                  <a:pt x="563847" y="1567599"/>
                </a:cubicBezTo>
                <a:cubicBezTo>
                  <a:pt x="563847" y="1624098"/>
                  <a:pt x="609648" y="1669899"/>
                  <a:pt x="666147" y="1669899"/>
                </a:cubicBezTo>
                <a:cubicBezTo>
                  <a:pt x="722646" y="1669899"/>
                  <a:pt x="768447" y="1624098"/>
                  <a:pt x="768447" y="1567599"/>
                </a:cubicBezTo>
                <a:cubicBezTo>
                  <a:pt x="768447" y="1511100"/>
                  <a:pt x="722646" y="1465299"/>
                  <a:pt x="666147" y="1465299"/>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a:extLst>
              <a:ext uri="{FF2B5EF4-FFF2-40B4-BE49-F238E27FC236}">
                <a16:creationId xmlns:a16="http://schemas.microsoft.com/office/drawing/2014/main" id="{11CA049A-5E6A-C604-C758-88D00D59A5FE}"/>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8" name="Google Shape;238;p19">
            <a:extLst>
              <a:ext uri="{FF2B5EF4-FFF2-40B4-BE49-F238E27FC236}">
                <a16:creationId xmlns:a16="http://schemas.microsoft.com/office/drawing/2014/main" id="{D7153B77-2CF8-111C-1726-539CA278A5A5}"/>
              </a:ext>
            </a:extLst>
          </p:cNvPr>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a:t>
            </a:r>
            <a:r>
              <a:rPr lang="ja-JP" alt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39" name="Google Shape;239;p19">
            <a:extLst>
              <a:ext uri="{FF2B5EF4-FFF2-40B4-BE49-F238E27FC236}">
                <a16:creationId xmlns:a16="http://schemas.microsoft.com/office/drawing/2014/main" id="{6D477597-7344-C528-FEF9-BC377C3B8BEB}"/>
              </a:ext>
            </a:extLst>
          </p:cNvPr>
          <p:cNvSpPr txBox="1"/>
          <p:nvPr/>
        </p:nvSpPr>
        <p:spPr>
          <a:xfrm>
            <a:off x="672860" y="3162690"/>
            <a:ext cx="5649600" cy="723235"/>
          </a:xfrm>
          <a:prstGeom prst="rect">
            <a:avLst/>
          </a:prstGeom>
          <a:noFill/>
          <a:ln>
            <a:noFill/>
          </a:ln>
        </p:spPr>
        <p:txBody>
          <a:bodyPr spcFirstLastPara="1" wrap="square" lIns="91425" tIns="45700" rIns="91425" bIns="45700" anchor="t" anchorCtr="0">
            <a:spAutoFit/>
          </a:bodyPr>
          <a:lstStyle/>
          <a:p>
            <a:pPr lvl="0"/>
            <a:r>
              <a:rPr lang="ja-JP" altLang="ja-JP" sz="900" dirty="0"/>
              <a:t>Ver.1.0</a:t>
            </a:r>
            <a:r>
              <a:rPr lang="en-US" altLang="ja-JP" sz="900" dirty="0"/>
              <a:t>0</a:t>
            </a:r>
            <a:r>
              <a:rPr lang="ja-JP" altLang="ja-JP" sz="900" dirty="0"/>
              <a:t> 2026-03-24 初版公開 </a:t>
            </a:r>
            <a:endParaRPr lang="en-US" altLang="ja-JP" sz="900" dirty="0"/>
          </a:p>
          <a:p>
            <a:pPr lvl="0"/>
            <a:r>
              <a:rPr lang="ja-JP" altLang="ja-JP" sz="900" dirty="0"/>
              <a:t>Ver</a:t>
            </a:r>
            <a:r>
              <a:rPr lang="en-US" altLang="ja-JP" sz="900" dirty="0"/>
              <a:t>.</a:t>
            </a:r>
            <a:r>
              <a:rPr lang="ja-JP" altLang="ja-JP" sz="900" dirty="0"/>
              <a:t>2.0</a:t>
            </a:r>
            <a:r>
              <a:rPr lang="en-US" altLang="ja-JP" sz="900" dirty="0"/>
              <a:t>0</a:t>
            </a:r>
            <a:r>
              <a:rPr lang="ja-JP" altLang="ja-JP" sz="900" dirty="0"/>
              <a:t> 2026-06-19 混色比の数値修正、グラフのアップデート、ブリッジフィラメント</a:t>
            </a:r>
            <a:endParaRPr lang="en-US" altLang="ja-JP" sz="900" dirty="0"/>
          </a:p>
          <a:p>
            <a:r>
              <a:rPr lang="ja-JP" altLang="ja-JP" sz="900" dirty="0"/>
              <a:t>Ver</a:t>
            </a:r>
            <a:r>
              <a:rPr lang="en-US" altLang="ja-JP" sz="900" dirty="0"/>
              <a:t>.</a:t>
            </a:r>
            <a:r>
              <a:rPr lang="ja-JP" altLang="ja-JP" sz="900" dirty="0"/>
              <a:t>2.</a:t>
            </a:r>
            <a:r>
              <a:rPr lang="en-US" altLang="ja-JP" sz="900" dirty="0"/>
              <a:t>10</a:t>
            </a:r>
            <a:r>
              <a:rPr lang="ja-JP" altLang="ja-JP" sz="900" dirty="0"/>
              <a:t> 2026-0</a:t>
            </a:r>
            <a:r>
              <a:rPr lang="en-US" altLang="ja-JP" sz="900" dirty="0"/>
              <a:t>8</a:t>
            </a:r>
            <a:r>
              <a:rPr lang="ja-JP" altLang="ja-JP" sz="900" dirty="0"/>
              <a:t>-</a:t>
            </a:r>
            <a:r>
              <a:rPr lang="en-US" altLang="ja-JP" sz="900" dirty="0"/>
              <a:t>16</a:t>
            </a:r>
            <a:r>
              <a:rPr lang="ja-JP" altLang="en-US" sz="900" dirty="0"/>
              <a:t> 統一デザイン反映</a:t>
            </a:r>
            <a:endParaRPr lang="en-US" altLang="ja-JP" sz="900" dirty="0"/>
          </a:p>
          <a:p>
            <a:pPr lvl="0"/>
            <a:endParaRPr dirty="0">
              <a:latin typeface="IBM Plex Sans JP" panose="020B0503050203000203" pitchFamily="50" charset="-128"/>
              <a:ea typeface="IBM Plex Sans JP" panose="020B0503050203000203" pitchFamily="50" charset="-128"/>
            </a:endParaRPr>
          </a:p>
        </p:txBody>
      </p:sp>
      <p:sp>
        <p:nvSpPr>
          <p:cNvPr id="240" name="Google Shape;240;p19">
            <a:extLst>
              <a:ext uri="{FF2B5EF4-FFF2-40B4-BE49-F238E27FC236}">
                <a16:creationId xmlns:a16="http://schemas.microsoft.com/office/drawing/2014/main" id="{4157A92B-42B5-C679-0977-F8D3D9700035}"/>
              </a:ext>
            </a:extLst>
          </p:cNvPr>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・印刷＃２におけるノズルの影響</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latin typeface="IBM Plex Sans JP" panose="020B0503050203000203" pitchFamily="50" charset="-128"/>
              <a:ea typeface="IBM Plex Sans JP" panose="020B0503050203000203" pitchFamily="50" charset="-128"/>
            </a:endParaRPr>
          </a:p>
        </p:txBody>
      </p:sp>
      <p:sp>
        <p:nvSpPr>
          <p:cNvPr id="242" name="Google Shape;242;p19">
            <a:extLst>
              <a:ext uri="{FF2B5EF4-FFF2-40B4-BE49-F238E27FC236}">
                <a16:creationId xmlns:a16="http://schemas.microsoft.com/office/drawing/2014/main" id="{784581A8-DE9F-8259-A9B8-B0E19F08C830}"/>
              </a:ext>
            </a:extLst>
          </p:cNvPr>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６．最後に </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43" name="Google Shape;243;p19">
            <a:extLst>
              <a:ext uri="{FF2B5EF4-FFF2-40B4-BE49-F238E27FC236}">
                <a16:creationId xmlns:a16="http://schemas.microsoft.com/office/drawing/2014/main" id="{042D7969-FF8C-8843-29CD-F416F7F3E403}"/>
              </a:ext>
            </a:extLst>
          </p:cNvPr>
          <p:cNvSpPr txBox="1"/>
          <p:nvPr/>
        </p:nvSpPr>
        <p:spPr>
          <a:xfrm>
            <a:off x="672873" y="1828465"/>
            <a:ext cx="56496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お読みいただきありがとうございます。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FlexChroma が、皆さまの造形表現をより広げることを願っています。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Print Colors You Imagine. </a:t>
            </a:r>
            <a:endParaRPr sz="1700" b="1">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2277891617"/>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TotalTime>
  <Words>1355</Words>
  <Application>Microsoft Office PowerPoint</Application>
  <PresentationFormat>画面に合わせる (4:3)</PresentationFormat>
  <Paragraphs>229</Paragraphs>
  <Slides>13</Slides>
  <Notes>13</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13</vt:i4>
      </vt:variant>
    </vt:vector>
  </HeadingPairs>
  <TitlesOfParts>
    <vt:vector size="18" baseType="lpstr">
      <vt:lpstr>IBM Plex Sans JP</vt:lpstr>
      <vt:lpstr>Arial</vt:lpstr>
      <vt:lpstr>Segoe UI Semibold</vt:lpstr>
      <vt:lpstr>Play</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誠 矢崎</cp:lastModifiedBy>
  <cp:revision>4</cp:revision>
  <cp:lastPrinted>2026-08-15T17:19:26Z</cp:lastPrinted>
  <dcterms:modified xsi:type="dcterms:W3CDTF">2026-08-15T17:19:31Z</dcterms:modified>
</cp:coreProperties>
</file>