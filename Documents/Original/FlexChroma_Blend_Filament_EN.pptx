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5"/>
  </p:notesMasterIdLst>
  <p:sldIdLst>
    <p:sldId id="256" r:id="rId2"/>
    <p:sldId id="257" r:id="rId3"/>
    <p:sldId id="258" r:id="rId4"/>
    <p:sldId id="259" r:id="rId5"/>
    <p:sldId id="260" r:id="rId6"/>
    <p:sldId id="261" r:id="rId7"/>
    <p:sldId id="262" r:id="rId8"/>
    <p:sldId id="269" r:id="rId9"/>
    <p:sldId id="264" r:id="rId10"/>
    <p:sldId id="265" r:id="rId11"/>
    <p:sldId id="266" r:id="rId12"/>
    <p:sldId id="267" r:id="rId13"/>
    <p:sldId id="268" r:id="rId14"/>
  </p:sldIdLst>
  <p:sldSz cx="6858000" cy="9144000" type="screen4x3"/>
  <p:notesSz cx="7104063" cy="10234613"/>
  <p:embeddedFontLst>
    <p:embeddedFont>
      <p:font typeface="IBM Plex Sans JP" panose="020B0503050203000203" pitchFamily="50" charset="-128"/>
      <p:regular r:id="rId16"/>
      <p:bold r:id="rId17"/>
    </p:embeddedFont>
    <p:embeddedFont>
      <p:font typeface="Jost" pitchFamily="2" charset="0"/>
      <p:regular r:id="rId18"/>
      <p:bold r:id="rId19"/>
      <p:italic r:id="rId20"/>
      <p:boldItalic r:id="rId21"/>
    </p:embeddedFont>
    <p:embeddedFont>
      <p:font typeface="Jost Medium" pitchFamily="2" charset="0"/>
      <p:regular r:id="rId22"/>
      <p:italic r:id="rId23"/>
    </p:embeddedFont>
    <p:embeddedFont>
      <p:font typeface="Jost SemiBold" pitchFamily="2" charset="0"/>
      <p:bold r:id="rId24"/>
      <p:boldItalic r:id="rId25"/>
    </p:embeddedFont>
    <p:embeddedFont>
      <p:font typeface="Play" panose="020B0600070205080204" charset="0"/>
      <p:regular r:id="rId26"/>
      <p:bold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897" autoAdjust="0"/>
    <p:restoredTop sz="94660"/>
  </p:normalViewPr>
  <p:slideViewPr>
    <p:cSldViewPr snapToGrid="0">
      <p:cViewPr>
        <p:scale>
          <a:sx n="125" d="100"/>
          <a:sy n="125" d="100"/>
        </p:scale>
        <p:origin x="2082" y="-132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font" Target="fonts/font11.fntdata"/><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font" Target="fonts/font10.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9.fntdata"/><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font" Target="fonts/font8.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4.fntdata"/><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openxmlformats.org/officeDocument/2006/relationships/font" Target="fonts/font12.fnt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84225" y="767575"/>
            <a:ext cx="4736250" cy="383797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710400" y="4861425"/>
            <a:ext cx="5683225" cy="460555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710400" y="4861425"/>
            <a:ext cx="5683225" cy="46055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2112963" y="768350"/>
            <a:ext cx="2878137" cy="38369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2:notes"/>
          <p:cNvSpPr txBox="1">
            <a:spLocks noGrp="1"/>
          </p:cNvSpPr>
          <p:nvPr>
            <p:ph type="body" idx="1"/>
          </p:nvPr>
        </p:nvSpPr>
        <p:spPr>
          <a:xfrm>
            <a:off x="710400" y="4861425"/>
            <a:ext cx="5683225" cy="46055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7" name="Google Shape;97;p2:notes"/>
          <p:cNvSpPr>
            <a:spLocks noGrp="1" noRot="1" noChangeAspect="1"/>
          </p:cNvSpPr>
          <p:nvPr>
            <p:ph type="sldImg" idx="2"/>
          </p:nvPr>
        </p:nvSpPr>
        <p:spPr>
          <a:xfrm>
            <a:off x="2112963" y="768350"/>
            <a:ext cx="2878137" cy="38369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3:notes"/>
          <p:cNvSpPr txBox="1">
            <a:spLocks noGrp="1"/>
          </p:cNvSpPr>
          <p:nvPr>
            <p:ph type="body" idx="1"/>
          </p:nvPr>
        </p:nvSpPr>
        <p:spPr>
          <a:xfrm>
            <a:off x="710400" y="4861425"/>
            <a:ext cx="5683225" cy="46055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2" name="Google Shape;132;p3:notes"/>
          <p:cNvSpPr>
            <a:spLocks noGrp="1" noRot="1" noChangeAspect="1"/>
          </p:cNvSpPr>
          <p:nvPr>
            <p:ph type="sldImg" idx="2"/>
          </p:nvPr>
        </p:nvSpPr>
        <p:spPr>
          <a:xfrm>
            <a:off x="2112963" y="768350"/>
            <a:ext cx="2878137" cy="38369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4:notes"/>
          <p:cNvSpPr txBox="1">
            <a:spLocks noGrp="1"/>
          </p:cNvSpPr>
          <p:nvPr>
            <p:ph type="body" idx="1"/>
          </p:nvPr>
        </p:nvSpPr>
        <p:spPr>
          <a:xfrm>
            <a:off x="710400" y="4861425"/>
            <a:ext cx="5683225" cy="46055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7" name="Google Shape;157;p4:notes"/>
          <p:cNvSpPr>
            <a:spLocks noGrp="1" noRot="1" noChangeAspect="1"/>
          </p:cNvSpPr>
          <p:nvPr>
            <p:ph type="sldImg" idx="2"/>
          </p:nvPr>
        </p:nvSpPr>
        <p:spPr>
          <a:xfrm>
            <a:off x="2112963" y="768350"/>
            <a:ext cx="2878137" cy="38369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5:notes"/>
          <p:cNvSpPr txBox="1">
            <a:spLocks noGrp="1"/>
          </p:cNvSpPr>
          <p:nvPr>
            <p:ph type="body" idx="1"/>
          </p:nvPr>
        </p:nvSpPr>
        <p:spPr>
          <a:xfrm>
            <a:off x="710400" y="4861425"/>
            <a:ext cx="5683225" cy="46055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9" name="Google Shape;179;p5:notes"/>
          <p:cNvSpPr>
            <a:spLocks noGrp="1" noRot="1" noChangeAspect="1"/>
          </p:cNvSpPr>
          <p:nvPr>
            <p:ph type="sldImg" idx="2"/>
          </p:nvPr>
        </p:nvSpPr>
        <p:spPr>
          <a:xfrm>
            <a:off x="2112963" y="768350"/>
            <a:ext cx="2878137" cy="38369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g3f70e81ac3d_0_45:notes"/>
          <p:cNvSpPr txBox="1">
            <a:spLocks noGrp="1"/>
          </p:cNvSpPr>
          <p:nvPr>
            <p:ph type="body" idx="1"/>
          </p:nvPr>
        </p:nvSpPr>
        <p:spPr>
          <a:xfrm>
            <a:off x="710400" y="4861425"/>
            <a:ext cx="5683200" cy="4605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3" name="Google Shape;203;g3f70e81ac3d_0_45:notes"/>
          <p:cNvSpPr>
            <a:spLocks noGrp="1" noRot="1" noChangeAspect="1"/>
          </p:cNvSpPr>
          <p:nvPr>
            <p:ph type="sldImg" idx="2"/>
          </p:nvPr>
        </p:nvSpPr>
        <p:spPr>
          <a:xfrm>
            <a:off x="2114550" y="768350"/>
            <a:ext cx="2876550" cy="38369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g3f70e81ac3d_0_65:notes"/>
          <p:cNvSpPr txBox="1">
            <a:spLocks noGrp="1"/>
          </p:cNvSpPr>
          <p:nvPr>
            <p:ph type="body" idx="1"/>
          </p:nvPr>
        </p:nvSpPr>
        <p:spPr>
          <a:xfrm>
            <a:off x="710400" y="4861425"/>
            <a:ext cx="5683200" cy="4605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4" name="Google Shape;224;g3f70e81ac3d_0_65:notes"/>
          <p:cNvSpPr>
            <a:spLocks noGrp="1" noRot="1" noChangeAspect="1"/>
          </p:cNvSpPr>
          <p:nvPr>
            <p:ph type="sldImg" idx="2"/>
          </p:nvPr>
        </p:nvSpPr>
        <p:spPr>
          <a:xfrm>
            <a:off x="2114550" y="768350"/>
            <a:ext cx="2876550" cy="38369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a:extLst>
            <a:ext uri="{FF2B5EF4-FFF2-40B4-BE49-F238E27FC236}">
              <a16:creationId xmlns:a16="http://schemas.microsoft.com/office/drawing/2014/main" id="{47F37A77-586F-B00F-305B-D531F169C64D}"/>
            </a:ext>
          </a:extLst>
        </p:cNvPr>
        <p:cNvGrpSpPr/>
        <p:nvPr/>
      </p:nvGrpSpPr>
      <p:grpSpPr>
        <a:xfrm>
          <a:off x="0" y="0"/>
          <a:ext cx="0" cy="0"/>
          <a:chOff x="0" y="0"/>
          <a:chExt cx="0" cy="0"/>
        </a:xfrm>
      </p:grpSpPr>
      <p:sp>
        <p:nvSpPr>
          <p:cNvPr id="96" name="Google Shape;96;p2:notes">
            <a:extLst>
              <a:ext uri="{FF2B5EF4-FFF2-40B4-BE49-F238E27FC236}">
                <a16:creationId xmlns:a16="http://schemas.microsoft.com/office/drawing/2014/main" id="{83014C18-19D0-658D-47F3-DFDC44FC9800}"/>
              </a:ext>
            </a:extLst>
          </p:cNvPr>
          <p:cNvSpPr txBox="1">
            <a:spLocks noGrp="1"/>
          </p:cNvSpPr>
          <p:nvPr>
            <p:ph type="body" idx="1"/>
          </p:nvPr>
        </p:nvSpPr>
        <p:spPr>
          <a:xfrm>
            <a:off x="710400" y="4861425"/>
            <a:ext cx="5683225" cy="46055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7" name="Google Shape;97;p2:notes">
            <a:extLst>
              <a:ext uri="{FF2B5EF4-FFF2-40B4-BE49-F238E27FC236}">
                <a16:creationId xmlns:a16="http://schemas.microsoft.com/office/drawing/2014/main" id="{F507D0B1-13E0-C0C8-E04C-BDA31BC8054B}"/>
              </a:ext>
            </a:extLst>
          </p:cNvPr>
          <p:cNvSpPr>
            <a:spLocks noGrp="1" noRot="1" noChangeAspect="1"/>
          </p:cNvSpPr>
          <p:nvPr>
            <p:ph type="sldImg" idx="2"/>
          </p:nvPr>
        </p:nvSpPr>
        <p:spPr>
          <a:xfrm>
            <a:off x="2112963" y="768350"/>
            <a:ext cx="2878137" cy="383698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260698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a:extLst>
            <a:ext uri="{FF2B5EF4-FFF2-40B4-BE49-F238E27FC236}">
              <a16:creationId xmlns:a16="http://schemas.microsoft.com/office/drawing/2014/main" id="{376F06FD-D5FA-D485-2C5F-D169A8DE8E2A}"/>
            </a:ext>
          </a:extLst>
        </p:cNvPr>
        <p:cNvGrpSpPr/>
        <p:nvPr/>
      </p:nvGrpSpPr>
      <p:grpSpPr>
        <a:xfrm>
          <a:off x="0" y="0"/>
          <a:ext cx="0" cy="0"/>
          <a:chOff x="0" y="0"/>
          <a:chExt cx="0" cy="0"/>
        </a:xfrm>
      </p:grpSpPr>
      <p:sp>
        <p:nvSpPr>
          <p:cNvPr id="131" name="Google Shape;131;p3:notes">
            <a:extLst>
              <a:ext uri="{FF2B5EF4-FFF2-40B4-BE49-F238E27FC236}">
                <a16:creationId xmlns:a16="http://schemas.microsoft.com/office/drawing/2014/main" id="{A6DC7291-A7AE-EA68-2A2A-492E1D6C7B8A}"/>
              </a:ext>
            </a:extLst>
          </p:cNvPr>
          <p:cNvSpPr txBox="1">
            <a:spLocks noGrp="1"/>
          </p:cNvSpPr>
          <p:nvPr>
            <p:ph type="body" idx="1"/>
          </p:nvPr>
        </p:nvSpPr>
        <p:spPr>
          <a:xfrm>
            <a:off x="710400" y="4861425"/>
            <a:ext cx="5683225" cy="46055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2" name="Google Shape;132;p3:notes">
            <a:extLst>
              <a:ext uri="{FF2B5EF4-FFF2-40B4-BE49-F238E27FC236}">
                <a16:creationId xmlns:a16="http://schemas.microsoft.com/office/drawing/2014/main" id="{649B6C53-5BD7-3B39-110D-8FD2D22E72FF}"/>
              </a:ext>
            </a:extLst>
          </p:cNvPr>
          <p:cNvSpPr>
            <a:spLocks noGrp="1" noRot="1" noChangeAspect="1"/>
          </p:cNvSpPr>
          <p:nvPr>
            <p:ph type="sldImg" idx="2"/>
          </p:nvPr>
        </p:nvSpPr>
        <p:spPr>
          <a:xfrm>
            <a:off x="2112963" y="768350"/>
            <a:ext cx="2878137" cy="383698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4071545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0E4DC0D6-85C2-83B6-9008-D409A871CECF}"/>
            </a:ext>
          </a:extLst>
        </p:cNvPr>
        <p:cNvGrpSpPr/>
        <p:nvPr/>
      </p:nvGrpSpPr>
      <p:grpSpPr>
        <a:xfrm>
          <a:off x="0" y="0"/>
          <a:ext cx="0" cy="0"/>
          <a:chOff x="0" y="0"/>
          <a:chExt cx="0" cy="0"/>
        </a:xfrm>
      </p:grpSpPr>
      <p:sp>
        <p:nvSpPr>
          <p:cNvPr id="156" name="Google Shape;156;p4:notes">
            <a:extLst>
              <a:ext uri="{FF2B5EF4-FFF2-40B4-BE49-F238E27FC236}">
                <a16:creationId xmlns:a16="http://schemas.microsoft.com/office/drawing/2014/main" id="{9887C838-DA23-1CAC-7CA7-AD9EB275778E}"/>
              </a:ext>
            </a:extLst>
          </p:cNvPr>
          <p:cNvSpPr txBox="1">
            <a:spLocks noGrp="1"/>
          </p:cNvSpPr>
          <p:nvPr>
            <p:ph type="body" idx="1"/>
          </p:nvPr>
        </p:nvSpPr>
        <p:spPr>
          <a:xfrm>
            <a:off x="710400" y="4861425"/>
            <a:ext cx="5683225" cy="46055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7" name="Google Shape;157;p4:notes">
            <a:extLst>
              <a:ext uri="{FF2B5EF4-FFF2-40B4-BE49-F238E27FC236}">
                <a16:creationId xmlns:a16="http://schemas.microsoft.com/office/drawing/2014/main" id="{C03CB742-1CC6-4B61-D165-B1529F177B36}"/>
              </a:ext>
            </a:extLst>
          </p:cNvPr>
          <p:cNvSpPr>
            <a:spLocks noGrp="1" noRot="1" noChangeAspect="1"/>
          </p:cNvSpPr>
          <p:nvPr>
            <p:ph type="sldImg" idx="2"/>
          </p:nvPr>
        </p:nvSpPr>
        <p:spPr>
          <a:xfrm>
            <a:off x="2112963" y="768350"/>
            <a:ext cx="2878137" cy="383698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016953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a:extLst>
            <a:ext uri="{FF2B5EF4-FFF2-40B4-BE49-F238E27FC236}">
              <a16:creationId xmlns:a16="http://schemas.microsoft.com/office/drawing/2014/main" id="{88B3C55F-BF58-1B08-0226-6944E235930A}"/>
            </a:ext>
          </a:extLst>
        </p:cNvPr>
        <p:cNvGrpSpPr/>
        <p:nvPr/>
      </p:nvGrpSpPr>
      <p:grpSpPr>
        <a:xfrm>
          <a:off x="0" y="0"/>
          <a:ext cx="0" cy="0"/>
          <a:chOff x="0" y="0"/>
          <a:chExt cx="0" cy="0"/>
        </a:xfrm>
      </p:grpSpPr>
      <p:sp>
        <p:nvSpPr>
          <p:cNvPr id="178" name="Google Shape;178;p5:notes">
            <a:extLst>
              <a:ext uri="{FF2B5EF4-FFF2-40B4-BE49-F238E27FC236}">
                <a16:creationId xmlns:a16="http://schemas.microsoft.com/office/drawing/2014/main" id="{D07B7E2C-7269-B1A5-010D-EE986D0389BC}"/>
              </a:ext>
            </a:extLst>
          </p:cNvPr>
          <p:cNvSpPr txBox="1">
            <a:spLocks noGrp="1"/>
          </p:cNvSpPr>
          <p:nvPr>
            <p:ph type="body" idx="1"/>
          </p:nvPr>
        </p:nvSpPr>
        <p:spPr>
          <a:xfrm>
            <a:off x="710400" y="4861425"/>
            <a:ext cx="5683225" cy="46055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9" name="Google Shape;179;p5:notes">
            <a:extLst>
              <a:ext uri="{FF2B5EF4-FFF2-40B4-BE49-F238E27FC236}">
                <a16:creationId xmlns:a16="http://schemas.microsoft.com/office/drawing/2014/main" id="{7AA17F55-19CA-DADF-7BCA-FAB568D2BDC2}"/>
              </a:ext>
            </a:extLst>
          </p:cNvPr>
          <p:cNvSpPr>
            <a:spLocks noGrp="1" noRot="1" noChangeAspect="1"/>
          </p:cNvSpPr>
          <p:nvPr>
            <p:ph type="sldImg" idx="2"/>
          </p:nvPr>
        </p:nvSpPr>
        <p:spPr>
          <a:xfrm>
            <a:off x="2112963" y="768350"/>
            <a:ext cx="2878137" cy="383698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7743360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a:extLst>
            <a:ext uri="{FF2B5EF4-FFF2-40B4-BE49-F238E27FC236}">
              <a16:creationId xmlns:a16="http://schemas.microsoft.com/office/drawing/2014/main" id="{547AF2E0-F7BA-F782-2432-81FE312159C4}"/>
            </a:ext>
          </a:extLst>
        </p:cNvPr>
        <p:cNvGrpSpPr/>
        <p:nvPr/>
      </p:nvGrpSpPr>
      <p:grpSpPr>
        <a:xfrm>
          <a:off x="0" y="0"/>
          <a:ext cx="0" cy="0"/>
          <a:chOff x="0" y="0"/>
          <a:chExt cx="0" cy="0"/>
        </a:xfrm>
      </p:grpSpPr>
      <p:sp>
        <p:nvSpPr>
          <p:cNvPr id="202" name="Google Shape;202;g3f70e81ac3d_0_45:notes">
            <a:extLst>
              <a:ext uri="{FF2B5EF4-FFF2-40B4-BE49-F238E27FC236}">
                <a16:creationId xmlns:a16="http://schemas.microsoft.com/office/drawing/2014/main" id="{5DDC2840-DF13-1359-E038-9D1093BACE09}"/>
              </a:ext>
            </a:extLst>
          </p:cNvPr>
          <p:cNvSpPr txBox="1">
            <a:spLocks noGrp="1"/>
          </p:cNvSpPr>
          <p:nvPr>
            <p:ph type="body" idx="1"/>
          </p:nvPr>
        </p:nvSpPr>
        <p:spPr>
          <a:xfrm>
            <a:off x="710400" y="4861425"/>
            <a:ext cx="5683200" cy="4605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3" name="Google Shape;203;g3f70e81ac3d_0_45:notes">
            <a:extLst>
              <a:ext uri="{FF2B5EF4-FFF2-40B4-BE49-F238E27FC236}">
                <a16:creationId xmlns:a16="http://schemas.microsoft.com/office/drawing/2014/main" id="{47AEE6F2-2AC7-DE74-DC6F-EA59484397B9}"/>
              </a:ext>
            </a:extLst>
          </p:cNvPr>
          <p:cNvSpPr>
            <a:spLocks noGrp="1" noRot="1" noChangeAspect="1"/>
          </p:cNvSpPr>
          <p:nvPr>
            <p:ph type="sldImg" idx="2"/>
          </p:nvPr>
        </p:nvSpPr>
        <p:spPr>
          <a:xfrm>
            <a:off x="2114550" y="768350"/>
            <a:ext cx="2876550" cy="383698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1928461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a:extLst>
            <a:ext uri="{FF2B5EF4-FFF2-40B4-BE49-F238E27FC236}">
              <a16:creationId xmlns:a16="http://schemas.microsoft.com/office/drawing/2014/main" id="{0B2C71FA-A870-45C1-EC14-CC6925F50FCA}"/>
            </a:ext>
          </a:extLst>
        </p:cNvPr>
        <p:cNvGrpSpPr/>
        <p:nvPr/>
      </p:nvGrpSpPr>
      <p:grpSpPr>
        <a:xfrm>
          <a:off x="0" y="0"/>
          <a:ext cx="0" cy="0"/>
          <a:chOff x="0" y="0"/>
          <a:chExt cx="0" cy="0"/>
        </a:xfrm>
      </p:grpSpPr>
      <p:sp>
        <p:nvSpPr>
          <p:cNvPr id="223" name="Google Shape;223;g3f70e81ac3d_0_65:notes">
            <a:extLst>
              <a:ext uri="{FF2B5EF4-FFF2-40B4-BE49-F238E27FC236}">
                <a16:creationId xmlns:a16="http://schemas.microsoft.com/office/drawing/2014/main" id="{035D0C93-E692-03CA-D967-33D063451DD2}"/>
              </a:ext>
            </a:extLst>
          </p:cNvPr>
          <p:cNvSpPr txBox="1">
            <a:spLocks noGrp="1"/>
          </p:cNvSpPr>
          <p:nvPr>
            <p:ph type="body" idx="1"/>
          </p:nvPr>
        </p:nvSpPr>
        <p:spPr>
          <a:xfrm>
            <a:off x="710400" y="4861425"/>
            <a:ext cx="5683200" cy="4605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4" name="Google Shape;224;g3f70e81ac3d_0_65:notes">
            <a:extLst>
              <a:ext uri="{FF2B5EF4-FFF2-40B4-BE49-F238E27FC236}">
                <a16:creationId xmlns:a16="http://schemas.microsoft.com/office/drawing/2014/main" id="{A8D6C89B-BB1D-9674-2E93-1772873B7DE2}"/>
              </a:ext>
            </a:extLst>
          </p:cNvPr>
          <p:cNvSpPr>
            <a:spLocks noGrp="1" noRot="1" noChangeAspect="1"/>
          </p:cNvSpPr>
          <p:nvPr>
            <p:ph type="sldImg" idx="2"/>
          </p:nvPr>
        </p:nvSpPr>
        <p:spPr>
          <a:xfrm>
            <a:off x="2114550" y="768350"/>
            <a:ext cx="2876550" cy="383698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278000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タイトル スライド" type="title">
  <p:cSld name="TITLE">
    <p:spTree>
      <p:nvGrpSpPr>
        <p:cNvPr id="1" name="Shape 11"/>
        <p:cNvGrpSpPr/>
        <p:nvPr/>
      </p:nvGrpSpPr>
      <p:grpSpPr>
        <a:xfrm>
          <a:off x="0" y="0"/>
          <a:ext cx="0" cy="0"/>
          <a:chOff x="0" y="0"/>
          <a:chExt cx="0" cy="0"/>
        </a:xfrm>
      </p:grpSpPr>
      <p:sp>
        <p:nvSpPr>
          <p:cNvPr id="12" name="Google Shape;12;p2"/>
          <p:cNvSpPr txBox="1">
            <a:spLocks noGrp="1"/>
          </p:cNvSpPr>
          <p:nvPr>
            <p:ph type="ctrTitle"/>
          </p:nvPr>
        </p:nvSpPr>
        <p:spPr>
          <a:xfrm>
            <a:off x="514350" y="1496484"/>
            <a:ext cx="5829300" cy="3183467"/>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4500"/>
              <a:buFont typeface="Play"/>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2"/>
          <p:cNvSpPr txBox="1">
            <a:spLocks noGrp="1"/>
          </p:cNvSpPr>
          <p:nvPr>
            <p:ph type="subTitle" idx="1"/>
          </p:nvPr>
        </p:nvSpPr>
        <p:spPr>
          <a:xfrm>
            <a:off x="857250" y="4802717"/>
            <a:ext cx="5143500" cy="2207683"/>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a:endParaRPr/>
          </a:p>
        </p:txBody>
      </p:sp>
      <p:sp>
        <p:nvSpPr>
          <p:cNvPr id="14" name="Google Shape;14;p2"/>
          <p:cNvSpPr txBox="1">
            <a:spLocks noGrp="1"/>
          </p:cNvSpPr>
          <p:nvPr>
            <p:ph type="dt" idx="10"/>
          </p:nvPr>
        </p:nvSpPr>
        <p:spPr>
          <a:xfrm>
            <a:off x="471488" y="8475136"/>
            <a:ext cx="1543050" cy="48683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15;p2"/>
          <p:cNvSpPr txBox="1">
            <a:spLocks noGrp="1"/>
          </p:cNvSpPr>
          <p:nvPr>
            <p:ph type="ftr" idx="11"/>
          </p:nvPr>
        </p:nvSpPr>
        <p:spPr>
          <a:xfrm>
            <a:off x="2271713" y="8475136"/>
            <a:ext cx="2314575" cy="48683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2"/>
          <p:cNvSpPr txBox="1">
            <a:spLocks noGrp="1"/>
          </p:cNvSpPr>
          <p:nvPr>
            <p:ph type="sldNum" idx="12"/>
          </p:nvPr>
        </p:nvSpPr>
        <p:spPr>
          <a:xfrm>
            <a:off x="4843463" y="8475136"/>
            <a:ext cx="1543050" cy="48683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タイトルとコンテンツ" type="obj">
  <p:cSld name="OBJECT">
    <p:spTree>
      <p:nvGrpSpPr>
        <p:cNvPr id="1" name="Shape 17"/>
        <p:cNvGrpSpPr/>
        <p:nvPr/>
      </p:nvGrpSpPr>
      <p:grpSpPr>
        <a:xfrm>
          <a:off x="0" y="0"/>
          <a:ext cx="0" cy="0"/>
          <a:chOff x="0" y="0"/>
          <a:chExt cx="0" cy="0"/>
        </a:xfrm>
      </p:grpSpPr>
      <p:sp>
        <p:nvSpPr>
          <p:cNvPr id="18" name="Google Shape;18;p3"/>
          <p:cNvSpPr txBox="1">
            <a:spLocks noGrp="1"/>
          </p:cNvSpPr>
          <p:nvPr>
            <p:ph type="title"/>
          </p:nvPr>
        </p:nvSpPr>
        <p:spPr>
          <a:xfrm>
            <a:off x="471488" y="486836"/>
            <a:ext cx="5915025" cy="176741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3"/>
          <p:cNvSpPr txBox="1">
            <a:spLocks noGrp="1"/>
          </p:cNvSpPr>
          <p:nvPr>
            <p:ph type="body" idx="1"/>
          </p:nvPr>
        </p:nvSpPr>
        <p:spPr>
          <a:xfrm>
            <a:off x="471488" y="2434167"/>
            <a:ext cx="5915025" cy="580178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20" name="Google Shape;20;p3"/>
          <p:cNvSpPr txBox="1">
            <a:spLocks noGrp="1"/>
          </p:cNvSpPr>
          <p:nvPr>
            <p:ph type="dt" idx="10"/>
          </p:nvPr>
        </p:nvSpPr>
        <p:spPr>
          <a:xfrm>
            <a:off x="471488" y="8475136"/>
            <a:ext cx="1543050" cy="48683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3"/>
          <p:cNvSpPr txBox="1">
            <a:spLocks noGrp="1"/>
          </p:cNvSpPr>
          <p:nvPr>
            <p:ph type="ftr" idx="11"/>
          </p:nvPr>
        </p:nvSpPr>
        <p:spPr>
          <a:xfrm>
            <a:off x="2271713" y="8475136"/>
            <a:ext cx="2314575" cy="48683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3"/>
          <p:cNvSpPr txBox="1">
            <a:spLocks noGrp="1"/>
          </p:cNvSpPr>
          <p:nvPr>
            <p:ph type="sldNum" idx="12"/>
          </p:nvPr>
        </p:nvSpPr>
        <p:spPr>
          <a:xfrm>
            <a:off x="4843463" y="8475136"/>
            <a:ext cx="1543050" cy="48683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セクション見出し" type="secHead">
  <p:cSld name="SECTION_HEADER">
    <p:spTree>
      <p:nvGrpSpPr>
        <p:cNvPr id="1" name="Shape 23"/>
        <p:cNvGrpSpPr/>
        <p:nvPr/>
      </p:nvGrpSpPr>
      <p:grpSpPr>
        <a:xfrm>
          <a:off x="0" y="0"/>
          <a:ext cx="0" cy="0"/>
          <a:chOff x="0" y="0"/>
          <a:chExt cx="0" cy="0"/>
        </a:xfrm>
      </p:grpSpPr>
      <p:sp>
        <p:nvSpPr>
          <p:cNvPr id="24" name="Google Shape;24;p4"/>
          <p:cNvSpPr txBox="1">
            <a:spLocks noGrp="1"/>
          </p:cNvSpPr>
          <p:nvPr>
            <p:ph type="title"/>
          </p:nvPr>
        </p:nvSpPr>
        <p:spPr>
          <a:xfrm>
            <a:off x="467916" y="2279653"/>
            <a:ext cx="5915025" cy="3803649"/>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4500"/>
              <a:buFont typeface="Play"/>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4"/>
          <p:cNvSpPr txBox="1">
            <a:spLocks noGrp="1"/>
          </p:cNvSpPr>
          <p:nvPr>
            <p:ph type="body" idx="1"/>
          </p:nvPr>
        </p:nvSpPr>
        <p:spPr>
          <a:xfrm>
            <a:off x="467916" y="6119286"/>
            <a:ext cx="5915025" cy="2000249"/>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rgbClr val="757575"/>
              </a:buClr>
              <a:buSzPts val="1800"/>
              <a:buNone/>
              <a:defRPr sz="1800">
                <a:solidFill>
                  <a:srgbClr val="757575"/>
                </a:solidFill>
              </a:defRPr>
            </a:lvl1pPr>
            <a:lvl2pPr marL="914400" lvl="1" indent="-228600" algn="l">
              <a:lnSpc>
                <a:spcPct val="90000"/>
              </a:lnSpc>
              <a:spcBef>
                <a:spcPts val="375"/>
              </a:spcBef>
              <a:spcAft>
                <a:spcPts val="0"/>
              </a:spcAft>
              <a:buClr>
                <a:srgbClr val="757575"/>
              </a:buClr>
              <a:buSzPts val="1500"/>
              <a:buNone/>
              <a:defRPr sz="1500">
                <a:solidFill>
                  <a:srgbClr val="757575"/>
                </a:solidFill>
              </a:defRPr>
            </a:lvl2pPr>
            <a:lvl3pPr marL="1371600" lvl="2" indent="-228600" algn="l">
              <a:lnSpc>
                <a:spcPct val="90000"/>
              </a:lnSpc>
              <a:spcBef>
                <a:spcPts val="375"/>
              </a:spcBef>
              <a:spcAft>
                <a:spcPts val="0"/>
              </a:spcAft>
              <a:buClr>
                <a:srgbClr val="757575"/>
              </a:buClr>
              <a:buSzPts val="1350"/>
              <a:buNone/>
              <a:defRPr sz="1350">
                <a:solidFill>
                  <a:srgbClr val="757575"/>
                </a:solidFill>
              </a:defRPr>
            </a:lvl3pPr>
            <a:lvl4pPr marL="1828800" lvl="3" indent="-228600" algn="l">
              <a:lnSpc>
                <a:spcPct val="90000"/>
              </a:lnSpc>
              <a:spcBef>
                <a:spcPts val="375"/>
              </a:spcBef>
              <a:spcAft>
                <a:spcPts val="0"/>
              </a:spcAft>
              <a:buClr>
                <a:srgbClr val="757575"/>
              </a:buClr>
              <a:buSzPts val="1200"/>
              <a:buNone/>
              <a:defRPr sz="1200">
                <a:solidFill>
                  <a:srgbClr val="757575"/>
                </a:solidFill>
              </a:defRPr>
            </a:lvl4pPr>
            <a:lvl5pPr marL="2286000" lvl="4" indent="-228600" algn="l">
              <a:lnSpc>
                <a:spcPct val="90000"/>
              </a:lnSpc>
              <a:spcBef>
                <a:spcPts val="375"/>
              </a:spcBef>
              <a:spcAft>
                <a:spcPts val="0"/>
              </a:spcAft>
              <a:buClr>
                <a:srgbClr val="757575"/>
              </a:buClr>
              <a:buSzPts val="1200"/>
              <a:buNone/>
              <a:defRPr sz="1200">
                <a:solidFill>
                  <a:srgbClr val="757575"/>
                </a:solidFill>
              </a:defRPr>
            </a:lvl5pPr>
            <a:lvl6pPr marL="2743200" lvl="5" indent="-228600" algn="l">
              <a:lnSpc>
                <a:spcPct val="90000"/>
              </a:lnSpc>
              <a:spcBef>
                <a:spcPts val="375"/>
              </a:spcBef>
              <a:spcAft>
                <a:spcPts val="0"/>
              </a:spcAft>
              <a:buClr>
                <a:srgbClr val="757575"/>
              </a:buClr>
              <a:buSzPts val="1200"/>
              <a:buNone/>
              <a:defRPr sz="1200">
                <a:solidFill>
                  <a:srgbClr val="757575"/>
                </a:solidFill>
              </a:defRPr>
            </a:lvl6pPr>
            <a:lvl7pPr marL="3200400" lvl="6" indent="-228600" algn="l">
              <a:lnSpc>
                <a:spcPct val="90000"/>
              </a:lnSpc>
              <a:spcBef>
                <a:spcPts val="375"/>
              </a:spcBef>
              <a:spcAft>
                <a:spcPts val="0"/>
              </a:spcAft>
              <a:buClr>
                <a:srgbClr val="757575"/>
              </a:buClr>
              <a:buSzPts val="1200"/>
              <a:buNone/>
              <a:defRPr sz="1200">
                <a:solidFill>
                  <a:srgbClr val="757575"/>
                </a:solidFill>
              </a:defRPr>
            </a:lvl7pPr>
            <a:lvl8pPr marL="3657600" lvl="7" indent="-228600" algn="l">
              <a:lnSpc>
                <a:spcPct val="90000"/>
              </a:lnSpc>
              <a:spcBef>
                <a:spcPts val="375"/>
              </a:spcBef>
              <a:spcAft>
                <a:spcPts val="0"/>
              </a:spcAft>
              <a:buClr>
                <a:srgbClr val="757575"/>
              </a:buClr>
              <a:buSzPts val="1200"/>
              <a:buNone/>
              <a:defRPr sz="1200">
                <a:solidFill>
                  <a:srgbClr val="757575"/>
                </a:solidFill>
              </a:defRPr>
            </a:lvl8pPr>
            <a:lvl9pPr marL="4114800" lvl="8" indent="-228600" algn="l">
              <a:lnSpc>
                <a:spcPct val="90000"/>
              </a:lnSpc>
              <a:spcBef>
                <a:spcPts val="375"/>
              </a:spcBef>
              <a:spcAft>
                <a:spcPts val="0"/>
              </a:spcAft>
              <a:buClr>
                <a:srgbClr val="757575"/>
              </a:buClr>
              <a:buSzPts val="1200"/>
              <a:buNone/>
              <a:defRPr sz="1200">
                <a:solidFill>
                  <a:srgbClr val="757575"/>
                </a:solidFill>
              </a:defRPr>
            </a:lvl9pPr>
          </a:lstStyle>
          <a:p>
            <a:endParaRPr/>
          </a:p>
        </p:txBody>
      </p:sp>
      <p:sp>
        <p:nvSpPr>
          <p:cNvPr id="26" name="Google Shape;26;p4"/>
          <p:cNvSpPr txBox="1">
            <a:spLocks noGrp="1"/>
          </p:cNvSpPr>
          <p:nvPr>
            <p:ph type="dt" idx="10"/>
          </p:nvPr>
        </p:nvSpPr>
        <p:spPr>
          <a:xfrm>
            <a:off x="471488" y="8475136"/>
            <a:ext cx="1543050" cy="48683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4"/>
          <p:cNvSpPr txBox="1">
            <a:spLocks noGrp="1"/>
          </p:cNvSpPr>
          <p:nvPr>
            <p:ph type="ftr" idx="11"/>
          </p:nvPr>
        </p:nvSpPr>
        <p:spPr>
          <a:xfrm>
            <a:off x="2271713" y="8475136"/>
            <a:ext cx="2314575" cy="48683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4"/>
          <p:cNvSpPr txBox="1">
            <a:spLocks noGrp="1"/>
          </p:cNvSpPr>
          <p:nvPr>
            <p:ph type="sldNum" idx="12"/>
          </p:nvPr>
        </p:nvSpPr>
        <p:spPr>
          <a:xfrm>
            <a:off x="4843463" y="8475136"/>
            <a:ext cx="1543050" cy="48683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2 つのコンテンツ" type="twoObj">
  <p:cSld name="TWO_OBJECTS">
    <p:spTree>
      <p:nvGrpSpPr>
        <p:cNvPr id="1" name="Shape 29"/>
        <p:cNvGrpSpPr/>
        <p:nvPr/>
      </p:nvGrpSpPr>
      <p:grpSpPr>
        <a:xfrm>
          <a:off x="0" y="0"/>
          <a:ext cx="0" cy="0"/>
          <a:chOff x="0" y="0"/>
          <a:chExt cx="0" cy="0"/>
        </a:xfrm>
      </p:grpSpPr>
      <p:sp>
        <p:nvSpPr>
          <p:cNvPr id="30" name="Google Shape;30;p5"/>
          <p:cNvSpPr txBox="1">
            <a:spLocks noGrp="1"/>
          </p:cNvSpPr>
          <p:nvPr>
            <p:ph type="title"/>
          </p:nvPr>
        </p:nvSpPr>
        <p:spPr>
          <a:xfrm>
            <a:off x="471488" y="486836"/>
            <a:ext cx="5915025" cy="176741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5"/>
          <p:cNvSpPr txBox="1">
            <a:spLocks noGrp="1"/>
          </p:cNvSpPr>
          <p:nvPr>
            <p:ph type="body" idx="1"/>
          </p:nvPr>
        </p:nvSpPr>
        <p:spPr>
          <a:xfrm>
            <a:off x="471488" y="2434167"/>
            <a:ext cx="2914650" cy="580178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32" name="Google Shape;32;p5"/>
          <p:cNvSpPr txBox="1">
            <a:spLocks noGrp="1"/>
          </p:cNvSpPr>
          <p:nvPr>
            <p:ph type="body" idx="2"/>
          </p:nvPr>
        </p:nvSpPr>
        <p:spPr>
          <a:xfrm>
            <a:off x="3471863" y="2434167"/>
            <a:ext cx="2914650" cy="580178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33" name="Google Shape;33;p5"/>
          <p:cNvSpPr txBox="1">
            <a:spLocks noGrp="1"/>
          </p:cNvSpPr>
          <p:nvPr>
            <p:ph type="dt" idx="10"/>
          </p:nvPr>
        </p:nvSpPr>
        <p:spPr>
          <a:xfrm>
            <a:off x="471488" y="8475136"/>
            <a:ext cx="1543050" cy="48683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5"/>
          <p:cNvSpPr txBox="1">
            <a:spLocks noGrp="1"/>
          </p:cNvSpPr>
          <p:nvPr>
            <p:ph type="ftr" idx="11"/>
          </p:nvPr>
        </p:nvSpPr>
        <p:spPr>
          <a:xfrm>
            <a:off x="2271713" y="8475136"/>
            <a:ext cx="2314575" cy="48683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5"/>
          <p:cNvSpPr txBox="1">
            <a:spLocks noGrp="1"/>
          </p:cNvSpPr>
          <p:nvPr>
            <p:ph type="sldNum" idx="12"/>
          </p:nvPr>
        </p:nvSpPr>
        <p:spPr>
          <a:xfrm>
            <a:off x="4843463" y="8475136"/>
            <a:ext cx="1543050" cy="48683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較" type="twoTxTwoObj">
  <p:cSld name="TWO_OBJECTS_WITH_TEXT">
    <p:spTree>
      <p:nvGrpSpPr>
        <p:cNvPr id="1" name="Shape 36"/>
        <p:cNvGrpSpPr/>
        <p:nvPr/>
      </p:nvGrpSpPr>
      <p:grpSpPr>
        <a:xfrm>
          <a:off x="0" y="0"/>
          <a:ext cx="0" cy="0"/>
          <a:chOff x="0" y="0"/>
          <a:chExt cx="0" cy="0"/>
        </a:xfrm>
      </p:grpSpPr>
      <p:sp>
        <p:nvSpPr>
          <p:cNvPr id="37" name="Google Shape;37;p6"/>
          <p:cNvSpPr txBox="1">
            <a:spLocks noGrp="1"/>
          </p:cNvSpPr>
          <p:nvPr>
            <p:ph type="title"/>
          </p:nvPr>
        </p:nvSpPr>
        <p:spPr>
          <a:xfrm>
            <a:off x="472381" y="486836"/>
            <a:ext cx="5915025" cy="176741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6"/>
          <p:cNvSpPr txBox="1">
            <a:spLocks noGrp="1"/>
          </p:cNvSpPr>
          <p:nvPr>
            <p:ph type="body" idx="1"/>
          </p:nvPr>
        </p:nvSpPr>
        <p:spPr>
          <a:xfrm>
            <a:off x="472381" y="2241551"/>
            <a:ext cx="2901255" cy="1098549"/>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39" name="Google Shape;39;p6"/>
          <p:cNvSpPr txBox="1">
            <a:spLocks noGrp="1"/>
          </p:cNvSpPr>
          <p:nvPr>
            <p:ph type="body" idx="2"/>
          </p:nvPr>
        </p:nvSpPr>
        <p:spPr>
          <a:xfrm>
            <a:off x="472381" y="3340100"/>
            <a:ext cx="2901255" cy="491278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0" name="Google Shape;40;p6"/>
          <p:cNvSpPr txBox="1">
            <a:spLocks noGrp="1"/>
          </p:cNvSpPr>
          <p:nvPr>
            <p:ph type="body" idx="3"/>
          </p:nvPr>
        </p:nvSpPr>
        <p:spPr>
          <a:xfrm>
            <a:off x="3471863" y="2241551"/>
            <a:ext cx="2915543" cy="1098549"/>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41" name="Google Shape;41;p6"/>
          <p:cNvSpPr txBox="1">
            <a:spLocks noGrp="1"/>
          </p:cNvSpPr>
          <p:nvPr>
            <p:ph type="body" idx="4"/>
          </p:nvPr>
        </p:nvSpPr>
        <p:spPr>
          <a:xfrm>
            <a:off x="3471863" y="3340100"/>
            <a:ext cx="2915543" cy="491278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2" name="Google Shape;42;p6"/>
          <p:cNvSpPr txBox="1">
            <a:spLocks noGrp="1"/>
          </p:cNvSpPr>
          <p:nvPr>
            <p:ph type="dt" idx="10"/>
          </p:nvPr>
        </p:nvSpPr>
        <p:spPr>
          <a:xfrm>
            <a:off x="471488" y="8475136"/>
            <a:ext cx="1543050" cy="48683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6"/>
          <p:cNvSpPr txBox="1">
            <a:spLocks noGrp="1"/>
          </p:cNvSpPr>
          <p:nvPr>
            <p:ph type="ftr" idx="11"/>
          </p:nvPr>
        </p:nvSpPr>
        <p:spPr>
          <a:xfrm>
            <a:off x="2271713" y="8475136"/>
            <a:ext cx="2314575" cy="48683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6"/>
          <p:cNvSpPr txBox="1">
            <a:spLocks noGrp="1"/>
          </p:cNvSpPr>
          <p:nvPr>
            <p:ph type="sldNum" idx="12"/>
          </p:nvPr>
        </p:nvSpPr>
        <p:spPr>
          <a:xfrm>
            <a:off x="4843463" y="8475136"/>
            <a:ext cx="1543050" cy="48683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タイトルのみ" type="titleOnly">
  <p:cSld name="TITLE_ONLY">
    <p:spTree>
      <p:nvGrpSpPr>
        <p:cNvPr id="1" name="Shape 45"/>
        <p:cNvGrpSpPr/>
        <p:nvPr/>
      </p:nvGrpSpPr>
      <p:grpSpPr>
        <a:xfrm>
          <a:off x="0" y="0"/>
          <a:ext cx="0" cy="0"/>
          <a:chOff x="0" y="0"/>
          <a:chExt cx="0" cy="0"/>
        </a:xfrm>
      </p:grpSpPr>
      <p:sp>
        <p:nvSpPr>
          <p:cNvPr id="46" name="Google Shape;46;p7"/>
          <p:cNvSpPr txBox="1">
            <a:spLocks noGrp="1"/>
          </p:cNvSpPr>
          <p:nvPr>
            <p:ph type="title"/>
          </p:nvPr>
        </p:nvSpPr>
        <p:spPr>
          <a:xfrm>
            <a:off x="471488" y="486836"/>
            <a:ext cx="5915025" cy="176741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7"/>
          <p:cNvSpPr txBox="1">
            <a:spLocks noGrp="1"/>
          </p:cNvSpPr>
          <p:nvPr>
            <p:ph type="dt" idx="10"/>
          </p:nvPr>
        </p:nvSpPr>
        <p:spPr>
          <a:xfrm>
            <a:off x="471488" y="8475136"/>
            <a:ext cx="1543050" cy="48683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ftr" idx="11"/>
          </p:nvPr>
        </p:nvSpPr>
        <p:spPr>
          <a:xfrm>
            <a:off x="2271713" y="8475136"/>
            <a:ext cx="2314575" cy="48683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7"/>
          <p:cNvSpPr txBox="1">
            <a:spLocks noGrp="1"/>
          </p:cNvSpPr>
          <p:nvPr>
            <p:ph type="sldNum" idx="12"/>
          </p:nvPr>
        </p:nvSpPr>
        <p:spPr>
          <a:xfrm>
            <a:off x="4843463" y="8475136"/>
            <a:ext cx="1543050" cy="48683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白紙" type="blank">
  <p:cSld name="BLANK">
    <p:spTree>
      <p:nvGrpSpPr>
        <p:cNvPr id="1" name="Shape 50"/>
        <p:cNvGrpSpPr/>
        <p:nvPr/>
      </p:nvGrpSpPr>
      <p:grpSpPr>
        <a:xfrm>
          <a:off x="0" y="0"/>
          <a:ext cx="0" cy="0"/>
          <a:chOff x="0" y="0"/>
          <a:chExt cx="0" cy="0"/>
        </a:xfrm>
      </p:grpSpPr>
      <p:sp>
        <p:nvSpPr>
          <p:cNvPr id="51" name="Google Shape;51;p8"/>
          <p:cNvSpPr txBox="1">
            <a:spLocks noGrp="1"/>
          </p:cNvSpPr>
          <p:nvPr>
            <p:ph type="dt" idx="10"/>
          </p:nvPr>
        </p:nvSpPr>
        <p:spPr>
          <a:xfrm>
            <a:off x="471488" y="8475136"/>
            <a:ext cx="1543050" cy="48683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2271713" y="8475136"/>
            <a:ext cx="2314575" cy="48683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4843463" y="8475136"/>
            <a:ext cx="1543050" cy="48683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タイトル付きのコンテンツ"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72381" y="609600"/>
            <a:ext cx="2211884" cy="21336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
              <a:buFont typeface="Play"/>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2915543" y="1316569"/>
            <a:ext cx="3471863" cy="6498167"/>
          </a:xfrm>
          <a:prstGeom prst="rect">
            <a:avLst/>
          </a:prstGeom>
          <a:noFill/>
          <a:ln>
            <a:noFill/>
          </a:ln>
        </p:spPr>
        <p:txBody>
          <a:bodyPr spcFirstLastPara="1" wrap="square" lIns="91425" tIns="45700" rIns="91425" bIns="45700" anchor="t" anchorCtr="0">
            <a:normAutofit/>
          </a:bodyPr>
          <a:lstStyle>
            <a:lvl1pPr marL="457200" lvl="0" indent="-381000" algn="l">
              <a:lnSpc>
                <a:spcPct val="90000"/>
              </a:lnSpc>
              <a:spcBef>
                <a:spcPts val="750"/>
              </a:spcBef>
              <a:spcAft>
                <a:spcPts val="0"/>
              </a:spcAft>
              <a:buClr>
                <a:schemeClr val="dk1"/>
              </a:buClr>
              <a:buSzPts val="2400"/>
              <a:buChar char="•"/>
              <a:defRPr sz="2400"/>
            </a:lvl1pPr>
            <a:lvl2pPr marL="914400" lvl="1" indent="-361950" algn="l">
              <a:lnSpc>
                <a:spcPct val="90000"/>
              </a:lnSpc>
              <a:spcBef>
                <a:spcPts val="375"/>
              </a:spcBef>
              <a:spcAft>
                <a:spcPts val="0"/>
              </a:spcAft>
              <a:buClr>
                <a:schemeClr val="dk1"/>
              </a:buClr>
              <a:buSzPts val="2100"/>
              <a:buChar char="•"/>
              <a:defRPr sz="2100"/>
            </a:lvl2pPr>
            <a:lvl3pPr marL="1371600" lvl="2" indent="-342900" algn="l">
              <a:lnSpc>
                <a:spcPct val="90000"/>
              </a:lnSpc>
              <a:spcBef>
                <a:spcPts val="375"/>
              </a:spcBef>
              <a:spcAft>
                <a:spcPts val="0"/>
              </a:spcAft>
              <a:buClr>
                <a:schemeClr val="dk1"/>
              </a:buClr>
              <a:buSzPts val="1800"/>
              <a:buChar char="•"/>
              <a:defRPr sz="1800"/>
            </a:lvl3pPr>
            <a:lvl4pPr marL="1828800" lvl="3" indent="-323850" algn="l">
              <a:lnSpc>
                <a:spcPct val="90000"/>
              </a:lnSpc>
              <a:spcBef>
                <a:spcPts val="375"/>
              </a:spcBef>
              <a:spcAft>
                <a:spcPts val="0"/>
              </a:spcAft>
              <a:buClr>
                <a:schemeClr val="dk1"/>
              </a:buClr>
              <a:buSzPts val="1500"/>
              <a:buChar char="•"/>
              <a:defRPr sz="1500"/>
            </a:lvl4pPr>
            <a:lvl5pPr marL="2286000" lvl="4" indent="-323850" algn="l">
              <a:lnSpc>
                <a:spcPct val="90000"/>
              </a:lnSpc>
              <a:spcBef>
                <a:spcPts val="375"/>
              </a:spcBef>
              <a:spcAft>
                <a:spcPts val="0"/>
              </a:spcAft>
              <a:buClr>
                <a:schemeClr val="dk1"/>
              </a:buClr>
              <a:buSzPts val="1500"/>
              <a:buChar char="•"/>
              <a:defRPr sz="1500"/>
            </a:lvl5pPr>
            <a:lvl6pPr marL="2743200" lvl="5" indent="-323850" algn="l">
              <a:lnSpc>
                <a:spcPct val="90000"/>
              </a:lnSpc>
              <a:spcBef>
                <a:spcPts val="375"/>
              </a:spcBef>
              <a:spcAft>
                <a:spcPts val="0"/>
              </a:spcAft>
              <a:buClr>
                <a:schemeClr val="dk1"/>
              </a:buClr>
              <a:buSzPts val="1500"/>
              <a:buChar char="•"/>
              <a:defRPr sz="1500"/>
            </a:lvl6pPr>
            <a:lvl7pPr marL="3200400" lvl="6" indent="-323850" algn="l">
              <a:lnSpc>
                <a:spcPct val="90000"/>
              </a:lnSpc>
              <a:spcBef>
                <a:spcPts val="375"/>
              </a:spcBef>
              <a:spcAft>
                <a:spcPts val="0"/>
              </a:spcAft>
              <a:buClr>
                <a:schemeClr val="dk1"/>
              </a:buClr>
              <a:buSzPts val="1500"/>
              <a:buChar char="•"/>
              <a:defRPr sz="1500"/>
            </a:lvl7pPr>
            <a:lvl8pPr marL="3657600" lvl="7" indent="-323850" algn="l">
              <a:lnSpc>
                <a:spcPct val="90000"/>
              </a:lnSpc>
              <a:spcBef>
                <a:spcPts val="375"/>
              </a:spcBef>
              <a:spcAft>
                <a:spcPts val="0"/>
              </a:spcAft>
              <a:buClr>
                <a:schemeClr val="dk1"/>
              </a:buClr>
              <a:buSzPts val="1500"/>
              <a:buChar char="•"/>
              <a:defRPr sz="1500"/>
            </a:lvl8pPr>
            <a:lvl9pPr marL="4114800" lvl="8" indent="-323850" algn="l">
              <a:lnSpc>
                <a:spcPct val="90000"/>
              </a:lnSpc>
              <a:spcBef>
                <a:spcPts val="375"/>
              </a:spcBef>
              <a:spcAft>
                <a:spcPts val="0"/>
              </a:spcAft>
              <a:buClr>
                <a:schemeClr val="dk1"/>
              </a:buClr>
              <a:buSzPts val="1500"/>
              <a:buChar char="•"/>
              <a:defRPr sz="1500"/>
            </a:lvl9pPr>
          </a:lstStyle>
          <a:p>
            <a:endParaRPr/>
          </a:p>
        </p:txBody>
      </p:sp>
      <p:sp>
        <p:nvSpPr>
          <p:cNvPr id="57" name="Google Shape;57;p9"/>
          <p:cNvSpPr txBox="1">
            <a:spLocks noGrp="1"/>
          </p:cNvSpPr>
          <p:nvPr>
            <p:ph type="body" idx="2"/>
          </p:nvPr>
        </p:nvSpPr>
        <p:spPr>
          <a:xfrm>
            <a:off x="472381" y="2743200"/>
            <a:ext cx="2211884" cy="508211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58" name="Google Shape;58;p9"/>
          <p:cNvSpPr txBox="1">
            <a:spLocks noGrp="1"/>
          </p:cNvSpPr>
          <p:nvPr>
            <p:ph type="dt" idx="10"/>
          </p:nvPr>
        </p:nvSpPr>
        <p:spPr>
          <a:xfrm>
            <a:off x="471488" y="8475136"/>
            <a:ext cx="1543050" cy="48683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2271713" y="8475136"/>
            <a:ext cx="2314575" cy="48683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4843463" y="8475136"/>
            <a:ext cx="1543050" cy="48683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タイトル付きの図"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472381" y="609600"/>
            <a:ext cx="2211884" cy="21336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
              <a:buFont typeface="Play"/>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2915543" y="1316569"/>
            <a:ext cx="3471863" cy="6498167"/>
          </a:xfrm>
          <a:prstGeom prst="rect">
            <a:avLst/>
          </a:prstGeom>
          <a:noFill/>
          <a:ln>
            <a:noFill/>
          </a:ln>
        </p:spPr>
      </p:sp>
      <p:sp>
        <p:nvSpPr>
          <p:cNvPr id="64" name="Google Shape;64;p10"/>
          <p:cNvSpPr txBox="1">
            <a:spLocks noGrp="1"/>
          </p:cNvSpPr>
          <p:nvPr>
            <p:ph type="body" idx="1"/>
          </p:nvPr>
        </p:nvSpPr>
        <p:spPr>
          <a:xfrm>
            <a:off x="472381" y="2743200"/>
            <a:ext cx="2211884" cy="508211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65" name="Google Shape;65;p10"/>
          <p:cNvSpPr txBox="1">
            <a:spLocks noGrp="1"/>
          </p:cNvSpPr>
          <p:nvPr>
            <p:ph type="dt" idx="10"/>
          </p:nvPr>
        </p:nvSpPr>
        <p:spPr>
          <a:xfrm>
            <a:off x="471488" y="8475136"/>
            <a:ext cx="1543050" cy="48683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2271713" y="8475136"/>
            <a:ext cx="2314575" cy="48683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4843463" y="8475136"/>
            <a:ext cx="1543050" cy="48683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タイトルと縦書きテキスト"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71488" y="486836"/>
            <a:ext cx="5915025" cy="176741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528108" y="2377546"/>
            <a:ext cx="5801784" cy="59150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71488" y="8475136"/>
            <a:ext cx="1543050" cy="48683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2271713" y="8475136"/>
            <a:ext cx="2314575" cy="48683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4843463" y="8475136"/>
            <a:ext cx="1543050" cy="48683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縦書きタイトルと&#10;縦書きテキスト"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1772577" y="3622015"/>
            <a:ext cx="7749117" cy="1478756"/>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1227798" y="2186121"/>
            <a:ext cx="7749117" cy="435054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71488" y="8475136"/>
            <a:ext cx="1543050" cy="48683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2271713" y="8475136"/>
            <a:ext cx="2314575" cy="48683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4843463" y="8475136"/>
            <a:ext cx="1543050" cy="48683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71488" y="486836"/>
            <a:ext cx="5915025" cy="1767417"/>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Play"/>
              <a:buNone/>
              <a:defRPr sz="3300" b="0" i="0" u="none" strike="noStrike" cap="non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71488" y="2434167"/>
            <a:ext cx="5915025" cy="5801784"/>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Arial"/>
                <a:ea typeface="Arial"/>
                <a:cs typeface="Arial"/>
                <a:sym typeface="Arial"/>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Arial"/>
                <a:ea typeface="Arial"/>
                <a:cs typeface="Arial"/>
                <a:sym typeface="Arial"/>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Arial"/>
                <a:ea typeface="Arial"/>
                <a:cs typeface="Arial"/>
                <a:sym typeface="Arial"/>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Arial"/>
                <a:ea typeface="Arial"/>
                <a:cs typeface="Arial"/>
                <a:sym typeface="Arial"/>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Arial"/>
                <a:ea typeface="Arial"/>
                <a:cs typeface="Arial"/>
                <a:sym typeface="Arial"/>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Arial"/>
                <a:ea typeface="Arial"/>
                <a:cs typeface="Arial"/>
                <a:sym typeface="Arial"/>
              </a:defRPr>
            </a:lvl9pPr>
          </a:lstStyle>
          <a:p>
            <a:endParaRPr/>
          </a:p>
        </p:txBody>
      </p:sp>
      <p:sp>
        <p:nvSpPr>
          <p:cNvPr id="8" name="Google Shape;8;p1"/>
          <p:cNvSpPr txBox="1">
            <a:spLocks noGrp="1"/>
          </p:cNvSpPr>
          <p:nvPr>
            <p:ph type="dt" idx="10"/>
          </p:nvPr>
        </p:nvSpPr>
        <p:spPr>
          <a:xfrm>
            <a:off x="471488" y="8475136"/>
            <a:ext cx="1543050" cy="486833"/>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757575"/>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9" name="Google Shape;9;p1"/>
          <p:cNvSpPr txBox="1">
            <a:spLocks noGrp="1"/>
          </p:cNvSpPr>
          <p:nvPr>
            <p:ph type="ftr" idx="11"/>
          </p:nvPr>
        </p:nvSpPr>
        <p:spPr>
          <a:xfrm>
            <a:off x="2271713" y="8475136"/>
            <a:ext cx="2314575" cy="486833"/>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757575"/>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0" name="Google Shape;10;p1"/>
          <p:cNvSpPr txBox="1">
            <a:spLocks noGrp="1"/>
          </p:cNvSpPr>
          <p:nvPr>
            <p:ph type="sldNum" idx="12"/>
          </p:nvPr>
        </p:nvSpPr>
        <p:spPr>
          <a:xfrm>
            <a:off x="4843463" y="8475136"/>
            <a:ext cx="1543050" cy="486833"/>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757575"/>
                </a:solidFill>
                <a:latin typeface="Arial"/>
                <a:ea typeface="Arial"/>
                <a:cs typeface="Arial"/>
                <a:sym typeface="Arial"/>
              </a:defRPr>
            </a:lvl1pPr>
            <a:lvl2pPr marL="0" marR="0" lvl="1" indent="0" algn="r" rtl="0">
              <a:spcBef>
                <a:spcPts val="0"/>
              </a:spcBef>
              <a:buNone/>
              <a:defRPr sz="900" b="0" i="0" u="none" strike="noStrike" cap="none">
                <a:solidFill>
                  <a:srgbClr val="757575"/>
                </a:solidFill>
                <a:latin typeface="Arial"/>
                <a:ea typeface="Arial"/>
                <a:cs typeface="Arial"/>
                <a:sym typeface="Arial"/>
              </a:defRPr>
            </a:lvl2pPr>
            <a:lvl3pPr marL="0" marR="0" lvl="2" indent="0" algn="r" rtl="0">
              <a:spcBef>
                <a:spcPts val="0"/>
              </a:spcBef>
              <a:buNone/>
              <a:defRPr sz="900" b="0" i="0" u="none" strike="noStrike" cap="none">
                <a:solidFill>
                  <a:srgbClr val="757575"/>
                </a:solidFill>
                <a:latin typeface="Arial"/>
                <a:ea typeface="Arial"/>
                <a:cs typeface="Arial"/>
                <a:sym typeface="Arial"/>
              </a:defRPr>
            </a:lvl3pPr>
            <a:lvl4pPr marL="0" marR="0" lvl="3" indent="0" algn="r" rtl="0">
              <a:spcBef>
                <a:spcPts val="0"/>
              </a:spcBef>
              <a:buNone/>
              <a:defRPr sz="900" b="0" i="0" u="none" strike="noStrike" cap="none">
                <a:solidFill>
                  <a:srgbClr val="757575"/>
                </a:solidFill>
                <a:latin typeface="Arial"/>
                <a:ea typeface="Arial"/>
                <a:cs typeface="Arial"/>
                <a:sym typeface="Arial"/>
              </a:defRPr>
            </a:lvl4pPr>
            <a:lvl5pPr marL="0" marR="0" lvl="4" indent="0" algn="r" rtl="0">
              <a:spcBef>
                <a:spcPts val="0"/>
              </a:spcBef>
              <a:buNone/>
              <a:defRPr sz="900" b="0" i="0" u="none" strike="noStrike" cap="none">
                <a:solidFill>
                  <a:srgbClr val="757575"/>
                </a:solidFill>
                <a:latin typeface="Arial"/>
                <a:ea typeface="Arial"/>
                <a:cs typeface="Arial"/>
                <a:sym typeface="Arial"/>
              </a:defRPr>
            </a:lvl5pPr>
            <a:lvl6pPr marL="0" marR="0" lvl="5" indent="0" algn="r" rtl="0">
              <a:spcBef>
                <a:spcPts val="0"/>
              </a:spcBef>
              <a:buNone/>
              <a:defRPr sz="900" b="0" i="0" u="none" strike="noStrike" cap="none">
                <a:solidFill>
                  <a:srgbClr val="757575"/>
                </a:solidFill>
                <a:latin typeface="Arial"/>
                <a:ea typeface="Arial"/>
                <a:cs typeface="Arial"/>
                <a:sym typeface="Arial"/>
              </a:defRPr>
            </a:lvl6pPr>
            <a:lvl7pPr marL="0" marR="0" lvl="6" indent="0" algn="r" rtl="0">
              <a:spcBef>
                <a:spcPts val="0"/>
              </a:spcBef>
              <a:buNone/>
              <a:defRPr sz="900" b="0" i="0" u="none" strike="noStrike" cap="none">
                <a:solidFill>
                  <a:srgbClr val="757575"/>
                </a:solidFill>
                <a:latin typeface="Arial"/>
                <a:ea typeface="Arial"/>
                <a:cs typeface="Arial"/>
                <a:sym typeface="Arial"/>
              </a:defRPr>
            </a:lvl7pPr>
            <a:lvl8pPr marL="0" marR="0" lvl="7" indent="0" algn="r" rtl="0">
              <a:spcBef>
                <a:spcPts val="0"/>
              </a:spcBef>
              <a:buNone/>
              <a:defRPr sz="900" b="0" i="0" u="none" strike="noStrike" cap="none">
                <a:solidFill>
                  <a:srgbClr val="757575"/>
                </a:solidFill>
                <a:latin typeface="Arial"/>
                <a:ea typeface="Arial"/>
                <a:cs typeface="Arial"/>
                <a:sym typeface="Arial"/>
              </a:defRPr>
            </a:lvl8pPr>
            <a:lvl9pPr marL="0" marR="0" lvl="8" indent="0" algn="r" rtl="0">
              <a:spcBef>
                <a:spcPts val="0"/>
              </a:spcBef>
              <a:buNone/>
              <a:defRPr sz="9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3"/>
          <p:cNvSpPr/>
          <p:nvPr/>
        </p:nvSpPr>
        <p:spPr>
          <a:xfrm>
            <a:off x="33951" y="45268"/>
            <a:ext cx="6790099" cy="9053465"/>
          </a:xfrm>
          <a:prstGeom prst="rect">
            <a:avLst/>
          </a:prstGeom>
          <a:gradFill>
            <a:gsLst>
              <a:gs pos="0">
                <a:srgbClr val="EE00B0"/>
              </a:gs>
              <a:gs pos="10000">
                <a:srgbClr val="EE00B0"/>
              </a:gs>
              <a:gs pos="50000">
                <a:srgbClr val="6200E8"/>
              </a:gs>
              <a:gs pos="90000">
                <a:srgbClr val="0095E5"/>
              </a:gs>
              <a:gs pos="100000">
                <a:srgbClr val="0095E5"/>
              </a:gs>
            </a:gsLst>
            <a:lin ang="1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85" name="Google Shape;85;p13"/>
          <p:cNvSpPr/>
          <p:nvPr/>
        </p:nvSpPr>
        <p:spPr>
          <a:xfrm>
            <a:off x="16975" y="0"/>
            <a:ext cx="6858000" cy="9144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grpSp>
        <p:nvGrpSpPr>
          <p:cNvPr id="86" name="Google Shape;86;p13"/>
          <p:cNvGrpSpPr/>
          <p:nvPr/>
        </p:nvGrpSpPr>
        <p:grpSpPr>
          <a:xfrm>
            <a:off x="0" y="0"/>
            <a:ext cx="6865269" cy="9144001"/>
            <a:chOff x="0" y="0"/>
            <a:chExt cx="6865269" cy="9144001"/>
          </a:xfrm>
        </p:grpSpPr>
        <p:sp>
          <p:nvSpPr>
            <p:cNvPr id="87" name="Google Shape;87;p13"/>
            <p:cNvSpPr/>
            <p:nvPr/>
          </p:nvSpPr>
          <p:spPr>
            <a:xfrm>
              <a:off x="0" y="0"/>
              <a:ext cx="6858000" cy="432000"/>
            </a:xfrm>
            <a:prstGeom prst="rect">
              <a:avLst/>
            </a:prstGeom>
            <a:solidFill>
              <a:srgbClr val="F2A982">
                <a:alpha val="10196"/>
              </a:srgbClr>
            </a:solidFill>
            <a:ln w="19050" cap="flat" cmpd="sng">
              <a:solidFill>
                <a:srgbClr val="7F340D"/>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88" name="Google Shape;88;p13"/>
            <p:cNvSpPr/>
            <p:nvPr/>
          </p:nvSpPr>
          <p:spPr>
            <a:xfrm>
              <a:off x="0" y="8712000"/>
              <a:ext cx="6858000" cy="432000"/>
            </a:xfrm>
            <a:prstGeom prst="rect">
              <a:avLst/>
            </a:prstGeom>
            <a:solidFill>
              <a:srgbClr val="F2A982">
                <a:alpha val="10196"/>
              </a:srgbClr>
            </a:solidFill>
            <a:ln w="19050" cap="flat" cmpd="sng">
              <a:solidFill>
                <a:srgbClr val="7F340D"/>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89" name="Google Shape;89;p13"/>
            <p:cNvSpPr/>
            <p:nvPr/>
          </p:nvSpPr>
          <p:spPr>
            <a:xfrm>
              <a:off x="0" y="1"/>
              <a:ext cx="540000" cy="9144000"/>
            </a:xfrm>
            <a:prstGeom prst="rect">
              <a:avLst/>
            </a:prstGeom>
            <a:solidFill>
              <a:srgbClr val="F2A982">
                <a:alpha val="10196"/>
              </a:srgbClr>
            </a:solidFill>
            <a:ln w="19050" cap="flat" cmpd="sng">
              <a:solidFill>
                <a:srgbClr val="7F340D"/>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90" name="Google Shape;90;p13"/>
            <p:cNvSpPr/>
            <p:nvPr/>
          </p:nvSpPr>
          <p:spPr>
            <a:xfrm>
              <a:off x="6325269" y="0"/>
              <a:ext cx="540000" cy="9144000"/>
            </a:xfrm>
            <a:prstGeom prst="rect">
              <a:avLst/>
            </a:prstGeom>
            <a:solidFill>
              <a:srgbClr val="F2A982">
                <a:alpha val="10196"/>
              </a:srgbClr>
            </a:solidFill>
            <a:ln w="19050" cap="flat" cmpd="sng">
              <a:solidFill>
                <a:srgbClr val="7F340D"/>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grpSp>
      <p:sp>
        <p:nvSpPr>
          <p:cNvPr id="91" name="Google Shape;91;p13"/>
          <p:cNvSpPr/>
          <p:nvPr/>
        </p:nvSpPr>
        <p:spPr>
          <a:xfrm>
            <a:off x="539999" y="431999"/>
            <a:ext cx="5785269" cy="54000"/>
          </a:xfrm>
          <a:prstGeom prst="rect">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92" name="Google Shape;92;p13"/>
          <p:cNvSpPr/>
          <p:nvPr/>
        </p:nvSpPr>
        <p:spPr>
          <a:xfrm>
            <a:off x="554538" y="8661917"/>
            <a:ext cx="2592000" cy="54000"/>
          </a:xfrm>
          <a:prstGeom prst="rect">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93" name="Google Shape;93;p13"/>
          <p:cNvSpPr/>
          <p:nvPr/>
        </p:nvSpPr>
        <p:spPr>
          <a:xfrm>
            <a:off x="3734844" y="8661917"/>
            <a:ext cx="2592000" cy="54000"/>
          </a:xfrm>
          <a:prstGeom prst="rect">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94" name="Google Shape;94;p13"/>
          <p:cNvSpPr txBox="1"/>
          <p:nvPr/>
        </p:nvSpPr>
        <p:spPr>
          <a:xfrm>
            <a:off x="3163826" y="8511531"/>
            <a:ext cx="575734" cy="369332"/>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800" b="0" i="0" u="none" strike="noStrike" cap="none">
                <a:solidFill>
                  <a:schemeClr val="dk1"/>
                </a:solidFill>
                <a:latin typeface="Arial"/>
                <a:ea typeface="Arial"/>
                <a:cs typeface="Arial"/>
                <a:sym typeface="Arial"/>
              </a:rPr>
              <a:t>1</a:t>
            </a:r>
            <a:endParaRPr sz="1800" b="0" i="0" u="none" strike="noStrike" cap="none">
              <a:solidFill>
                <a:schemeClr val="dk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14"/>
          <p:cNvSpPr/>
          <p:nvPr/>
        </p:nvSpPr>
        <p:spPr>
          <a:xfrm>
            <a:off x="67565" y="90087"/>
            <a:ext cx="6722870" cy="8963827"/>
          </a:xfrm>
          <a:prstGeom prst="rect">
            <a:avLst/>
          </a:prstGeom>
          <a:gradFill>
            <a:gsLst>
              <a:gs pos="0">
                <a:srgbClr val="EE00B0"/>
              </a:gs>
              <a:gs pos="10000">
                <a:srgbClr val="EE00B0"/>
              </a:gs>
              <a:gs pos="50000">
                <a:srgbClr val="6200E8"/>
              </a:gs>
              <a:gs pos="90000">
                <a:srgbClr val="0095E5"/>
              </a:gs>
              <a:gs pos="100000">
                <a:srgbClr val="0095E5"/>
              </a:gs>
            </a:gsLst>
            <a:lin ang="1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00" name="Google Shape;100;p14"/>
          <p:cNvSpPr/>
          <p:nvPr/>
        </p:nvSpPr>
        <p:spPr>
          <a:xfrm>
            <a:off x="7977" y="0"/>
            <a:ext cx="6858000" cy="9144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grpSp>
        <p:nvGrpSpPr>
          <p:cNvPr id="101" name="Google Shape;101;p14"/>
          <p:cNvGrpSpPr/>
          <p:nvPr/>
        </p:nvGrpSpPr>
        <p:grpSpPr>
          <a:xfrm>
            <a:off x="0" y="0"/>
            <a:ext cx="6865269" cy="9144001"/>
            <a:chOff x="0" y="0"/>
            <a:chExt cx="6865269" cy="9144001"/>
          </a:xfrm>
        </p:grpSpPr>
        <p:sp>
          <p:nvSpPr>
            <p:cNvPr id="102" name="Google Shape;102;p14"/>
            <p:cNvSpPr/>
            <p:nvPr/>
          </p:nvSpPr>
          <p:spPr>
            <a:xfrm>
              <a:off x="0" y="0"/>
              <a:ext cx="6858000" cy="432000"/>
            </a:xfrm>
            <a:prstGeom prst="rect">
              <a:avLst/>
            </a:prstGeom>
            <a:solidFill>
              <a:srgbClr val="F2A982">
                <a:alpha val="10196"/>
              </a:srgbClr>
            </a:solidFill>
            <a:ln w="19050" cap="flat" cmpd="sng">
              <a:solidFill>
                <a:srgbClr val="7F340D"/>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03" name="Google Shape;103;p14"/>
            <p:cNvSpPr/>
            <p:nvPr/>
          </p:nvSpPr>
          <p:spPr>
            <a:xfrm>
              <a:off x="0" y="8712000"/>
              <a:ext cx="6858000" cy="432000"/>
            </a:xfrm>
            <a:prstGeom prst="rect">
              <a:avLst/>
            </a:prstGeom>
            <a:solidFill>
              <a:srgbClr val="F2A982">
                <a:alpha val="10196"/>
              </a:srgbClr>
            </a:solidFill>
            <a:ln w="19050" cap="flat" cmpd="sng">
              <a:solidFill>
                <a:srgbClr val="7F340D"/>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04" name="Google Shape;104;p14"/>
            <p:cNvSpPr/>
            <p:nvPr/>
          </p:nvSpPr>
          <p:spPr>
            <a:xfrm>
              <a:off x="0" y="1"/>
              <a:ext cx="540000" cy="9144000"/>
            </a:xfrm>
            <a:prstGeom prst="rect">
              <a:avLst/>
            </a:prstGeom>
            <a:solidFill>
              <a:srgbClr val="F2A982">
                <a:alpha val="10196"/>
              </a:srgbClr>
            </a:solidFill>
            <a:ln w="19050" cap="flat" cmpd="sng">
              <a:solidFill>
                <a:srgbClr val="7F340D"/>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05" name="Google Shape;105;p14"/>
            <p:cNvSpPr/>
            <p:nvPr/>
          </p:nvSpPr>
          <p:spPr>
            <a:xfrm>
              <a:off x="6325269" y="0"/>
              <a:ext cx="540000" cy="9144000"/>
            </a:xfrm>
            <a:prstGeom prst="rect">
              <a:avLst/>
            </a:prstGeom>
            <a:solidFill>
              <a:srgbClr val="F2A982">
                <a:alpha val="10196"/>
              </a:srgbClr>
            </a:solidFill>
            <a:ln w="19050" cap="flat" cmpd="sng">
              <a:solidFill>
                <a:srgbClr val="7F340D"/>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grpSp>
      <p:sp>
        <p:nvSpPr>
          <p:cNvPr id="106" name="Google Shape;106;p14"/>
          <p:cNvSpPr/>
          <p:nvPr/>
        </p:nvSpPr>
        <p:spPr>
          <a:xfrm>
            <a:off x="554538" y="8661917"/>
            <a:ext cx="2592000" cy="54000"/>
          </a:xfrm>
          <a:prstGeom prst="rect">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07" name="Google Shape;107;p14"/>
          <p:cNvSpPr/>
          <p:nvPr/>
        </p:nvSpPr>
        <p:spPr>
          <a:xfrm>
            <a:off x="3734844" y="8661917"/>
            <a:ext cx="2592000" cy="54000"/>
          </a:xfrm>
          <a:prstGeom prst="rect">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08" name="Google Shape;108;p14"/>
          <p:cNvSpPr txBox="1"/>
          <p:nvPr/>
        </p:nvSpPr>
        <p:spPr>
          <a:xfrm>
            <a:off x="3163826" y="8511531"/>
            <a:ext cx="575734" cy="369332"/>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800" b="0" i="0" u="none" strike="noStrike" cap="none">
                <a:solidFill>
                  <a:schemeClr val="dk1"/>
                </a:solidFill>
                <a:latin typeface="Arial"/>
                <a:ea typeface="Arial"/>
                <a:cs typeface="Arial"/>
                <a:sym typeface="Arial"/>
              </a:rPr>
              <a:t>1</a:t>
            </a:r>
            <a:endParaRPr sz="1800" b="0" i="0" u="none" strike="noStrike" cap="none">
              <a:solidFill>
                <a:schemeClr val="dk1"/>
              </a:solidFill>
              <a:latin typeface="Arial"/>
              <a:ea typeface="Arial"/>
              <a:cs typeface="Arial"/>
              <a:sym typeface="Arial"/>
            </a:endParaRPr>
          </a:p>
        </p:txBody>
      </p:sp>
      <p:sp>
        <p:nvSpPr>
          <p:cNvPr id="109" name="Google Shape;109;p14"/>
          <p:cNvSpPr txBox="1"/>
          <p:nvPr/>
        </p:nvSpPr>
        <p:spPr>
          <a:xfrm>
            <a:off x="1000558" y="869188"/>
            <a:ext cx="5260584" cy="55395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000" i="0" u="none" strike="noStrike" cap="none" dirty="0">
                <a:solidFill>
                  <a:schemeClr val="dk1"/>
                </a:solidFill>
                <a:latin typeface="Jost Medium" pitchFamily="2" charset="0"/>
                <a:ea typeface="Jost Medium" pitchFamily="2" charset="0"/>
                <a:cs typeface="Segoe UI Semibold" panose="020B0702040204020203" pitchFamily="34" charset="0"/>
                <a:sym typeface="Quattrocento Sans"/>
              </a:rPr>
              <a:t>FlexChroma</a:t>
            </a:r>
            <a:r>
              <a:rPr lang="en-US" sz="2800" i="0" u="none" strike="noStrike" cap="none" dirty="0">
                <a:solidFill>
                  <a:schemeClr val="dk1"/>
                </a:solidFill>
                <a:latin typeface="Jost Medium" pitchFamily="2" charset="0"/>
                <a:ea typeface="Jost Medium" pitchFamily="2" charset="0"/>
                <a:cs typeface="Segoe UI Semibold" panose="020B0702040204020203" pitchFamily="34" charset="0"/>
                <a:sym typeface="IBM Plex Sans JP"/>
              </a:rPr>
              <a:t> </a:t>
            </a:r>
            <a:r>
              <a:rPr lang="en-US" sz="2400" i="0" u="none" strike="noStrike" cap="none" dirty="0">
                <a:solidFill>
                  <a:schemeClr val="dk1"/>
                </a:solidFill>
                <a:latin typeface="Jost Medium" pitchFamily="2" charset="0"/>
                <a:ea typeface="Jost Medium" pitchFamily="2" charset="0"/>
                <a:cs typeface="Segoe UI Semibold" panose="020B0702040204020203" pitchFamily="34" charset="0"/>
                <a:sym typeface="IBM Plex Sans JP"/>
              </a:rPr>
              <a:t>Blend</a:t>
            </a:r>
            <a:r>
              <a:rPr lang="en-US" sz="2400" dirty="0">
                <a:solidFill>
                  <a:schemeClr val="dk1"/>
                </a:solidFill>
                <a:latin typeface="Jost Medium" pitchFamily="2" charset="0"/>
                <a:ea typeface="Jost Medium" pitchFamily="2" charset="0"/>
                <a:cs typeface="Segoe UI Semibold" panose="020B0702040204020203" pitchFamily="34" charset="0"/>
                <a:sym typeface="IBM Plex Sans JP"/>
              </a:rPr>
              <a:t> Filament Guide</a:t>
            </a:r>
            <a:endParaRPr sz="2200" dirty="0">
              <a:solidFill>
                <a:schemeClr val="dk1"/>
              </a:solidFill>
              <a:latin typeface="Jost Medium" pitchFamily="2" charset="0"/>
              <a:ea typeface="Jost Medium" pitchFamily="2" charset="0"/>
              <a:cs typeface="Segoe UI Semibold" panose="020B0702040204020203" pitchFamily="34" charset="0"/>
              <a:sym typeface="IBM Plex Sans JP"/>
            </a:endParaRPr>
          </a:p>
        </p:txBody>
      </p:sp>
      <p:sp>
        <p:nvSpPr>
          <p:cNvPr id="110" name="Google Shape;110;p14"/>
          <p:cNvSpPr/>
          <p:nvPr/>
        </p:nvSpPr>
        <p:spPr>
          <a:xfrm>
            <a:off x="566175" y="2846081"/>
            <a:ext cx="204600" cy="204600"/>
          </a:xfrm>
          <a:prstGeom prst="ellipse">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11" name="Google Shape;111;p14"/>
          <p:cNvSpPr txBox="1"/>
          <p:nvPr/>
        </p:nvSpPr>
        <p:spPr>
          <a:xfrm>
            <a:off x="743949" y="2771064"/>
            <a:ext cx="2685051" cy="400069"/>
          </a:xfrm>
          <a:prstGeom prst="rect">
            <a:avLst/>
          </a:prstGeom>
          <a:noFill/>
          <a:ln>
            <a:noFill/>
          </a:ln>
        </p:spPr>
        <p:txBody>
          <a:bodyPr spcFirstLastPara="1" wrap="square" lIns="91425" tIns="45700" rIns="91425" bIns="45700" anchor="t" anchorCtr="0">
            <a:spAutoFit/>
          </a:bodyPr>
          <a:lstStyle/>
          <a:p>
            <a:pPr lvl="0"/>
            <a:r>
              <a:rPr lang="en-US" sz="2000" dirty="0">
                <a:solidFill>
                  <a:schemeClr val="dk1"/>
                </a:solidFill>
                <a:latin typeface="Jost SemiBold" pitchFamily="2" charset="0"/>
                <a:ea typeface="Jost SemiBold" pitchFamily="2" charset="0"/>
                <a:cs typeface="IBM Plex Sans JP SemiBold"/>
                <a:sym typeface="IBM Plex Sans JP SemiBold"/>
              </a:rPr>
              <a:t>1. Introduction</a:t>
            </a:r>
            <a:endParaRPr sz="2000" dirty="0">
              <a:solidFill>
                <a:schemeClr val="dk1"/>
              </a:solidFill>
              <a:latin typeface="Jost SemiBold" pitchFamily="2" charset="0"/>
              <a:ea typeface="Jost SemiBold" pitchFamily="2" charset="0"/>
              <a:cs typeface="IBM Plex Sans JP SemiBold"/>
              <a:sym typeface="IBM Plex Sans JP SemiBold"/>
            </a:endParaRPr>
          </a:p>
        </p:txBody>
      </p:sp>
      <p:sp>
        <p:nvSpPr>
          <p:cNvPr id="112" name="Google Shape;112;p14"/>
          <p:cNvSpPr txBox="1"/>
          <p:nvPr/>
        </p:nvSpPr>
        <p:spPr>
          <a:xfrm>
            <a:off x="693908" y="3265971"/>
            <a:ext cx="5649600" cy="954067"/>
          </a:xfrm>
          <a:prstGeom prst="rect">
            <a:avLst/>
          </a:prstGeom>
          <a:noFill/>
          <a:ln>
            <a:noFill/>
          </a:ln>
        </p:spPr>
        <p:txBody>
          <a:bodyPr spcFirstLastPara="1" wrap="square" lIns="91425" tIns="45700" rIns="91425" bIns="45700" anchor="t" anchorCtr="0">
            <a:spAutoFit/>
          </a:bodyPr>
          <a:lstStyle/>
          <a:p>
            <a:pPr lvl="0"/>
            <a:r>
              <a:rPr lang="en-US" dirty="0">
                <a:solidFill>
                  <a:schemeClr val="dk1"/>
                </a:solidFill>
                <a:latin typeface="Jost SemiBold" pitchFamily="2" charset="0"/>
                <a:ea typeface="Jost SemiBold" pitchFamily="2" charset="0"/>
                <a:cs typeface="Quattrocento Sans"/>
                <a:sym typeface="Quattrocento Sans"/>
              </a:rPr>
              <a:t>Brand Overview</a:t>
            </a:r>
            <a:endParaRPr dirty="0">
              <a:solidFill>
                <a:schemeClr val="dk1"/>
              </a:solidFill>
              <a:latin typeface="Jost SemiBold" pitchFamily="2" charset="0"/>
              <a:ea typeface="Jost SemiBold" pitchFamily="2" charset="0"/>
              <a:cs typeface="Quattrocento Sans"/>
              <a:sym typeface="Quattrocento Sans"/>
            </a:endParaRPr>
          </a:p>
          <a:p>
            <a:pPr lvl="0"/>
            <a:r>
              <a:rPr lang="en-US" sz="1050" dirty="0">
                <a:solidFill>
                  <a:schemeClr val="dk1"/>
                </a:solidFill>
                <a:latin typeface="Jost SemiBold" pitchFamily="2" charset="0"/>
                <a:ea typeface="Jost SemiBold" pitchFamily="2" charset="0"/>
                <a:cs typeface="Quattrocento Sans"/>
                <a:sym typeface="Quattrocento Sans"/>
              </a:rPr>
              <a:t>FlexChroma</a:t>
            </a:r>
            <a:r>
              <a:rPr lang="en-US" sz="1050" dirty="0">
                <a:solidFill>
                  <a:schemeClr val="dk1"/>
                </a:solidFill>
                <a:latin typeface="Jost" pitchFamily="2" charset="0"/>
                <a:ea typeface="Jost" pitchFamily="2" charset="0"/>
                <a:cs typeface="Quattrocento Sans"/>
                <a:sym typeface="Quattrocento Sans"/>
              </a:rPr>
              <a:t> is a brand created not only for people who are unsatisfied with the color options of existing filaments, but also for those whose limited filament collection prevents them from fully expressing their creativity.</a:t>
            </a:r>
          </a:p>
          <a:p>
            <a:pPr lvl="0"/>
            <a:r>
              <a:rPr lang="en-US" sz="1050" dirty="0">
                <a:solidFill>
                  <a:schemeClr val="dk1"/>
                </a:solidFill>
                <a:latin typeface="Jost" pitchFamily="2" charset="0"/>
                <a:ea typeface="Jost" pitchFamily="2" charset="0"/>
                <a:cs typeface="Quattrocento Sans"/>
                <a:sym typeface="Quattrocento Sans"/>
              </a:rPr>
              <a:t>Its goal is to expand your freedom in color selection.</a:t>
            </a:r>
            <a:endParaRPr sz="1050" b="1" dirty="0">
              <a:solidFill>
                <a:schemeClr val="dk1"/>
              </a:solidFill>
              <a:latin typeface="Jost" pitchFamily="2" charset="0"/>
              <a:ea typeface="Jost" pitchFamily="2" charset="0"/>
              <a:cs typeface="IBM Plex Sans JP"/>
              <a:sym typeface="IBM Plex Sans JP"/>
            </a:endParaRPr>
          </a:p>
        </p:txBody>
      </p:sp>
      <p:grpSp>
        <p:nvGrpSpPr>
          <p:cNvPr id="113" name="Google Shape;113;p14"/>
          <p:cNvGrpSpPr/>
          <p:nvPr/>
        </p:nvGrpSpPr>
        <p:grpSpPr>
          <a:xfrm>
            <a:off x="737384" y="441444"/>
            <a:ext cx="5419984" cy="400120"/>
            <a:chOff x="1042026" y="430737"/>
            <a:chExt cx="4781214" cy="377792"/>
          </a:xfrm>
        </p:grpSpPr>
        <p:sp>
          <p:nvSpPr>
            <p:cNvPr id="114" name="Google Shape;114;p14"/>
            <p:cNvSpPr/>
            <p:nvPr/>
          </p:nvSpPr>
          <p:spPr>
            <a:xfrm>
              <a:off x="1042026" y="430737"/>
              <a:ext cx="4781214" cy="377792"/>
            </a:xfrm>
            <a:prstGeom prst="round2SameRect">
              <a:avLst>
                <a:gd name="adj1" fmla="val 50000"/>
                <a:gd name="adj2" fmla="val 0"/>
              </a:avLst>
            </a:prstGeom>
            <a:solidFill>
              <a:schemeClr val="accent1"/>
            </a:solidFill>
            <a:ln w="20175" cap="flat" cmpd="sng">
              <a:solidFill>
                <a:srgbClr val="082836"/>
              </a:solidFill>
              <a:prstDash val="solid"/>
              <a:miter lim="8000"/>
              <a:headEnd type="none" w="sm" len="sm"/>
              <a:tailEnd type="none" w="sm" len="sm"/>
            </a:ln>
          </p:spPr>
          <p:txBody>
            <a:bodyPr spcFirstLastPara="1" wrap="square" lIns="96825" tIns="48400" rIns="96825" bIns="48400" anchor="ctr" anchorCtr="0">
              <a:noAutofit/>
            </a:bodyPr>
            <a:lstStyle/>
            <a:p>
              <a:pPr marL="0" marR="0" lvl="0" indent="0" algn="ctr" rtl="0">
                <a:spcBef>
                  <a:spcPts val="0"/>
                </a:spcBef>
                <a:spcAft>
                  <a:spcPts val="0"/>
                </a:spcAft>
                <a:buNone/>
              </a:pPr>
              <a:endParaRPr sz="1906">
                <a:solidFill>
                  <a:schemeClr val="lt1"/>
                </a:solidFill>
                <a:latin typeface="Arial"/>
                <a:ea typeface="Arial"/>
                <a:cs typeface="Arial"/>
                <a:sym typeface="Arial"/>
              </a:endParaRPr>
            </a:p>
          </p:txBody>
        </p:sp>
        <p:sp>
          <p:nvSpPr>
            <p:cNvPr id="115" name="Google Shape;115;p14"/>
            <p:cNvSpPr/>
            <p:nvPr/>
          </p:nvSpPr>
          <p:spPr>
            <a:xfrm>
              <a:off x="1042026" y="697920"/>
              <a:ext cx="4781214" cy="110609"/>
            </a:xfrm>
            <a:prstGeom prst="round2SameRect">
              <a:avLst>
                <a:gd name="adj1" fmla="val 50000"/>
                <a:gd name="adj2" fmla="val 0"/>
              </a:avLst>
            </a:prstGeom>
            <a:solidFill>
              <a:schemeClr val="accent1"/>
            </a:solidFill>
            <a:ln w="20175" cap="flat" cmpd="sng">
              <a:solidFill>
                <a:srgbClr val="082836"/>
              </a:solidFill>
              <a:prstDash val="solid"/>
              <a:miter lim="8000"/>
              <a:headEnd type="none" w="sm" len="sm"/>
              <a:tailEnd type="none" w="sm" len="sm"/>
            </a:ln>
          </p:spPr>
          <p:txBody>
            <a:bodyPr spcFirstLastPara="1" wrap="square" lIns="96825" tIns="48400" rIns="96825" bIns="48400" anchor="ctr" anchorCtr="0">
              <a:noAutofit/>
            </a:bodyPr>
            <a:lstStyle/>
            <a:p>
              <a:pPr marL="0" marR="0" lvl="0" indent="0" algn="ctr" rtl="0">
                <a:spcBef>
                  <a:spcPts val="0"/>
                </a:spcBef>
                <a:spcAft>
                  <a:spcPts val="0"/>
                </a:spcAft>
                <a:buNone/>
              </a:pPr>
              <a:endParaRPr sz="1906">
                <a:solidFill>
                  <a:schemeClr val="lt1"/>
                </a:solidFill>
                <a:latin typeface="Arial"/>
                <a:ea typeface="Arial"/>
                <a:cs typeface="Arial"/>
                <a:sym typeface="Arial"/>
              </a:endParaRPr>
            </a:p>
          </p:txBody>
        </p:sp>
      </p:grpSp>
      <p:grpSp>
        <p:nvGrpSpPr>
          <p:cNvPr id="116" name="Google Shape;116;p14"/>
          <p:cNvGrpSpPr/>
          <p:nvPr/>
        </p:nvGrpSpPr>
        <p:grpSpPr>
          <a:xfrm rot="10800000">
            <a:off x="737383" y="2224664"/>
            <a:ext cx="5419985" cy="377792"/>
            <a:chOff x="1042026" y="430737"/>
            <a:chExt cx="4781214" cy="377792"/>
          </a:xfrm>
        </p:grpSpPr>
        <p:sp>
          <p:nvSpPr>
            <p:cNvPr id="117" name="Google Shape;117;p14"/>
            <p:cNvSpPr/>
            <p:nvPr/>
          </p:nvSpPr>
          <p:spPr>
            <a:xfrm>
              <a:off x="1042026" y="430737"/>
              <a:ext cx="4781214" cy="377792"/>
            </a:xfrm>
            <a:prstGeom prst="round2SameRect">
              <a:avLst>
                <a:gd name="adj1" fmla="val 50000"/>
                <a:gd name="adj2" fmla="val 0"/>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18" name="Google Shape;118;p14"/>
            <p:cNvSpPr/>
            <p:nvPr/>
          </p:nvSpPr>
          <p:spPr>
            <a:xfrm>
              <a:off x="1042026" y="697920"/>
              <a:ext cx="4781214" cy="110609"/>
            </a:xfrm>
            <a:prstGeom prst="round2SameRect">
              <a:avLst>
                <a:gd name="adj1" fmla="val 50000"/>
                <a:gd name="adj2" fmla="val 0"/>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sp>
        <p:nvSpPr>
          <p:cNvPr id="119" name="Google Shape;119;p14"/>
          <p:cNvSpPr txBox="1"/>
          <p:nvPr/>
        </p:nvSpPr>
        <p:spPr>
          <a:xfrm>
            <a:off x="1515655" y="1444411"/>
            <a:ext cx="3826689"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dirty="0">
                <a:solidFill>
                  <a:schemeClr val="dk1"/>
                </a:solidFill>
                <a:latin typeface="Jost" pitchFamily="2" charset="0"/>
                <a:ea typeface="Jost" pitchFamily="2" charset="0"/>
                <a:cs typeface="Segoe UI Semibold" panose="020B0702040204020203" pitchFamily="34" charset="0"/>
                <a:sym typeface="IBM Plex Sans JP"/>
              </a:rPr>
              <a:t>-  Print Colors You Imagine. -</a:t>
            </a:r>
            <a:endParaRPr sz="1600" dirty="0">
              <a:solidFill>
                <a:schemeClr val="dk1"/>
              </a:solidFill>
              <a:latin typeface="Jost" pitchFamily="2" charset="0"/>
              <a:ea typeface="Jost" pitchFamily="2" charset="0"/>
              <a:cs typeface="Segoe UI Semibold" panose="020B0702040204020203" pitchFamily="34" charset="0"/>
              <a:sym typeface="IBM Plex Sans JP"/>
            </a:endParaRPr>
          </a:p>
        </p:txBody>
      </p:sp>
      <p:sp>
        <p:nvSpPr>
          <p:cNvPr id="120" name="Google Shape;120;p14"/>
          <p:cNvSpPr txBox="1"/>
          <p:nvPr/>
        </p:nvSpPr>
        <p:spPr>
          <a:xfrm>
            <a:off x="2428662" y="1849925"/>
            <a:ext cx="1989600" cy="307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dirty="0">
                <a:solidFill>
                  <a:schemeClr val="dk1"/>
                </a:solidFill>
                <a:latin typeface="Jost" pitchFamily="2" charset="0"/>
                <a:ea typeface="Jost" pitchFamily="2" charset="0"/>
                <a:cs typeface="IBM Plex Sans JP"/>
                <a:sym typeface="IBM Plex Sans JP"/>
              </a:rPr>
              <a:t>Ver.</a:t>
            </a:r>
            <a:r>
              <a:rPr lang="en-US" altLang="ja-JP" sz="1400" dirty="0">
                <a:solidFill>
                  <a:schemeClr val="dk1"/>
                </a:solidFill>
                <a:latin typeface="Jost" pitchFamily="2" charset="0"/>
                <a:ea typeface="Jost" pitchFamily="2" charset="0"/>
                <a:cs typeface="IBM Plex Sans JP"/>
                <a:sym typeface="IBM Plex Sans JP"/>
              </a:rPr>
              <a:t>2</a:t>
            </a:r>
            <a:r>
              <a:rPr lang="en-US" sz="1400" dirty="0">
                <a:solidFill>
                  <a:schemeClr val="dk1"/>
                </a:solidFill>
                <a:latin typeface="Jost" pitchFamily="2" charset="0"/>
                <a:ea typeface="Jost" pitchFamily="2" charset="0"/>
                <a:cs typeface="IBM Plex Sans JP"/>
                <a:sym typeface="IBM Plex Sans JP"/>
              </a:rPr>
              <a:t>.1</a:t>
            </a:r>
            <a:r>
              <a:rPr lang="en-US" dirty="0">
                <a:solidFill>
                  <a:schemeClr val="dk1"/>
                </a:solidFill>
                <a:latin typeface="Jost" pitchFamily="2" charset="0"/>
                <a:ea typeface="Jost" pitchFamily="2" charset="0"/>
                <a:cs typeface="IBM Plex Sans JP"/>
                <a:sym typeface="IBM Plex Sans JP"/>
              </a:rPr>
              <a:t>0</a:t>
            </a:r>
            <a:r>
              <a:rPr lang="en-US" sz="1400" dirty="0">
                <a:solidFill>
                  <a:schemeClr val="dk1"/>
                </a:solidFill>
                <a:latin typeface="Jost" pitchFamily="2" charset="0"/>
                <a:ea typeface="Jost" pitchFamily="2" charset="0"/>
                <a:cs typeface="IBM Plex Sans JP"/>
                <a:sym typeface="IBM Plex Sans JP"/>
              </a:rPr>
              <a:t>  2026.9.</a:t>
            </a:r>
            <a:r>
              <a:rPr lang="en-US" dirty="0">
                <a:solidFill>
                  <a:schemeClr val="dk1"/>
                </a:solidFill>
                <a:latin typeface="Jost" pitchFamily="2" charset="0"/>
                <a:ea typeface="Jost" pitchFamily="2" charset="0"/>
                <a:cs typeface="IBM Plex Sans JP"/>
                <a:sym typeface="IBM Plex Sans JP"/>
              </a:rPr>
              <a:t>1</a:t>
            </a:r>
            <a:r>
              <a:rPr lang="en-US" altLang="ja-JP" dirty="0">
                <a:solidFill>
                  <a:schemeClr val="dk1"/>
                </a:solidFill>
                <a:latin typeface="Jost" pitchFamily="2" charset="0"/>
                <a:ea typeface="Jost" pitchFamily="2" charset="0"/>
                <a:cs typeface="IBM Plex Sans JP"/>
                <a:sym typeface="IBM Plex Sans JP"/>
              </a:rPr>
              <a:t>6</a:t>
            </a:r>
            <a:endParaRPr sz="1400" dirty="0">
              <a:solidFill>
                <a:schemeClr val="dk1"/>
              </a:solidFill>
              <a:latin typeface="Jost" pitchFamily="2" charset="0"/>
              <a:ea typeface="Jost" pitchFamily="2" charset="0"/>
              <a:cs typeface="IBM Plex Sans JP"/>
              <a:sym typeface="IBM Plex Sans JP"/>
            </a:endParaRPr>
          </a:p>
        </p:txBody>
      </p:sp>
      <p:sp>
        <p:nvSpPr>
          <p:cNvPr id="121" name="Google Shape;121;p14"/>
          <p:cNvSpPr txBox="1"/>
          <p:nvPr/>
        </p:nvSpPr>
        <p:spPr>
          <a:xfrm>
            <a:off x="668508" y="4219021"/>
            <a:ext cx="5649600" cy="1438815"/>
          </a:xfrm>
          <a:prstGeom prst="rect">
            <a:avLst/>
          </a:prstGeom>
          <a:noFill/>
          <a:ln>
            <a:noFill/>
          </a:ln>
        </p:spPr>
        <p:txBody>
          <a:bodyPr spcFirstLastPara="1" wrap="square" lIns="91425" tIns="45700" rIns="91425" bIns="45700" anchor="t" anchorCtr="0">
            <a:spAutoFit/>
          </a:bodyPr>
          <a:lstStyle/>
          <a:p>
            <a:pPr lvl="0"/>
            <a:r>
              <a:rPr lang="en-US" dirty="0">
                <a:solidFill>
                  <a:schemeClr val="dk1"/>
                </a:solidFill>
                <a:latin typeface="Jost SemiBold" pitchFamily="2" charset="0"/>
                <a:ea typeface="Jost SemiBold" pitchFamily="2" charset="0"/>
                <a:cs typeface="Quattrocento Sans"/>
                <a:sym typeface="Quattrocento Sans"/>
              </a:rPr>
              <a:t>Series Overview</a:t>
            </a:r>
            <a:endParaRPr dirty="0">
              <a:solidFill>
                <a:schemeClr val="dk1"/>
              </a:solidFill>
              <a:latin typeface="Jost SemiBold" pitchFamily="2" charset="0"/>
              <a:ea typeface="Jost SemiBold" pitchFamily="2" charset="0"/>
              <a:cs typeface="Quattrocento Sans"/>
              <a:sym typeface="Quattrocento Sans"/>
            </a:endParaRPr>
          </a:p>
          <a:p>
            <a:pPr lvl="0"/>
            <a:r>
              <a:rPr lang="en-US" sz="1050" dirty="0">
                <a:solidFill>
                  <a:schemeClr val="dk1"/>
                </a:solidFill>
                <a:latin typeface="Jost" pitchFamily="2" charset="0"/>
                <a:ea typeface="Jost" pitchFamily="2" charset="0"/>
                <a:cs typeface="Quattrocento Sans"/>
                <a:sym typeface="Quattrocento Sans"/>
              </a:rPr>
              <a:t>The </a:t>
            </a:r>
            <a:r>
              <a:rPr lang="en-US" sz="1050" dirty="0">
                <a:solidFill>
                  <a:schemeClr val="dk1"/>
                </a:solidFill>
                <a:latin typeface="Jost Medium" pitchFamily="2" charset="0"/>
                <a:ea typeface="Jost Medium" pitchFamily="2" charset="0"/>
                <a:cs typeface="Quattrocento Sans"/>
                <a:sym typeface="Quattrocento Sans"/>
              </a:rPr>
              <a:t>Blend Filament</a:t>
            </a:r>
            <a:r>
              <a:rPr lang="en-US" sz="1050" dirty="0">
                <a:solidFill>
                  <a:schemeClr val="dk1"/>
                </a:solidFill>
                <a:latin typeface="Jost" pitchFamily="2" charset="0"/>
                <a:ea typeface="Jost" pitchFamily="2" charset="0"/>
                <a:cs typeface="Quattrocento Sans"/>
                <a:sym typeface="Quattrocento Sans"/>
              </a:rPr>
              <a:t> series is the most fundamental series of </a:t>
            </a:r>
            <a:r>
              <a:rPr lang="en-US" sz="1050" dirty="0">
                <a:solidFill>
                  <a:schemeClr val="dk1"/>
                </a:solidFill>
                <a:latin typeface="Jost SemiBold" pitchFamily="2" charset="0"/>
                <a:ea typeface="Jost SemiBold" pitchFamily="2" charset="0"/>
                <a:cs typeface="Quattrocento Sans"/>
                <a:sym typeface="Quattrocento Sans"/>
              </a:rPr>
              <a:t>FlexChroma</a:t>
            </a:r>
            <a:r>
              <a:rPr lang="en-US" sz="1050" dirty="0">
                <a:solidFill>
                  <a:schemeClr val="dk1"/>
                </a:solidFill>
                <a:latin typeface="Jost" pitchFamily="2" charset="0"/>
                <a:ea typeface="Jost" pitchFamily="2" charset="0"/>
                <a:cs typeface="Quattrocento Sans"/>
                <a:sym typeface="Quattrocento Sans"/>
              </a:rPr>
              <a:t>.</a:t>
            </a:r>
          </a:p>
          <a:p>
            <a:pPr lvl="0"/>
            <a:r>
              <a:rPr lang="en-US" sz="1050" dirty="0">
                <a:solidFill>
                  <a:schemeClr val="dk1"/>
                </a:solidFill>
                <a:latin typeface="Jost" pitchFamily="2" charset="0"/>
                <a:ea typeface="Jost" pitchFamily="2" charset="0"/>
                <a:cs typeface="Quattrocento Sans"/>
                <a:sym typeface="Quattrocento Sans"/>
              </a:rPr>
              <a:t>By combining two filaments at various mixing ratios, you can create a wide range of custom colors.</a:t>
            </a:r>
          </a:p>
          <a:p>
            <a:pPr lvl="0"/>
            <a:r>
              <a:rPr lang="en-US" sz="1050" dirty="0">
                <a:solidFill>
                  <a:schemeClr val="dk1"/>
                </a:solidFill>
                <a:latin typeface="Jost" pitchFamily="2" charset="0"/>
                <a:ea typeface="Jost" pitchFamily="2" charset="0"/>
                <a:cs typeface="Quattrocento Sans"/>
                <a:sym typeface="Quattrocento Sans"/>
              </a:rPr>
              <a:t>For users who want even finer control, or for combinations with a large brightness difference, Detail Models are also available.</a:t>
            </a:r>
          </a:p>
          <a:p>
            <a:pPr lvl="0"/>
            <a:r>
              <a:rPr lang="en-US" sz="1050" dirty="0">
                <a:solidFill>
                  <a:schemeClr val="dk1"/>
                </a:solidFill>
                <a:latin typeface="Jost" pitchFamily="2" charset="0"/>
                <a:ea typeface="Jost" pitchFamily="2" charset="0"/>
                <a:cs typeface="Quattrocento Sans"/>
                <a:sym typeface="Quattrocento Sans"/>
              </a:rPr>
              <a:t>These cover mixing ratios from 90‒99.5%, allowing finer adjustments that Standard Models cannot achieve.</a:t>
            </a:r>
            <a:endParaRPr sz="1050" dirty="0">
              <a:solidFill>
                <a:schemeClr val="dk1"/>
              </a:solidFill>
              <a:latin typeface="Jost" pitchFamily="2" charset="0"/>
              <a:ea typeface="Jost" pitchFamily="2" charset="0"/>
              <a:cs typeface="IBM Plex Sans JP"/>
              <a:sym typeface="IBM Plex Sans JP"/>
            </a:endParaRPr>
          </a:p>
        </p:txBody>
      </p:sp>
      <p:sp>
        <p:nvSpPr>
          <p:cNvPr id="122" name="Google Shape;122;p14"/>
          <p:cNvSpPr/>
          <p:nvPr/>
        </p:nvSpPr>
        <p:spPr>
          <a:xfrm>
            <a:off x="554550" y="5841225"/>
            <a:ext cx="204600" cy="204600"/>
          </a:xfrm>
          <a:prstGeom prst="ellipse">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23" name="Google Shape;123;p14"/>
          <p:cNvSpPr txBox="1"/>
          <p:nvPr/>
        </p:nvSpPr>
        <p:spPr>
          <a:xfrm>
            <a:off x="732323" y="5775581"/>
            <a:ext cx="2923095" cy="400069"/>
          </a:xfrm>
          <a:prstGeom prst="rect">
            <a:avLst/>
          </a:prstGeom>
          <a:noFill/>
          <a:ln>
            <a:noFill/>
          </a:ln>
        </p:spPr>
        <p:txBody>
          <a:bodyPr spcFirstLastPara="1" wrap="square" lIns="91425" tIns="45700" rIns="91425" bIns="45700" anchor="t" anchorCtr="0">
            <a:spAutoFit/>
          </a:bodyPr>
          <a:lstStyle/>
          <a:p>
            <a:pPr lvl="0"/>
            <a:r>
              <a:rPr lang="en-US" sz="2000" dirty="0">
                <a:solidFill>
                  <a:schemeClr val="dk1"/>
                </a:solidFill>
                <a:latin typeface="Jost SemiBold" pitchFamily="2" charset="0"/>
                <a:ea typeface="Jost SemiBold" pitchFamily="2" charset="0"/>
                <a:cs typeface="IBM Plex Sans JP SemiBold"/>
                <a:sym typeface="IBM Plex Sans JP SemiBold"/>
              </a:rPr>
              <a:t>2. Model Structure</a:t>
            </a:r>
            <a:endParaRPr sz="2000" dirty="0">
              <a:solidFill>
                <a:schemeClr val="dk1"/>
              </a:solidFill>
              <a:latin typeface="Jost SemiBold" pitchFamily="2" charset="0"/>
              <a:ea typeface="Jost SemiBold" pitchFamily="2" charset="0"/>
              <a:cs typeface="IBM Plex Sans JP SemiBold"/>
              <a:sym typeface="IBM Plex Sans JP SemiBold"/>
            </a:endParaRPr>
          </a:p>
        </p:txBody>
      </p:sp>
      <p:sp>
        <p:nvSpPr>
          <p:cNvPr id="124" name="Google Shape;124;p14"/>
          <p:cNvSpPr txBox="1"/>
          <p:nvPr/>
        </p:nvSpPr>
        <p:spPr>
          <a:xfrm>
            <a:off x="783556" y="6582225"/>
            <a:ext cx="1536600" cy="307736"/>
          </a:xfrm>
          <a:prstGeom prst="rect">
            <a:avLst/>
          </a:prstGeom>
          <a:noFill/>
          <a:ln>
            <a:noFill/>
          </a:ln>
        </p:spPr>
        <p:txBody>
          <a:bodyPr spcFirstLastPara="1" wrap="square" lIns="91425" tIns="45700" rIns="91425" bIns="45700" anchor="t" anchorCtr="0">
            <a:spAutoFit/>
          </a:bodyPr>
          <a:lstStyle/>
          <a:p>
            <a:pPr lvl="0"/>
            <a:r>
              <a:rPr lang="en-US" b="1" dirty="0">
                <a:solidFill>
                  <a:schemeClr val="dk1"/>
                </a:solidFill>
                <a:latin typeface="Jost SemiBold" pitchFamily="2" charset="0"/>
                <a:ea typeface="Jost SemiBold" pitchFamily="2" charset="0"/>
                <a:cs typeface="Quattrocento Sans"/>
                <a:sym typeface="Quattrocento Sans"/>
              </a:rPr>
              <a:t>Mixing Ratios </a:t>
            </a:r>
            <a:endParaRPr b="1" dirty="0">
              <a:solidFill>
                <a:schemeClr val="dk1"/>
              </a:solidFill>
              <a:latin typeface="Jost SemiBold" pitchFamily="2" charset="0"/>
              <a:ea typeface="Jost SemiBold" pitchFamily="2" charset="0"/>
              <a:cs typeface="Quattrocento Sans"/>
              <a:sym typeface="Quattrocento Sans"/>
            </a:endParaRPr>
          </a:p>
        </p:txBody>
      </p:sp>
      <p:sp>
        <p:nvSpPr>
          <p:cNvPr id="125" name="Google Shape;125;p14"/>
          <p:cNvSpPr/>
          <p:nvPr/>
        </p:nvSpPr>
        <p:spPr>
          <a:xfrm>
            <a:off x="607651" y="4274527"/>
            <a:ext cx="124500" cy="118091"/>
          </a:xfrm>
          <a:prstGeom prst="ellipse">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26" name="Google Shape;126;p14"/>
          <p:cNvSpPr/>
          <p:nvPr/>
        </p:nvSpPr>
        <p:spPr>
          <a:xfrm>
            <a:off x="607651" y="3339615"/>
            <a:ext cx="124500" cy="118091"/>
          </a:xfrm>
          <a:prstGeom prst="ellipse">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27" name="Google Shape;127;p14"/>
          <p:cNvSpPr txBox="1"/>
          <p:nvPr/>
        </p:nvSpPr>
        <p:spPr>
          <a:xfrm>
            <a:off x="668508" y="6063596"/>
            <a:ext cx="5649600" cy="415500"/>
          </a:xfrm>
          <a:prstGeom prst="rect">
            <a:avLst/>
          </a:prstGeom>
          <a:noFill/>
          <a:ln>
            <a:noFill/>
          </a:ln>
        </p:spPr>
        <p:txBody>
          <a:bodyPr spcFirstLastPara="1" wrap="square" lIns="91425" tIns="45700" rIns="91425" bIns="45700" anchor="t" anchorCtr="0">
            <a:spAutoFit/>
          </a:bodyPr>
          <a:lstStyle/>
          <a:p>
            <a:pPr lvl="0"/>
            <a:r>
              <a:rPr lang="en-US" sz="1050" dirty="0">
                <a:solidFill>
                  <a:schemeClr val="dk1"/>
                </a:solidFill>
                <a:latin typeface="Jost" pitchFamily="2" charset="0"/>
                <a:ea typeface="Jost" pitchFamily="2" charset="0"/>
                <a:cs typeface="Quattrocento Sans"/>
                <a:sym typeface="Quattrocento Sans"/>
              </a:rPr>
              <a:t>This series is divided by size, and each size includes both Standard Models and separate Detail Models.</a:t>
            </a:r>
            <a:endParaRPr sz="1050" dirty="0">
              <a:solidFill>
                <a:schemeClr val="dk1"/>
              </a:solidFill>
              <a:latin typeface="Jost" pitchFamily="2" charset="0"/>
              <a:ea typeface="Jost" pitchFamily="2" charset="0"/>
              <a:cs typeface="Quattrocento Sans"/>
              <a:sym typeface="Quattrocento Sans"/>
            </a:endParaRPr>
          </a:p>
        </p:txBody>
      </p:sp>
      <p:sp>
        <p:nvSpPr>
          <p:cNvPr id="128" name="Google Shape;128;p14"/>
          <p:cNvSpPr txBox="1"/>
          <p:nvPr/>
        </p:nvSpPr>
        <p:spPr>
          <a:xfrm>
            <a:off x="659598" y="6878554"/>
            <a:ext cx="5705400" cy="1631175"/>
          </a:xfrm>
          <a:prstGeom prst="rect">
            <a:avLst/>
          </a:prstGeom>
          <a:noFill/>
          <a:ln>
            <a:noFill/>
          </a:ln>
        </p:spPr>
        <p:txBody>
          <a:bodyPr spcFirstLastPara="1" wrap="square" lIns="91425" tIns="45700" rIns="91425" bIns="45700" anchor="t" anchorCtr="0">
            <a:spAutoFit/>
          </a:bodyPr>
          <a:lstStyle/>
          <a:p>
            <a:pPr lvl="0"/>
            <a:r>
              <a:rPr lang="en-US" sz="1000" dirty="0">
                <a:solidFill>
                  <a:schemeClr val="dk1"/>
                </a:solidFill>
                <a:latin typeface="Jost" pitchFamily="2" charset="0"/>
                <a:ea typeface="Jost" pitchFamily="2" charset="0"/>
                <a:cs typeface="Quattrocento Sans"/>
                <a:sym typeface="Quattrocento Sans"/>
              </a:rPr>
              <a:t>Mixing ratios are mainly defined by two model types:</a:t>
            </a:r>
          </a:p>
          <a:p>
            <a:pPr lvl="0"/>
            <a:r>
              <a:rPr lang="en-US" sz="1000" dirty="0">
                <a:solidFill>
                  <a:schemeClr val="dk1"/>
                </a:solidFill>
                <a:latin typeface="Jost" pitchFamily="2" charset="0"/>
                <a:ea typeface="Jost" pitchFamily="2" charset="0"/>
                <a:cs typeface="Quattrocento Sans"/>
                <a:sym typeface="Quattrocento Sans"/>
              </a:rPr>
              <a:t>• Standard Model: 50‒95% in 5% increments (10 models)</a:t>
            </a:r>
          </a:p>
          <a:p>
            <a:pPr lvl="0"/>
            <a:r>
              <a:rPr lang="en-US" sz="1000" dirty="0">
                <a:solidFill>
                  <a:schemeClr val="dk1"/>
                </a:solidFill>
                <a:latin typeface="Jost" pitchFamily="2" charset="0"/>
                <a:ea typeface="Jost" pitchFamily="2" charset="0"/>
                <a:cs typeface="Quattrocento Sans"/>
                <a:sym typeface="Quattrocento Sans"/>
              </a:rPr>
              <a:t>• Detail Model: 90, 92.5, 95, 96, 97, 98, 98.5, 99, 99.5% (9 models)</a:t>
            </a:r>
          </a:p>
          <a:p>
            <a:pPr lvl="0"/>
            <a:r>
              <a:rPr lang="en-US" sz="1000" dirty="0">
                <a:solidFill>
                  <a:schemeClr val="dk1"/>
                </a:solidFill>
                <a:latin typeface="Jost" pitchFamily="2" charset="0"/>
                <a:ea typeface="Jost" pitchFamily="2" charset="0"/>
                <a:cs typeface="Quattrocento Sans"/>
                <a:sym typeface="Quattrocento Sans"/>
              </a:rPr>
              <a:t>※ The 90%, 95% model is identical in both series.</a:t>
            </a:r>
          </a:p>
          <a:p>
            <a:pPr lvl="0"/>
            <a:endParaRPr lang="en-US" sz="1000" dirty="0">
              <a:solidFill>
                <a:schemeClr val="dk1"/>
              </a:solidFill>
              <a:latin typeface="Jost" pitchFamily="2" charset="0"/>
              <a:ea typeface="Jost" pitchFamily="2" charset="0"/>
              <a:cs typeface="Quattrocento Sans"/>
              <a:sym typeface="Quattrocento Sans"/>
            </a:endParaRPr>
          </a:p>
          <a:p>
            <a:pPr lvl="0"/>
            <a:r>
              <a:rPr lang="en-US" sz="1000" dirty="0">
                <a:solidFill>
                  <a:schemeClr val="dk1"/>
                </a:solidFill>
                <a:latin typeface="Jost" pitchFamily="2" charset="0"/>
                <a:ea typeface="Jost" pitchFamily="2" charset="0"/>
                <a:cs typeface="Quattrocento Sans"/>
                <a:sym typeface="Quattrocento Sans"/>
              </a:rPr>
              <a:t>Although there are 17 mixing ratios, excluding 50%, you can reverse filaments A and B to obtain the opposite ratio.</a:t>
            </a:r>
          </a:p>
          <a:p>
            <a:pPr lvl="0"/>
            <a:r>
              <a:rPr lang="en-US" sz="1000" dirty="0">
                <a:solidFill>
                  <a:schemeClr val="dk1"/>
                </a:solidFill>
                <a:latin typeface="Jost" pitchFamily="2" charset="0"/>
                <a:ea typeface="Jost" pitchFamily="2" charset="0"/>
                <a:cs typeface="Quattrocento Sans"/>
                <a:sym typeface="Quattrocento Sans"/>
              </a:rPr>
              <a:t>(Example: Using the 75% model gives A:B = 75:25; reversing filaments results in A:B = 25:75, equivalent to the 25% ratio.)</a:t>
            </a:r>
          </a:p>
          <a:p>
            <a:pPr lvl="0"/>
            <a:r>
              <a:rPr lang="en-US" sz="1000" dirty="0">
                <a:solidFill>
                  <a:schemeClr val="dk1"/>
                </a:solidFill>
                <a:latin typeface="Jost" pitchFamily="2" charset="0"/>
                <a:ea typeface="Jost" pitchFamily="2" charset="0"/>
                <a:cs typeface="Quattrocento Sans"/>
                <a:sym typeface="Quattrocento Sans"/>
              </a:rPr>
              <a:t>Standard Models may be split into Standard 1 and Standard 2 to reduce file size.</a:t>
            </a:r>
            <a:endParaRPr sz="1000" dirty="0">
              <a:solidFill>
                <a:schemeClr val="dk1"/>
              </a:solidFill>
              <a:latin typeface="Jost" pitchFamily="2" charset="0"/>
              <a:ea typeface="Jost" pitchFamily="2" charset="0"/>
              <a:cs typeface="Quattrocento Sans"/>
              <a:sym typeface="Quattrocento Sans"/>
            </a:endParaRPr>
          </a:p>
        </p:txBody>
      </p:sp>
      <p:sp>
        <p:nvSpPr>
          <p:cNvPr id="129" name="Google Shape;129;p14"/>
          <p:cNvSpPr/>
          <p:nvPr/>
        </p:nvSpPr>
        <p:spPr>
          <a:xfrm>
            <a:off x="705856" y="6665502"/>
            <a:ext cx="124500" cy="118091"/>
          </a:xfrm>
          <a:prstGeom prst="ellipse">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pic>
        <p:nvPicPr>
          <p:cNvPr id="3" name="図 2">
            <a:extLst>
              <a:ext uri="{FF2B5EF4-FFF2-40B4-BE49-F238E27FC236}">
                <a16:creationId xmlns:a16="http://schemas.microsoft.com/office/drawing/2014/main" id="{3BFB578B-2FC5-0CFA-B9F7-66AFD3E53782}"/>
              </a:ext>
            </a:extLst>
          </p:cNvPr>
          <p:cNvPicPr>
            <a:picLocks noChangeAspect="1"/>
          </p:cNvPicPr>
          <p:nvPr/>
        </p:nvPicPr>
        <p:blipFill>
          <a:blip r:embed="rId3"/>
          <a:stretch>
            <a:fillRect/>
          </a:stretch>
        </p:blipFill>
        <p:spPr>
          <a:xfrm>
            <a:off x="722483" y="946491"/>
            <a:ext cx="356510" cy="34367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15"/>
          <p:cNvSpPr/>
          <p:nvPr/>
        </p:nvSpPr>
        <p:spPr>
          <a:xfrm>
            <a:off x="67565" y="90087"/>
            <a:ext cx="6722870" cy="8963827"/>
          </a:xfrm>
          <a:prstGeom prst="rect">
            <a:avLst/>
          </a:prstGeom>
          <a:gradFill>
            <a:gsLst>
              <a:gs pos="0">
                <a:srgbClr val="EE00B0"/>
              </a:gs>
              <a:gs pos="10000">
                <a:srgbClr val="EE00B0"/>
              </a:gs>
              <a:gs pos="50000">
                <a:srgbClr val="6200E8"/>
              </a:gs>
              <a:gs pos="90000">
                <a:srgbClr val="0095E5"/>
              </a:gs>
              <a:gs pos="100000">
                <a:srgbClr val="0095E5"/>
              </a:gs>
            </a:gsLst>
            <a:lin ang="1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35" name="Google Shape;135;p15"/>
          <p:cNvSpPr/>
          <p:nvPr/>
        </p:nvSpPr>
        <p:spPr>
          <a:xfrm>
            <a:off x="20300" y="12028"/>
            <a:ext cx="6858000" cy="9144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nvGrpSpPr>
          <p:cNvPr id="136" name="Google Shape;136;p15"/>
          <p:cNvGrpSpPr/>
          <p:nvPr/>
        </p:nvGrpSpPr>
        <p:grpSpPr>
          <a:xfrm>
            <a:off x="0" y="0"/>
            <a:ext cx="6865269" cy="9144001"/>
            <a:chOff x="0" y="0"/>
            <a:chExt cx="6865269" cy="9144001"/>
          </a:xfrm>
        </p:grpSpPr>
        <p:sp>
          <p:nvSpPr>
            <p:cNvPr id="137" name="Google Shape;137;p15"/>
            <p:cNvSpPr/>
            <p:nvPr/>
          </p:nvSpPr>
          <p:spPr>
            <a:xfrm>
              <a:off x="0" y="0"/>
              <a:ext cx="6858000" cy="432000"/>
            </a:xfrm>
            <a:prstGeom prst="rect">
              <a:avLst/>
            </a:prstGeom>
            <a:solidFill>
              <a:srgbClr val="F2A982">
                <a:alpha val="10196"/>
              </a:srgbClr>
            </a:solidFill>
            <a:ln w="19050" cap="flat" cmpd="sng">
              <a:solidFill>
                <a:srgbClr val="7F340D"/>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38" name="Google Shape;138;p15"/>
            <p:cNvSpPr/>
            <p:nvPr/>
          </p:nvSpPr>
          <p:spPr>
            <a:xfrm>
              <a:off x="0" y="8712000"/>
              <a:ext cx="6858000" cy="432000"/>
            </a:xfrm>
            <a:prstGeom prst="rect">
              <a:avLst/>
            </a:prstGeom>
            <a:solidFill>
              <a:srgbClr val="F2A982">
                <a:alpha val="10196"/>
              </a:srgbClr>
            </a:solidFill>
            <a:ln w="19050" cap="flat" cmpd="sng">
              <a:solidFill>
                <a:srgbClr val="7F340D"/>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39" name="Google Shape;139;p15"/>
            <p:cNvSpPr/>
            <p:nvPr/>
          </p:nvSpPr>
          <p:spPr>
            <a:xfrm>
              <a:off x="0" y="1"/>
              <a:ext cx="540000" cy="9144000"/>
            </a:xfrm>
            <a:prstGeom prst="rect">
              <a:avLst/>
            </a:prstGeom>
            <a:solidFill>
              <a:srgbClr val="F2A982">
                <a:alpha val="10196"/>
              </a:srgbClr>
            </a:solidFill>
            <a:ln w="19050" cap="flat" cmpd="sng">
              <a:solidFill>
                <a:srgbClr val="7F340D"/>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40" name="Google Shape;140;p15"/>
            <p:cNvSpPr/>
            <p:nvPr/>
          </p:nvSpPr>
          <p:spPr>
            <a:xfrm>
              <a:off x="6325269" y="0"/>
              <a:ext cx="540000" cy="9144000"/>
            </a:xfrm>
            <a:prstGeom prst="rect">
              <a:avLst/>
            </a:prstGeom>
            <a:solidFill>
              <a:srgbClr val="F2A982">
                <a:alpha val="10196"/>
              </a:srgbClr>
            </a:solidFill>
            <a:ln w="19050" cap="flat" cmpd="sng">
              <a:solidFill>
                <a:srgbClr val="7F340D"/>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sp>
        <p:nvSpPr>
          <p:cNvPr id="141" name="Google Shape;141;p15"/>
          <p:cNvSpPr/>
          <p:nvPr/>
        </p:nvSpPr>
        <p:spPr>
          <a:xfrm>
            <a:off x="554537" y="433418"/>
            <a:ext cx="5756193" cy="54000"/>
          </a:xfrm>
          <a:prstGeom prst="rect">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42" name="Google Shape;142;p15"/>
          <p:cNvSpPr/>
          <p:nvPr/>
        </p:nvSpPr>
        <p:spPr>
          <a:xfrm>
            <a:off x="554538" y="8661917"/>
            <a:ext cx="2592000" cy="54000"/>
          </a:xfrm>
          <a:prstGeom prst="rect">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43" name="Google Shape;143;p15"/>
          <p:cNvSpPr/>
          <p:nvPr/>
        </p:nvSpPr>
        <p:spPr>
          <a:xfrm>
            <a:off x="3734844" y="8661917"/>
            <a:ext cx="2592000" cy="54000"/>
          </a:xfrm>
          <a:prstGeom prst="rect">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45" name="Google Shape;145;p15"/>
          <p:cNvSpPr/>
          <p:nvPr/>
        </p:nvSpPr>
        <p:spPr>
          <a:xfrm>
            <a:off x="549450" y="4350187"/>
            <a:ext cx="204600" cy="204600"/>
          </a:xfrm>
          <a:prstGeom prst="ellipse">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46" name="Google Shape;146;p15"/>
          <p:cNvSpPr txBox="1"/>
          <p:nvPr/>
        </p:nvSpPr>
        <p:spPr>
          <a:xfrm>
            <a:off x="712942" y="4283341"/>
            <a:ext cx="2716057" cy="400200"/>
          </a:xfrm>
          <a:prstGeom prst="rect">
            <a:avLst/>
          </a:prstGeom>
          <a:noFill/>
          <a:ln>
            <a:noFill/>
          </a:ln>
        </p:spPr>
        <p:txBody>
          <a:bodyPr spcFirstLastPara="1" wrap="square" lIns="91425" tIns="45700" rIns="91425" bIns="45700" anchor="t" anchorCtr="0">
            <a:spAutoFit/>
          </a:bodyPr>
          <a:lstStyle/>
          <a:p>
            <a:pPr lvl="0"/>
            <a:r>
              <a:rPr lang="en-US" sz="2000" b="1" dirty="0">
                <a:solidFill>
                  <a:schemeClr val="dk1"/>
                </a:solidFill>
                <a:latin typeface="IBM Plex Sans JP" panose="020B0503050203000203" pitchFamily="50" charset="-128"/>
                <a:ea typeface="IBM Plex Sans JP" panose="020B0503050203000203" pitchFamily="50" charset="-128"/>
                <a:cs typeface="IBM Plex Sans JP SemiBold"/>
                <a:sym typeface="IBM Plex Sans JP SemiBold"/>
              </a:rPr>
              <a:t>3. Mixing Results</a:t>
            </a:r>
            <a:endParaRPr sz="2800" b="1" dirty="0">
              <a:solidFill>
                <a:schemeClr val="dk1"/>
              </a:solidFill>
              <a:latin typeface="IBM Plex Sans JP" panose="020B0503050203000203" pitchFamily="50" charset="-128"/>
              <a:ea typeface="IBM Plex Sans JP" panose="020B0503050203000203" pitchFamily="50" charset="-128"/>
              <a:cs typeface="IBM Plex Sans JP SemiBold"/>
              <a:sym typeface="IBM Plex Sans JP SemiBold"/>
            </a:endParaRPr>
          </a:p>
        </p:txBody>
      </p:sp>
      <p:sp>
        <p:nvSpPr>
          <p:cNvPr id="147" name="Google Shape;147;p15"/>
          <p:cNvSpPr txBox="1"/>
          <p:nvPr/>
        </p:nvSpPr>
        <p:spPr>
          <a:xfrm>
            <a:off x="642882" y="4574092"/>
            <a:ext cx="5642100" cy="1246455"/>
          </a:xfrm>
          <a:prstGeom prst="rect">
            <a:avLst/>
          </a:prstGeom>
          <a:noFill/>
          <a:ln>
            <a:noFill/>
          </a:ln>
        </p:spPr>
        <p:txBody>
          <a:bodyPr spcFirstLastPara="1" wrap="square" lIns="91425" tIns="45700" rIns="91425" bIns="45700" anchor="t" anchorCtr="0">
            <a:spAutoFit/>
          </a:bodyPr>
          <a:lstStyle/>
          <a:p>
            <a:pPr lvl="0"/>
            <a:r>
              <a:rPr lang="en-US" sz="1000" dirty="0">
                <a:solidFill>
                  <a:schemeClr val="dk1"/>
                </a:solidFill>
                <a:latin typeface="Jost" pitchFamily="2" charset="0"/>
                <a:ea typeface="Jost" pitchFamily="2" charset="0"/>
                <a:cs typeface="IBM Plex Sans JP"/>
                <a:sym typeface="IBM Plex Sans JP"/>
              </a:rPr>
              <a:t>Some filaments produce better color results when layered than others. Generally, filaments with lower brightness tend to produce better color results, while those with higher brightness tend to produce poorer results. Therefore, you’ll need to choose a model based on the specific combination of filaments you plan to use.</a:t>
            </a:r>
          </a:p>
          <a:p>
            <a:pPr lvl="0"/>
            <a:endParaRPr lang="en-US" sz="500" dirty="0">
              <a:solidFill>
                <a:schemeClr val="dk1"/>
              </a:solidFill>
              <a:latin typeface="Jost" pitchFamily="2" charset="0"/>
              <a:ea typeface="Jost" pitchFamily="2" charset="0"/>
              <a:cs typeface="IBM Plex Sans JP"/>
              <a:sym typeface="IBM Plex Sans JP"/>
            </a:endParaRPr>
          </a:p>
          <a:p>
            <a:pPr lvl="0"/>
            <a:r>
              <a:rPr lang="en-US" sz="1000" dirty="0">
                <a:solidFill>
                  <a:schemeClr val="dk1"/>
                </a:solidFill>
                <a:latin typeface="Jost" pitchFamily="2" charset="0"/>
                <a:ea typeface="Jost" pitchFamily="2" charset="0"/>
                <a:cs typeface="IBM Plex Sans JP"/>
                <a:sym typeface="IBM Plex Sans JP"/>
              </a:rPr>
              <a:t>You won’t know what the final color will look like until you actually print it. While it’s a good idea to create sample filaments and test them on an S4 model, if time permits, we recommend using the Blend Color Checker to compare the results and verify the colors.</a:t>
            </a:r>
            <a:endParaRPr sz="1000" b="1" dirty="0">
              <a:solidFill>
                <a:schemeClr val="dk1"/>
              </a:solidFill>
              <a:latin typeface="Jost" pitchFamily="2" charset="0"/>
              <a:ea typeface="Jost" pitchFamily="2" charset="0"/>
              <a:cs typeface="IBM Plex Sans JP"/>
              <a:sym typeface="IBM Plex Sans JP"/>
            </a:endParaRPr>
          </a:p>
        </p:txBody>
      </p:sp>
      <p:sp>
        <p:nvSpPr>
          <p:cNvPr id="148" name="Google Shape;148;p15"/>
          <p:cNvSpPr txBox="1"/>
          <p:nvPr/>
        </p:nvSpPr>
        <p:spPr>
          <a:xfrm>
            <a:off x="623556" y="602256"/>
            <a:ext cx="1536600" cy="2769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dirty="0">
                <a:solidFill>
                  <a:schemeClr val="dk1"/>
                </a:solidFill>
                <a:latin typeface="Jost SemiBold" pitchFamily="2" charset="0"/>
                <a:ea typeface="Jost SemiBold" pitchFamily="2" charset="0"/>
                <a:cs typeface="Quattrocento Sans"/>
                <a:sym typeface="Quattrocento Sans"/>
              </a:rPr>
              <a:t>Sizes</a:t>
            </a:r>
            <a:endParaRPr sz="1200" dirty="0">
              <a:solidFill>
                <a:schemeClr val="dk1"/>
              </a:solidFill>
              <a:latin typeface="Jost SemiBold" pitchFamily="2" charset="0"/>
              <a:ea typeface="Jost SemiBold" pitchFamily="2" charset="0"/>
              <a:cs typeface="Quattrocento Sans"/>
              <a:sym typeface="Quattrocento Sans"/>
            </a:endParaRPr>
          </a:p>
        </p:txBody>
      </p:sp>
      <p:sp>
        <p:nvSpPr>
          <p:cNvPr id="149" name="Google Shape;149;p15"/>
          <p:cNvSpPr txBox="1"/>
          <p:nvPr/>
        </p:nvSpPr>
        <p:spPr>
          <a:xfrm>
            <a:off x="619107" y="832352"/>
            <a:ext cx="5705400" cy="1323399"/>
          </a:xfrm>
          <a:prstGeom prst="rect">
            <a:avLst/>
          </a:prstGeom>
          <a:noFill/>
          <a:ln>
            <a:noFill/>
          </a:ln>
        </p:spPr>
        <p:txBody>
          <a:bodyPr spcFirstLastPara="1" wrap="square" lIns="91425" tIns="45700" rIns="91425" bIns="45700" anchor="t" anchorCtr="0">
            <a:spAutoFit/>
          </a:bodyPr>
          <a:lstStyle/>
          <a:p>
            <a:pPr lvl="0"/>
            <a:r>
              <a:rPr lang="en-US" sz="1000" dirty="0">
                <a:solidFill>
                  <a:schemeClr val="dk1"/>
                </a:solidFill>
                <a:latin typeface="Jost" pitchFamily="2" charset="0"/>
                <a:ea typeface="Jost" pitchFamily="2" charset="0"/>
                <a:cs typeface="Quattrocento Sans"/>
                <a:sym typeface="Quattrocento Sans"/>
              </a:rPr>
              <a:t>Models starting with “M” are referred to as the “M Family,” and their sizes are compatible with the Bambu Lab P and X series, as well as the A1.</a:t>
            </a:r>
            <a:r>
              <a:rPr lang="ja-JP" altLang="en-US" sz="1000" dirty="0">
                <a:solidFill>
                  <a:schemeClr val="dk1"/>
                </a:solidFill>
                <a:latin typeface="Jost" pitchFamily="2" charset="0"/>
                <a:ea typeface="IBM Plex Sans JP" panose="020B0503050203000203" pitchFamily="50" charset="-128"/>
                <a:cs typeface="Quattrocento Sans"/>
                <a:sym typeface="Quattrocento Sans"/>
              </a:rPr>
              <a:t> </a:t>
            </a:r>
            <a:r>
              <a:rPr lang="en-US" sz="1000" dirty="0">
                <a:solidFill>
                  <a:schemeClr val="dk1"/>
                </a:solidFill>
                <a:latin typeface="Jost" pitchFamily="2" charset="0"/>
                <a:ea typeface="Jost" pitchFamily="2" charset="0"/>
                <a:cs typeface="Quattrocento Sans"/>
                <a:sym typeface="Quattrocento Sans"/>
              </a:rPr>
              <a:t>The M2 through M4 models are sized to fit perfectly on major 3D printers other than Bambu Lab.</a:t>
            </a:r>
          </a:p>
          <a:p>
            <a:pPr lvl="0"/>
            <a:endParaRPr lang="en-US" sz="500" dirty="0">
              <a:solidFill>
                <a:schemeClr val="dk1"/>
              </a:solidFill>
              <a:latin typeface="Jost" pitchFamily="2" charset="0"/>
              <a:ea typeface="Jost" pitchFamily="2" charset="0"/>
              <a:cs typeface="Quattrocento Sans"/>
              <a:sym typeface="Quattrocento Sans"/>
            </a:endParaRPr>
          </a:p>
          <a:p>
            <a:pPr lvl="0"/>
            <a:r>
              <a:rPr lang="en-US" sz="1000" dirty="0">
                <a:solidFill>
                  <a:schemeClr val="dk1"/>
                </a:solidFill>
                <a:latin typeface="Jost" pitchFamily="2" charset="0"/>
                <a:ea typeface="Jost" pitchFamily="2" charset="0"/>
                <a:cs typeface="Quattrocento Sans"/>
                <a:sym typeface="Quattrocento Sans"/>
              </a:rPr>
              <a:t>Models beginning with “S” are referred to as the “S Family” and are sized to be printed on the Bambu Lab A1 mini. The S4 model is the smallest size and is just large enough to print a 3DBenchy.</a:t>
            </a:r>
          </a:p>
          <a:p>
            <a:pPr lvl="0"/>
            <a:endParaRPr lang="en-US" sz="500" dirty="0">
              <a:solidFill>
                <a:schemeClr val="dk1"/>
              </a:solidFill>
              <a:latin typeface="Jost" pitchFamily="2" charset="0"/>
              <a:ea typeface="Jost" pitchFamily="2" charset="0"/>
              <a:cs typeface="Quattrocento Sans"/>
              <a:sym typeface="Quattrocento Sans"/>
            </a:endParaRPr>
          </a:p>
          <a:p>
            <a:pPr lvl="0"/>
            <a:r>
              <a:rPr lang="en-US" sz="1000" dirty="0">
                <a:solidFill>
                  <a:schemeClr val="dk1"/>
                </a:solidFill>
                <a:latin typeface="Jost" pitchFamily="2" charset="0"/>
                <a:ea typeface="Jost" pitchFamily="2" charset="0"/>
                <a:cs typeface="Quattrocento Sans"/>
                <a:sym typeface="Quattrocento Sans"/>
              </a:rPr>
              <a:t>Models beginning with “L” are large-scale models compatible with the Bambu Lab H Series. Although no plans have been finalized yet, there is a possibility they will be implemented in the future.</a:t>
            </a:r>
            <a:endParaRPr sz="1000" dirty="0">
              <a:solidFill>
                <a:schemeClr val="dk1"/>
              </a:solidFill>
              <a:latin typeface="Jost" pitchFamily="2" charset="0"/>
              <a:ea typeface="Jost" pitchFamily="2" charset="0"/>
              <a:cs typeface="Quattrocento Sans"/>
              <a:sym typeface="Quattrocento Sans"/>
            </a:endParaRPr>
          </a:p>
        </p:txBody>
      </p:sp>
      <p:sp>
        <p:nvSpPr>
          <p:cNvPr id="150" name="Google Shape;150;p15"/>
          <p:cNvSpPr/>
          <p:nvPr/>
        </p:nvSpPr>
        <p:spPr>
          <a:xfrm>
            <a:off x="566176" y="667021"/>
            <a:ext cx="124500" cy="118772"/>
          </a:xfrm>
          <a:prstGeom prst="ellipse">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pic>
        <p:nvPicPr>
          <p:cNvPr id="151" name="Google Shape;151;p15"/>
          <p:cNvPicPr preferRelativeResize="0"/>
          <p:nvPr/>
        </p:nvPicPr>
        <p:blipFill>
          <a:blip r:embed="rId3">
            <a:alphaModFix/>
          </a:blip>
          <a:stretch>
            <a:fillRect/>
          </a:stretch>
        </p:blipFill>
        <p:spPr>
          <a:xfrm>
            <a:off x="945097" y="2232121"/>
            <a:ext cx="4967804" cy="1850792"/>
          </a:xfrm>
          <a:prstGeom prst="rect">
            <a:avLst/>
          </a:prstGeom>
          <a:noFill/>
          <a:ln>
            <a:noFill/>
          </a:ln>
        </p:spPr>
      </p:pic>
      <p:sp>
        <p:nvSpPr>
          <p:cNvPr id="152" name="Google Shape;152;p15"/>
          <p:cNvSpPr txBox="1"/>
          <p:nvPr/>
        </p:nvSpPr>
        <p:spPr>
          <a:xfrm>
            <a:off x="652382" y="5880595"/>
            <a:ext cx="5642100" cy="1169511"/>
          </a:xfrm>
          <a:prstGeom prst="rect">
            <a:avLst/>
          </a:prstGeom>
          <a:noFill/>
          <a:ln>
            <a:noFill/>
          </a:ln>
        </p:spPr>
        <p:txBody>
          <a:bodyPr spcFirstLastPara="1" wrap="square" lIns="91425" tIns="45700" rIns="91425" bIns="45700" anchor="t" anchorCtr="0">
            <a:spAutoFit/>
          </a:bodyPr>
          <a:lstStyle/>
          <a:p>
            <a:pPr lvl="0"/>
            <a:r>
              <a:rPr lang="en-US" sz="1600" b="1" dirty="0">
                <a:solidFill>
                  <a:schemeClr val="dk1"/>
                </a:solidFill>
                <a:latin typeface="Jost" pitchFamily="2" charset="0"/>
                <a:ea typeface="Jost" pitchFamily="2" charset="0"/>
                <a:cs typeface="IBM Plex Sans JP"/>
                <a:sym typeface="IBM Plex Sans JP"/>
              </a:rPr>
              <a:t>Mixing Characteristics</a:t>
            </a:r>
            <a:r>
              <a:rPr lang="en-US" sz="1600" dirty="0">
                <a:solidFill>
                  <a:schemeClr val="dk1"/>
                </a:solidFill>
                <a:latin typeface="Jost" pitchFamily="2" charset="0"/>
                <a:ea typeface="Jost" pitchFamily="2" charset="0"/>
                <a:cs typeface="IBM Plex Sans JP"/>
                <a:sym typeface="IBM Plex Sans JP"/>
              </a:rPr>
              <a:t> </a:t>
            </a:r>
            <a:endParaRPr sz="1600" dirty="0">
              <a:solidFill>
                <a:schemeClr val="dk1"/>
              </a:solidFill>
              <a:latin typeface="Jost" pitchFamily="2" charset="0"/>
              <a:ea typeface="Jost" pitchFamily="2" charset="0"/>
              <a:cs typeface="IBM Plex Sans JP"/>
              <a:sym typeface="IBM Plex Sans JP"/>
            </a:endParaRPr>
          </a:p>
          <a:p>
            <a:pPr marL="0" marR="0" lvl="0" indent="0" algn="l" rtl="0">
              <a:spcBef>
                <a:spcPts val="0"/>
              </a:spcBef>
              <a:spcAft>
                <a:spcPts val="0"/>
              </a:spcAft>
              <a:buNone/>
            </a:pPr>
            <a:endParaRPr sz="600" dirty="0">
              <a:solidFill>
                <a:schemeClr val="dk1"/>
              </a:solidFill>
              <a:latin typeface="Jost" pitchFamily="2" charset="0"/>
              <a:ea typeface="Jost" pitchFamily="2" charset="0"/>
              <a:cs typeface="IBM Plex Sans JP"/>
              <a:sym typeface="IBM Plex Sans JP"/>
            </a:endParaRPr>
          </a:p>
          <a:p>
            <a:pPr lvl="0"/>
            <a:r>
              <a:rPr lang="en-US" sz="1200" dirty="0">
                <a:solidFill>
                  <a:schemeClr val="dk1"/>
                </a:solidFill>
                <a:latin typeface="Jost SemiBold" pitchFamily="2" charset="0"/>
                <a:ea typeface="Jost SemiBold" pitchFamily="2" charset="0"/>
                <a:cs typeface="IBM Plex Sans JP"/>
                <a:sym typeface="IBM Plex Sans JP"/>
              </a:rPr>
              <a:t>Small lightness difference (CMY)</a:t>
            </a:r>
            <a:endParaRPr sz="1200" dirty="0">
              <a:solidFill>
                <a:schemeClr val="dk1"/>
              </a:solidFill>
              <a:latin typeface="Jost SemiBold" pitchFamily="2" charset="0"/>
              <a:ea typeface="Jost SemiBold" pitchFamily="2" charset="0"/>
              <a:cs typeface="IBM Plex Sans JP"/>
              <a:sym typeface="IBM Plex Sans JP"/>
            </a:endParaRPr>
          </a:p>
          <a:p>
            <a:pPr marL="0" marR="0" lvl="0" indent="0" algn="l" rtl="0">
              <a:spcBef>
                <a:spcPts val="0"/>
              </a:spcBef>
              <a:spcAft>
                <a:spcPts val="0"/>
              </a:spcAft>
              <a:buNone/>
            </a:pPr>
            <a:endParaRPr sz="400" b="1" dirty="0">
              <a:solidFill>
                <a:schemeClr val="dk1"/>
              </a:solidFill>
              <a:latin typeface="Jost" pitchFamily="2" charset="0"/>
              <a:ea typeface="Jost" pitchFamily="2" charset="0"/>
              <a:cs typeface="IBM Plex Sans JP"/>
              <a:sym typeface="IBM Plex Sans JP"/>
            </a:endParaRPr>
          </a:p>
          <a:p>
            <a:pPr lvl="0"/>
            <a:r>
              <a:rPr lang="en-US" sz="1000" dirty="0">
                <a:solidFill>
                  <a:schemeClr val="dk1"/>
                </a:solidFill>
                <a:latin typeface="Jost" pitchFamily="2" charset="0"/>
                <a:ea typeface="Jost" pitchFamily="2" charset="0"/>
                <a:cs typeface="IBM Plex Sans JP"/>
                <a:sym typeface="IBM Plex Sans JP"/>
              </a:rPr>
              <a:t>Combinations such as Cyan, Magenta, and Yellow have small lightness differences and result in final colors that correspond relatively linearly to the mixing ratio. In this case, Standard Models alone will give sufficient results.</a:t>
            </a:r>
            <a:endParaRPr sz="1000" b="1" dirty="0">
              <a:solidFill>
                <a:schemeClr val="dk1"/>
              </a:solidFill>
              <a:latin typeface="Jost" pitchFamily="2" charset="0"/>
              <a:ea typeface="Jost" pitchFamily="2" charset="0"/>
              <a:cs typeface="IBM Plex Sans JP"/>
              <a:sym typeface="IBM Plex Sans JP"/>
            </a:endParaRPr>
          </a:p>
        </p:txBody>
      </p:sp>
      <p:sp>
        <p:nvSpPr>
          <p:cNvPr id="153" name="Google Shape;153;p15"/>
          <p:cNvSpPr/>
          <p:nvPr/>
        </p:nvSpPr>
        <p:spPr>
          <a:xfrm>
            <a:off x="580600" y="5959221"/>
            <a:ext cx="124500" cy="120465"/>
          </a:xfrm>
          <a:prstGeom prst="ellipse">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pic>
        <p:nvPicPr>
          <p:cNvPr id="154" name="Google Shape;154;p15"/>
          <p:cNvPicPr preferRelativeResize="0"/>
          <p:nvPr/>
        </p:nvPicPr>
        <p:blipFill>
          <a:blip r:embed="rId4">
            <a:alphaModFix/>
          </a:blip>
          <a:stretch>
            <a:fillRect/>
          </a:stretch>
        </p:blipFill>
        <p:spPr>
          <a:xfrm>
            <a:off x="800099" y="6962193"/>
            <a:ext cx="5288555" cy="1673437"/>
          </a:xfrm>
          <a:prstGeom prst="rect">
            <a:avLst/>
          </a:prstGeom>
          <a:solidFill>
            <a:schemeClr val="lt1"/>
          </a:solidFill>
          <a:ln>
            <a:noFill/>
          </a:ln>
        </p:spPr>
      </p:pic>
      <p:sp>
        <p:nvSpPr>
          <p:cNvPr id="144" name="Google Shape;144;p15"/>
          <p:cNvSpPr txBox="1"/>
          <p:nvPr/>
        </p:nvSpPr>
        <p:spPr>
          <a:xfrm>
            <a:off x="3163826" y="8511531"/>
            <a:ext cx="575734" cy="369332"/>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800" dirty="0">
                <a:solidFill>
                  <a:schemeClr val="dk1"/>
                </a:solidFill>
                <a:latin typeface="Arial"/>
                <a:ea typeface="Arial"/>
                <a:cs typeface="Arial"/>
                <a:sym typeface="Arial"/>
              </a:rPr>
              <a:t>2</a:t>
            </a:r>
            <a:endParaRPr sz="1800" dirty="0">
              <a:solidFill>
                <a:schemeClr val="dk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16"/>
          <p:cNvSpPr/>
          <p:nvPr/>
        </p:nvSpPr>
        <p:spPr>
          <a:xfrm>
            <a:off x="84700" y="90087"/>
            <a:ext cx="6722870" cy="8963827"/>
          </a:xfrm>
          <a:prstGeom prst="rect">
            <a:avLst/>
          </a:prstGeom>
          <a:gradFill>
            <a:gsLst>
              <a:gs pos="0">
                <a:srgbClr val="EE00B0"/>
              </a:gs>
              <a:gs pos="10000">
                <a:srgbClr val="EE00B0"/>
              </a:gs>
              <a:gs pos="50000">
                <a:srgbClr val="6200E8"/>
              </a:gs>
              <a:gs pos="90000">
                <a:srgbClr val="0095E5"/>
              </a:gs>
              <a:gs pos="100000">
                <a:srgbClr val="0095E5"/>
              </a:gs>
            </a:gsLst>
            <a:lin ang="1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60" name="Google Shape;160;p16"/>
          <p:cNvSpPr/>
          <p:nvPr/>
        </p:nvSpPr>
        <p:spPr>
          <a:xfrm>
            <a:off x="9060" y="0"/>
            <a:ext cx="6858000" cy="9144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nvGrpSpPr>
          <p:cNvPr id="161" name="Google Shape;161;p16"/>
          <p:cNvGrpSpPr/>
          <p:nvPr/>
        </p:nvGrpSpPr>
        <p:grpSpPr>
          <a:xfrm>
            <a:off x="0" y="0"/>
            <a:ext cx="6865269" cy="9144001"/>
            <a:chOff x="0" y="0"/>
            <a:chExt cx="6865269" cy="9144001"/>
          </a:xfrm>
        </p:grpSpPr>
        <p:sp>
          <p:nvSpPr>
            <p:cNvPr id="162" name="Google Shape;162;p16"/>
            <p:cNvSpPr/>
            <p:nvPr/>
          </p:nvSpPr>
          <p:spPr>
            <a:xfrm>
              <a:off x="0" y="0"/>
              <a:ext cx="6858000" cy="432000"/>
            </a:xfrm>
            <a:prstGeom prst="rect">
              <a:avLst/>
            </a:prstGeom>
            <a:solidFill>
              <a:srgbClr val="F2A982">
                <a:alpha val="10196"/>
              </a:srgbClr>
            </a:solidFill>
            <a:ln w="19050" cap="flat" cmpd="sng">
              <a:solidFill>
                <a:srgbClr val="7F340D"/>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63" name="Google Shape;163;p16"/>
            <p:cNvSpPr/>
            <p:nvPr/>
          </p:nvSpPr>
          <p:spPr>
            <a:xfrm>
              <a:off x="0" y="8712000"/>
              <a:ext cx="6858000" cy="432000"/>
            </a:xfrm>
            <a:prstGeom prst="rect">
              <a:avLst/>
            </a:prstGeom>
            <a:solidFill>
              <a:srgbClr val="F2A982">
                <a:alpha val="10196"/>
              </a:srgbClr>
            </a:solidFill>
            <a:ln w="19050" cap="flat" cmpd="sng">
              <a:solidFill>
                <a:srgbClr val="7F340D"/>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64" name="Google Shape;164;p16"/>
            <p:cNvSpPr/>
            <p:nvPr/>
          </p:nvSpPr>
          <p:spPr>
            <a:xfrm>
              <a:off x="0" y="1"/>
              <a:ext cx="540000" cy="9144000"/>
            </a:xfrm>
            <a:prstGeom prst="rect">
              <a:avLst/>
            </a:prstGeom>
            <a:solidFill>
              <a:srgbClr val="F2A982">
                <a:alpha val="10196"/>
              </a:srgbClr>
            </a:solidFill>
            <a:ln w="19050" cap="flat" cmpd="sng">
              <a:solidFill>
                <a:srgbClr val="7F340D"/>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65" name="Google Shape;165;p16"/>
            <p:cNvSpPr/>
            <p:nvPr/>
          </p:nvSpPr>
          <p:spPr>
            <a:xfrm>
              <a:off x="6325269" y="0"/>
              <a:ext cx="540000" cy="9144000"/>
            </a:xfrm>
            <a:prstGeom prst="rect">
              <a:avLst/>
            </a:prstGeom>
            <a:solidFill>
              <a:srgbClr val="F2A982">
                <a:alpha val="10196"/>
              </a:srgbClr>
            </a:solidFill>
            <a:ln w="19050" cap="flat" cmpd="sng">
              <a:solidFill>
                <a:srgbClr val="7F340D"/>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sp>
        <p:nvSpPr>
          <p:cNvPr id="166" name="Google Shape;166;p16"/>
          <p:cNvSpPr/>
          <p:nvPr/>
        </p:nvSpPr>
        <p:spPr>
          <a:xfrm>
            <a:off x="554537" y="433418"/>
            <a:ext cx="5756193" cy="54000"/>
          </a:xfrm>
          <a:prstGeom prst="rect">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67" name="Google Shape;167;p16"/>
          <p:cNvSpPr/>
          <p:nvPr/>
        </p:nvSpPr>
        <p:spPr>
          <a:xfrm>
            <a:off x="554538" y="8661917"/>
            <a:ext cx="2592000" cy="54000"/>
          </a:xfrm>
          <a:prstGeom prst="rect">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68" name="Google Shape;168;p16"/>
          <p:cNvSpPr/>
          <p:nvPr/>
        </p:nvSpPr>
        <p:spPr>
          <a:xfrm>
            <a:off x="3734844" y="8661917"/>
            <a:ext cx="2592000" cy="54000"/>
          </a:xfrm>
          <a:prstGeom prst="rect">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69" name="Google Shape;169;p16"/>
          <p:cNvSpPr txBox="1"/>
          <p:nvPr/>
        </p:nvSpPr>
        <p:spPr>
          <a:xfrm>
            <a:off x="3163826" y="8511531"/>
            <a:ext cx="575734" cy="369332"/>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3</a:t>
            </a:r>
            <a:endParaRPr sz="1800">
              <a:solidFill>
                <a:schemeClr val="dk1"/>
              </a:solidFill>
              <a:latin typeface="Arial"/>
              <a:ea typeface="Arial"/>
              <a:cs typeface="Arial"/>
              <a:sym typeface="Arial"/>
            </a:endParaRPr>
          </a:p>
        </p:txBody>
      </p:sp>
      <p:sp>
        <p:nvSpPr>
          <p:cNvPr id="170" name="Google Shape;170;p16"/>
          <p:cNvSpPr/>
          <p:nvPr/>
        </p:nvSpPr>
        <p:spPr>
          <a:xfrm>
            <a:off x="575725" y="6018902"/>
            <a:ext cx="204600" cy="204600"/>
          </a:xfrm>
          <a:prstGeom prst="ellipse">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71" name="Google Shape;171;p16"/>
          <p:cNvSpPr txBox="1"/>
          <p:nvPr/>
        </p:nvSpPr>
        <p:spPr>
          <a:xfrm>
            <a:off x="748128" y="5931004"/>
            <a:ext cx="3645600" cy="400200"/>
          </a:xfrm>
          <a:prstGeom prst="rect">
            <a:avLst/>
          </a:prstGeom>
          <a:noFill/>
          <a:ln>
            <a:noFill/>
          </a:ln>
        </p:spPr>
        <p:txBody>
          <a:bodyPr spcFirstLastPara="1" wrap="square" lIns="91425" tIns="45700" rIns="91425" bIns="45700" anchor="t" anchorCtr="0">
            <a:spAutoFit/>
          </a:bodyPr>
          <a:lstStyle/>
          <a:p>
            <a:pPr lvl="0"/>
            <a:r>
              <a:rPr lang="en-US" sz="2000" dirty="0">
                <a:solidFill>
                  <a:schemeClr val="dk1"/>
                </a:solidFill>
                <a:latin typeface="Jost SemiBold" pitchFamily="2" charset="0"/>
                <a:ea typeface="Jost SemiBold" pitchFamily="2" charset="0"/>
                <a:cs typeface="IBM Plex Sans JP SemiBold"/>
                <a:sym typeface="IBM Plex Sans JP SemiBold"/>
              </a:rPr>
              <a:t>4．Filaments to Use</a:t>
            </a:r>
            <a:endParaRPr sz="2400" dirty="0">
              <a:solidFill>
                <a:schemeClr val="dk1"/>
              </a:solidFill>
              <a:latin typeface="Jost SemiBold" pitchFamily="2" charset="0"/>
              <a:ea typeface="Jost SemiBold" pitchFamily="2" charset="0"/>
              <a:cs typeface="IBM Plex Sans JP SemiBold"/>
              <a:sym typeface="IBM Plex Sans JP SemiBold"/>
            </a:endParaRPr>
          </a:p>
        </p:txBody>
      </p:sp>
      <p:sp>
        <p:nvSpPr>
          <p:cNvPr id="172" name="Google Shape;172;p16"/>
          <p:cNvSpPr txBox="1"/>
          <p:nvPr/>
        </p:nvSpPr>
        <p:spPr>
          <a:xfrm>
            <a:off x="678058" y="6348557"/>
            <a:ext cx="5649600" cy="2108229"/>
          </a:xfrm>
          <a:prstGeom prst="rect">
            <a:avLst/>
          </a:prstGeom>
          <a:noFill/>
          <a:ln>
            <a:noFill/>
          </a:ln>
        </p:spPr>
        <p:txBody>
          <a:bodyPr spcFirstLastPara="1" wrap="square" lIns="91425" tIns="45700" rIns="91425" bIns="45700" anchor="t" anchorCtr="0">
            <a:spAutoFit/>
          </a:bodyPr>
          <a:lstStyle/>
          <a:p>
            <a:pPr lvl="0"/>
            <a:r>
              <a:rPr lang="en-US" sz="1000" dirty="0">
                <a:solidFill>
                  <a:schemeClr val="dk1"/>
                </a:solidFill>
                <a:latin typeface="Jost" pitchFamily="2" charset="0"/>
                <a:ea typeface="Jost" pitchFamily="2" charset="0"/>
                <a:cs typeface="IBM Plex Sans JP"/>
                <a:sym typeface="IBM Plex Sans JP"/>
              </a:rPr>
              <a:t>We recommend the four colors of Bambu Lab PLA Basic: Cyan, Magenta, Yellow, and White.</a:t>
            </a:r>
          </a:p>
          <a:p>
            <a:pPr lvl="0"/>
            <a:r>
              <a:rPr lang="en-US" sz="1000" dirty="0">
                <a:solidFill>
                  <a:schemeClr val="dk1"/>
                </a:solidFill>
                <a:latin typeface="Jost" pitchFamily="2" charset="0"/>
                <a:ea typeface="Jost" pitchFamily="2" charset="0"/>
                <a:cs typeface="IBM Plex Sans JP"/>
                <a:sym typeface="IBM Plex Sans JP"/>
              </a:rPr>
              <a:t>With these four colors, you can cover a wide range of basic color expressions.</a:t>
            </a:r>
          </a:p>
          <a:p>
            <a:pPr lvl="0"/>
            <a:r>
              <a:rPr lang="en-US" sz="1000" dirty="0">
                <a:solidFill>
                  <a:schemeClr val="dk1"/>
                </a:solidFill>
                <a:latin typeface="Jost" pitchFamily="2" charset="0"/>
                <a:ea typeface="Jost" pitchFamily="2" charset="0"/>
                <a:cs typeface="IBM Plex Sans JP"/>
                <a:sym typeface="IBM Plex Sans JP"/>
              </a:rPr>
              <a:t>Black is also useful for expanding your color palette, but because it has such a strong effect, it can easily cause uneven mixing, so caution is required.</a:t>
            </a:r>
          </a:p>
          <a:p>
            <a:pPr lvl="0"/>
            <a:endParaRPr lang="en-US" sz="600" dirty="0">
              <a:solidFill>
                <a:schemeClr val="dk1"/>
              </a:solidFill>
              <a:latin typeface="Jost" pitchFamily="2" charset="0"/>
              <a:ea typeface="Jost" pitchFamily="2" charset="0"/>
              <a:cs typeface="IBM Plex Sans JP"/>
              <a:sym typeface="IBM Plex Sans JP"/>
            </a:endParaRPr>
          </a:p>
          <a:p>
            <a:pPr lvl="0"/>
            <a:r>
              <a:rPr lang="en-US" altLang="ja-JP" sz="1000" dirty="0">
                <a:solidFill>
                  <a:schemeClr val="dk1"/>
                </a:solidFill>
                <a:latin typeface="Jost" pitchFamily="2" charset="0"/>
                <a:ea typeface="Jost" pitchFamily="2" charset="0"/>
                <a:cs typeface="IBM Plex Sans JP"/>
                <a:sym typeface="IBM Plex Sans JP"/>
              </a:rPr>
              <a:t>Theoretically, the midpoint between two primary colors is the “perceptual midpoint color” defined in a color space designed to be perceptually uniform, such as CIE-Lab (or its cylindrical representation, CIE-</a:t>
            </a:r>
            <a:r>
              <a:rPr lang="en-US" altLang="ja-JP" sz="1000" dirty="0" err="1">
                <a:solidFill>
                  <a:schemeClr val="dk1"/>
                </a:solidFill>
                <a:latin typeface="Jost" pitchFamily="2" charset="0"/>
                <a:ea typeface="Jost" pitchFamily="2" charset="0"/>
                <a:cs typeface="IBM Plex Sans JP"/>
                <a:sym typeface="IBM Plex Sans JP"/>
              </a:rPr>
              <a:t>LCh</a:t>
            </a:r>
            <a:r>
              <a:rPr lang="en-US" altLang="ja-JP" sz="1000" dirty="0">
                <a:solidFill>
                  <a:schemeClr val="dk1"/>
                </a:solidFill>
                <a:latin typeface="Jost" pitchFamily="2" charset="0"/>
                <a:ea typeface="Jost" pitchFamily="2" charset="0"/>
                <a:cs typeface="IBM Plex Sans JP"/>
                <a:sym typeface="IBM Plex Sans JP"/>
              </a:rPr>
              <a:t>). </a:t>
            </a:r>
          </a:p>
          <a:p>
            <a:pPr lvl="0"/>
            <a:r>
              <a:rPr lang="en-US" altLang="ja-JP" sz="1000" dirty="0">
                <a:solidFill>
                  <a:schemeClr val="dk1"/>
                </a:solidFill>
                <a:latin typeface="Jost" pitchFamily="2" charset="0"/>
                <a:ea typeface="Jost" pitchFamily="2" charset="0"/>
                <a:cs typeface="IBM Plex Sans JP"/>
                <a:sym typeface="IBM Plex Sans JP"/>
              </a:rPr>
              <a:t>However, in actual filament mixing, due to the absorption characteristics of pigments and the effects of subtractive color mixing, the “material mixing midpoint” shown in the figure below tends to have reduced saturation, resulting in a dull color that differs from the ideal midpoint.</a:t>
            </a:r>
          </a:p>
          <a:p>
            <a:pPr lvl="0"/>
            <a:endParaRPr lang="en-US" sz="500" dirty="0">
              <a:solidFill>
                <a:schemeClr val="dk1"/>
              </a:solidFill>
              <a:latin typeface="Jost" pitchFamily="2" charset="0"/>
              <a:ea typeface="Jost" pitchFamily="2" charset="0"/>
              <a:cs typeface="IBM Plex Sans JP"/>
              <a:sym typeface="IBM Plex Sans JP"/>
            </a:endParaRPr>
          </a:p>
          <a:p>
            <a:pPr lvl="0"/>
            <a:r>
              <a:rPr lang="en-US" sz="1000" dirty="0">
                <a:solidFill>
                  <a:schemeClr val="dk1"/>
                </a:solidFill>
                <a:latin typeface="Jost" pitchFamily="2" charset="0"/>
                <a:ea typeface="Jost" pitchFamily="2" charset="0"/>
                <a:cs typeface="IBM Plex Sans JP"/>
                <a:sym typeface="IBM Plex Sans JP"/>
              </a:rPr>
              <a:t>Therefore, to ensure users can reliably achieve the “natural intermediate hue and saturation” they expect, we have added the “recommended bridge filament” shown in the figure.</a:t>
            </a:r>
            <a:endParaRPr sz="1000" b="1" dirty="0">
              <a:solidFill>
                <a:schemeClr val="dk1"/>
              </a:solidFill>
              <a:latin typeface="Jost" pitchFamily="2" charset="0"/>
              <a:ea typeface="Jost" pitchFamily="2" charset="0"/>
              <a:cs typeface="IBM Plex Sans JP"/>
              <a:sym typeface="IBM Plex Sans JP"/>
            </a:endParaRPr>
          </a:p>
        </p:txBody>
      </p:sp>
      <p:sp>
        <p:nvSpPr>
          <p:cNvPr id="173" name="Google Shape;173;p16"/>
          <p:cNvSpPr txBox="1"/>
          <p:nvPr/>
        </p:nvSpPr>
        <p:spPr>
          <a:xfrm>
            <a:off x="695070" y="610703"/>
            <a:ext cx="5642100" cy="1338788"/>
          </a:xfrm>
          <a:prstGeom prst="rect">
            <a:avLst/>
          </a:prstGeom>
          <a:noFill/>
          <a:ln>
            <a:noFill/>
          </a:ln>
        </p:spPr>
        <p:txBody>
          <a:bodyPr spcFirstLastPara="1" wrap="square" lIns="91425" tIns="45700" rIns="91425" bIns="45700" anchor="t" anchorCtr="0">
            <a:spAutoFit/>
          </a:bodyPr>
          <a:lstStyle/>
          <a:p>
            <a:pPr lvl="0"/>
            <a:r>
              <a:rPr lang="en-US" sz="1200" dirty="0">
                <a:solidFill>
                  <a:schemeClr val="dk1"/>
                </a:solidFill>
                <a:latin typeface="Jost SemiBold" pitchFamily="2" charset="0"/>
                <a:ea typeface="Jost SemiBold" pitchFamily="2" charset="0"/>
                <a:cs typeface="IBM Plex Sans JP"/>
                <a:sym typeface="IBM Plex Sans JP"/>
              </a:rPr>
              <a:t>Large lightness difference (White / Black)</a:t>
            </a:r>
            <a:endParaRPr sz="1200" dirty="0">
              <a:solidFill>
                <a:schemeClr val="dk1"/>
              </a:solidFill>
              <a:latin typeface="Jost SemiBold" pitchFamily="2" charset="0"/>
              <a:ea typeface="Jost SemiBold" pitchFamily="2" charset="0"/>
              <a:cs typeface="IBM Plex Sans JP"/>
              <a:sym typeface="IBM Plex Sans JP"/>
            </a:endParaRPr>
          </a:p>
          <a:p>
            <a:pPr marL="0" marR="0" lvl="0" indent="0" algn="l" rtl="0">
              <a:spcBef>
                <a:spcPts val="0"/>
              </a:spcBef>
              <a:spcAft>
                <a:spcPts val="0"/>
              </a:spcAft>
              <a:buNone/>
            </a:pPr>
            <a:endParaRPr sz="400" b="1" dirty="0">
              <a:solidFill>
                <a:schemeClr val="dk1"/>
              </a:solidFill>
              <a:latin typeface="Jost" pitchFamily="2" charset="0"/>
              <a:ea typeface="Jost" pitchFamily="2" charset="0"/>
              <a:cs typeface="IBM Plex Sans JP"/>
              <a:sym typeface="IBM Plex Sans JP"/>
            </a:endParaRPr>
          </a:p>
          <a:p>
            <a:pPr lvl="0"/>
            <a:r>
              <a:rPr lang="en-US" sz="1000" dirty="0">
                <a:solidFill>
                  <a:schemeClr val="dk1"/>
                </a:solidFill>
                <a:latin typeface="Jost" pitchFamily="2" charset="0"/>
                <a:ea typeface="Jost" pitchFamily="2" charset="0"/>
                <a:cs typeface="IBM Plex Sans JP"/>
                <a:sym typeface="IBM Plex Sans JP"/>
              </a:rPr>
              <a:t>When the lightness contrast is large—such as black and white—the darker filament dominates, limiting the expressive range of Standard Models. In these cases, please use the Detail Models.</a:t>
            </a:r>
          </a:p>
          <a:p>
            <a:pPr lvl="0"/>
            <a:endParaRPr lang="en-US" sz="500" dirty="0">
              <a:solidFill>
                <a:schemeClr val="dk1"/>
              </a:solidFill>
              <a:latin typeface="Jost" pitchFamily="2" charset="0"/>
              <a:ea typeface="Jost" pitchFamily="2" charset="0"/>
              <a:cs typeface="IBM Plex Sans JP"/>
              <a:sym typeface="IBM Plex Sans JP"/>
            </a:endParaRPr>
          </a:p>
          <a:p>
            <a:pPr lvl="0"/>
            <a:r>
              <a:rPr lang="en-US" sz="1000" dirty="0">
                <a:solidFill>
                  <a:schemeClr val="dk1"/>
                </a:solidFill>
                <a:latin typeface="Jost" pitchFamily="2" charset="0"/>
                <a:ea typeface="Jost" pitchFamily="2" charset="0"/>
                <a:cs typeface="IBM Plex Sans JP"/>
                <a:sym typeface="IBM Plex Sans JP"/>
              </a:rPr>
              <a:t>Because the molten filament has high viscosity and does not fully mix inside the nozzle, blended prints may appear mottled. This is subtle when the brightness contrast is small but becomes noticeable with high-contrast pairs. To create light gray, white + gray is recommended over white + black.</a:t>
            </a:r>
            <a:endParaRPr sz="1000" dirty="0">
              <a:solidFill>
                <a:schemeClr val="dk1"/>
              </a:solidFill>
              <a:latin typeface="Jost" pitchFamily="2" charset="0"/>
              <a:ea typeface="Jost" pitchFamily="2" charset="0"/>
              <a:cs typeface="IBM Plex Sans JP"/>
              <a:sym typeface="IBM Plex Sans JP"/>
            </a:endParaRPr>
          </a:p>
        </p:txBody>
      </p:sp>
      <p:pic>
        <p:nvPicPr>
          <p:cNvPr id="174" name="Google Shape;174;p16"/>
          <p:cNvPicPr preferRelativeResize="0"/>
          <p:nvPr/>
        </p:nvPicPr>
        <p:blipFill>
          <a:blip r:embed="rId3">
            <a:alphaModFix/>
          </a:blip>
          <a:stretch>
            <a:fillRect/>
          </a:stretch>
        </p:blipFill>
        <p:spPr>
          <a:xfrm>
            <a:off x="542588" y="1993898"/>
            <a:ext cx="5772827" cy="1863752"/>
          </a:xfrm>
          <a:prstGeom prst="rect">
            <a:avLst/>
          </a:prstGeom>
          <a:noFill/>
          <a:ln>
            <a:noFill/>
          </a:ln>
        </p:spPr>
      </p:pic>
      <p:sp>
        <p:nvSpPr>
          <p:cNvPr id="175" name="Google Shape;175;p16"/>
          <p:cNvSpPr txBox="1"/>
          <p:nvPr/>
        </p:nvSpPr>
        <p:spPr>
          <a:xfrm>
            <a:off x="666532" y="4269345"/>
            <a:ext cx="5642100" cy="1615787"/>
          </a:xfrm>
          <a:prstGeom prst="rect">
            <a:avLst/>
          </a:prstGeom>
          <a:noFill/>
          <a:ln>
            <a:noFill/>
          </a:ln>
        </p:spPr>
        <p:txBody>
          <a:bodyPr spcFirstLastPara="1" wrap="square" lIns="91425" tIns="45700" rIns="91425" bIns="45700" anchor="t" anchorCtr="0">
            <a:spAutoFit/>
          </a:bodyPr>
          <a:lstStyle/>
          <a:p>
            <a:pPr lvl="0"/>
            <a:r>
              <a:rPr lang="en-US" b="1" dirty="0">
                <a:solidFill>
                  <a:schemeClr val="dk1"/>
                </a:solidFill>
                <a:latin typeface="Jost SemiBold" pitchFamily="2" charset="0"/>
                <a:ea typeface="Jost SemiBold" pitchFamily="2" charset="0"/>
                <a:cs typeface="IBM Plex Sans JP"/>
                <a:sym typeface="IBM Plex Sans JP"/>
              </a:rPr>
              <a:t>Differences by Material</a:t>
            </a:r>
          </a:p>
          <a:p>
            <a:pPr lvl="0"/>
            <a:endParaRPr sz="500" dirty="0">
              <a:solidFill>
                <a:schemeClr val="dk1"/>
              </a:solidFill>
              <a:latin typeface="Jost" pitchFamily="2" charset="0"/>
              <a:ea typeface="Jost" pitchFamily="2" charset="0"/>
              <a:cs typeface="IBM Plex Sans JP"/>
              <a:sym typeface="IBM Plex Sans JP"/>
            </a:endParaRPr>
          </a:p>
          <a:p>
            <a:pPr lvl="0"/>
            <a:r>
              <a:rPr lang="en-US" sz="1000" dirty="0">
                <a:solidFill>
                  <a:schemeClr val="dk1"/>
                </a:solidFill>
                <a:latin typeface="Jost" pitchFamily="2" charset="0"/>
                <a:ea typeface="Jost" pitchFamily="2" charset="0"/>
                <a:cs typeface="IBM Plex Sans JP"/>
                <a:sym typeface="IBM Plex Sans JP"/>
              </a:rPr>
              <a:t>Looking at the black-and-white results:</a:t>
            </a:r>
          </a:p>
          <a:p>
            <a:pPr lvl="0"/>
            <a:endParaRPr lang="en-US" sz="500" dirty="0">
              <a:solidFill>
                <a:schemeClr val="dk1"/>
              </a:solidFill>
              <a:latin typeface="Jost" pitchFamily="2" charset="0"/>
              <a:ea typeface="Jost" pitchFamily="2" charset="0"/>
              <a:cs typeface="IBM Plex Sans JP"/>
              <a:sym typeface="IBM Plex Sans JP"/>
            </a:endParaRPr>
          </a:p>
          <a:p>
            <a:pPr lvl="0"/>
            <a:r>
              <a:rPr lang="en-US" sz="1000" dirty="0">
                <a:solidFill>
                  <a:schemeClr val="dk1"/>
                </a:solidFill>
                <a:latin typeface="Jost" pitchFamily="2" charset="0"/>
                <a:ea typeface="Jost" pitchFamily="2" charset="0"/>
                <a:cs typeface="IBM Plex Sans JP"/>
                <a:sym typeface="IBM Plex Sans JP"/>
              </a:rPr>
              <a:t>• PLA and PETG produce different blending results.</a:t>
            </a:r>
          </a:p>
          <a:p>
            <a:pPr lvl="0"/>
            <a:r>
              <a:rPr lang="en-US" sz="1000" dirty="0">
                <a:solidFill>
                  <a:schemeClr val="dk1"/>
                </a:solidFill>
                <a:latin typeface="Jost" pitchFamily="2" charset="0"/>
                <a:ea typeface="Jost" pitchFamily="2" charset="0"/>
                <a:cs typeface="IBM Plex Sans JP"/>
                <a:sym typeface="IBM Plex Sans JP"/>
              </a:rPr>
              <a:t>• PLA Basic white is highly translucent, so its influence becomes extremely weak.</a:t>
            </a:r>
          </a:p>
          <a:p>
            <a:pPr lvl="0"/>
            <a:r>
              <a:rPr lang="en-US" sz="1000" dirty="0">
                <a:solidFill>
                  <a:schemeClr val="dk1"/>
                </a:solidFill>
                <a:latin typeface="Jost" pitchFamily="2" charset="0"/>
                <a:ea typeface="Jost" pitchFamily="2" charset="0"/>
                <a:cs typeface="IBM Plex Sans JP"/>
                <a:sym typeface="IBM Plex Sans JP"/>
              </a:rPr>
              <a:t>• PETG HT white has lower translucency, so its influence becomes stronger compared to </a:t>
            </a:r>
          </a:p>
          <a:p>
            <a:pPr lvl="0"/>
            <a:r>
              <a:rPr lang="en-US" sz="1000" dirty="0">
                <a:solidFill>
                  <a:schemeClr val="dk1"/>
                </a:solidFill>
                <a:latin typeface="Jost" pitchFamily="2" charset="0"/>
                <a:ea typeface="Jost" pitchFamily="2" charset="0"/>
                <a:cs typeface="IBM Plex Sans JP"/>
                <a:sym typeface="IBM Plex Sans JP"/>
              </a:rPr>
              <a:t>   PLA Basic.</a:t>
            </a:r>
          </a:p>
          <a:p>
            <a:pPr lvl="0"/>
            <a:endParaRPr lang="en-US" sz="500" dirty="0">
              <a:solidFill>
                <a:schemeClr val="dk1"/>
              </a:solidFill>
              <a:latin typeface="Jost" pitchFamily="2" charset="0"/>
              <a:ea typeface="Jost" pitchFamily="2" charset="0"/>
              <a:cs typeface="IBM Plex Sans JP"/>
              <a:sym typeface="IBM Plex Sans JP"/>
            </a:endParaRPr>
          </a:p>
          <a:p>
            <a:pPr lvl="0"/>
            <a:r>
              <a:rPr lang="en-US" sz="1000" dirty="0">
                <a:solidFill>
                  <a:schemeClr val="dk1"/>
                </a:solidFill>
                <a:latin typeface="Jost" pitchFamily="2" charset="0"/>
                <a:ea typeface="Jost" pitchFamily="2" charset="0"/>
                <a:cs typeface="IBM Plex Sans JP"/>
                <a:sym typeface="IBM Plex Sans JP"/>
              </a:rPr>
              <a:t>Blending is affected not only by the base color but also by translucency. Test printing is recommended.</a:t>
            </a:r>
            <a:endParaRPr sz="1000" dirty="0">
              <a:solidFill>
                <a:schemeClr val="dk1"/>
              </a:solidFill>
              <a:latin typeface="Jost" pitchFamily="2" charset="0"/>
              <a:ea typeface="Jost" pitchFamily="2" charset="0"/>
              <a:cs typeface="IBM Plex Sans JP"/>
              <a:sym typeface="IBM Plex Sans JP"/>
            </a:endParaRPr>
          </a:p>
        </p:txBody>
      </p:sp>
      <p:sp>
        <p:nvSpPr>
          <p:cNvPr id="176" name="Google Shape;176;p16"/>
          <p:cNvSpPr/>
          <p:nvPr/>
        </p:nvSpPr>
        <p:spPr>
          <a:xfrm>
            <a:off x="594750" y="4343253"/>
            <a:ext cx="124500" cy="129900"/>
          </a:xfrm>
          <a:prstGeom prst="ellipse">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17"/>
          <p:cNvSpPr/>
          <p:nvPr/>
        </p:nvSpPr>
        <p:spPr>
          <a:xfrm>
            <a:off x="51086" y="45268"/>
            <a:ext cx="6790099" cy="9053465"/>
          </a:xfrm>
          <a:prstGeom prst="rect">
            <a:avLst/>
          </a:prstGeom>
          <a:gradFill>
            <a:gsLst>
              <a:gs pos="0">
                <a:srgbClr val="EE00B0"/>
              </a:gs>
              <a:gs pos="10000">
                <a:srgbClr val="EE00B0"/>
              </a:gs>
              <a:gs pos="50000">
                <a:srgbClr val="6200E8"/>
              </a:gs>
              <a:gs pos="90000">
                <a:srgbClr val="0095E5"/>
              </a:gs>
              <a:gs pos="100000">
                <a:srgbClr val="0095E5"/>
              </a:gs>
            </a:gsLst>
            <a:lin ang="1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82" name="Google Shape;182;p17"/>
          <p:cNvSpPr/>
          <p:nvPr/>
        </p:nvSpPr>
        <p:spPr>
          <a:xfrm>
            <a:off x="17051" y="5531"/>
            <a:ext cx="6858000" cy="9144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nvGrpSpPr>
          <p:cNvPr id="183" name="Google Shape;183;p17"/>
          <p:cNvGrpSpPr/>
          <p:nvPr/>
        </p:nvGrpSpPr>
        <p:grpSpPr>
          <a:xfrm>
            <a:off x="0" y="0"/>
            <a:ext cx="6865269" cy="9144001"/>
            <a:chOff x="0" y="0"/>
            <a:chExt cx="6865269" cy="9144001"/>
          </a:xfrm>
        </p:grpSpPr>
        <p:sp>
          <p:nvSpPr>
            <p:cNvPr id="184" name="Google Shape;184;p17"/>
            <p:cNvSpPr/>
            <p:nvPr/>
          </p:nvSpPr>
          <p:spPr>
            <a:xfrm>
              <a:off x="0" y="0"/>
              <a:ext cx="6858000" cy="432000"/>
            </a:xfrm>
            <a:prstGeom prst="rect">
              <a:avLst/>
            </a:prstGeom>
            <a:solidFill>
              <a:srgbClr val="F2A982">
                <a:alpha val="10196"/>
              </a:srgbClr>
            </a:solidFill>
            <a:ln w="19050" cap="flat" cmpd="sng">
              <a:solidFill>
                <a:srgbClr val="7F340D"/>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85" name="Google Shape;185;p17"/>
            <p:cNvSpPr/>
            <p:nvPr/>
          </p:nvSpPr>
          <p:spPr>
            <a:xfrm>
              <a:off x="0" y="8712000"/>
              <a:ext cx="6858000" cy="432000"/>
            </a:xfrm>
            <a:prstGeom prst="rect">
              <a:avLst/>
            </a:prstGeom>
            <a:solidFill>
              <a:srgbClr val="F2A982">
                <a:alpha val="10196"/>
              </a:srgbClr>
            </a:solidFill>
            <a:ln w="19050" cap="flat" cmpd="sng">
              <a:solidFill>
                <a:srgbClr val="7F340D"/>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86" name="Google Shape;186;p17"/>
            <p:cNvSpPr/>
            <p:nvPr/>
          </p:nvSpPr>
          <p:spPr>
            <a:xfrm>
              <a:off x="0" y="1"/>
              <a:ext cx="540000" cy="9144000"/>
            </a:xfrm>
            <a:prstGeom prst="rect">
              <a:avLst/>
            </a:prstGeom>
            <a:solidFill>
              <a:srgbClr val="F2A982">
                <a:alpha val="10196"/>
              </a:srgbClr>
            </a:solidFill>
            <a:ln w="19050" cap="flat" cmpd="sng">
              <a:solidFill>
                <a:srgbClr val="7F340D"/>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87" name="Google Shape;187;p17"/>
            <p:cNvSpPr/>
            <p:nvPr/>
          </p:nvSpPr>
          <p:spPr>
            <a:xfrm>
              <a:off x="6325269" y="0"/>
              <a:ext cx="540000" cy="9144000"/>
            </a:xfrm>
            <a:prstGeom prst="rect">
              <a:avLst/>
            </a:prstGeom>
            <a:solidFill>
              <a:srgbClr val="F2A982">
                <a:alpha val="10196"/>
              </a:srgbClr>
            </a:solidFill>
            <a:ln w="19050" cap="flat" cmpd="sng">
              <a:solidFill>
                <a:srgbClr val="7F340D"/>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sp>
        <p:nvSpPr>
          <p:cNvPr id="188" name="Google Shape;188;p17"/>
          <p:cNvSpPr/>
          <p:nvPr/>
        </p:nvSpPr>
        <p:spPr>
          <a:xfrm>
            <a:off x="554537" y="433418"/>
            <a:ext cx="5756193" cy="54000"/>
          </a:xfrm>
          <a:prstGeom prst="rect">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89" name="Google Shape;189;p17"/>
          <p:cNvSpPr/>
          <p:nvPr/>
        </p:nvSpPr>
        <p:spPr>
          <a:xfrm>
            <a:off x="554538" y="8661917"/>
            <a:ext cx="2592000" cy="54000"/>
          </a:xfrm>
          <a:prstGeom prst="rect">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90" name="Google Shape;190;p17"/>
          <p:cNvSpPr/>
          <p:nvPr/>
        </p:nvSpPr>
        <p:spPr>
          <a:xfrm>
            <a:off x="3734844" y="8661917"/>
            <a:ext cx="2592000" cy="54000"/>
          </a:xfrm>
          <a:prstGeom prst="rect">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91" name="Google Shape;191;p17"/>
          <p:cNvSpPr txBox="1"/>
          <p:nvPr/>
        </p:nvSpPr>
        <p:spPr>
          <a:xfrm>
            <a:off x="3163826" y="8511531"/>
            <a:ext cx="575734" cy="369332"/>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4</a:t>
            </a:r>
            <a:endParaRPr sz="1800">
              <a:solidFill>
                <a:schemeClr val="dk1"/>
              </a:solidFill>
              <a:latin typeface="Arial"/>
              <a:ea typeface="Arial"/>
              <a:cs typeface="Arial"/>
              <a:sym typeface="Arial"/>
            </a:endParaRPr>
          </a:p>
        </p:txBody>
      </p:sp>
      <p:sp>
        <p:nvSpPr>
          <p:cNvPr id="192" name="Google Shape;192;p17"/>
          <p:cNvSpPr/>
          <p:nvPr/>
        </p:nvSpPr>
        <p:spPr>
          <a:xfrm>
            <a:off x="571996" y="4470450"/>
            <a:ext cx="204600" cy="204600"/>
          </a:xfrm>
          <a:prstGeom prst="ellipse">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93" name="Google Shape;193;p17"/>
          <p:cNvSpPr txBox="1"/>
          <p:nvPr/>
        </p:nvSpPr>
        <p:spPr>
          <a:xfrm>
            <a:off x="731981" y="4407439"/>
            <a:ext cx="3560619" cy="400069"/>
          </a:xfrm>
          <a:prstGeom prst="rect">
            <a:avLst/>
          </a:prstGeom>
          <a:noFill/>
          <a:ln>
            <a:noFill/>
          </a:ln>
        </p:spPr>
        <p:txBody>
          <a:bodyPr spcFirstLastPara="1" wrap="square" lIns="91425" tIns="45700" rIns="91425" bIns="45700" anchor="t" anchorCtr="0">
            <a:spAutoFit/>
          </a:bodyPr>
          <a:lstStyle/>
          <a:p>
            <a:pPr lvl="0"/>
            <a:r>
              <a:rPr lang="en-US" sz="2000" dirty="0">
                <a:solidFill>
                  <a:schemeClr val="dk1"/>
                </a:solidFill>
                <a:latin typeface="Jost SemiBold" pitchFamily="2" charset="0"/>
                <a:ea typeface="Jost SemiBold" pitchFamily="2" charset="0"/>
                <a:cs typeface="IBM Plex Sans JP SemiBold"/>
                <a:sym typeface="IBM Plex Sans JP SemiBold"/>
              </a:rPr>
              <a:t>5. Printing Instructions</a:t>
            </a:r>
            <a:endParaRPr sz="2400" dirty="0">
              <a:solidFill>
                <a:schemeClr val="dk1"/>
              </a:solidFill>
              <a:latin typeface="Jost SemiBold" pitchFamily="2" charset="0"/>
              <a:ea typeface="Jost SemiBold" pitchFamily="2" charset="0"/>
              <a:cs typeface="IBM Plex Sans JP SemiBold"/>
              <a:sym typeface="IBM Plex Sans JP SemiBold"/>
            </a:endParaRPr>
          </a:p>
        </p:txBody>
      </p:sp>
      <p:sp>
        <p:nvSpPr>
          <p:cNvPr id="194" name="Google Shape;194;p17"/>
          <p:cNvSpPr txBox="1"/>
          <p:nvPr/>
        </p:nvSpPr>
        <p:spPr>
          <a:xfrm>
            <a:off x="672873" y="4754382"/>
            <a:ext cx="5649600" cy="708000"/>
          </a:xfrm>
          <a:prstGeom prst="rect">
            <a:avLst/>
          </a:prstGeom>
          <a:noFill/>
          <a:ln>
            <a:noFill/>
          </a:ln>
        </p:spPr>
        <p:txBody>
          <a:bodyPr spcFirstLastPara="1" wrap="square" lIns="91425" tIns="45700" rIns="91425" bIns="45700" anchor="t" anchorCtr="0">
            <a:spAutoFit/>
          </a:bodyPr>
          <a:lstStyle/>
          <a:p>
            <a:pPr lvl="0"/>
            <a:r>
              <a:rPr lang="en-US" sz="1000" dirty="0">
                <a:solidFill>
                  <a:schemeClr val="dk1"/>
                </a:solidFill>
                <a:latin typeface="Jost SemiBold" pitchFamily="2" charset="0"/>
                <a:ea typeface="Jost SemiBold" pitchFamily="2" charset="0"/>
                <a:cs typeface="IBM Plex Sans JP"/>
                <a:sym typeface="IBM Plex Sans JP"/>
              </a:rPr>
              <a:t>Printing Workflow: </a:t>
            </a:r>
            <a:r>
              <a:rPr lang="en-US" sz="1000" dirty="0">
                <a:solidFill>
                  <a:schemeClr val="dk1"/>
                </a:solidFill>
                <a:latin typeface="Jost" pitchFamily="2" charset="0"/>
                <a:ea typeface="Jost" pitchFamily="2" charset="0"/>
                <a:cs typeface="IBM Plex Sans JP"/>
                <a:sym typeface="IBM Plex Sans JP"/>
              </a:rPr>
              <a:t>This model is used to create blended filaments.</a:t>
            </a:r>
          </a:p>
          <a:p>
            <a:pPr lvl="0"/>
            <a:r>
              <a:rPr lang="en-US" sz="1000" dirty="0">
                <a:solidFill>
                  <a:schemeClr val="dk1"/>
                </a:solidFill>
                <a:latin typeface="Jost" pitchFamily="2" charset="0"/>
                <a:ea typeface="Jost" pitchFamily="2" charset="0"/>
                <a:cs typeface="IBM Plex Sans JP"/>
                <a:sym typeface="IBM Plex Sans JP"/>
              </a:rPr>
              <a:t>1. Using two commercially available filaments, print </a:t>
            </a:r>
            <a:r>
              <a:rPr lang="en-US" sz="1000" b="1" dirty="0">
                <a:solidFill>
                  <a:schemeClr val="dk1"/>
                </a:solidFill>
                <a:latin typeface="Jost" pitchFamily="2" charset="0"/>
                <a:ea typeface="Jost" pitchFamily="2" charset="0"/>
                <a:cs typeface="IBM Plex Sans JP"/>
                <a:sym typeface="IBM Plex Sans JP"/>
              </a:rPr>
              <a:t>Blend Filament</a:t>
            </a:r>
            <a:r>
              <a:rPr lang="en-US" sz="1000" dirty="0">
                <a:solidFill>
                  <a:schemeClr val="dk1"/>
                </a:solidFill>
                <a:latin typeface="Jost" pitchFamily="2" charset="0"/>
                <a:ea typeface="Jost" pitchFamily="2" charset="0"/>
                <a:cs typeface="IBM Plex Sans JP"/>
                <a:sym typeface="IBM Plex Sans JP"/>
              </a:rPr>
              <a:t> (Print #1).</a:t>
            </a:r>
          </a:p>
          <a:p>
            <a:pPr lvl="0"/>
            <a:r>
              <a:rPr lang="en-US" sz="1000" dirty="0">
                <a:solidFill>
                  <a:schemeClr val="dk1"/>
                </a:solidFill>
                <a:latin typeface="Jost" pitchFamily="2" charset="0"/>
                <a:ea typeface="Jost" pitchFamily="2" charset="0"/>
                <a:cs typeface="IBM Plex Sans JP"/>
                <a:sym typeface="IBM Plex Sans JP"/>
              </a:rPr>
              <a:t>2. Using this blended filament, print the model you want to create (Print #2).</a:t>
            </a:r>
          </a:p>
          <a:p>
            <a:pPr lvl="0"/>
            <a:r>
              <a:rPr lang="en-US" sz="1000" dirty="0">
                <a:solidFill>
                  <a:schemeClr val="dk1"/>
                </a:solidFill>
                <a:latin typeface="Jost" pitchFamily="2" charset="0"/>
                <a:ea typeface="Jost" pitchFamily="2" charset="0"/>
                <a:cs typeface="IBM Plex Sans JP"/>
                <a:sym typeface="IBM Plex Sans JP"/>
              </a:rPr>
              <a:t>With this two-step printing process, you can produce any shape in the color you want.</a:t>
            </a:r>
            <a:endParaRPr sz="1000" dirty="0">
              <a:latin typeface="Jost" pitchFamily="2" charset="0"/>
              <a:ea typeface="Jost" pitchFamily="2" charset="0"/>
            </a:endParaRPr>
          </a:p>
        </p:txBody>
      </p:sp>
      <p:pic>
        <p:nvPicPr>
          <p:cNvPr id="197" name="Google Shape;197;p17"/>
          <p:cNvPicPr preferRelativeResize="0"/>
          <p:nvPr/>
        </p:nvPicPr>
        <p:blipFill>
          <a:blip r:embed="rId3">
            <a:alphaModFix/>
          </a:blip>
          <a:stretch>
            <a:fillRect/>
          </a:stretch>
        </p:blipFill>
        <p:spPr>
          <a:xfrm>
            <a:off x="785500" y="2258112"/>
            <a:ext cx="5536976" cy="2111324"/>
          </a:xfrm>
          <a:prstGeom prst="rect">
            <a:avLst/>
          </a:prstGeom>
          <a:noFill/>
          <a:ln>
            <a:noFill/>
          </a:ln>
        </p:spPr>
      </p:pic>
      <p:sp>
        <p:nvSpPr>
          <p:cNvPr id="198" name="Google Shape;198;p17"/>
          <p:cNvSpPr/>
          <p:nvPr/>
        </p:nvSpPr>
        <p:spPr>
          <a:xfrm>
            <a:off x="612050" y="6959309"/>
            <a:ext cx="124500" cy="129900"/>
          </a:xfrm>
          <a:prstGeom prst="ellipse">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pic>
        <p:nvPicPr>
          <p:cNvPr id="199" name="Google Shape;199;p17"/>
          <p:cNvPicPr preferRelativeResize="0"/>
          <p:nvPr/>
        </p:nvPicPr>
        <p:blipFill>
          <a:blip r:embed="rId4">
            <a:alphaModFix/>
          </a:blip>
          <a:stretch>
            <a:fillRect/>
          </a:stretch>
        </p:blipFill>
        <p:spPr>
          <a:xfrm>
            <a:off x="689488" y="5489451"/>
            <a:ext cx="5479024" cy="1295775"/>
          </a:xfrm>
          <a:prstGeom prst="rect">
            <a:avLst/>
          </a:prstGeom>
          <a:noFill/>
          <a:ln>
            <a:noFill/>
          </a:ln>
        </p:spPr>
      </p:pic>
      <p:sp>
        <p:nvSpPr>
          <p:cNvPr id="200" name="Google Shape;200;p17"/>
          <p:cNvSpPr txBox="1"/>
          <p:nvPr/>
        </p:nvSpPr>
        <p:spPr>
          <a:xfrm>
            <a:off x="672873" y="6891023"/>
            <a:ext cx="5649600" cy="1631175"/>
          </a:xfrm>
          <a:prstGeom prst="rect">
            <a:avLst/>
          </a:prstGeom>
          <a:noFill/>
          <a:ln>
            <a:noFill/>
          </a:ln>
        </p:spPr>
        <p:txBody>
          <a:bodyPr spcFirstLastPara="1" wrap="square" lIns="91425" tIns="45700" rIns="91425" bIns="45700" anchor="t" anchorCtr="0">
            <a:spAutoFit/>
          </a:bodyPr>
          <a:lstStyle/>
          <a:p>
            <a:pPr lvl="0"/>
            <a:r>
              <a:rPr lang="en-US" dirty="0">
                <a:latin typeface="Jost SemiBold" pitchFamily="2" charset="0"/>
                <a:ea typeface="Jost SemiBold" pitchFamily="2" charset="0"/>
              </a:rPr>
              <a:t>Before Print #1 (Blend Filament)</a:t>
            </a:r>
          </a:p>
          <a:p>
            <a:pPr lvl="0"/>
            <a:endParaRPr sz="500" dirty="0">
              <a:latin typeface="Jost" pitchFamily="2" charset="0"/>
              <a:ea typeface="Jost" pitchFamily="2" charset="0"/>
            </a:endParaRPr>
          </a:p>
          <a:p>
            <a:pPr lvl="0"/>
            <a:r>
              <a:rPr lang="en-US" sz="1200" dirty="0">
                <a:latin typeface="Jost SemiBold" pitchFamily="2" charset="0"/>
                <a:ea typeface="Jost SemiBold" pitchFamily="2" charset="0"/>
              </a:rPr>
              <a:t>Required </a:t>
            </a:r>
            <a:endParaRPr sz="1200" dirty="0">
              <a:latin typeface="Jost SemiBold" pitchFamily="2" charset="0"/>
              <a:ea typeface="Jost SemiBold" pitchFamily="2" charset="0"/>
            </a:endParaRPr>
          </a:p>
          <a:p>
            <a:pPr marL="0" lvl="0" indent="0" algn="l" rtl="0">
              <a:spcBef>
                <a:spcPts val="0"/>
              </a:spcBef>
              <a:spcAft>
                <a:spcPts val="0"/>
              </a:spcAft>
              <a:buNone/>
            </a:pPr>
            <a:endParaRPr sz="400" b="1" dirty="0">
              <a:latin typeface="Jost" pitchFamily="2" charset="0"/>
              <a:ea typeface="Jost" pitchFamily="2" charset="0"/>
            </a:endParaRPr>
          </a:p>
          <a:p>
            <a:pPr lvl="0"/>
            <a:r>
              <a:rPr lang="en-US" sz="1000" dirty="0">
                <a:latin typeface="Jost" pitchFamily="2" charset="0"/>
                <a:ea typeface="Jost" pitchFamily="2" charset="0"/>
              </a:rPr>
              <a:t>・</a:t>
            </a:r>
            <a:r>
              <a:rPr lang="en-US" sz="1000" dirty="0">
                <a:latin typeface="Jost Medium" pitchFamily="2" charset="0"/>
                <a:ea typeface="Jost Medium" pitchFamily="2" charset="0"/>
              </a:rPr>
              <a:t>AMS required</a:t>
            </a:r>
          </a:p>
          <a:p>
            <a:pPr lvl="0"/>
            <a:r>
              <a:rPr lang="en-US" sz="1000" dirty="0">
                <a:latin typeface="Jost" pitchFamily="2" charset="0"/>
                <a:ea typeface="Jost" pitchFamily="2" charset="0"/>
              </a:rPr>
              <a:t>Frequent switching between two colors is necessary. Use a printer that supports switching between two or more filaments.</a:t>
            </a:r>
          </a:p>
          <a:p>
            <a:pPr lvl="0"/>
            <a:endParaRPr sz="500" dirty="0">
              <a:latin typeface="Jost" pitchFamily="2" charset="0"/>
              <a:ea typeface="Jost" pitchFamily="2" charset="0"/>
            </a:endParaRPr>
          </a:p>
          <a:p>
            <a:pPr lvl="0"/>
            <a:r>
              <a:rPr lang="en-US" sz="1000" dirty="0">
                <a:latin typeface="Jost" pitchFamily="2" charset="0"/>
                <a:ea typeface="Jost" pitchFamily="2" charset="0"/>
              </a:rPr>
              <a:t>・</a:t>
            </a:r>
            <a:r>
              <a:rPr lang="en-US" sz="1000" dirty="0">
                <a:latin typeface="Jost Medium" pitchFamily="2" charset="0"/>
                <a:ea typeface="Jost Medium" pitchFamily="2" charset="0"/>
              </a:rPr>
              <a:t>0.4 mm nozzle required</a:t>
            </a:r>
          </a:p>
          <a:p>
            <a:pPr lvl="0"/>
            <a:r>
              <a:rPr lang="en-US" sz="1000" dirty="0">
                <a:latin typeface="Jost" pitchFamily="2" charset="0"/>
                <a:ea typeface="Jost" pitchFamily="2" charset="0"/>
              </a:rPr>
              <a:t>A 0.4 mm nozzle is essential due to the combination of a relatively thick first layer and thin layers for maintaining mixing accuracy. 0.4 mm high-flow nozzles are acceptable.</a:t>
            </a:r>
            <a:endParaRPr sz="1000" dirty="0">
              <a:latin typeface="Jost" pitchFamily="2" charset="0"/>
              <a:ea typeface="Jost" pitchFamily="2" charset="0"/>
            </a:endParaRPr>
          </a:p>
        </p:txBody>
      </p:sp>
      <p:sp>
        <p:nvSpPr>
          <p:cNvPr id="2" name="Google Shape;195;p17">
            <a:extLst>
              <a:ext uri="{FF2B5EF4-FFF2-40B4-BE49-F238E27FC236}">
                <a16:creationId xmlns:a16="http://schemas.microsoft.com/office/drawing/2014/main" id="{0E23C69C-49DA-ADDD-3E55-0336AF41C654}"/>
              </a:ext>
            </a:extLst>
          </p:cNvPr>
          <p:cNvSpPr txBox="1"/>
          <p:nvPr/>
        </p:nvSpPr>
        <p:spPr>
          <a:xfrm>
            <a:off x="597291" y="582386"/>
            <a:ext cx="5649600" cy="1615787"/>
          </a:xfrm>
          <a:prstGeom prst="rect">
            <a:avLst/>
          </a:prstGeom>
          <a:noFill/>
          <a:ln>
            <a:noFill/>
          </a:ln>
        </p:spPr>
        <p:txBody>
          <a:bodyPr spcFirstLastPara="1" wrap="square" lIns="91425" tIns="45700" rIns="91425" bIns="45700" anchor="t" anchorCtr="0">
            <a:spAutoFit/>
          </a:bodyPr>
          <a:lstStyle/>
          <a:p>
            <a:pPr lvl="0"/>
            <a:r>
              <a:rPr lang="en-US" sz="1000" dirty="0">
                <a:solidFill>
                  <a:schemeClr val="dk1"/>
                </a:solidFill>
                <a:latin typeface="Jost" pitchFamily="2" charset="0"/>
                <a:ea typeface="Jost" pitchFamily="2" charset="0"/>
                <a:cs typeface="IBM Plex Sans JP"/>
                <a:sym typeface="IBM Plex Sans JP"/>
              </a:rPr>
              <a:t>Cyan, Magenta, and Yellow are evenly spaced on the color wheel and represent an ideal combination; however, a 50% mixture results in a slight drop in saturation. For some users, this may deviate from their vision of a “vivid intermediate color.”</a:t>
            </a:r>
          </a:p>
          <a:p>
            <a:pPr lvl="0"/>
            <a:endParaRPr lang="en-US" sz="500" dirty="0">
              <a:solidFill>
                <a:schemeClr val="dk1"/>
              </a:solidFill>
              <a:latin typeface="Jost" pitchFamily="2" charset="0"/>
              <a:ea typeface="Jost" pitchFamily="2" charset="0"/>
              <a:cs typeface="IBM Plex Sans JP"/>
              <a:sym typeface="IBM Plex Sans JP"/>
            </a:endParaRPr>
          </a:p>
          <a:p>
            <a:pPr lvl="0"/>
            <a:r>
              <a:rPr lang="en-US" sz="1000" dirty="0">
                <a:solidFill>
                  <a:schemeClr val="dk1"/>
                </a:solidFill>
                <a:latin typeface="Jost" pitchFamily="2" charset="0"/>
                <a:ea typeface="Jost" pitchFamily="2" charset="0"/>
                <a:cs typeface="IBM Plex Sans JP"/>
                <a:sym typeface="IBM Plex Sans JP"/>
              </a:rPr>
              <a:t>Additionally, Jade White and Black have a large difference in lightness and tend to result in a mottled appearance.</a:t>
            </a:r>
          </a:p>
          <a:p>
            <a:pPr lvl="0"/>
            <a:endParaRPr lang="en-US" sz="1000" dirty="0">
              <a:solidFill>
                <a:schemeClr val="dk1"/>
              </a:solidFill>
              <a:latin typeface="Jost" pitchFamily="2" charset="0"/>
              <a:ea typeface="Jost" pitchFamily="2" charset="0"/>
              <a:cs typeface="IBM Plex Sans JP"/>
              <a:sym typeface="IBM Plex Sans JP"/>
            </a:endParaRPr>
          </a:p>
          <a:p>
            <a:pPr lvl="0"/>
            <a:r>
              <a:rPr lang="en-US" sz="1000" dirty="0">
                <a:solidFill>
                  <a:schemeClr val="dk1"/>
                </a:solidFill>
                <a:latin typeface="Jost" pitchFamily="2" charset="0"/>
                <a:ea typeface="Jost" pitchFamily="2" charset="0"/>
                <a:cs typeface="IBM Plex Sans JP"/>
                <a:sym typeface="IBM Plex Sans JP"/>
              </a:rPr>
              <a:t>Therefore, for these color ranges, we propose the following bridge colors (filaments):</a:t>
            </a:r>
          </a:p>
          <a:p>
            <a:pPr lvl="0"/>
            <a:endParaRPr lang="en-US" sz="400" dirty="0">
              <a:solidFill>
                <a:schemeClr val="dk1"/>
              </a:solidFill>
              <a:latin typeface="Jost" pitchFamily="2" charset="0"/>
              <a:ea typeface="Jost" pitchFamily="2" charset="0"/>
              <a:cs typeface="IBM Plex Sans JP"/>
              <a:sym typeface="IBM Plex Sans JP"/>
            </a:endParaRPr>
          </a:p>
          <a:p>
            <a:pPr lvl="0"/>
            <a:r>
              <a:rPr lang="en-US" sz="1000" dirty="0">
                <a:solidFill>
                  <a:schemeClr val="dk1"/>
                </a:solidFill>
                <a:latin typeface="Jost" pitchFamily="2" charset="0"/>
                <a:ea typeface="Jost" pitchFamily="2" charset="0"/>
                <a:cs typeface="IBM Plex Sans JP"/>
                <a:sym typeface="IBM Plex Sans JP"/>
              </a:rPr>
              <a:t>	Cyan‒Yellow → Bamboo Green,      Yellow‒Magenta → Orange</a:t>
            </a:r>
          </a:p>
          <a:p>
            <a:pPr lvl="0"/>
            <a:r>
              <a:rPr lang="en-US" sz="1000" dirty="0">
                <a:solidFill>
                  <a:schemeClr val="dk1"/>
                </a:solidFill>
                <a:latin typeface="Jost" pitchFamily="2" charset="0"/>
                <a:ea typeface="Jost" pitchFamily="2" charset="0"/>
                <a:cs typeface="IBM Plex Sans JP"/>
                <a:sym typeface="IBM Plex Sans JP"/>
              </a:rPr>
              <a:t>	Magenta‒Cyan → Purple,	     Jade White‒Black → Gray</a:t>
            </a:r>
            <a:endParaRPr sz="1000" b="1" dirty="0">
              <a:solidFill>
                <a:schemeClr val="dk1"/>
              </a:solidFill>
              <a:latin typeface="Jost" pitchFamily="2" charset="0"/>
              <a:ea typeface="Jost" pitchFamily="2" charset="0"/>
              <a:cs typeface="IBM Plex Sans JP"/>
              <a:sym typeface="IBM Plex Sans JP"/>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18"/>
          <p:cNvSpPr/>
          <p:nvPr/>
        </p:nvSpPr>
        <p:spPr>
          <a:xfrm>
            <a:off x="51086" y="45268"/>
            <a:ext cx="6790200" cy="9053400"/>
          </a:xfrm>
          <a:prstGeom prst="rect">
            <a:avLst/>
          </a:prstGeom>
          <a:gradFill>
            <a:gsLst>
              <a:gs pos="0">
                <a:srgbClr val="EE00B0"/>
              </a:gs>
              <a:gs pos="10000">
                <a:srgbClr val="EE00B0"/>
              </a:gs>
              <a:gs pos="50000">
                <a:srgbClr val="6200E8"/>
              </a:gs>
              <a:gs pos="90000">
                <a:srgbClr val="0095E5"/>
              </a:gs>
              <a:gs pos="100000">
                <a:srgbClr val="0095E5"/>
              </a:gs>
            </a:gsLst>
            <a:lin ang="1800004"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06" name="Google Shape;206;p18"/>
          <p:cNvSpPr/>
          <p:nvPr/>
        </p:nvSpPr>
        <p:spPr>
          <a:xfrm>
            <a:off x="17051" y="5531"/>
            <a:ext cx="6858000" cy="9144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nvGrpSpPr>
          <p:cNvPr id="207" name="Google Shape;207;p18"/>
          <p:cNvGrpSpPr/>
          <p:nvPr/>
        </p:nvGrpSpPr>
        <p:grpSpPr>
          <a:xfrm>
            <a:off x="0" y="0"/>
            <a:ext cx="6865269" cy="9144001"/>
            <a:chOff x="0" y="0"/>
            <a:chExt cx="6865269" cy="9144001"/>
          </a:xfrm>
        </p:grpSpPr>
        <p:sp>
          <p:nvSpPr>
            <p:cNvPr id="208" name="Google Shape;208;p18"/>
            <p:cNvSpPr/>
            <p:nvPr/>
          </p:nvSpPr>
          <p:spPr>
            <a:xfrm>
              <a:off x="0" y="0"/>
              <a:ext cx="6858000" cy="432000"/>
            </a:xfrm>
            <a:prstGeom prst="rect">
              <a:avLst/>
            </a:prstGeom>
            <a:solidFill>
              <a:srgbClr val="F2A982">
                <a:alpha val="10200"/>
              </a:srgbClr>
            </a:solidFill>
            <a:ln w="19050" cap="flat" cmpd="sng">
              <a:solidFill>
                <a:srgbClr val="7F340D"/>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09" name="Google Shape;209;p18"/>
            <p:cNvSpPr/>
            <p:nvPr/>
          </p:nvSpPr>
          <p:spPr>
            <a:xfrm>
              <a:off x="0" y="8712000"/>
              <a:ext cx="6858000" cy="432000"/>
            </a:xfrm>
            <a:prstGeom prst="rect">
              <a:avLst/>
            </a:prstGeom>
            <a:solidFill>
              <a:srgbClr val="F2A982">
                <a:alpha val="10200"/>
              </a:srgbClr>
            </a:solidFill>
            <a:ln w="19050" cap="flat" cmpd="sng">
              <a:solidFill>
                <a:srgbClr val="7F340D"/>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10" name="Google Shape;210;p18"/>
            <p:cNvSpPr/>
            <p:nvPr/>
          </p:nvSpPr>
          <p:spPr>
            <a:xfrm>
              <a:off x="0" y="1"/>
              <a:ext cx="540000" cy="9144000"/>
            </a:xfrm>
            <a:prstGeom prst="rect">
              <a:avLst/>
            </a:prstGeom>
            <a:solidFill>
              <a:srgbClr val="F2A982">
                <a:alpha val="10200"/>
              </a:srgbClr>
            </a:solidFill>
            <a:ln w="19050" cap="flat" cmpd="sng">
              <a:solidFill>
                <a:srgbClr val="7F340D"/>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11" name="Google Shape;211;p18"/>
            <p:cNvSpPr/>
            <p:nvPr/>
          </p:nvSpPr>
          <p:spPr>
            <a:xfrm>
              <a:off x="6325269" y="0"/>
              <a:ext cx="540000" cy="9144000"/>
            </a:xfrm>
            <a:prstGeom prst="rect">
              <a:avLst/>
            </a:prstGeom>
            <a:solidFill>
              <a:srgbClr val="F2A982">
                <a:alpha val="10200"/>
              </a:srgbClr>
            </a:solidFill>
            <a:ln w="19050" cap="flat" cmpd="sng">
              <a:solidFill>
                <a:srgbClr val="7F340D"/>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sp>
        <p:nvSpPr>
          <p:cNvPr id="212" name="Google Shape;212;p18"/>
          <p:cNvSpPr/>
          <p:nvPr/>
        </p:nvSpPr>
        <p:spPr>
          <a:xfrm>
            <a:off x="554537" y="433418"/>
            <a:ext cx="5756100" cy="54000"/>
          </a:xfrm>
          <a:prstGeom prst="rect">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13" name="Google Shape;213;p18"/>
          <p:cNvSpPr/>
          <p:nvPr/>
        </p:nvSpPr>
        <p:spPr>
          <a:xfrm>
            <a:off x="554538" y="8661917"/>
            <a:ext cx="2592000" cy="54000"/>
          </a:xfrm>
          <a:prstGeom prst="rect">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14" name="Google Shape;214;p18"/>
          <p:cNvSpPr/>
          <p:nvPr/>
        </p:nvSpPr>
        <p:spPr>
          <a:xfrm>
            <a:off x="3734844" y="8661917"/>
            <a:ext cx="2592000" cy="54000"/>
          </a:xfrm>
          <a:prstGeom prst="rect">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15" name="Google Shape;215;p18"/>
          <p:cNvSpPr txBox="1"/>
          <p:nvPr/>
        </p:nvSpPr>
        <p:spPr>
          <a:xfrm>
            <a:off x="3163826" y="8511531"/>
            <a:ext cx="575700" cy="369300"/>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800">
                <a:solidFill>
                  <a:schemeClr val="dk1"/>
                </a:solidFill>
              </a:rPr>
              <a:t>5</a:t>
            </a:r>
            <a:endParaRPr sz="1800">
              <a:solidFill>
                <a:schemeClr val="dk1"/>
              </a:solidFill>
              <a:latin typeface="Arial"/>
              <a:ea typeface="Arial"/>
              <a:cs typeface="Arial"/>
              <a:sym typeface="Arial"/>
            </a:endParaRPr>
          </a:p>
        </p:txBody>
      </p:sp>
      <p:sp>
        <p:nvSpPr>
          <p:cNvPr id="216" name="Google Shape;216;p18"/>
          <p:cNvSpPr txBox="1"/>
          <p:nvPr/>
        </p:nvSpPr>
        <p:spPr>
          <a:xfrm>
            <a:off x="672873" y="5324372"/>
            <a:ext cx="5649600" cy="1715814"/>
          </a:xfrm>
          <a:prstGeom prst="rect">
            <a:avLst/>
          </a:prstGeom>
          <a:noFill/>
          <a:ln>
            <a:noFill/>
          </a:ln>
        </p:spPr>
        <p:txBody>
          <a:bodyPr spcFirstLastPara="1" wrap="square" lIns="91425" tIns="45700" rIns="91425" bIns="45700" anchor="t" anchorCtr="0">
            <a:spAutoFit/>
          </a:bodyPr>
          <a:lstStyle/>
          <a:p>
            <a:pPr lvl="0"/>
            <a:r>
              <a:rPr lang="en-US" sz="1200" b="1" dirty="0">
                <a:solidFill>
                  <a:schemeClr val="dk1"/>
                </a:solidFill>
                <a:latin typeface="Jost SemiBold" pitchFamily="2" charset="0"/>
                <a:ea typeface="Jost SemiBold" pitchFamily="2" charset="0"/>
                <a:cs typeface="IBM Plex Sans JP"/>
                <a:sym typeface="IBM Plex Sans JP"/>
              </a:rPr>
              <a:t>Not Recommended </a:t>
            </a:r>
            <a:endParaRPr sz="1200" b="1" dirty="0">
              <a:solidFill>
                <a:schemeClr val="dk1"/>
              </a:solidFill>
              <a:latin typeface="Jost SemiBold" pitchFamily="2" charset="0"/>
              <a:ea typeface="Jost SemiBold" pitchFamily="2" charset="0"/>
              <a:cs typeface="IBM Plex Sans JP"/>
              <a:sym typeface="IBM Plex Sans JP"/>
            </a:endParaRPr>
          </a:p>
          <a:p>
            <a:pPr marL="0" marR="0" lvl="0" indent="0" algn="l" rtl="0">
              <a:spcBef>
                <a:spcPts val="0"/>
              </a:spcBef>
              <a:spcAft>
                <a:spcPts val="0"/>
              </a:spcAft>
              <a:buNone/>
            </a:pPr>
            <a:endParaRPr sz="500" b="1" dirty="0">
              <a:solidFill>
                <a:schemeClr val="dk1"/>
              </a:solidFill>
              <a:latin typeface="Jost" pitchFamily="2" charset="0"/>
              <a:ea typeface="Jost" pitchFamily="2" charset="0"/>
              <a:cs typeface="IBM Plex Sans JP"/>
              <a:sym typeface="IBM Plex Sans JP"/>
            </a:endParaRPr>
          </a:p>
          <a:p>
            <a:pPr lvl="0"/>
            <a:r>
              <a:rPr lang="en-US" sz="1050" dirty="0">
                <a:solidFill>
                  <a:schemeClr val="dk1"/>
                </a:solidFill>
                <a:latin typeface="Jost" pitchFamily="2" charset="0"/>
                <a:ea typeface="Jost" pitchFamily="2" charset="0"/>
                <a:cs typeface="IBM Plex Sans JP"/>
                <a:sym typeface="IBM Plex Sans JP"/>
              </a:rPr>
              <a:t>・</a:t>
            </a:r>
            <a:r>
              <a:rPr lang="en-US" sz="1050" dirty="0">
                <a:solidFill>
                  <a:schemeClr val="dk1"/>
                </a:solidFill>
                <a:latin typeface="Jost Medium" pitchFamily="2" charset="0"/>
                <a:ea typeface="Jost Medium" pitchFamily="2" charset="0"/>
                <a:cs typeface="IBM Plex Sans JP"/>
                <a:sym typeface="IBM Plex Sans JP"/>
              </a:rPr>
              <a:t>Glue</a:t>
            </a:r>
          </a:p>
          <a:p>
            <a:pPr lvl="0"/>
            <a:r>
              <a:rPr lang="en-US" sz="1000" dirty="0">
                <a:solidFill>
                  <a:schemeClr val="dk1"/>
                </a:solidFill>
                <a:latin typeface="Jost" pitchFamily="2" charset="0"/>
                <a:ea typeface="Jost" pitchFamily="2" charset="0"/>
                <a:cs typeface="IBM Plex Sans JP"/>
                <a:sym typeface="IBM Plex Sans JP"/>
              </a:rPr>
              <a:t>Glue may clog the nozzle during Print #2.</a:t>
            </a:r>
          </a:p>
          <a:p>
            <a:pPr lvl="0"/>
            <a:endParaRPr sz="1050" dirty="0">
              <a:solidFill>
                <a:schemeClr val="dk1"/>
              </a:solidFill>
              <a:latin typeface="Jost" pitchFamily="2" charset="0"/>
              <a:ea typeface="Jost" pitchFamily="2" charset="0"/>
              <a:cs typeface="IBM Plex Sans JP"/>
              <a:sym typeface="IBM Plex Sans JP"/>
            </a:endParaRPr>
          </a:p>
          <a:p>
            <a:pPr lvl="0"/>
            <a:r>
              <a:rPr lang="en-US" sz="1050" dirty="0">
                <a:solidFill>
                  <a:schemeClr val="dk1"/>
                </a:solidFill>
                <a:latin typeface="Jost" pitchFamily="2" charset="0"/>
                <a:ea typeface="Jost" pitchFamily="2" charset="0"/>
                <a:cs typeface="IBM Plex Sans JP"/>
                <a:sym typeface="IBM Plex Sans JP"/>
              </a:rPr>
              <a:t>・</a:t>
            </a:r>
            <a:r>
              <a:rPr lang="en-US" sz="1050" dirty="0">
                <a:solidFill>
                  <a:schemeClr val="dk1"/>
                </a:solidFill>
                <a:latin typeface="Jost Medium" pitchFamily="2" charset="0"/>
                <a:ea typeface="Jost Medium" pitchFamily="2" charset="0"/>
                <a:cs typeface="IBM Plex Sans JP"/>
                <a:sym typeface="IBM Plex Sans JP"/>
              </a:rPr>
              <a:t>Mixing different material types</a:t>
            </a:r>
          </a:p>
          <a:p>
            <a:pPr lvl="0"/>
            <a:r>
              <a:rPr lang="en-US" sz="1000" dirty="0">
                <a:solidFill>
                  <a:schemeClr val="dk1"/>
                </a:solidFill>
                <a:latin typeface="Jost" pitchFamily="2" charset="0"/>
                <a:ea typeface="Jost" pitchFamily="2" charset="0"/>
                <a:cs typeface="IBM Plex Sans JP"/>
                <a:sym typeface="IBM Plex Sans JP"/>
              </a:rPr>
              <a:t>Filaments with different printing temperatures may clog the nozzle during Print #2. Combinations such as PLA Basic and PLA Matte (same temperature and same material type) may work.</a:t>
            </a:r>
          </a:p>
          <a:p>
            <a:pPr marL="0" marR="0" lvl="0" indent="0" algn="l" rtl="0">
              <a:spcBef>
                <a:spcPts val="0"/>
              </a:spcBef>
              <a:spcAft>
                <a:spcPts val="0"/>
              </a:spcAft>
              <a:buNone/>
            </a:pPr>
            <a:endParaRPr sz="500" dirty="0">
              <a:solidFill>
                <a:schemeClr val="dk1"/>
              </a:solidFill>
              <a:latin typeface="Jost" pitchFamily="2" charset="0"/>
              <a:ea typeface="Jost" pitchFamily="2" charset="0"/>
              <a:cs typeface="IBM Plex Sans JP"/>
              <a:sym typeface="IBM Plex Sans JP"/>
            </a:endParaRPr>
          </a:p>
          <a:p>
            <a:pPr lvl="0"/>
            <a:r>
              <a:rPr lang="en-US" sz="1000" dirty="0">
                <a:solidFill>
                  <a:schemeClr val="dk1"/>
                </a:solidFill>
                <a:latin typeface="Jost" pitchFamily="2" charset="0"/>
                <a:ea typeface="Jost" pitchFamily="2" charset="0"/>
                <a:cs typeface="IBM Plex Sans JP"/>
                <a:sym typeface="IBM Plex Sans JP"/>
              </a:rPr>
              <a:t>As a general rule, use </a:t>
            </a:r>
            <a:r>
              <a:rPr lang="en-US" sz="1000" b="1" dirty="0">
                <a:solidFill>
                  <a:schemeClr val="dk1"/>
                </a:solidFill>
                <a:latin typeface="Jost" pitchFamily="2" charset="0"/>
                <a:ea typeface="Jost" pitchFamily="2" charset="0"/>
                <a:cs typeface="IBM Plex Sans JP"/>
                <a:sym typeface="IBM Plex Sans JP"/>
              </a:rPr>
              <a:t>different colors of the same product from the same manufacturer</a:t>
            </a:r>
            <a:r>
              <a:rPr lang="en-US" sz="1000" dirty="0">
                <a:solidFill>
                  <a:schemeClr val="dk1"/>
                </a:solidFill>
                <a:latin typeface="Jost" pitchFamily="2" charset="0"/>
                <a:ea typeface="Jost" pitchFamily="2" charset="0"/>
                <a:cs typeface="IBM Plex Sans JP"/>
                <a:sym typeface="IBM Plex Sans JP"/>
              </a:rPr>
              <a:t>. Try other combinations at your own risk.</a:t>
            </a:r>
            <a:endParaRPr sz="1000" dirty="0">
              <a:latin typeface="Jost" pitchFamily="2" charset="0"/>
              <a:ea typeface="Jost" pitchFamily="2" charset="0"/>
            </a:endParaRPr>
          </a:p>
        </p:txBody>
      </p:sp>
      <p:sp>
        <p:nvSpPr>
          <p:cNvPr id="217" name="Google Shape;217;p18"/>
          <p:cNvSpPr txBox="1"/>
          <p:nvPr/>
        </p:nvSpPr>
        <p:spPr>
          <a:xfrm>
            <a:off x="672873" y="608803"/>
            <a:ext cx="5649600" cy="1031011"/>
          </a:xfrm>
          <a:prstGeom prst="rect">
            <a:avLst/>
          </a:prstGeom>
          <a:noFill/>
          <a:ln>
            <a:noFill/>
          </a:ln>
        </p:spPr>
        <p:txBody>
          <a:bodyPr spcFirstLastPara="1" wrap="square" lIns="91425" tIns="45700" rIns="91425" bIns="45700" anchor="t" anchorCtr="0">
            <a:spAutoFit/>
          </a:bodyPr>
          <a:lstStyle/>
          <a:p>
            <a:pPr lvl="0"/>
            <a:r>
              <a:rPr lang="en-US" sz="1050" dirty="0">
                <a:latin typeface="Jost" pitchFamily="2" charset="0"/>
                <a:ea typeface="Jost" pitchFamily="2" charset="0"/>
              </a:rPr>
              <a:t>・</a:t>
            </a:r>
            <a:r>
              <a:rPr lang="en-US" sz="1050" dirty="0">
                <a:latin typeface="Jost Medium" pitchFamily="2" charset="0"/>
                <a:ea typeface="Jost Medium" pitchFamily="2" charset="0"/>
              </a:rPr>
              <a:t>Degrease the plate and your hands</a:t>
            </a:r>
          </a:p>
          <a:p>
            <a:pPr lvl="0"/>
            <a:r>
              <a:rPr lang="en-US" sz="1000" dirty="0">
                <a:latin typeface="Jost" pitchFamily="2" charset="0"/>
                <a:ea typeface="Jost" pitchFamily="2" charset="0"/>
              </a:rPr>
              <a:t>This model is very sensitive to adhesion. Ensure thorough cleaning. If adhesion remains difficult, consider using a smaller model size.</a:t>
            </a:r>
          </a:p>
          <a:p>
            <a:pPr lvl="0"/>
            <a:endParaRPr sz="1000" dirty="0">
              <a:latin typeface="Jost" pitchFamily="2" charset="0"/>
              <a:ea typeface="Jost" pitchFamily="2" charset="0"/>
            </a:endParaRPr>
          </a:p>
          <a:p>
            <a:pPr lvl="0"/>
            <a:r>
              <a:rPr lang="ja-JP" altLang="en-US" sz="1050" dirty="0">
                <a:latin typeface="Jost Medium" pitchFamily="2" charset="0"/>
                <a:ea typeface="Jost" pitchFamily="2" charset="0"/>
              </a:rPr>
              <a:t>・</a:t>
            </a:r>
            <a:r>
              <a:rPr lang="en-US" sz="1050" dirty="0">
                <a:latin typeface="Jost Medium" pitchFamily="2" charset="0"/>
                <a:ea typeface="Jost Medium" pitchFamily="2" charset="0"/>
              </a:rPr>
              <a:t>Adhesion</a:t>
            </a:r>
          </a:p>
          <a:p>
            <a:pPr lvl="0"/>
            <a:r>
              <a:rPr lang="en-US" sz="1000" dirty="0">
                <a:latin typeface="Jost" pitchFamily="2" charset="0"/>
                <a:ea typeface="Jost" pitchFamily="2" charset="0"/>
              </a:rPr>
              <a:t>Adhesion varies depending on the build plate and filament material. Please refer to the table below.</a:t>
            </a:r>
            <a:endParaRPr sz="900" dirty="0">
              <a:latin typeface="Jost" pitchFamily="2" charset="0"/>
              <a:ea typeface="Jost" pitchFamily="2" charset="0"/>
            </a:endParaRPr>
          </a:p>
        </p:txBody>
      </p:sp>
      <p:sp>
        <p:nvSpPr>
          <p:cNvPr id="218" name="Google Shape;218;p18"/>
          <p:cNvSpPr txBox="1"/>
          <p:nvPr/>
        </p:nvSpPr>
        <p:spPr>
          <a:xfrm>
            <a:off x="672873" y="3717678"/>
            <a:ext cx="5649600" cy="400200"/>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en-US" sz="1000"/>
              <a:t>・プレートと手の脱脂 本モデルは定着性がシビアです。十分な脱脂を行って、定着性を高めてください。 定着が困難な場合は1サイズ小さいモデルを検討してください。 </a:t>
            </a:r>
            <a:endParaRPr sz="1000"/>
          </a:p>
        </p:txBody>
      </p:sp>
      <p:pic>
        <p:nvPicPr>
          <p:cNvPr id="219" name="Google Shape;219;p18"/>
          <p:cNvPicPr preferRelativeResize="0"/>
          <p:nvPr/>
        </p:nvPicPr>
        <p:blipFill>
          <a:blip r:embed="rId3">
            <a:alphaModFix/>
          </a:blip>
          <a:stretch>
            <a:fillRect/>
          </a:stretch>
        </p:blipFill>
        <p:spPr>
          <a:xfrm>
            <a:off x="540573" y="1689330"/>
            <a:ext cx="5776852" cy="3506716"/>
          </a:xfrm>
          <a:prstGeom prst="rect">
            <a:avLst/>
          </a:prstGeom>
          <a:noFill/>
          <a:ln>
            <a:noFill/>
          </a:ln>
        </p:spPr>
      </p:pic>
      <p:sp>
        <p:nvSpPr>
          <p:cNvPr id="220" name="Google Shape;220;p18"/>
          <p:cNvSpPr txBox="1"/>
          <p:nvPr/>
        </p:nvSpPr>
        <p:spPr>
          <a:xfrm>
            <a:off x="672873" y="7120761"/>
            <a:ext cx="5649600" cy="1469593"/>
          </a:xfrm>
          <a:prstGeom prst="rect">
            <a:avLst/>
          </a:prstGeom>
          <a:noFill/>
          <a:ln>
            <a:noFill/>
          </a:ln>
        </p:spPr>
        <p:txBody>
          <a:bodyPr spcFirstLastPara="1" wrap="square" lIns="91425" tIns="45700" rIns="91425" bIns="45700" anchor="t" anchorCtr="0">
            <a:spAutoFit/>
          </a:bodyPr>
          <a:lstStyle/>
          <a:p>
            <a:pPr lvl="0"/>
            <a:r>
              <a:rPr lang="en-US" sz="1200" b="1" dirty="0">
                <a:solidFill>
                  <a:schemeClr val="dk1"/>
                </a:solidFill>
                <a:latin typeface="Jost SemiBold" pitchFamily="2" charset="0"/>
                <a:ea typeface="Jost SemiBold" pitchFamily="2" charset="0"/>
                <a:cs typeface="IBM Plex Sans JP"/>
                <a:sym typeface="IBM Plex Sans JP"/>
              </a:rPr>
              <a:t>Before Print #2 (Final Print)</a:t>
            </a:r>
          </a:p>
          <a:p>
            <a:pPr lvl="0"/>
            <a:endParaRPr sz="600" b="1" dirty="0">
              <a:solidFill>
                <a:schemeClr val="dk1"/>
              </a:solidFill>
              <a:latin typeface="Jost" pitchFamily="2" charset="0"/>
              <a:ea typeface="Jost" pitchFamily="2" charset="0"/>
              <a:cs typeface="IBM Plex Sans JP"/>
              <a:sym typeface="IBM Plex Sans JP"/>
            </a:endParaRPr>
          </a:p>
          <a:p>
            <a:pPr lvl="0"/>
            <a:r>
              <a:rPr lang="en-US" sz="1050" dirty="0">
                <a:solidFill>
                  <a:schemeClr val="dk1"/>
                </a:solidFill>
                <a:latin typeface="Jost" pitchFamily="2" charset="0"/>
                <a:ea typeface="Jost" pitchFamily="2" charset="0"/>
                <a:cs typeface="IBM Plex Sans JP"/>
                <a:sym typeface="IBM Plex Sans JP"/>
              </a:rPr>
              <a:t>・</a:t>
            </a:r>
            <a:r>
              <a:rPr lang="en-US" sz="1050" dirty="0">
                <a:solidFill>
                  <a:schemeClr val="dk1"/>
                </a:solidFill>
                <a:latin typeface="Jost Medium" pitchFamily="2" charset="0"/>
                <a:ea typeface="Jost Medium" pitchFamily="2" charset="0"/>
                <a:cs typeface="IBM Plex Sans JP"/>
                <a:sym typeface="IBM Plex Sans JP"/>
              </a:rPr>
              <a:t>Remove the brim</a:t>
            </a:r>
          </a:p>
          <a:p>
            <a:pPr lvl="0"/>
            <a:r>
              <a:rPr lang="en-US" sz="1000" dirty="0">
                <a:solidFill>
                  <a:schemeClr val="dk1"/>
                </a:solidFill>
                <a:latin typeface="Jost" pitchFamily="2" charset="0"/>
                <a:ea typeface="Jost" pitchFamily="2" charset="0"/>
                <a:cs typeface="IBM Plex Sans JP"/>
                <a:sym typeface="IBM Plex Sans JP"/>
              </a:rPr>
              <a:t>Remove the brim before printing. If you will not print immediately, leave the brim attached. The engraved markings allow you to check the size and mixing ratio.</a:t>
            </a:r>
          </a:p>
          <a:p>
            <a:pPr lvl="0"/>
            <a:endParaRPr sz="1050" dirty="0">
              <a:solidFill>
                <a:schemeClr val="dk1"/>
              </a:solidFill>
              <a:latin typeface="Jost" pitchFamily="2" charset="0"/>
              <a:ea typeface="Jost" pitchFamily="2" charset="0"/>
              <a:cs typeface="IBM Plex Sans JP"/>
              <a:sym typeface="IBM Plex Sans JP"/>
            </a:endParaRPr>
          </a:p>
          <a:p>
            <a:pPr lvl="0"/>
            <a:r>
              <a:rPr lang="en-US" sz="1050" dirty="0">
                <a:solidFill>
                  <a:schemeClr val="dk1"/>
                </a:solidFill>
                <a:latin typeface="Jost Medium" pitchFamily="2" charset="0"/>
                <a:ea typeface="Jost Medium" pitchFamily="2" charset="0"/>
                <a:cs typeface="IBM Plex Sans JP"/>
                <a:sym typeface="IBM Plex Sans JP"/>
              </a:rPr>
              <a:t>・Remove burrs</a:t>
            </a:r>
          </a:p>
          <a:p>
            <a:pPr lvl="0"/>
            <a:r>
              <a:rPr lang="en-US" sz="1000" dirty="0">
                <a:solidFill>
                  <a:schemeClr val="dk1"/>
                </a:solidFill>
                <a:latin typeface="Jost" pitchFamily="2" charset="0"/>
                <a:ea typeface="Jost" pitchFamily="2" charset="0"/>
                <a:cs typeface="IBM Plex Sans JP"/>
                <a:sym typeface="IBM Plex Sans JP"/>
              </a:rPr>
              <a:t>Rarely, burrs may occur. Remove them with nippers or a cutter. Large burrs may cause extrusion issues.</a:t>
            </a:r>
            <a:endParaRPr sz="1000" dirty="0">
              <a:latin typeface="Jost" pitchFamily="2" charset="0"/>
              <a:ea typeface="Jost" pitchFamily="2" charset="0"/>
            </a:endParaRPr>
          </a:p>
        </p:txBody>
      </p:sp>
      <p:sp>
        <p:nvSpPr>
          <p:cNvPr id="221" name="Google Shape;221;p18"/>
          <p:cNvSpPr/>
          <p:nvPr/>
        </p:nvSpPr>
        <p:spPr>
          <a:xfrm>
            <a:off x="612050" y="7177634"/>
            <a:ext cx="124500" cy="126080"/>
          </a:xfrm>
          <a:prstGeom prst="ellipse">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6" name="Google Shape;226;p19"/>
          <p:cNvSpPr/>
          <p:nvPr/>
        </p:nvSpPr>
        <p:spPr>
          <a:xfrm>
            <a:off x="51086" y="45268"/>
            <a:ext cx="6790200" cy="9053400"/>
          </a:xfrm>
          <a:prstGeom prst="rect">
            <a:avLst/>
          </a:prstGeom>
          <a:gradFill>
            <a:gsLst>
              <a:gs pos="0">
                <a:srgbClr val="EE00B0"/>
              </a:gs>
              <a:gs pos="10000">
                <a:srgbClr val="EE00B0"/>
              </a:gs>
              <a:gs pos="50000">
                <a:srgbClr val="6200E8"/>
              </a:gs>
              <a:gs pos="90000">
                <a:srgbClr val="0095E5"/>
              </a:gs>
              <a:gs pos="100000">
                <a:srgbClr val="0095E5"/>
              </a:gs>
            </a:gsLst>
            <a:lin ang="1800004"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27" name="Google Shape;227;p19"/>
          <p:cNvSpPr/>
          <p:nvPr/>
        </p:nvSpPr>
        <p:spPr>
          <a:xfrm>
            <a:off x="17051" y="5531"/>
            <a:ext cx="6858000" cy="9144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nvGrpSpPr>
          <p:cNvPr id="228" name="Google Shape;228;p19"/>
          <p:cNvGrpSpPr/>
          <p:nvPr/>
        </p:nvGrpSpPr>
        <p:grpSpPr>
          <a:xfrm>
            <a:off x="0" y="0"/>
            <a:ext cx="6865269" cy="9144001"/>
            <a:chOff x="0" y="0"/>
            <a:chExt cx="6865269" cy="9144001"/>
          </a:xfrm>
        </p:grpSpPr>
        <p:sp>
          <p:nvSpPr>
            <p:cNvPr id="229" name="Google Shape;229;p19"/>
            <p:cNvSpPr/>
            <p:nvPr/>
          </p:nvSpPr>
          <p:spPr>
            <a:xfrm>
              <a:off x="0" y="0"/>
              <a:ext cx="6858000" cy="432000"/>
            </a:xfrm>
            <a:prstGeom prst="rect">
              <a:avLst/>
            </a:prstGeom>
            <a:solidFill>
              <a:srgbClr val="F2A982">
                <a:alpha val="10200"/>
              </a:srgbClr>
            </a:solidFill>
            <a:ln w="19050" cap="flat" cmpd="sng">
              <a:solidFill>
                <a:srgbClr val="7F340D"/>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30" name="Google Shape;230;p19"/>
            <p:cNvSpPr/>
            <p:nvPr/>
          </p:nvSpPr>
          <p:spPr>
            <a:xfrm>
              <a:off x="0" y="8712000"/>
              <a:ext cx="6858000" cy="432000"/>
            </a:xfrm>
            <a:prstGeom prst="rect">
              <a:avLst/>
            </a:prstGeom>
            <a:solidFill>
              <a:srgbClr val="F2A982">
                <a:alpha val="10200"/>
              </a:srgbClr>
            </a:solidFill>
            <a:ln w="19050" cap="flat" cmpd="sng">
              <a:solidFill>
                <a:srgbClr val="7F340D"/>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31" name="Google Shape;231;p19"/>
            <p:cNvSpPr/>
            <p:nvPr/>
          </p:nvSpPr>
          <p:spPr>
            <a:xfrm>
              <a:off x="0" y="1"/>
              <a:ext cx="540000" cy="9144000"/>
            </a:xfrm>
            <a:prstGeom prst="rect">
              <a:avLst/>
            </a:prstGeom>
            <a:solidFill>
              <a:srgbClr val="F2A982">
                <a:alpha val="10200"/>
              </a:srgbClr>
            </a:solidFill>
            <a:ln w="19050" cap="flat" cmpd="sng">
              <a:solidFill>
                <a:srgbClr val="7F340D"/>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32" name="Google Shape;232;p19"/>
            <p:cNvSpPr/>
            <p:nvPr/>
          </p:nvSpPr>
          <p:spPr>
            <a:xfrm>
              <a:off x="6325269" y="0"/>
              <a:ext cx="540000" cy="9144000"/>
            </a:xfrm>
            <a:prstGeom prst="rect">
              <a:avLst/>
            </a:prstGeom>
            <a:solidFill>
              <a:srgbClr val="F2A982">
                <a:alpha val="10200"/>
              </a:srgbClr>
            </a:solidFill>
            <a:ln w="19050" cap="flat" cmpd="sng">
              <a:solidFill>
                <a:srgbClr val="7F340D"/>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sp>
        <p:nvSpPr>
          <p:cNvPr id="233" name="Google Shape;233;p19"/>
          <p:cNvSpPr/>
          <p:nvPr/>
        </p:nvSpPr>
        <p:spPr>
          <a:xfrm>
            <a:off x="554537" y="433418"/>
            <a:ext cx="5756100" cy="54000"/>
          </a:xfrm>
          <a:prstGeom prst="rect">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34" name="Google Shape;234;p19"/>
          <p:cNvSpPr/>
          <p:nvPr/>
        </p:nvSpPr>
        <p:spPr>
          <a:xfrm>
            <a:off x="554538" y="8661917"/>
            <a:ext cx="2592000" cy="54000"/>
          </a:xfrm>
          <a:prstGeom prst="rect">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35" name="Google Shape;235;p19"/>
          <p:cNvSpPr/>
          <p:nvPr/>
        </p:nvSpPr>
        <p:spPr>
          <a:xfrm>
            <a:off x="3734844" y="8661917"/>
            <a:ext cx="2592000" cy="54000"/>
          </a:xfrm>
          <a:prstGeom prst="rect">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36" name="Google Shape;236;p19"/>
          <p:cNvSpPr txBox="1"/>
          <p:nvPr/>
        </p:nvSpPr>
        <p:spPr>
          <a:xfrm>
            <a:off x="3163826" y="8511531"/>
            <a:ext cx="575700" cy="369300"/>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800">
                <a:solidFill>
                  <a:schemeClr val="dk1"/>
                </a:solidFill>
              </a:rPr>
              <a:t>6</a:t>
            </a:r>
            <a:endParaRPr sz="1800">
              <a:solidFill>
                <a:schemeClr val="dk1"/>
              </a:solidFill>
              <a:latin typeface="Arial"/>
              <a:ea typeface="Arial"/>
              <a:cs typeface="Arial"/>
              <a:sym typeface="Arial"/>
            </a:endParaRPr>
          </a:p>
        </p:txBody>
      </p:sp>
      <p:sp>
        <p:nvSpPr>
          <p:cNvPr id="237" name="Google Shape;237;p19"/>
          <p:cNvSpPr/>
          <p:nvPr/>
        </p:nvSpPr>
        <p:spPr>
          <a:xfrm>
            <a:off x="580886" y="2882330"/>
            <a:ext cx="204600" cy="204600"/>
          </a:xfrm>
          <a:prstGeom prst="ellipse">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38" name="Google Shape;238;p19"/>
          <p:cNvSpPr txBox="1"/>
          <p:nvPr/>
        </p:nvSpPr>
        <p:spPr>
          <a:xfrm>
            <a:off x="812651" y="2847881"/>
            <a:ext cx="2313092" cy="338514"/>
          </a:xfrm>
          <a:prstGeom prst="rect">
            <a:avLst/>
          </a:prstGeom>
          <a:noFill/>
          <a:ln>
            <a:noFill/>
          </a:ln>
        </p:spPr>
        <p:txBody>
          <a:bodyPr spcFirstLastPara="1" wrap="square" lIns="91425" tIns="45700" rIns="91425" bIns="45700" anchor="t" anchorCtr="0">
            <a:spAutoFit/>
          </a:bodyPr>
          <a:lstStyle/>
          <a:p>
            <a:pPr lvl="0"/>
            <a:r>
              <a:rPr lang="en-US" sz="1600" b="1" dirty="0">
                <a:solidFill>
                  <a:schemeClr val="dk1"/>
                </a:solidFill>
                <a:latin typeface="Jost" pitchFamily="2" charset="0"/>
                <a:ea typeface="Jost" pitchFamily="2" charset="0"/>
                <a:cs typeface="IBM Plex Sans JP SemiBold"/>
                <a:sym typeface="IBM Plex Sans JP SemiBold"/>
              </a:rPr>
              <a:t>7. </a:t>
            </a:r>
            <a:r>
              <a:rPr lang="en-US" altLang="ja-JP" sz="1600" b="1" dirty="0">
                <a:solidFill>
                  <a:schemeClr val="dk1"/>
                </a:solidFill>
                <a:latin typeface="Jost" pitchFamily="2" charset="0"/>
                <a:ea typeface="IBM Plex Sans JP" panose="020B0503050203000203" pitchFamily="50" charset="-128"/>
                <a:cs typeface="IBM Plex Sans JP SemiBold"/>
                <a:sym typeface="IBM Plex Sans JP SemiBold"/>
              </a:rPr>
              <a:t>Revision History</a:t>
            </a:r>
            <a:endParaRPr sz="1800" b="1" dirty="0">
              <a:solidFill>
                <a:schemeClr val="dk1"/>
              </a:solidFill>
              <a:latin typeface="Jost" pitchFamily="2" charset="0"/>
              <a:ea typeface="Jost" pitchFamily="2" charset="0"/>
              <a:cs typeface="IBM Plex Sans JP SemiBold"/>
              <a:sym typeface="IBM Plex Sans JP SemiBold"/>
            </a:endParaRPr>
          </a:p>
        </p:txBody>
      </p:sp>
      <p:sp>
        <p:nvSpPr>
          <p:cNvPr id="239" name="Google Shape;239;p19"/>
          <p:cNvSpPr txBox="1"/>
          <p:nvPr/>
        </p:nvSpPr>
        <p:spPr>
          <a:xfrm>
            <a:off x="672860" y="3162690"/>
            <a:ext cx="5649600" cy="507791"/>
          </a:xfrm>
          <a:prstGeom prst="rect">
            <a:avLst/>
          </a:prstGeom>
          <a:noFill/>
          <a:ln>
            <a:noFill/>
          </a:ln>
        </p:spPr>
        <p:txBody>
          <a:bodyPr spcFirstLastPara="1" wrap="square" lIns="91425" tIns="45700" rIns="91425" bIns="45700" anchor="t" anchorCtr="0">
            <a:spAutoFit/>
          </a:bodyPr>
          <a:lstStyle/>
          <a:p>
            <a:pPr lvl="0"/>
            <a:r>
              <a:rPr lang="ja-JP" altLang="ja-JP" sz="900" dirty="0">
                <a:latin typeface="Jost" pitchFamily="2" charset="0"/>
              </a:rPr>
              <a:t>Ver.1.0</a:t>
            </a:r>
            <a:r>
              <a:rPr lang="en-US" altLang="ja-JP" sz="900" dirty="0">
                <a:latin typeface="Jost" pitchFamily="2" charset="0"/>
                <a:ea typeface="Jost" pitchFamily="2" charset="0"/>
              </a:rPr>
              <a:t>0</a:t>
            </a:r>
            <a:r>
              <a:rPr lang="ja-JP" altLang="ja-JP" sz="900" dirty="0">
                <a:latin typeface="Jost" pitchFamily="2" charset="0"/>
              </a:rPr>
              <a:t> 2026-03-24 </a:t>
            </a:r>
            <a:r>
              <a:rPr lang="en-US" altLang="ja-JP" sz="900" dirty="0">
                <a:latin typeface="Jost" pitchFamily="2" charset="0"/>
              </a:rPr>
              <a:t>: Initial release</a:t>
            </a:r>
            <a:endParaRPr lang="en-US" altLang="ja-JP" sz="900" dirty="0">
              <a:latin typeface="Jost" pitchFamily="2" charset="0"/>
              <a:ea typeface="Jost" pitchFamily="2" charset="0"/>
            </a:endParaRPr>
          </a:p>
          <a:p>
            <a:pPr lvl="0"/>
            <a:r>
              <a:rPr lang="ja-JP" altLang="ja-JP" sz="900" dirty="0">
                <a:latin typeface="Jost" pitchFamily="2" charset="0"/>
              </a:rPr>
              <a:t>Ver</a:t>
            </a:r>
            <a:r>
              <a:rPr lang="en-US" altLang="ja-JP" sz="900" dirty="0">
                <a:latin typeface="Jost" pitchFamily="2" charset="0"/>
                <a:ea typeface="Jost" pitchFamily="2" charset="0"/>
              </a:rPr>
              <a:t>.</a:t>
            </a:r>
            <a:r>
              <a:rPr lang="ja-JP" altLang="ja-JP" sz="900" dirty="0">
                <a:latin typeface="Jost" pitchFamily="2" charset="0"/>
              </a:rPr>
              <a:t>2.0</a:t>
            </a:r>
            <a:r>
              <a:rPr lang="en-US" altLang="ja-JP" sz="900" dirty="0">
                <a:latin typeface="Jost" pitchFamily="2" charset="0"/>
                <a:ea typeface="Jost" pitchFamily="2" charset="0"/>
              </a:rPr>
              <a:t>0</a:t>
            </a:r>
            <a:r>
              <a:rPr lang="ja-JP" altLang="ja-JP" sz="900" dirty="0">
                <a:latin typeface="Jost" pitchFamily="2" charset="0"/>
              </a:rPr>
              <a:t> 2026-06-19 </a:t>
            </a:r>
            <a:r>
              <a:rPr lang="en-US" altLang="ja-JP" sz="900" dirty="0">
                <a:latin typeface="Jost" pitchFamily="2" charset="0"/>
              </a:rPr>
              <a:t>: </a:t>
            </a:r>
            <a:r>
              <a:rPr lang="en-US" altLang="ja-JP" sz="900" dirty="0">
                <a:latin typeface="Jost" pitchFamily="2" charset="0"/>
                <a:ea typeface="Jost" pitchFamily="2" charset="0"/>
              </a:rPr>
              <a:t>Corrected color mixing ratios, updated graphs, bridge filament</a:t>
            </a:r>
          </a:p>
          <a:p>
            <a:r>
              <a:rPr lang="ja-JP" altLang="ja-JP" sz="900" dirty="0">
                <a:latin typeface="Jost" pitchFamily="2" charset="0"/>
              </a:rPr>
              <a:t>Ver</a:t>
            </a:r>
            <a:r>
              <a:rPr lang="en-US" altLang="ja-JP" sz="900" dirty="0">
                <a:latin typeface="Jost" pitchFamily="2" charset="0"/>
                <a:ea typeface="Jost" pitchFamily="2" charset="0"/>
              </a:rPr>
              <a:t>.</a:t>
            </a:r>
            <a:r>
              <a:rPr lang="ja-JP" altLang="ja-JP" sz="900" dirty="0">
                <a:latin typeface="Jost" pitchFamily="2" charset="0"/>
              </a:rPr>
              <a:t>2.</a:t>
            </a:r>
            <a:r>
              <a:rPr lang="en-US" altLang="ja-JP" sz="900" dirty="0">
                <a:latin typeface="Jost" pitchFamily="2" charset="0"/>
                <a:ea typeface="Jost" pitchFamily="2" charset="0"/>
              </a:rPr>
              <a:t>10</a:t>
            </a:r>
            <a:r>
              <a:rPr lang="ja-JP" altLang="ja-JP" sz="900" dirty="0">
                <a:latin typeface="Jost" pitchFamily="2" charset="0"/>
              </a:rPr>
              <a:t> 2026-0</a:t>
            </a:r>
            <a:r>
              <a:rPr lang="en-US" altLang="ja-JP" sz="900" dirty="0">
                <a:latin typeface="Jost" pitchFamily="2" charset="0"/>
                <a:ea typeface="Jost" pitchFamily="2" charset="0"/>
              </a:rPr>
              <a:t>9</a:t>
            </a:r>
            <a:r>
              <a:rPr lang="ja-JP" altLang="ja-JP" sz="900" dirty="0">
                <a:latin typeface="Jost" pitchFamily="2" charset="0"/>
              </a:rPr>
              <a:t>-</a:t>
            </a:r>
            <a:r>
              <a:rPr lang="en-US" altLang="ja-JP" sz="900" dirty="0">
                <a:latin typeface="Jost" pitchFamily="2" charset="0"/>
                <a:ea typeface="Jost" pitchFamily="2" charset="0"/>
              </a:rPr>
              <a:t>16</a:t>
            </a:r>
            <a:r>
              <a:rPr lang="ja-JP" altLang="en-US" sz="900" dirty="0">
                <a:latin typeface="Jost" pitchFamily="2" charset="0"/>
              </a:rPr>
              <a:t> </a:t>
            </a:r>
            <a:r>
              <a:rPr lang="en-US" altLang="ja-JP" sz="900" dirty="0">
                <a:latin typeface="Jost" pitchFamily="2" charset="0"/>
              </a:rPr>
              <a:t>: Revisions for Integrated Design</a:t>
            </a:r>
            <a:endParaRPr lang="en-US" altLang="ja-JP" sz="900" dirty="0">
              <a:latin typeface="Jost" pitchFamily="2" charset="0"/>
              <a:ea typeface="Jost" pitchFamily="2" charset="0"/>
            </a:endParaRPr>
          </a:p>
        </p:txBody>
      </p:sp>
      <p:sp>
        <p:nvSpPr>
          <p:cNvPr id="240" name="Google Shape;240;p19"/>
          <p:cNvSpPr txBox="1"/>
          <p:nvPr/>
        </p:nvSpPr>
        <p:spPr>
          <a:xfrm>
            <a:off x="672873" y="681673"/>
            <a:ext cx="5649600" cy="584735"/>
          </a:xfrm>
          <a:prstGeom prst="rect">
            <a:avLst/>
          </a:prstGeom>
          <a:noFill/>
          <a:ln>
            <a:noFill/>
          </a:ln>
        </p:spPr>
        <p:txBody>
          <a:bodyPr spcFirstLastPara="1" wrap="square" lIns="91425" tIns="45700" rIns="91425" bIns="45700" anchor="t" anchorCtr="0">
            <a:spAutoFit/>
          </a:bodyPr>
          <a:lstStyle/>
          <a:p>
            <a:pPr lvl="0"/>
            <a:r>
              <a:rPr lang="en-US" sz="1100" dirty="0">
                <a:solidFill>
                  <a:schemeClr val="dk1"/>
                </a:solidFill>
                <a:latin typeface="Jost Medium" pitchFamily="2" charset="0"/>
                <a:ea typeface="Jost Medium" pitchFamily="2" charset="0"/>
                <a:cs typeface="IBM Plex Sans JP"/>
                <a:sym typeface="IBM Plex Sans JP"/>
              </a:rPr>
              <a:t> ・Nozzle influence in Print #2</a:t>
            </a:r>
          </a:p>
          <a:p>
            <a:pPr lvl="0"/>
            <a:r>
              <a:rPr lang="en-US" sz="1050" dirty="0">
                <a:solidFill>
                  <a:schemeClr val="dk1"/>
                </a:solidFill>
                <a:latin typeface="Jost" pitchFamily="2" charset="0"/>
                <a:ea typeface="Jost" pitchFamily="2" charset="0"/>
                <a:cs typeface="IBM Plex Sans JP"/>
                <a:sym typeface="IBM Plex Sans JP"/>
              </a:rPr>
              <a:t>Mixing performance varies by nozzle. Smaller diameters and high-flow nozzles tend to mix better.</a:t>
            </a:r>
            <a:endParaRPr sz="1050" dirty="0">
              <a:latin typeface="Jost" pitchFamily="2" charset="0"/>
              <a:ea typeface="Jost" pitchFamily="2" charset="0"/>
            </a:endParaRPr>
          </a:p>
        </p:txBody>
      </p:sp>
      <p:sp>
        <p:nvSpPr>
          <p:cNvPr id="241" name="Google Shape;241;p19"/>
          <p:cNvSpPr/>
          <p:nvPr/>
        </p:nvSpPr>
        <p:spPr>
          <a:xfrm>
            <a:off x="580898" y="1470830"/>
            <a:ext cx="204600" cy="204600"/>
          </a:xfrm>
          <a:prstGeom prst="ellipse">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42" name="Google Shape;242;p19"/>
          <p:cNvSpPr txBox="1"/>
          <p:nvPr/>
        </p:nvSpPr>
        <p:spPr>
          <a:xfrm>
            <a:off x="764253" y="1427106"/>
            <a:ext cx="1923900" cy="338700"/>
          </a:xfrm>
          <a:prstGeom prst="rect">
            <a:avLst/>
          </a:prstGeom>
          <a:noFill/>
          <a:ln>
            <a:noFill/>
          </a:ln>
        </p:spPr>
        <p:txBody>
          <a:bodyPr spcFirstLastPara="1" wrap="square" lIns="91425" tIns="45700" rIns="91425" bIns="45700" anchor="t" anchorCtr="0">
            <a:spAutoFit/>
          </a:bodyPr>
          <a:lstStyle/>
          <a:p>
            <a:pPr lvl="0"/>
            <a:r>
              <a:rPr lang="en-US" sz="1600" b="1" dirty="0">
                <a:solidFill>
                  <a:schemeClr val="dk1"/>
                </a:solidFill>
                <a:latin typeface="Jost" pitchFamily="2" charset="0"/>
                <a:ea typeface="Jost" pitchFamily="2" charset="0"/>
                <a:cs typeface="IBM Plex Sans JP SemiBold"/>
                <a:sym typeface="IBM Plex Sans JP SemiBold"/>
              </a:rPr>
              <a:t>6. Closing</a:t>
            </a:r>
            <a:endParaRPr sz="1800" b="1" dirty="0">
              <a:solidFill>
                <a:schemeClr val="dk1"/>
              </a:solidFill>
              <a:latin typeface="Jost" pitchFamily="2" charset="0"/>
              <a:ea typeface="Jost" pitchFamily="2" charset="0"/>
              <a:cs typeface="IBM Plex Sans JP SemiBold"/>
              <a:sym typeface="IBM Plex Sans JP SemiBold"/>
            </a:endParaRPr>
          </a:p>
        </p:txBody>
      </p:sp>
      <p:sp>
        <p:nvSpPr>
          <p:cNvPr id="243" name="Google Shape;243;p19"/>
          <p:cNvSpPr txBox="1"/>
          <p:nvPr/>
        </p:nvSpPr>
        <p:spPr>
          <a:xfrm>
            <a:off x="672873" y="1828465"/>
            <a:ext cx="5649600" cy="792484"/>
          </a:xfrm>
          <a:prstGeom prst="rect">
            <a:avLst/>
          </a:prstGeom>
          <a:noFill/>
          <a:ln>
            <a:noFill/>
          </a:ln>
        </p:spPr>
        <p:txBody>
          <a:bodyPr spcFirstLastPara="1" wrap="square" lIns="91425" tIns="45700" rIns="91425" bIns="45700" anchor="t" anchorCtr="0">
            <a:spAutoFit/>
          </a:bodyPr>
          <a:lstStyle/>
          <a:p>
            <a:pPr lvl="0"/>
            <a:r>
              <a:rPr lang="en-US" sz="1050" dirty="0">
                <a:solidFill>
                  <a:schemeClr val="dk1"/>
                </a:solidFill>
                <a:latin typeface="Jost" pitchFamily="2" charset="0"/>
                <a:ea typeface="Jost" pitchFamily="2" charset="0"/>
                <a:cs typeface="IBM Plex Sans JP"/>
                <a:sym typeface="IBM Plex Sans JP"/>
              </a:rPr>
              <a:t>Thank you for reading.</a:t>
            </a:r>
          </a:p>
          <a:p>
            <a:pPr lvl="0"/>
            <a:r>
              <a:rPr lang="en-US" sz="1050" dirty="0">
                <a:solidFill>
                  <a:schemeClr val="dk1"/>
                </a:solidFill>
                <a:latin typeface="Jost" pitchFamily="2" charset="0"/>
                <a:ea typeface="Jost" pitchFamily="2" charset="0"/>
                <a:cs typeface="IBM Plex Sans JP"/>
                <a:sym typeface="IBM Plex Sans JP"/>
              </a:rPr>
              <a:t>We hope that </a:t>
            </a:r>
            <a:r>
              <a:rPr lang="en-US" sz="1050" dirty="0">
                <a:solidFill>
                  <a:schemeClr val="dk1"/>
                </a:solidFill>
                <a:latin typeface="Jost SemiBold" pitchFamily="2" charset="0"/>
                <a:ea typeface="Jost SemiBold" pitchFamily="2" charset="0"/>
                <a:cs typeface="IBM Plex Sans JP"/>
                <a:sym typeface="IBM Plex Sans JP"/>
              </a:rPr>
              <a:t>FlexChroma</a:t>
            </a:r>
            <a:r>
              <a:rPr lang="en-US" sz="1050" dirty="0">
                <a:solidFill>
                  <a:schemeClr val="dk1"/>
                </a:solidFill>
                <a:latin typeface="Jost" pitchFamily="2" charset="0"/>
                <a:ea typeface="Jost" pitchFamily="2" charset="0"/>
                <a:cs typeface="IBM Plex Sans JP"/>
                <a:sym typeface="IBM Plex Sans JP"/>
              </a:rPr>
              <a:t> expands your creative possibilities.</a:t>
            </a:r>
          </a:p>
          <a:p>
            <a:pPr lvl="0"/>
            <a:endParaRPr sz="1050" dirty="0">
              <a:solidFill>
                <a:schemeClr val="dk1"/>
              </a:solidFill>
              <a:latin typeface="Jost" pitchFamily="2" charset="0"/>
              <a:ea typeface="Jost" pitchFamily="2" charset="0"/>
              <a:cs typeface="IBM Plex Sans JP"/>
              <a:sym typeface="IBM Plex Sans JP"/>
            </a:endParaRPr>
          </a:p>
          <a:p>
            <a:pPr marL="0" marR="0" lvl="0" indent="0" algn="l" rtl="0">
              <a:spcBef>
                <a:spcPts val="0"/>
              </a:spcBef>
              <a:spcAft>
                <a:spcPts val="0"/>
              </a:spcAft>
              <a:buNone/>
            </a:pPr>
            <a:r>
              <a:rPr lang="en-US" dirty="0">
                <a:solidFill>
                  <a:schemeClr val="dk1"/>
                </a:solidFill>
                <a:latin typeface="Jost SemiBold" pitchFamily="2" charset="0"/>
                <a:ea typeface="Jost SemiBold" pitchFamily="2" charset="0"/>
                <a:cs typeface="IBM Plex Sans JP"/>
                <a:sym typeface="IBM Plex Sans JP"/>
              </a:rPr>
              <a:t>Print Colors You Imagine. </a:t>
            </a:r>
            <a:endParaRPr sz="1800" dirty="0">
              <a:latin typeface="Jost SemiBold" pitchFamily="2" charset="0"/>
              <a:ea typeface="Jost SemiBold" pitchFamily="2"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8">
          <a:extLst>
            <a:ext uri="{FF2B5EF4-FFF2-40B4-BE49-F238E27FC236}">
              <a16:creationId xmlns:a16="http://schemas.microsoft.com/office/drawing/2014/main" id="{102CA7A7-2C1B-8B12-18B7-B362B4F30C0A}"/>
            </a:ext>
          </a:extLst>
        </p:cNvPr>
        <p:cNvGrpSpPr/>
        <p:nvPr/>
      </p:nvGrpSpPr>
      <p:grpSpPr>
        <a:xfrm>
          <a:off x="0" y="0"/>
          <a:ext cx="0" cy="0"/>
          <a:chOff x="0" y="0"/>
          <a:chExt cx="0" cy="0"/>
        </a:xfrm>
      </p:grpSpPr>
      <p:sp>
        <p:nvSpPr>
          <p:cNvPr id="99" name="Google Shape;99;p14">
            <a:extLst>
              <a:ext uri="{FF2B5EF4-FFF2-40B4-BE49-F238E27FC236}">
                <a16:creationId xmlns:a16="http://schemas.microsoft.com/office/drawing/2014/main" id="{09A5072A-DE82-45FA-2EAD-01C6B66CE89E}"/>
              </a:ext>
            </a:extLst>
          </p:cNvPr>
          <p:cNvSpPr/>
          <p:nvPr/>
        </p:nvSpPr>
        <p:spPr>
          <a:xfrm>
            <a:off x="67565" y="90087"/>
            <a:ext cx="6722870" cy="8963827"/>
          </a:xfrm>
          <a:prstGeom prst="rect">
            <a:avLst/>
          </a:prstGeom>
          <a:gradFill>
            <a:gsLst>
              <a:gs pos="0">
                <a:srgbClr val="EE00B0"/>
              </a:gs>
              <a:gs pos="10000">
                <a:srgbClr val="EE00B0"/>
              </a:gs>
              <a:gs pos="50000">
                <a:srgbClr val="6200E8"/>
              </a:gs>
              <a:gs pos="90000">
                <a:srgbClr val="0095E5"/>
              </a:gs>
              <a:gs pos="100000">
                <a:srgbClr val="0095E5"/>
              </a:gs>
            </a:gsLst>
            <a:lin ang="1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3" name="フリーフォーム: 図形 12">
            <a:extLst>
              <a:ext uri="{FF2B5EF4-FFF2-40B4-BE49-F238E27FC236}">
                <a16:creationId xmlns:a16="http://schemas.microsoft.com/office/drawing/2014/main" id="{B6B2660A-1992-B221-58C2-3DC95C82670B}"/>
              </a:ext>
            </a:extLst>
          </p:cNvPr>
          <p:cNvSpPr/>
          <p:nvPr/>
        </p:nvSpPr>
        <p:spPr>
          <a:xfrm>
            <a:off x="7977" y="0"/>
            <a:ext cx="6858000" cy="9144000"/>
          </a:xfrm>
          <a:custGeom>
            <a:avLst/>
            <a:gdLst>
              <a:gd name="csX0" fmla="*/ 3726867 w 6858000"/>
              <a:gd name="csY0" fmla="*/ 8661917 h 9144000"/>
              <a:gd name="csX1" fmla="*/ 3726867 w 6858000"/>
              <a:gd name="csY1" fmla="*/ 8715917 h 9144000"/>
              <a:gd name="csX2" fmla="*/ 6318867 w 6858000"/>
              <a:gd name="csY2" fmla="*/ 8715917 h 9144000"/>
              <a:gd name="csX3" fmla="*/ 6318867 w 6858000"/>
              <a:gd name="csY3" fmla="*/ 8661917 h 9144000"/>
              <a:gd name="csX4" fmla="*/ 546561 w 6858000"/>
              <a:gd name="csY4" fmla="*/ 8661917 h 9144000"/>
              <a:gd name="csX5" fmla="*/ 546561 w 6858000"/>
              <a:gd name="csY5" fmla="*/ 8715917 h 9144000"/>
              <a:gd name="csX6" fmla="*/ 3138561 w 6858000"/>
              <a:gd name="csY6" fmla="*/ 8715917 h 9144000"/>
              <a:gd name="csX7" fmla="*/ 3138561 w 6858000"/>
              <a:gd name="csY7" fmla="*/ 8661917 h 9144000"/>
              <a:gd name="csX8" fmla="*/ 760129 w 6858000"/>
              <a:gd name="csY8" fmla="*/ 6665502 h 9144000"/>
              <a:gd name="csX9" fmla="*/ 697879 w 6858000"/>
              <a:gd name="csY9" fmla="*/ 6724548 h 9144000"/>
              <a:gd name="csX10" fmla="*/ 760129 w 6858000"/>
              <a:gd name="csY10" fmla="*/ 6783594 h 9144000"/>
              <a:gd name="csX11" fmla="*/ 822379 w 6858000"/>
              <a:gd name="csY11" fmla="*/ 6724548 h 9144000"/>
              <a:gd name="csX12" fmla="*/ 760129 w 6858000"/>
              <a:gd name="csY12" fmla="*/ 6665502 h 9144000"/>
              <a:gd name="csX13" fmla="*/ 648873 w 6858000"/>
              <a:gd name="csY13" fmla="*/ 5860275 h 9144000"/>
              <a:gd name="csX14" fmla="*/ 546573 w 6858000"/>
              <a:gd name="csY14" fmla="*/ 5962575 h 9144000"/>
              <a:gd name="csX15" fmla="*/ 648873 w 6858000"/>
              <a:gd name="csY15" fmla="*/ 6064875 h 9144000"/>
              <a:gd name="csX16" fmla="*/ 751173 w 6858000"/>
              <a:gd name="csY16" fmla="*/ 5962575 h 9144000"/>
              <a:gd name="csX17" fmla="*/ 648873 w 6858000"/>
              <a:gd name="csY17" fmla="*/ 5860275 h 9144000"/>
              <a:gd name="csX18" fmla="*/ 661924 w 6858000"/>
              <a:gd name="csY18" fmla="*/ 4303102 h 9144000"/>
              <a:gd name="csX19" fmla="*/ 599674 w 6858000"/>
              <a:gd name="csY19" fmla="*/ 4362148 h 9144000"/>
              <a:gd name="csX20" fmla="*/ 661924 w 6858000"/>
              <a:gd name="csY20" fmla="*/ 4421194 h 9144000"/>
              <a:gd name="csX21" fmla="*/ 724174 w 6858000"/>
              <a:gd name="csY21" fmla="*/ 4362148 h 9144000"/>
              <a:gd name="csX22" fmla="*/ 661924 w 6858000"/>
              <a:gd name="csY22" fmla="*/ 4303102 h 9144000"/>
              <a:gd name="csX23" fmla="*/ 661924 w 6858000"/>
              <a:gd name="csY23" fmla="*/ 3339615 h 9144000"/>
              <a:gd name="csX24" fmla="*/ 599674 w 6858000"/>
              <a:gd name="csY24" fmla="*/ 3398661 h 9144000"/>
              <a:gd name="csX25" fmla="*/ 661924 w 6858000"/>
              <a:gd name="csY25" fmla="*/ 3457707 h 9144000"/>
              <a:gd name="csX26" fmla="*/ 724174 w 6858000"/>
              <a:gd name="csY26" fmla="*/ 3398661 h 9144000"/>
              <a:gd name="csX27" fmla="*/ 661924 w 6858000"/>
              <a:gd name="csY27" fmla="*/ 3339615 h 9144000"/>
              <a:gd name="csX28" fmla="*/ 660498 w 6858000"/>
              <a:gd name="csY28" fmla="*/ 2846081 h 9144000"/>
              <a:gd name="csX29" fmla="*/ 558198 w 6858000"/>
              <a:gd name="csY29" fmla="*/ 2948381 h 9144000"/>
              <a:gd name="csX30" fmla="*/ 660498 w 6858000"/>
              <a:gd name="csY30" fmla="*/ 3050681 h 9144000"/>
              <a:gd name="csX31" fmla="*/ 762798 w 6858000"/>
              <a:gd name="csY31" fmla="*/ 2948381 h 9144000"/>
              <a:gd name="csX32" fmla="*/ 660498 w 6858000"/>
              <a:gd name="csY32" fmla="*/ 2846081 h 9144000"/>
              <a:gd name="csX33" fmla="*/ 6149391 w 6858000"/>
              <a:gd name="csY33" fmla="*/ 2279968 h 9144000"/>
              <a:gd name="csX34" fmla="*/ 6094086 w 6858000"/>
              <a:gd name="csY34" fmla="*/ 2335273 h 9144000"/>
              <a:gd name="csX35" fmla="*/ 784710 w 6858000"/>
              <a:gd name="csY35" fmla="*/ 2335273 h 9144000"/>
              <a:gd name="csX36" fmla="*/ 745604 w 6858000"/>
              <a:gd name="csY36" fmla="*/ 2319074 h 9144000"/>
              <a:gd name="csX37" fmla="*/ 729406 w 6858000"/>
              <a:gd name="csY37" fmla="*/ 2279970 h 9144000"/>
              <a:gd name="csX38" fmla="*/ 729406 w 6858000"/>
              <a:gd name="csY38" fmla="*/ 2413560 h 9144000"/>
              <a:gd name="csX39" fmla="*/ 918302 w 6858000"/>
              <a:gd name="csY39" fmla="*/ 2602456 h 9144000"/>
              <a:gd name="csX40" fmla="*/ 5960495 w 6858000"/>
              <a:gd name="csY40" fmla="*/ 2602456 h 9144000"/>
              <a:gd name="csX41" fmla="*/ 6149391 w 6858000"/>
              <a:gd name="csY41" fmla="*/ 2413560 h 9144000"/>
              <a:gd name="csX42" fmla="*/ 929467 w 6858000"/>
              <a:gd name="csY42" fmla="*/ 441445 h 9144000"/>
              <a:gd name="csX43" fmla="*/ 729407 w 6858000"/>
              <a:gd name="csY43" fmla="*/ 641505 h 9144000"/>
              <a:gd name="csX44" fmla="*/ 729407 w 6858000"/>
              <a:gd name="csY44" fmla="*/ 782992 h 9144000"/>
              <a:gd name="csX45" fmla="*/ 787980 w 6858000"/>
              <a:gd name="csY45" fmla="*/ 724419 h 9144000"/>
              <a:gd name="csX46" fmla="*/ 6090818 w 6858000"/>
              <a:gd name="csY46" fmla="*/ 724419 h 9144000"/>
              <a:gd name="csX47" fmla="*/ 6149391 w 6858000"/>
              <a:gd name="csY47" fmla="*/ 782992 h 9144000"/>
              <a:gd name="csX48" fmla="*/ 6149391 w 6858000"/>
              <a:gd name="csY48" fmla="*/ 641505 h 9144000"/>
              <a:gd name="csX49" fmla="*/ 5949331 w 6858000"/>
              <a:gd name="csY49" fmla="*/ 441445 h 9144000"/>
              <a:gd name="csX50" fmla="*/ 0 w 6858000"/>
              <a:gd name="csY50" fmla="*/ 0 h 9144000"/>
              <a:gd name="csX51" fmla="*/ 6858000 w 6858000"/>
              <a:gd name="csY51" fmla="*/ 0 h 9144000"/>
              <a:gd name="csX52" fmla="*/ 6858000 w 6858000"/>
              <a:gd name="csY52" fmla="*/ 9144000 h 9144000"/>
              <a:gd name="csX53" fmla="*/ 0 w 6858000"/>
              <a:gd name="csY53" fmla="*/ 9144000 h 9144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Lst>
            <a:rect l="l" t="t" r="r" b="b"/>
            <a:pathLst>
              <a:path w="6858000" h="9144000">
                <a:moveTo>
                  <a:pt x="3726867" y="8661917"/>
                </a:moveTo>
                <a:lnTo>
                  <a:pt x="3726867" y="8715917"/>
                </a:lnTo>
                <a:lnTo>
                  <a:pt x="6318867" y="8715917"/>
                </a:lnTo>
                <a:lnTo>
                  <a:pt x="6318867" y="8661917"/>
                </a:lnTo>
                <a:close/>
                <a:moveTo>
                  <a:pt x="546561" y="8661917"/>
                </a:moveTo>
                <a:lnTo>
                  <a:pt x="546561" y="8715917"/>
                </a:lnTo>
                <a:lnTo>
                  <a:pt x="3138561" y="8715917"/>
                </a:lnTo>
                <a:lnTo>
                  <a:pt x="3138561" y="8661917"/>
                </a:lnTo>
                <a:close/>
                <a:moveTo>
                  <a:pt x="760129" y="6665502"/>
                </a:moveTo>
                <a:cubicBezTo>
                  <a:pt x="725749" y="6665502"/>
                  <a:pt x="697879" y="6691938"/>
                  <a:pt x="697879" y="6724548"/>
                </a:cubicBezTo>
                <a:cubicBezTo>
                  <a:pt x="697879" y="6757158"/>
                  <a:pt x="725749" y="6783594"/>
                  <a:pt x="760129" y="6783594"/>
                </a:cubicBezTo>
                <a:cubicBezTo>
                  <a:pt x="794509" y="6783594"/>
                  <a:pt x="822379" y="6757158"/>
                  <a:pt x="822379" y="6724548"/>
                </a:cubicBezTo>
                <a:cubicBezTo>
                  <a:pt x="822379" y="6691938"/>
                  <a:pt x="794509" y="6665502"/>
                  <a:pt x="760129" y="6665502"/>
                </a:cubicBezTo>
                <a:close/>
                <a:moveTo>
                  <a:pt x="648873" y="5860275"/>
                </a:moveTo>
                <a:cubicBezTo>
                  <a:pt x="592374" y="5860275"/>
                  <a:pt x="546573" y="5906076"/>
                  <a:pt x="546573" y="5962575"/>
                </a:cubicBezTo>
                <a:cubicBezTo>
                  <a:pt x="546573" y="6019074"/>
                  <a:pt x="592374" y="6064875"/>
                  <a:pt x="648873" y="6064875"/>
                </a:cubicBezTo>
                <a:cubicBezTo>
                  <a:pt x="705372" y="6064875"/>
                  <a:pt x="751173" y="6019074"/>
                  <a:pt x="751173" y="5962575"/>
                </a:cubicBezTo>
                <a:cubicBezTo>
                  <a:pt x="751173" y="5906076"/>
                  <a:pt x="705372" y="5860275"/>
                  <a:pt x="648873" y="5860275"/>
                </a:cubicBezTo>
                <a:close/>
                <a:moveTo>
                  <a:pt x="661924" y="4303102"/>
                </a:moveTo>
                <a:cubicBezTo>
                  <a:pt x="627544" y="4303102"/>
                  <a:pt x="599674" y="4329538"/>
                  <a:pt x="599674" y="4362148"/>
                </a:cubicBezTo>
                <a:cubicBezTo>
                  <a:pt x="599674" y="4394758"/>
                  <a:pt x="627544" y="4421194"/>
                  <a:pt x="661924" y="4421194"/>
                </a:cubicBezTo>
                <a:cubicBezTo>
                  <a:pt x="696304" y="4421194"/>
                  <a:pt x="724174" y="4394758"/>
                  <a:pt x="724174" y="4362148"/>
                </a:cubicBezTo>
                <a:cubicBezTo>
                  <a:pt x="724174" y="4329538"/>
                  <a:pt x="696304" y="4303102"/>
                  <a:pt x="661924" y="4303102"/>
                </a:cubicBezTo>
                <a:close/>
                <a:moveTo>
                  <a:pt x="661924" y="3339615"/>
                </a:moveTo>
                <a:cubicBezTo>
                  <a:pt x="627544" y="3339615"/>
                  <a:pt x="599674" y="3366051"/>
                  <a:pt x="599674" y="3398661"/>
                </a:cubicBezTo>
                <a:cubicBezTo>
                  <a:pt x="599674" y="3431271"/>
                  <a:pt x="627544" y="3457707"/>
                  <a:pt x="661924" y="3457707"/>
                </a:cubicBezTo>
                <a:cubicBezTo>
                  <a:pt x="696304" y="3457707"/>
                  <a:pt x="724174" y="3431271"/>
                  <a:pt x="724174" y="3398661"/>
                </a:cubicBezTo>
                <a:cubicBezTo>
                  <a:pt x="724174" y="3366051"/>
                  <a:pt x="696304" y="3339615"/>
                  <a:pt x="661924" y="3339615"/>
                </a:cubicBezTo>
                <a:close/>
                <a:moveTo>
                  <a:pt x="660498" y="2846081"/>
                </a:moveTo>
                <a:cubicBezTo>
                  <a:pt x="603999" y="2846081"/>
                  <a:pt x="558198" y="2891882"/>
                  <a:pt x="558198" y="2948381"/>
                </a:cubicBezTo>
                <a:cubicBezTo>
                  <a:pt x="558198" y="3004880"/>
                  <a:pt x="603999" y="3050681"/>
                  <a:pt x="660498" y="3050681"/>
                </a:cubicBezTo>
                <a:cubicBezTo>
                  <a:pt x="716997" y="3050681"/>
                  <a:pt x="762798" y="3004880"/>
                  <a:pt x="762798" y="2948381"/>
                </a:cubicBezTo>
                <a:cubicBezTo>
                  <a:pt x="762798" y="2891882"/>
                  <a:pt x="716997" y="2846081"/>
                  <a:pt x="660498" y="2846081"/>
                </a:cubicBezTo>
                <a:close/>
                <a:moveTo>
                  <a:pt x="6149391" y="2279968"/>
                </a:moveTo>
                <a:cubicBezTo>
                  <a:pt x="6149391" y="2310512"/>
                  <a:pt x="6124630" y="2335273"/>
                  <a:pt x="6094086" y="2335273"/>
                </a:cubicBezTo>
                <a:lnTo>
                  <a:pt x="784710" y="2335273"/>
                </a:lnTo>
                <a:cubicBezTo>
                  <a:pt x="769438" y="2335273"/>
                  <a:pt x="755612" y="2329083"/>
                  <a:pt x="745604" y="2319074"/>
                </a:cubicBezTo>
                <a:lnTo>
                  <a:pt x="729406" y="2279970"/>
                </a:lnTo>
                <a:lnTo>
                  <a:pt x="729406" y="2413560"/>
                </a:lnTo>
                <a:cubicBezTo>
                  <a:pt x="729406" y="2517884"/>
                  <a:pt x="813978" y="2602456"/>
                  <a:pt x="918302" y="2602456"/>
                </a:cubicBezTo>
                <a:lnTo>
                  <a:pt x="5960495" y="2602456"/>
                </a:lnTo>
                <a:cubicBezTo>
                  <a:pt x="6064819" y="2602456"/>
                  <a:pt x="6149391" y="2517884"/>
                  <a:pt x="6149391" y="2413560"/>
                </a:cubicBezTo>
                <a:close/>
                <a:moveTo>
                  <a:pt x="929467" y="441445"/>
                </a:moveTo>
                <a:cubicBezTo>
                  <a:pt x="818977" y="441445"/>
                  <a:pt x="729407" y="531015"/>
                  <a:pt x="729407" y="641505"/>
                </a:cubicBezTo>
                <a:lnTo>
                  <a:pt x="729407" y="782992"/>
                </a:lnTo>
                <a:cubicBezTo>
                  <a:pt x="729407" y="750643"/>
                  <a:pt x="755631" y="724419"/>
                  <a:pt x="787980" y="724419"/>
                </a:cubicBezTo>
                <a:lnTo>
                  <a:pt x="6090818" y="724419"/>
                </a:lnTo>
                <a:cubicBezTo>
                  <a:pt x="6123167" y="724419"/>
                  <a:pt x="6149391" y="750643"/>
                  <a:pt x="6149391" y="782992"/>
                </a:cubicBezTo>
                <a:lnTo>
                  <a:pt x="6149391" y="641505"/>
                </a:lnTo>
                <a:cubicBezTo>
                  <a:pt x="6149391" y="531015"/>
                  <a:pt x="6059821" y="441445"/>
                  <a:pt x="5949331" y="441445"/>
                </a:cubicBezTo>
                <a:close/>
                <a:moveTo>
                  <a:pt x="0" y="0"/>
                </a:moveTo>
                <a:lnTo>
                  <a:pt x="6858000" y="0"/>
                </a:lnTo>
                <a:lnTo>
                  <a:pt x="6858000" y="9144000"/>
                </a:lnTo>
                <a:lnTo>
                  <a:pt x="0" y="9144000"/>
                </a:lnTo>
                <a:close/>
              </a:path>
            </a:pathLst>
          </a:cu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08" name="Google Shape;108;p14">
            <a:extLst>
              <a:ext uri="{FF2B5EF4-FFF2-40B4-BE49-F238E27FC236}">
                <a16:creationId xmlns:a16="http://schemas.microsoft.com/office/drawing/2014/main" id="{338915DB-4097-6AF5-E32E-786A712C1CBC}"/>
              </a:ext>
            </a:extLst>
          </p:cNvPr>
          <p:cNvSpPr txBox="1"/>
          <p:nvPr/>
        </p:nvSpPr>
        <p:spPr>
          <a:xfrm>
            <a:off x="3163826" y="8511531"/>
            <a:ext cx="575734" cy="369332"/>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800" b="0" i="0" u="none" strike="noStrike" cap="none">
                <a:solidFill>
                  <a:schemeClr val="dk1"/>
                </a:solidFill>
                <a:latin typeface="Arial"/>
                <a:ea typeface="Arial"/>
                <a:cs typeface="Arial"/>
                <a:sym typeface="Arial"/>
              </a:rPr>
              <a:t>1</a:t>
            </a:r>
            <a:endParaRPr sz="1800" b="0" i="0" u="none" strike="noStrike" cap="none">
              <a:solidFill>
                <a:schemeClr val="dk1"/>
              </a:solidFill>
              <a:latin typeface="Arial"/>
              <a:ea typeface="Arial"/>
              <a:cs typeface="Arial"/>
              <a:sym typeface="Arial"/>
            </a:endParaRPr>
          </a:p>
        </p:txBody>
      </p:sp>
      <p:sp>
        <p:nvSpPr>
          <p:cNvPr id="109" name="Google Shape;109;p14">
            <a:extLst>
              <a:ext uri="{FF2B5EF4-FFF2-40B4-BE49-F238E27FC236}">
                <a16:creationId xmlns:a16="http://schemas.microsoft.com/office/drawing/2014/main" id="{17DE56A5-8B2C-D04D-C909-F2768DB77338}"/>
              </a:ext>
            </a:extLst>
          </p:cNvPr>
          <p:cNvSpPr txBox="1"/>
          <p:nvPr/>
        </p:nvSpPr>
        <p:spPr>
          <a:xfrm>
            <a:off x="1000558" y="869188"/>
            <a:ext cx="5260584" cy="55395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000" i="0" u="none" strike="noStrike" cap="none" dirty="0">
                <a:solidFill>
                  <a:schemeClr val="dk1"/>
                </a:solidFill>
                <a:latin typeface="Jost Medium" pitchFamily="2" charset="0"/>
                <a:ea typeface="Jost Medium" pitchFamily="2" charset="0"/>
                <a:cs typeface="Segoe UI Semibold" panose="020B0702040204020203" pitchFamily="34" charset="0"/>
                <a:sym typeface="Quattrocento Sans"/>
              </a:rPr>
              <a:t>FlexChroma</a:t>
            </a:r>
            <a:r>
              <a:rPr lang="en-US" sz="2800" i="0" u="none" strike="noStrike" cap="none" dirty="0">
                <a:solidFill>
                  <a:schemeClr val="dk1"/>
                </a:solidFill>
                <a:latin typeface="Jost Medium" pitchFamily="2" charset="0"/>
                <a:ea typeface="Jost Medium" pitchFamily="2" charset="0"/>
                <a:cs typeface="Segoe UI Semibold" panose="020B0702040204020203" pitchFamily="34" charset="0"/>
                <a:sym typeface="IBM Plex Sans JP"/>
              </a:rPr>
              <a:t> </a:t>
            </a:r>
            <a:r>
              <a:rPr lang="en-US" sz="2400" i="0" u="none" strike="noStrike" cap="none" dirty="0">
                <a:solidFill>
                  <a:schemeClr val="dk1"/>
                </a:solidFill>
                <a:latin typeface="Jost Medium" pitchFamily="2" charset="0"/>
                <a:ea typeface="Jost Medium" pitchFamily="2" charset="0"/>
                <a:cs typeface="Segoe UI Semibold" panose="020B0702040204020203" pitchFamily="34" charset="0"/>
                <a:sym typeface="IBM Plex Sans JP"/>
              </a:rPr>
              <a:t>Blend</a:t>
            </a:r>
            <a:r>
              <a:rPr lang="en-US" sz="2400" dirty="0">
                <a:solidFill>
                  <a:schemeClr val="dk1"/>
                </a:solidFill>
                <a:latin typeface="Jost Medium" pitchFamily="2" charset="0"/>
                <a:ea typeface="Jost Medium" pitchFamily="2" charset="0"/>
                <a:cs typeface="Segoe UI Semibold" panose="020B0702040204020203" pitchFamily="34" charset="0"/>
                <a:sym typeface="IBM Plex Sans JP"/>
              </a:rPr>
              <a:t> Filament Guide</a:t>
            </a:r>
            <a:endParaRPr sz="2200" dirty="0">
              <a:solidFill>
                <a:schemeClr val="dk1"/>
              </a:solidFill>
              <a:latin typeface="Jost Medium" pitchFamily="2" charset="0"/>
              <a:ea typeface="Jost Medium" pitchFamily="2" charset="0"/>
              <a:cs typeface="Segoe UI Semibold" panose="020B0702040204020203" pitchFamily="34" charset="0"/>
              <a:sym typeface="IBM Plex Sans JP"/>
            </a:endParaRPr>
          </a:p>
        </p:txBody>
      </p:sp>
      <p:sp>
        <p:nvSpPr>
          <p:cNvPr id="111" name="Google Shape;111;p14">
            <a:extLst>
              <a:ext uri="{FF2B5EF4-FFF2-40B4-BE49-F238E27FC236}">
                <a16:creationId xmlns:a16="http://schemas.microsoft.com/office/drawing/2014/main" id="{3AE65A7D-A2B4-0503-9776-6DEA36307629}"/>
              </a:ext>
            </a:extLst>
          </p:cNvPr>
          <p:cNvSpPr txBox="1"/>
          <p:nvPr/>
        </p:nvSpPr>
        <p:spPr>
          <a:xfrm>
            <a:off x="743949" y="2771064"/>
            <a:ext cx="2685051" cy="400069"/>
          </a:xfrm>
          <a:prstGeom prst="rect">
            <a:avLst/>
          </a:prstGeom>
          <a:noFill/>
          <a:ln>
            <a:noFill/>
          </a:ln>
        </p:spPr>
        <p:txBody>
          <a:bodyPr spcFirstLastPara="1" wrap="square" lIns="91425" tIns="45700" rIns="91425" bIns="45700" anchor="t" anchorCtr="0">
            <a:spAutoFit/>
          </a:bodyPr>
          <a:lstStyle/>
          <a:p>
            <a:pPr lvl="0"/>
            <a:r>
              <a:rPr lang="en-US" sz="2000" dirty="0">
                <a:solidFill>
                  <a:schemeClr val="dk1"/>
                </a:solidFill>
                <a:latin typeface="Jost SemiBold" pitchFamily="2" charset="0"/>
                <a:ea typeface="Jost SemiBold" pitchFamily="2" charset="0"/>
                <a:cs typeface="IBM Plex Sans JP SemiBold"/>
                <a:sym typeface="IBM Plex Sans JP SemiBold"/>
              </a:rPr>
              <a:t>1. Introduction</a:t>
            </a:r>
            <a:endParaRPr sz="2000" dirty="0">
              <a:solidFill>
                <a:schemeClr val="dk1"/>
              </a:solidFill>
              <a:latin typeface="Jost SemiBold" pitchFamily="2" charset="0"/>
              <a:ea typeface="Jost SemiBold" pitchFamily="2" charset="0"/>
              <a:cs typeface="IBM Plex Sans JP SemiBold"/>
              <a:sym typeface="IBM Plex Sans JP SemiBold"/>
            </a:endParaRPr>
          </a:p>
        </p:txBody>
      </p:sp>
      <p:sp>
        <p:nvSpPr>
          <p:cNvPr id="112" name="Google Shape;112;p14">
            <a:extLst>
              <a:ext uri="{FF2B5EF4-FFF2-40B4-BE49-F238E27FC236}">
                <a16:creationId xmlns:a16="http://schemas.microsoft.com/office/drawing/2014/main" id="{14AC186D-541F-847F-A258-D72DD4B76952}"/>
              </a:ext>
            </a:extLst>
          </p:cNvPr>
          <p:cNvSpPr txBox="1"/>
          <p:nvPr/>
        </p:nvSpPr>
        <p:spPr>
          <a:xfrm>
            <a:off x="693908" y="3265971"/>
            <a:ext cx="5649600" cy="954067"/>
          </a:xfrm>
          <a:prstGeom prst="rect">
            <a:avLst/>
          </a:prstGeom>
          <a:noFill/>
          <a:ln>
            <a:noFill/>
          </a:ln>
        </p:spPr>
        <p:txBody>
          <a:bodyPr spcFirstLastPara="1" wrap="square" lIns="91425" tIns="45700" rIns="91425" bIns="45700" anchor="t" anchorCtr="0">
            <a:spAutoFit/>
          </a:bodyPr>
          <a:lstStyle/>
          <a:p>
            <a:pPr lvl="0"/>
            <a:r>
              <a:rPr lang="en-US" dirty="0">
                <a:solidFill>
                  <a:schemeClr val="dk1"/>
                </a:solidFill>
                <a:latin typeface="Jost SemiBold" pitchFamily="2" charset="0"/>
                <a:ea typeface="Jost SemiBold" pitchFamily="2" charset="0"/>
                <a:cs typeface="Quattrocento Sans"/>
                <a:sym typeface="Quattrocento Sans"/>
              </a:rPr>
              <a:t>Brand Overview</a:t>
            </a:r>
            <a:endParaRPr dirty="0">
              <a:solidFill>
                <a:schemeClr val="dk1"/>
              </a:solidFill>
              <a:latin typeface="Jost SemiBold" pitchFamily="2" charset="0"/>
              <a:ea typeface="Jost SemiBold" pitchFamily="2" charset="0"/>
              <a:cs typeface="Quattrocento Sans"/>
              <a:sym typeface="Quattrocento Sans"/>
            </a:endParaRPr>
          </a:p>
          <a:p>
            <a:pPr lvl="0"/>
            <a:r>
              <a:rPr lang="en-US" sz="1050" dirty="0">
                <a:solidFill>
                  <a:schemeClr val="dk1"/>
                </a:solidFill>
                <a:latin typeface="Jost SemiBold" pitchFamily="2" charset="0"/>
                <a:ea typeface="Jost SemiBold" pitchFamily="2" charset="0"/>
                <a:cs typeface="Quattrocento Sans"/>
                <a:sym typeface="Quattrocento Sans"/>
              </a:rPr>
              <a:t>FlexChroma</a:t>
            </a:r>
            <a:r>
              <a:rPr lang="en-US" sz="1050" dirty="0">
                <a:solidFill>
                  <a:schemeClr val="dk1"/>
                </a:solidFill>
                <a:latin typeface="Jost" pitchFamily="2" charset="0"/>
                <a:ea typeface="Jost" pitchFamily="2" charset="0"/>
                <a:cs typeface="Quattrocento Sans"/>
                <a:sym typeface="Quattrocento Sans"/>
              </a:rPr>
              <a:t> is a brand created not only for people who are unsatisfied with the color options of existing filaments, but also for those whose limited filament collection prevents them from fully expressing their creativity.</a:t>
            </a:r>
          </a:p>
          <a:p>
            <a:pPr lvl="0"/>
            <a:r>
              <a:rPr lang="en-US" sz="1050" dirty="0">
                <a:solidFill>
                  <a:schemeClr val="dk1"/>
                </a:solidFill>
                <a:latin typeface="Jost" pitchFamily="2" charset="0"/>
                <a:ea typeface="Jost" pitchFamily="2" charset="0"/>
                <a:cs typeface="Quattrocento Sans"/>
                <a:sym typeface="Quattrocento Sans"/>
              </a:rPr>
              <a:t>Its goal is to expand your freedom in color selection.</a:t>
            </a:r>
            <a:endParaRPr sz="1050" b="1" dirty="0">
              <a:solidFill>
                <a:schemeClr val="dk1"/>
              </a:solidFill>
              <a:latin typeface="Jost" pitchFamily="2" charset="0"/>
              <a:ea typeface="Jost" pitchFamily="2" charset="0"/>
              <a:cs typeface="IBM Plex Sans JP"/>
              <a:sym typeface="IBM Plex Sans JP"/>
            </a:endParaRPr>
          </a:p>
        </p:txBody>
      </p:sp>
      <p:sp>
        <p:nvSpPr>
          <p:cNvPr id="119" name="Google Shape;119;p14">
            <a:extLst>
              <a:ext uri="{FF2B5EF4-FFF2-40B4-BE49-F238E27FC236}">
                <a16:creationId xmlns:a16="http://schemas.microsoft.com/office/drawing/2014/main" id="{D288B9BA-9FEB-8C81-1E67-CFEF41CA7F13}"/>
              </a:ext>
            </a:extLst>
          </p:cNvPr>
          <p:cNvSpPr txBox="1"/>
          <p:nvPr/>
        </p:nvSpPr>
        <p:spPr>
          <a:xfrm>
            <a:off x="1515655" y="1444411"/>
            <a:ext cx="3826689"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dirty="0">
                <a:solidFill>
                  <a:schemeClr val="dk1"/>
                </a:solidFill>
                <a:latin typeface="Jost" pitchFamily="2" charset="0"/>
                <a:ea typeface="Jost" pitchFamily="2" charset="0"/>
                <a:cs typeface="Segoe UI Semibold" panose="020B0702040204020203" pitchFamily="34" charset="0"/>
                <a:sym typeface="IBM Plex Sans JP"/>
              </a:rPr>
              <a:t>-  Print Colors You Imagine. -</a:t>
            </a:r>
            <a:endParaRPr sz="1600" dirty="0">
              <a:solidFill>
                <a:schemeClr val="dk1"/>
              </a:solidFill>
              <a:latin typeface="Jost" pitchFamily="2" charset="0"/>
              <a:ea typeface="Jost" pitchFamily="2" charset="0"/>
              <a:cs typeface="Segoe UI Semibold" panose="020B0702040204020203" pitchFamily="34" charset="0"/>
              <a:sym typeface="IBM Plex Sans JP"/>
            </a:endParaRPr>
          </a:p>
        </p:txBody>
      </p:sp>
      <p:sp>
        <p:nvSpPr>
          <p:cNvPr id="120" name="Google Shape;120;p14">
            <a:extLst>
              <a:ext uri="{FF2B5EF4-FFF2-40B4-BE49-F238E27FC236}">
                <a16:creationId xmlns:a16="http://schemas.microsoft.com/office/drawing/2014/main" id="{A6BAB6E7-705C-6792-30F1-5A179493A3F1}"/>
              </a:ext>
            </a:extLst>
          </p:cNvPr>
          <p:cNvSpPr txBox="1"/>
          <p:nvPr/>
        </p:nvSpPr>
        <p:spPr>
          <a:xfrm>
            <a:off x="2428662" y="1849925"/>
            <a:ext cx="1989600" cy="307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dirty="0">
                <a:solidFill>
                  <a:schemeClr val="dk1"/>
                </a:solidFill>
                <a:latin typeface="Jost" pitchFamily="2" charset="0"/>
                <a:ea typeface="Jost" pitchFamily="2" charset="0"/>
                <a:cs typeface="IBM Plex Sans JP"/>
                <a:sym typeface="IBM Plex Sans JP"/>
              </a:rPr>
              <a:t>Ver.</a:t>
            </a:r>
            <a:r>
              <a:rPr lang="en-US" altLang="ja-JP" sz="1400" dirty="0">
                <a:solidFill>
                  <a:schemeClr val="dk1"/>
                </a:solidFill>
                <a:latin typeface="Jost" pitchFamily="2" charset="0"/>
                <a:ea typeface="Jost" pitchFamily="2" charset="0"/>
                <a:cs typeface="IBM Plex Sans JP"/>
                <a:sym typeface="IBM Plex Sans JP"/>
              </a:rPr>
              <a:t>2</a:t>
            </a:r>
            <a:r>
              <a:rPr lang="en-US" sz="1400" dirty="0">
                <a:solidFill>
                  <a:schemeClr val="dk1"/>
                </a:solidFill>
                <a:latin typeface="Jost" pitchFamily="2" charset="0"/>
                <a:ea typeface="Jost" pitchFamily="2" charset="0"/>
                <a:cs typeface="IBM Plex Sans JP"/>
                <a:sym typeface="IBM Plex Sans JP"/>
              </a:rPr>
              <a:t>.1</a:t>
            </a:r>
            <a:r>
              <a:rPr lang="en-US" dirty="0">
                <a:solidFill>
                  <a:schemeClr val="dk1"/>
                </a:solidFill>
                <a:latin typeface="Jost" pitchFamily="2" charset="0"/>
                <a:ea typeface="Jost" pitchFamily="2" charset="0"/>
                <a:cs typeface="IBM Plex Sans JP"/>
                <a:sym typeface="IBM Plex Sans JP"/>
              </a:rPr>
              <a:t>0</a:t>
            </a:r>
            <a:r>
              <a:rPr lang="en-US" sz="1400" dirty="0">
                <a:solidFill>
                  <a:schemeClr val="dk1"/>
                </a:solidFill>
                <a:latin typeface="Jost" pitchFamily="2" charset="0"/>
                <a:ea typeface="Jost" pitchFamily="2" charset="0"/>
                <a:cs typeface="IBM Plex Sans JP"/>
                <a:sym typeface="IBM Plex Sans JP"/>
              </a:rPr>
              <a:t>  2026.9.</a:t>
            </a:r>
            <a:r>
              <a:rPr lang="en-US" dirty="0">
                <a:solidFill>
                  <a:schemeClr val="dk1"/>
                </a:solidFill>
                <a:latin typeface="Jost" pitchFamily="2" charset="0"/>
                <a:ea typeface="Jost" pitchFamily="2" charset="0"/>
                <a:cs typeface="IBM Plex Sans JP"/>
                <a:sym typeface="IBM Plex Sans JP"/>
              </a:rPr>
              <a:t>1</a:t>
            </a:r>
            <a:r>
              <a:rPr lang="en-US" altLang="ja-JP" dirty="0">
                <a:solidFill>
                  <a:schemeClr val="dk1"/>
                </a:solidFill>
                <a:latin typeface="Jost" pitchFamily="2" charset="0"/>
                <a:ea typeface="Jost" pitchFamily="2" charset="0"/>
                <a:cs typeface="IBM Plex Sans JP"/>
                <a:sym typeface="IBM Plex Sans JP"/>
              </a:rPr>
              <a:t>6</a:t>
            </a:r>
            <a:endParaRPr sz="1400" dirty="0">
              <a:solidFill>
                <a:schemeClr val="dk1"/>
              </a:solidFill>
              <a:latin typeface="Jost" pitchFamily="2" charset="0"/>
              <a:ea typeface="Jost" pitchFamily="2" charset="0"/>
              <a:cs typeface="IBM Plex Sans JP"/>
              <a:sym typeface="IBM Plex Sans JP"/>
            </a:endParaRPr>
          </a:p>
        </p:txBody>
      </p:sp>
      <p:sp>
        <p:nvSpPr>
          <p:cNvPr id="121" name="Google Shape;121;p14">
            <a:extLst>
              <a:ext uri="{FF2B5EF4-FFF2-40B4-BE49-F238E27FC236}">
                <a16:creationId xmlns:a16="http://schemas.microsoft.com/office/drawing/2014/main" id="{B9E06B4A-955E-510D-89F7-E05B8526DEC8}"/>
              </a:ext>
            </a:extLst>
          </p:cNvPr>
          <p:cNvSpPr txBox="1"/>
          <p:nvPr/>
        </p:nvSpPr>
        <p:spPr>
          <a:xfrm>
            <a:off x="668508" y="4219021"/>
            <a:ext cx="5649600" cy="1438815"/>
          </a:xfrm>
          <a:prstGeom prst="rect">
            <a:avLst/>
          </a:prstGeom>
          <a:noFill/>
          <a:ln>
            <a:noFill/>
          </a:ln>
        </p:spPr>
        <p:txBody>
          <a:bodyPr spcFirstLastPara="1" wrap="square" lIns="91425" tIns="45700" rIns="91425" bIns="45700" anchor="t" anchorCtr="0">
            <a:spAutoFit/>
          </a:bodyPr>
          <a:lstStyle/>
          <a:p>
            <a:pPr lvl="0"/>
            <a:r>
              <a:rPr lang="en-US" dirty="0">
                <a:solidFill>
                  <a:schemeClr val="dk1"/>
                </a:solidFill>
                <a:latin typeface="Jost SemiBold" pitchFamily="2" charset="0"/>
                <a:ea typeface="Jost SemiBold" pitchFamily="2" charset="0"/>
                <a:cs typeface="Quattrocento Sans"/>
                <a:sym typeface="Quattrocento Sans"/>
              </a:rPr>
              <a:t>Series Overview</a:t>
            </a:r>
            <a:endParaRPr dirty="0">
              <a:solidFill>
                <a:schemeClr val="dk1"/>
              </a:solidFill>
              <a:latin typeface="Jost SemiBold" pitchFamily="2" charset="0"/>
              <a:ea typeface="Jost SemiBold" pitchFamily="2" charset="0"/>
              <a:cs typeface="Quattrocento Sans"/>
              <a:sym typeface="Quattrocento Sans"/>
            </a:endParaRPr>
          </a:p>
          <a:p>
            <a:pPr lvl="0"/>
            <a:r>
              <a:rPr lang="en-US" sz="1050" dirty="0">
                <a:solidFill>
                  <a:schemeClr val="dk1"/>
                </a:solidFill>
                <a:latin typeface="Jost" pitchFamily="2" charset="0"/>
                <a:ea typeface="Jost" pitchFamily="2" charset="0"/>
                <a:cs typeface="Quattrocento Sans"/>
                <a:sym typeface="Quattrocento Sans"/>
              </a:rPr>
              <a:t>The </a:t>
            </a:r>
            <a:r>
              <a:rPr lang="en-US" sz="1050" dirty="0">
                <a:solidFill>
                  <a:schemeClr val="dk1"/>
                </a:solidFill>
                <a:latin typeface="Jost Medium" pitchFamily="2" charset="0"/>
                <a:ea typeface="Jost Medium" pitchFamily="2" charset="0"/>
                <a:cs typeface="Quattrocento Sans"/>
                <a:sym typeface="Quattrocento Sans"/>
              </a:rPr>
              <a:t>Blend Filament</a:t>
            </a:r>
            <a:r>
              <a:rPr lang="en-US" sz="1050" dirty="0">
                <a:solidFill>
                  <a:schemeClr val="dk1"/>
                </a:solidFill>
                <a:latin typeface="Jost" pitchFamily="2" charset="0"/>
                <a:ea typeface="Jost" pitchFamily="2" charset="0"/>
                <a:cs typeface="Quattrocento Sans"/>
                <a:sym typeface="Quattrocento Sans"/>
              </a:rPr>
              <a:t> series is the most fundamental series of </a:t>
            </a:r>
            <a:r>
              <a:rPr lang="en-US" sz="1050" dirty="0">
                <a:solidFill>
                  <a:schemeClr val="dk1"/>
                </a:solidFill>
                <a:latin typeface="Jost SemiBold" pitchFamily="2" charset="0"/>
                <a:ea typeface="Jost SemiBold" pitchFamily="2" charset="0"/>
                <a:cs typeface="Quattrocento Sans"/>
                <a:sym typeface="Quattrocento Sans"/>
              </a:rPr>
              <a:t>FlexChroma</a:t>
            </a:r>
            <a:r>
              <a:rPr lang="en-US" sz="1050" dirty="0">
                <a:solidFill>
                  <a:schemeClr val="dk1"/>
                </a:solidFill>
                <a:latin typeface="Jost" pitchFamily="2" charset="0"/>
                <a:ea typeface="Jost" pitchFamily="2" charset="0"/>
                <a:cs typeface="Quattrocento Sans"/>
                <a:sym typeface="Quattrocento Sans"/>
              </a:rPr>
              <a:t>.</a:t>
            </a:r>
          </a:p>
          <a:p>
            <a:pPr lvl="0"/>
            <a:r>
              <a:rPr lang="en-US" sz="1050" dirty="0">
                <a:solidFill>
                  <a:schemeClr val="dk1"/>
                </a:solidFill>
                <a:latin typeface="Jost" pitchFamily="2" charset="0"/>
                <a:ea typeface="Jost" pitchFamily="2" charset="0"/>
                <a:cs typeface="Quattrocento Sans"/>
                <a:sym typeface="Quattrocento Sans"/>
              </a:rPr>
              <a:t>By combining two filaments at various mixing ratios, you can create a wide range of custom colors.</a:t>
            </a:r>
          </a:p>
          <a:p>
            <a:pPr lvl="0"/>
            <a:r>
              <a:rPr lang="en-US" sz="1050" dirty="0">
                <a:solidFill>
                  <a:schemeClr val="dk1"/>
                </a:solidFill>
                <a:latin typeface="Jost" pitchFamily="2" charset="0"/>
                <a:ea typeface="Jost" pitchFamily="2" charset="0"/>
                <a:cs typeface="Quattrocento Sans"/>
                <a:sym typeface="Quattrocento Sans"/>
              </a:rPr>
              <a:t>For users who want even finer control, or for combinations with a large brightness difference, Detail Models are also available.</a:t>
            </a:r>
          </a:p>
          <a:p>
            <a:pPr lvl="0"/>
            <a:r>
              <a:rPr lang="en-US" sz="1050" dirty="0">
                <a:solidFill>
                  <a:schemeClr val="dk1"/>
                </a:solidFill>
                <a:latin typeface="Jost" pitchFamily="2" charset="0"/>
                <a:ea typeface="Jost" pitchFamily="2" charset="0"/>
                <a:cs typeface="Quattrocento Sans"/>
                <a:sym typeface="Quattrocento Sans"/>
              </a:rPr>
              <a:t>These cover mixing ratios from 90‒99.5%, allowing finer adjustments that Standard Models cannot achieve.</a:t>
            </a:r>
            <a:endParaRPr sz="1050" dirty="0">
              <a:solidFill>
                <a:schemeClr val="dk1"/>
              </a:solidFill>
              <a:latin typeface="Jost" pitchFamily="2" charset="0"/>
              <a:ea typeface="Jost" pitchFamily="2" charset="0"/>
              <a:cs typeface="IBM Plex Sans JP"/>
              <a:sym typeface="IBM Plex Sans JP"/>
            </a:endParaRPr>
          </a:p>
        </p:txBody>
      </p:sp>
      <p:sp>
        <p:nvSpPr>
          <p:cNvPr id="123" name="Google Shape;123;p14">
            <a:extLst>
              <a:ext uri="{FF2B5EF4-FFF2-40B4-BE49-F238E27FC236}">
                <a16:creationId xmlns:a16="http://schemas.microsoft.com/office/drawing/2014/main" id="{CBCE3A44-DCEB-D6E9-CC0D-157FB6A112E0}"/>
              </a:ext>
            </a:extLst>
          </p:cNvPr>
          <p:cNvSpPr txBox="1"/>
          <p:nvPr/>
        </p:nvSpPr>
        <p:spPr>
          <a:xfrm>
            <a:off x="732323" y="5775581"/>
            <a:ext cx="2923095" cy="400069"/>
          </a:xfrm>
          <a:prstGeom prst="rect">
            <a:avLst/>
          </a:prstGeom>
          <a:noFill/>
          <a:ln>
            <a:noFill/>
          </a:ln>
        </p:spPr>
        <p:txBody>
          <a:bodyPr spcFirstLastPara="1" wrap="square" lIns="91425" tIns="45700" rIns="91425" bIns="45700" anchor="t" anchorCtr="0">
            <a:spAutoFit/>
          </a:bodyPr>
          <a:lstStyle/>
          <a:p>
            <a:pPr lvl="0"/>
            <a:r>
              <a:rPr lang="en-US" sz="2000" dirty="0">
                <a:solidFill>
                  <a:schemeClr val="dk1"/>
                </a:solidFill>
                <a:latin typeface="Jost SemiBold" pitchFamily="2" charset="0"/>
                <a:ea typeface="Jost SemiBold" pitchFamily="2" charset="0"/>
                <a:cs typeface="IBM Plex Sans JP SemiBold"/>
                <a:sym typeface="IBM Plex Sans JP SemiBold"/>
              </a:rPr>
              <a:t>2. Model Structure</a:t>
            </a:r>
            <a:endParaRPr sz="2000" dirty="0">
              <a:solidFill>
                <a:schemeClr val="dk1"/>
              </a:solidFill>
              <a:latin typeface="Jost SemiBold" pitchFamily="2" charset="0"/>
              <a:ea typeface="Jost SemiBold" pitchFamily="2" charset="0"/>
              <a:cs typeface="IBM Plex Sans JP SemiBold"/>
              <a:sym typeface="IBM Plex Sans JP SemiBold"/>
            </a:endParaRPr>
          </a:p>
        </p:txBody>
      </p:sp>
      <p:sp>
        <p:nvSpPr>
          <p:cNvPr id="124" name="Google Shape;124;p14">
            <a:extLst>
              <a:ext uri="{FF2B5EF4-FFF2-40B4-BE49-F238E27FC236}">
                <a16:creationId xmlns:a16="http://schemas.microsoft.com/office/drawing/2014/main" id="{5FD7F668-02FC-272F-32FC-23919A5E17E6}"/>
              </a:ext>
            </a:extLst>
          </p:cNvPr>
          <p:cNvSpPr txBox="1"/>
          <p:nvPr/>
        </p:nvSpPr>
        <p:spPr>
          <a:xfrm>
            <a:off x="783556" y="6582225"/>
            <a:ext cx="1536600" cy="307736"/>
          </a:xfrm>
          <a:prstGeom prst="rect">
            <a:avLst/>
          </a:prstGeom>
          <a:noFill/>
          <a:ln>
            <a:noFill/>
          </a:ln>
        </p:spPr>
        <p:txBody>
          <a:bodyPr spcFirstLastPara="1" wrap="square" lIns="91425" tIns="45700" rIns="91425" bIns="45700" anchor="t" anchorCtr="0">
            <a:spAutoFit/>
          </a:bodyPr>
          <a:lstStyle/>
          <a:p>
            <a:pPr lvl="0"/>
            <a:r>
              <a:rPr lang="en-US" b="1" dirty="0">
                <a:solidFill>
                  <a:schemeClr val="dk1"/>
                </a:solidFill>
                <a:latin typeface="Jost SemiBold" pitchFamily="2" charset="0"/>
                <a:ea typeface="Jost SemiBold" pitchFamily="2" charset="0"/>
                <a:cs typeface="Quattrocento Sans"/>
                <a:sym typeface="Quattrocento Sans"/>
              </a:rPr>
              <a:t>Mixing Ratios </a:t>
            </a:r>
            <a:endParaRPr b="1" dirty="0">
              <a:solidFill>
                <a:schemeClr val="dk1"/>
              </a:solidFill>
              <a:latin typeface="Jost SemiBold" pitchFamily="2" charset="0"/>
              <a:ea typeface="Jost SemiBold" pitchFamily="2" charset="0"/>
              <a:cs typeface="Quattrocento Sans"/>
              <a:sym typeface="Quattrocento Sans"/>
            </a:endParaRPr>
          </a:p>
        </p:txBody>
      </p:sp>
      <p:sp>
        <p:nvSpPr>
          <p:cNvPr id="127" name="Google Shape;127;p14">
            <a:extLst>
              <a:ext uri="{FF2B5EF4-FFF2-40B4-BE49-F238E27FC236}">
                <a16:creationId xmlns:a16="http://schemas.microsoft.com/office/drawing/2014/main" id="{B7A38D2F-E8A2-BDA0-7833-86A2814520E7}"/>
              </a:ext>
            </a:extLst>
          </p:cNvPr>
          <p:cNvSpPr txBox="1"/>
          <p:nvPr/>
        </p:nvSpPr>
        <p:spPr>
          <a:xfrm>
            <a:off x="668508" y="6063596"/>
            <a:ext cx="5649600" cy="415500"/>
          </a:xfrm>
          <a:prstGeom prst="rect">
            <a:avLst/>
          </a:prstGeom>
          <a:noFill/>
          <a:ln>
            <a:noFill/>
          </a:ln>
        </p:spPr>
        <p:txBody>
          <a:bodyPr spcFirstLastPara="1" wrap="square" lIns="91425" tIns="45700" rIns="91425" bIns="45700" anchor="t" anchorCtr="0">
            <a:spAutoFit/>
          </a:bodyPr>
          <a:lstStyle/>
          <a:p>
            <a:pPr lvl="0"/>
            <a:r>
              <a:rPr lang="en-US" sz="1050" dirty="0">
                <a:solidFill>
                  <a:schemeClr val="dk1"/>
                </a:solidFill>
                <a:latin typeface="Jost" pitchFamily="2" charset="0"/>
                <a:ea typeface="Jost" pitchFamily="2" charset="0"/>
                <a:cs typeface="Quattrocento Sans"/>
                <a:sym typeface="Quattrocento Sans"/>
              </a:rPr>
              <a:t>This series is divided by size, and each size includes both Standard Models and separate Detail Models.</a:t>
            </a:r>
            <a:endParaRPr sz="1050" dirty="0">
              <a:solidFill>
                <a:schemeClr val="dk1"/>
              </a:solidFill>
              <a:latin typeface="Jost" pitchFamily="2" charset="0"/>
              <a:ea typeface="Jost" pitchFamily="2" charset="0"/>
              <a:cs typeface="Quattrocento Sans"/>
              <a:sym typeface="Quattrocento Sans"/>
            </a:endParaRPr>
          </a:p>
        </p:txBody>
      </p:sp>
      <p:sp>
        <p:nvSpPr>
          <p:cNvPr id="128" name="Google Shape;128;p14">
            <a:extLst>
              <a:ext uri="{FF2B5EF4-FFF2-40B4-BE49-F238E27FC236}">
                <a16:creationId xmlns:a16="http://schemas.microsoft.com/office/drawing/2014/main" id="{F29F5A07-60A6-C79C-BB16-B181CA950341}"/>
              </a:ext>
            </a:extLst>
          </p:cNvPr>
          <p:cNvSpPr txBox="1"/>
          <p:nvPr/>
        </p:nvSpPr>
        <p:spPr>
          <a:xfrm>
            <a:off x="659598" y="6878554"/>
            <a:ext cx="5705400" cy="1631175"/>
          </a:xfrm>
          <a:prstGeom prst="rect">
            <a:avLst/>
          </a:prstGeom>
          <a:noFill/>
          <a:ln>
            <a:noFill/>
          </a:ln>
        </p:spPr>
        <p:txBody>
          <a:bodyPr spcFirstLastPara="1" wrap="square" lIns="91425" tIns="45700" rIns="91425" bIns="45700" anchor="t" anchorCtr="0">
            <a:spAutoFit/>
          </a:bodyPr>
          <a:lstStyle/>
          <a:p>
            <a:pPr lvl="0"/>
            <a:r>
              <a:rPr lang="en-US" sz="1000" dirty="0">
                <a:solidFill>
                  <a:schemeClr val="dk1"/>
                </a:solidFill>
                <a:latin typeface="Jost" pitchFamily="2" charset="0"/>
                <a:ea typeface="Jost" pitchFamily="2" charset="0"/>
                <a:cs typeface="Quattrocento Sans"/>
                <a:sym typeface="Quattrocento Sans"/>
              </a:rPr>
              <a:t>Mixing ratios are mainly defined by two model types:</a:t>
            </a:r>
          </a:p>
          <a:p>
            <a:pPr lvl="0"/>
            <a:r>
              <a:rPr lang="en-US" sz="1000" dirty="0">
                <a:solidFill>
                  <a:schemeClr val="dk1"/>
                </a:solidFill>
                <a:latin typeface="Jost" pitchFamily="2" charset="0"/>
                <a:ea typeface="Jost" pitchFamily="2" charset="0"/>
                <a:cs typeface="Quattrocento Sans"/>
                <a:sym typeface="Quattrocento Sans"/>
              </a:rPr>
              <a:t>• Standard Model: 50‒95% in 5% increments (10 models)</a:t>
            </a:r>
          </a:p>
          <a:p>
            <a:pPr lvl="0"/>
            <a:r>
              <a:rPr lang="en-US" sz="1000" dirty="0">
                <a:solidFill>
                  <a:schemeClr val="dk1"/>
                </a:solidFill>
                <a:latin typeface="Jost" pitchFamily="2" charset="0"/>
                <a:ea typeface="Jost" pitchFamily="2" charset="0"/>
                <a:cs typeface="Quattrocento Sans"/>
                <a:sym typeface="Quattrocento Sans"/>
              </a:rPr>
              <a:t>• Detail Model: 90, 92.5, 95, 96, 97, 98, 98.5, 99, 99.5% (9 models)</a:t>
            </a:r>
          </a:p>
          <a:p>
            <a:pPr lvl="0"/>
            <a:r>
              <a:rPr lang="en-US" sz="1000" dirty="0">
                <a:solidFill>
                  <a:schemeClr val="dk1"/>
                </a:solidFill>
                <a:latin typeface="Jost" pitchFamily="2" charset="0"/>
                <a:ea typeface="Jost" pitchFamily="2" charset="0"/>
                <a:cs typeface="Quattrocento Sans"/>
                <a:sym typeface="Quattrocento Sans"/>
              </a:rPr>
              <a:t>※ The 90%, 95% model is identical in both series.</a:t>
            </a:r>
          </a:p>
          <a:p>
            <a:pPr lvl="0"/>
            <a:endParaRPr lang="en-US" sz="1000" dirty="0">
              <a:solidFill>
                <a:schemeClr val="dk1"/>
              </a:solidFill>
              <a:latin typeface="Jost" pitchFamily="2" charset="0"/>
              <a:ea typeface="Jost" pitchFamily="2" charset="0"/>
              <a:cs typeface="Quattrocento Sans"/>
              <a:sym typeface="Quattrocento Sans"/>
            </a:endParaRPr>
          </a:p>
          <a:p>
            <a:pPr lvl="0"/>
            <a:r>
              <a:rPr lang="en-US" sz="1000" dirty="0">
                <a:solidFill>
                  <a:schemeClr val="dk1"/>
                </a:solidFill>
                <a:latin typeface="Jost" pitchFamily="2" charset="0"/>
                <a:ea typeface="Jost" pitchFamily="2" charset="0"/>
                <a:cs typeface="Quattrocento Sans"/>
                <a:sym typeface="Quattrocento Sans"/>
              </a:rPr>
              <a:t>Although there are 17 mixing ratios, excluding 50%, you can reverse filaments A and B to obtain the opposite ratio.</a:t>
            </a:r>
          </a:p>
          <a:p>
            <a:pPr lvl="0"/>
            <a:r>
              <a:rPr lang="en-US" sz="1000" dirty="0">
                <a:solidFill>
                  <a:schemeClr val="dk1"/>
                </a:solidFill>
                <a:latin typeface="Jost" pitchFamily="2" charset="0"/>
                <a:ea typeface="Jost" pitchFamily="2" charset="0"/>
                <a:cs typeface="Quattrocento Sans"/>
                <a:sym typeface="Quattrocento Sans"/>
              </a:rPr>
              <a:t>(Example: Using the 75% model gives A:B = 75:25; reversing filaments results in A:B = 25:75, equivalent to the 25% ratio.)</a:t>
            </a:r>
          </a:p>
          <a:p>
            <a:pPr lvl="0"/>
            <a:r>
              <a:rPr lang="en-US" sz="1000" dirty="0">
                <a:solidFill>
                  <a:schemeClr val="dk1"/>
                </a:solidFill>
                <a:latin typeface="Jost" pitchFamily="2" charset="0"/>
                <a:ea typeface="Jost" pitchFamily="2" charset="0"/>
                <a:cs typeface="Quattrocento Sans"/>
                <a:sym typeface="Quattrocento Sans"/>
              </a:rPr>
              <a:t>Standard Models may be split into Standard 1 and Standard 2 to reduce file size.</a:t>
            </a:r>
            <a:endParaRPr sz="1000" dirty="0">
              <a:solidFill>
                <a:schemeClr val="dk1"/>
              </a:solidFill>
              <a:latin typeface="Jost" pitchFamily="2" charset="0"/>
              <a:ea typeface="Jost" pitchFamily="2" charset="0"/>
              <a:cs typeface="Quattrocento Sans"/>
              <a:sym typeface="Quattrocento Sans"/>
            </a:endParaRPr>
          </a:p>
        </p:txBody>
      </p:sp>
      <p:pic>
        <p:nvPicPr>
          <p:cNvPr id="3" name="図 2">
            <a:extLst>
              <a:ext uri="{FF2B5EF4-FFF2-40B4-BE49-F238E27FC236}">
                <a16:creationId xmlns:a16="http://schemas.microsoft.com/office/drawing/2014/main" id="{5BE73574-E641-D144-93FD-61A147C17901}"/>
              </a:ext>
            </a:extLst>
          </p:cNvPr>
          <p:cNvPicPr>
            <a:picLocks noChangeAspect="1"/>
          </p:cNvPicPr>
          <p:nvPr/>
        </p:nvPicPr>
        <p:blipFill>
          <a:blip r:embed="rId3"/>
          <a:stretch>
            <a:fillRect/>
          </a:stretch>
        </p:blipFill>
        <p:spPr>
          <a:xfrm>
            <a:off x="722483" y="946491"/>
            <a:ext cx="356510" cy="343679"/>
          </a:xfrm>
          <a:prstGeom prst="rect">
            <a:avLst/>
          </a:prstGeom>
        </p:spPr>
      </p:pic>
    </p:spTree>
    <p:extLst>
      <p:ext uri="{BB962C8B-B14F-4D97-AF65-F5344CB8AC3E}">
        <p14:creationId xmlns:p14="http://schemas.microsoft.com/office/powerpoint/2010/main" val="32893133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3">
          <a:extLst>
            <a:ext uri="{FF2B5EF4-FFF2-40B4-BE49-F238E27FC236}">
              <a16:creationId xmlns:a16="http://schemas.microsoft.com/office/drawing/2014/main" id="{1FFFB899-29DC-E91D-8F84-E7DF0C6250E3}"/>
            </a:ext>
          </a:extLst>
        </p:cNvPr>
        <p:cNvGrpSpPr/>
        <p:nvPr/>
      </p:nvGrpSpPr>
      <p:grpSpPr>
        <a:xfrm>
          <a:off x="0" y="0"/>
          <a:ext cx="0" cy="0"/>
          <a:chOff x="0" y="0"/>
          <a:chExt cx="0" cy="0"/>
        </a:xfrm>
      </p:grpSpPr>
      <p:sp>
        <p:nvSpPr>
          <p:cNvPr id="134" name="Google Shape;134;p15">
            <a:extLst>
              <a:ext uri="{FF2B5EF4-FFF2-40B4-BE49-F238E27FC236}">
                <a16:creationId xmlns:a16="http://schemas.microsoft.com/office/drawing/2014/main" id="{A01F6B19-7671-3E19-ED5F-98CBE4086BE0}"/>
              </a:ext>
            </a:extLst>
          </p:cNvPr>
          <p:cNvSpPr/>
          <p:nvPr/>
        </p:nvSpPr>
        <p:spPr>
          <a:xfrm>
            <a:off x="67565" y="90087"/>
            <a:ext cx="6722870" cy="8963827"/>
          </a:xfrm>
          <a:prstGeom prst="rect">
            <a:avLst/>
          </a:prstGeom>
          <a:gradFill>
            <a:gsLst>
              <a:gs pos="0">
                <a:srgbClr val="EE00B0"/>
              </a:gs>
              <a:gs pos="10000">
                <a:srgbClr val="EE00B0"/>
              </a:gs>
              <a:gs pos="50000">
                <a:srgbClr val="6200E8"/>
              </a:gs>
              <a:gs pos="90000">
                <a:srgbClr val="0095E5"/>
              </a:gs>
              <a:gs pos="100000">
                <a:srgbClr val="0095E5"/>
              </a:gs>
            </a:gsLst>
            <a:lin ang="1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8" name="フリーフォーム: 図形 7">
            <a:extLst>
              <a:ext uri="{FF2B5EF4-FFF2-40B4-BE49-F238E27FC236}">
                <a16:creationId xmlns:a16="http://schemas.microsoft.com/office/drawing/2014/main" id="{48214760-A81E-3200-509E-D68B40A5C34E}"/>
              </a:ext>
            </a:extLst>
          </p:cNvPr>
          <p:cNvSpPr/>
          <p:nvPr/>
        </p:nvSpPr>
        <p:spPr>
          <a:xfrm>
            <a:off x="20300" y="12028"/>
            <a:ext cx="6858000" cy="9144000"/>
          </a:xfrm>
          <a:custGeom>
            <a:avLst/>
            <a:gdLst>
              <a:gd name="csX0" fmla="*/ 3714544 w 6858000"/>
              <a:gd name="csY0" fmla="*/ 8649889 h 9144000"/>
              <a:gd name="csX1" fmla="*/ 3714544 w 6858000"/>
              <a:gd name="csY1" fmla="*/ 8703889 h 9144000"/>
              <a:gd name="csX2" fmla="*/ 6306544 w 6858000"/>
              <a:gd name="csY2" fmla="*/ 8703889 h 9144000"/>
              <a:gd name="csX3" fmla="*/ 6306544 w 6858000"/>
              <a:gd name="csY3" fmla="*/ 8649889 h 9144000"/>
              <a:gd name="csX4" fmla="*/ 534238 w 6858000"/>
              <a:gd name="csY4" fmla="*/ 8649889 h 9144000"/>
              <a:gd name="csX5" fmla="*/ 534238 w 6858000"/>
              <a:gd name="csY5" fmla="*/ 8703889 h 9144000"/>
              <a:gd name="csX6" fmla="*/ 3126238 w 6858000"/>
              <a:gd name="csY6" fmla="*/ 8703889 h 9144000"/>
              <a:gd name="csX7" fmla="*/ 3126238 w 6858000"/>
              <a:gd name="csY7" fmla="*/ 8649889 h 9144000"/>
              <a:gd name="csX8" fmla="*/ 622550 w 6858000"/>
              <a:gd name="csY8" fmla="*/ 5966243 h 9144000"/>
              <a:gd name="csX9" fmla="*/ 560300 w 6858000"/>
              <a:gd name="csY9" fmla="*/ 6026476 h 9144000"/>
              <a:gd name="csX10" fmla="*/ 622550 w 6858000"/>
              <a:gd name="csY10" fmla="*/ 6086709 h 9144000"/>
              <a:gd name="csX11" fmla="*/ 684800 w 6858000"/>
              <a:gd name="csY11" fmla="*/ 6026476 h 9144000"/>
              <a:gd name="csX12" fmla="*/ 622550 w 6858000"/>
              <a:gd name="csY12" fmla="*/ 5966243 h 9144000"/>
              <a:gd name="csX13" fmla="*/ 631450 w 6858000"/>
              <a:gd name="csY13" fmla="*/ 4338159 h 9144000"/>
              <a:gd name="csX14" fmla="*/ 529150 w 6858000"/>
              <a:gd name="csY14" fmla="*/ 4440459 h 9144000"/>
              <a:gd name="csX15" fmla="*/ 631450 w 6858000"/>
              <a:gd name="csY15" fmla="*/ 4542759 h 9144000"/>
              <a:gd name="csX16" fmla="*/ 733750 w 6858000"/>
              <a:gd name="csY16" fmla="*/ 4440459 h 9144000"/>
              <a:gd name="csX17" fmla="*/ 631450 w 6858000"/>
              <a:gd name="csY17" fmla="*/ 4338159 h 9144000"/>
              <a:gd name="csX18" fmla="*/ 608126 w 6858000"/>
              <a:gd name="csY18" fmla="*/ 654993 h 9144000"/>
              <a:gd name="csX19" fmla="*/ 545876 w 6858000"/>
              <a:gd name="csY19" fmla="*/ 714379 h 9144000"/>
              <a:gd name="csX20" fmla="*/ 608126 w 6858000"/>
              <a:gd name="csY20" fmla="*/ 773765 h 9144000"/>
              <a:gd name="csX21" fmla="*/ 670376 w 6858000"/>
              <a:gd name="csY21" fmla="*/ 714379 h 9144000"/>
              <a:gd name="csX22" fmla="*/ 608126 w 6858000"/>
              <a:gd name="csY22" fmla="*/ 654993 h 9144000"/>
              <a:gd name="csX23" fmla="*/ 534237 w 6858000"/>
              <a:gd name="csY23" fmla="*/ 421390 h 9144000"/>
              <a:gd name="csX24" fmla="*/ 534237 w 6858000"/>
              <a:gd name="csY24" fmla="*/ 475390 h 9144000"/>
              <a:gd name="csX25" fmla="*/ 6290430 w 6858000"/>
              <a:gd name="csY25" fmla="*/ 475390 h 9144000"/>
              <a:gd name="csX26" fmla="*/ 6290430 w 6858000"/>
              <a:gd name="csY26" fmla="*/ 421390 h 9144000"/>
              <a:gd name="csX27" fmla="*/ 0 w 6858000"/>
              <a:gd name="csY27" fmla="*/ 0 h 9144000"/>
              <a:gd name="csX28" fmla="*/ 6858000 w 6858000"/>
              <a:gd name="csY28" fmla="*/ 0 h 9144000"/>
              <a:gd name="csX29" fmla="*/ 6858000 w 6858000"/>
              <a:gd name="csY29" fmla="*/ 9144000 h 9144000"/>
              <a:gd name="csX30" fmla="*/ 0 w 6858000"/>
              <a:gd name="csY30" fmla="*/ 9144000 h 9144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Lst>
            <a:rect l="l" t="t" r="r" b="b"/>
            <a:pathLst>
              <a:path w="6858000" h="9144000">
                <a:moveTo>
                  <a:pt x="3714544" y="8649889"/>
                </a:moveTo>
                <a:lnTo>
                  <a:pt x="3714544" y="8703889"/>
                </a:lnTo>
                <a:lnTo>
                  <a:pt x="6306544" y="8703889"/>
                </a:lnTo>
                <a:lnTo>
                  <a:pt x="6306544" y="8649889"/>
                </a:lnTo>
                <a:close/>
                <a:moveTo>
                  <a:pt x="534238" y="8649889"/>
                </a:moveTo>
                <a:lnTo>
                  <a:pt x="534238" y="8703889"/>
                </a:lnTo>
                <a:lnTo>
                  <a:pt x="3126238" y="8703889"/>
                </a:lnTo>
                <a:lnTo>
                  <a:pt x="3126238" y="8649889"/>
                </a:lnTo>
                <a:close/>
                <a:moveTo>
                  <a:pt x="622550" y="5966243"/>
                </a:moveTo>
                <a:cubicBezTo>
                  <a:pt x="588170" y="5966243"/>
                  <a:pt x="560300" y="5993210"/>
                  <a:pt x="560300" y="6026476"/>
                </a:cubicBezTo>
                <a:cubicBezTo>
                  <a:pt x="560300" y="6059742"/>
                  <a:pt x="588170" y="6086709"/>
                  <a:pt x="622550" y="6086709"/>
                </a:cubicBezTo>
                <a:cubicBezTo>
                  <a:pt x="656930" y="6086709"/>
                  <a:pt x="684800" y="6059742"/>
                  <a:pt x="684800" y="6026476"/>
                </a:cubicBezTo>
                <a:cubicBezTo>
                  <a:pt x="684800" y="5993210"/>
                  <a:pt x="656930" y="5966243"/>
                  <a:pt x="622550" y="5966243"/>
                </a:cubicBezTo>
                <a:close/>
                <a:moveTo>
                  <a:pt x="631450" y="4338159"/>
                </a:moveTo>
                <a:cubicBezTo>
                  <a:pt x="574951" y="4338159"/>
                  <a:pt x="529150" y="4383960"/>
                  <a:pt x="529150" y="4440459"/>
                </a:cubicBezTo>
                <a:cubicBezTo>
                  <a:pt x="529150" y="4496958"/>
                  <a:pt x="574951" y="4542759"/>
                  <a:pt x="631450" y="4542759"/>
                </a:cubicBezTo>
                <a:cubicBezTo>
                  <a:pt x="687949" y="4542759"/>
                  <a:pt x="733750" y="4496958"/>
                  <a:pt x="733750" y="4440459"/>
                </a:cubicBezTo>
                <a:cubicBezTo>
                  <a:pt x="733750" y="4383960"/>
                  <a:pt x="687949" y="4338159"/>
                  <a:pt x="631450" y="4338159"/>
                </a:cubicBezTo>
                <a:close/>
                <a:moveTo>
                  <a:pt x="608126" y="654993"/>
                </a:moveTo>
                <a:cubicBezTo>
                  <a:pt x="573746" y="654993"/>
                  <a:pt x="545876" y="681581"/>
                  <a:pt x="545876" y="714379"/>
                </a:cubicBezTo>
                <a:cubicBezTo>
                  <a:pt x="545876" y="747177"/>
                  <a:pt x="573746" y="773765"/>
                  <a:pt x="608126" y="773765"/>
                </a:cubicBezTo>
                <a:cubicBezTo>
                  <a:pt x="642506" y="773765"/>
                  <a:pt x="670376" y="747177"/>
                  <a:pt x="670376" y="714379"/>
                </a:cubicBezTo>
                <a:cubicBezTo>
                  <a:pt x="670376" y="681581"/>
                  <a:pt x="642506" y="654993"/>
                  <a:pt x="608126" y="654993"/>
                </a:cubicBezTo>
                <a:close/>
                <a:moveTo>
                  <a:pt x="534237" y="421390"/>
                </a:moveTo>
                <a:lnTo>
                  <a:pt x="534237" y="475390"/>
                </a:lnTo>
                <a:lnTo>
                  <a:pt x="6290430" y="475390"/>
                </a:lnTo>
                <a:lnTo>
                  <a:pt x="6290430" y="421390"/>
                </a:lnTo>
                <a:close/>
                <a:moveTo>
                  <a:pt x="0" y="0"/>
                </a:moveTo>
                <a:lnTo>
                  <a:pt x="6858000" y="0"/>
                </a:lnTo>
                <a:lnTo>
                  <a:pt x="6858000" y="9144000"/>
                </a:lnTo>
                <a:lnTo>
                  <a:pt x="0" y="9144000"/>
                </a:lnTo>
                <a:close/>
              </a:path>
            </a:pathLst>
          </a:cu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46" name="Google Shape;146;p15">
            <a:extLst>
              <a:ext uri="{FF2B5EF4-FFF2-40B4-BE49-F238E27FC236}">
                <a16:creationId xmlns:a16="http://schemas.microsoft.com/office/drawing/2014/main" id="{919BD8BA-33DE-EEC0-3ED8-F5F8598276AB}"/>
              </a:ext>
            </a:extLst>
          </p:cNvPr>
          <p:cNvSpPr txBox="1"/>
          <p:nvPr/>
        </p:nvSpPr>
        <p:spPr>
          <a:xfrm>
            <a:off x="712942" y="4283341"/>
            <a:ext cx="2716057" cy="400200"/>
          </a:xfrm>
          <a:prstGeom prst="rect">
            <a:avLst/>
          </a:prstGeom>
          <a:noFill/>
          <a:ln>
            <a:noFill/>
          </a:ln>
        </p:spPr>
        <p:txBody>
          <a:bodyPr spcFirstLastPara="1" wrap="square" lIns="91425" tIns="45700" rIns="91425" bIns="45700" anchor="t" anchorCtr="0">
            <a:spAutoFit/>
          </a:bodyPr>
          <a:lstStyle/>
          <a:p>
            <a:pPr lvl="0"/>
            <a:r>
              <a:rPr lang="en-US" sz="2000" b="1" dirty="0">
                <a:solidFill>
                  <a:schemeClr val="dk1"/>
                </a:solidFill>
                <a:latin typeface="IBM Plex Sans JP" panose="020B0503050203000203" pitchFamily="50" charset="-128"/>
                <a:ea typeface="IBM Plex Sans JP" panose="020B0503050203000203" pitchFamily="50" charset="-128"/>
                <a:cs typeface="IBM Plex Sans JP SemiBold"/>
                <a:sym typeface="IBM Plex Sans JP SemiBold"/>
              </a:rPr>
              <a:t>3. Mixing Results</a:t>
            </a:r>
            <a:endParaRPr sz="2800" b="1" dirty="0">
              <a:solidFill>
                <a:schemeClr val="dk1"/>
              </a:solidFill>
              <a:latin typeface="IBM Plex Sans JP" panose="020B0503050203000203" pitchFamily="50" charset="-128"/>
              <a:ea typeface="IBM Plex Sans JP" panose="020B0503050203000203" pitchFamily="50" charset="-128"/>
              <a:cs typeface="IBM Plex Sans JP SemiBold"/>
              <a:sym typeface="IBM Plex Sans JP SemiBold"/>
            </a:endParaRPr>
          </a:p>
        </p:txBody>
      </p:sp>
      <p:sp>
        <p:nvSpPr>
          <p:cNvPr id="147" name="Google Shape;147;p15">
            <a:extLst>
              <a:ext uri="{FF2B5EF4-FFF2-40B4-BE49-F238E27FC236}">
                <a16:creationId xmlns:a16="http://schemas.microsoft.com/office/drawing/2014/main" id="{5365F218-AA27-262B-1572-FF79B7F70686}"/>
              </a:ext>
            </a:extLst>
          </p:cNvPr>
          <p:cNvSpPr txBox="1"/>
          <p:nvPr/>
        </p:nvSpPr>
        <p:spPr>
          <a:xfrm>
            <a:off x="642882" y="4574092"/>
            <a:ext cx="5642100" cy="1246455"/>
          </a:xfrm>
          <a:prstGeom prst="rect">
            <a:avLst/>
          </a:prstGeom>
          <a:noFill/>
          <a:ln>
            <a:noFill/>
          </a:ln>
        </p:spPr>
        <p:txBody>
          <a:bodyPr spcFirstLastPara="1" wrap="square" lIns="91425" tIns="45700" rIns="91425" bIns="45700" anchor="t" anchorCtr="0">
            <a:spAutoFit/>
          </a:bodyPr>
          <a:lstStyle/>
          <a:p>
            <a:pPr lvl="0"/>
            <a:r>
              <a:rPr lang="en-US" sz="1000" dirty="0">
                <a:solidFill>
                  <a:schemeClr val="dk1"/>
                </a:solidFill>
                <a:latin typeface="Jost" pitchFamily="2" charset="0"/>
                <a:ea typeface="Jost" pitchFamily="2" charset="0"/>
                <a:cs typeface="IBM Plex Sans JP"/>
                <a:sym typeface="IBM Plex Sans JP"/>
              </a:rPr>
              <a:t>Some filaments produce better color results when layered than others. Generally, filaments with lower brightness tend to produce better color results, while those with higher brightness tend to produce poorer results. Therefore, you’ll need to choose a model based on the specific combination of filaments you plan to use.</a:t>
            </a:r>
          </a:p>
          <a:p>
            <a:pPr lvl="0"/>
            <a:endParaRPr lang="en-US" sz="500" dirty="0">
              <a:solidFill>
                <a:schemeClr val="dk1"/>
              </a:solidFill>
              <a:latin typeface="Jost" pitchFamily="2" charset="0"/>
              <a:ea typeface="Jost" pitchFamily="2" charset="0"/>
              <a:cs typeface="IBM Plex Sans JP"/>
              <a:sym typeface="IBM Plex Sans JP"/>
            </a:endParaRPr>
          </a:p>
          <a:p>
            <a:pPr lvl="0"/>
            <a:r>
              <a:rPr lang="en-US" sz="1000" dirty="0">
                <a:solidFill>
                  <a:schemeClr val="dk1"/>
                </a:solidFill>
                <a:latin typeface="Jost" pitchFamily="2" charset="0"/>
                <a:ea typeface="Jost" pitchFamily="2" charset="0"/>
                <a:cs typeface="IBM Plex Sans JP"/>
                <a:sym typeface="IBM Plex Sans JP"/>
              </a:rPr>
              <a:t>You won’t know what the final color will look like until you actually print it. While it’s a good idea to create sample filaments and test them on an S4 model, if time permits, we recommend using the Blend Color Checker to compare the results and verify the colors.</a:t>
            </a:r>
            <a:endParaRPr sz="1000" b="1" dirty="0">
              <a:solidFill>
                <a:schemeClr val="dk1"/>
              </a:solidFill>
              <a:latin typeface="Jost" pitchFamily="2" charset="0"/>
              <a:ea typeface="Jost" pitchFamily="2" charset="0"/>
              <a:cs typeface="IBM Plex Sans JP"/>
              <a:sym typeface="IBM Plex Sans JP"/>
            </a:endParaRPr>
          </a:p>
        </p:txBody>
      </p:sp>
      <p:sp>
        <p:nvSpPr>
          <p:cNvPr id="148" name="Google Shape;148;p15">
            <a:extLst>
              <a:ext uri="{FF2B5EF4-FFF2-40B4-BE49-F238E27FC236}">
                <a16:creationId xmlns:a16="http://schemas.microsoft.com/office/drawing/2014/main" id="{85FBBE41-FD9C-E0C7-CF57-C7ED10802845}"/>
              </a:ext>
            </a:extLst>
          </p:cNvPr>
          <p:cNvSpPr txBox="1"/>
          <p:nvPr/>
        </p:nvSpPr>
        <p:spPr>
          <a:xfrm>
            <a:off x="623556" y="602256"/>
            <a:ext cx="1536600" cy="2769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dirty="0">
                <a:solidFill>
                  <a:schemeClr val="dk1"/>
                </a:solidFill>
                <a:latin typeface="Jost SemiBold" pitchFamily="2" charset="0"/>
                <a:ea typeface="Jost SemiBold" pitchFamily="2" charset="0"/>
                <a:cs typeface="Quattrocento Sans"/>
                <a:sym typeface="Quattrocento Sans"/>
              </a:rPr>
              <a:t>Sizes</a:t>
            </a:r>
            <a:endParaRPr sz="1200" dirty="0">
              <a:solidFill>
                <a:schemeClr val="dk1"/>
              </a:solidFill>
              <a:latin typeface="Jost SemiBold" pitchFamily="2" charset="0"/>
              <a:ea typeface="Jost SemiBold" pitchFamily="2" charset="0"/>
              <a:cs typeface="Quattrocento Sans"/>
              <a:sym typeface="Quattrocento Sans"/>
            </a:endParaRPr>
          </a:p>
        </p:txBody>
      </p:sp>
      <p:sp>
        <p:nvSpPr>
          <p:cNvPr id="149" name="Google Shape;149;p15">
            <a:extLst>
              <a:ext uri="{FF2B5EF4-FFF2-40B4-BE49-F238E27FC236}">
                <a16:creationId xmlns:a16="http://schemas.microsoft.com/office/drawing/2014/main" id="{1216F60D-2957-82D7-0387-B7D5D974DD4F}"/>
              </a:ext>
            </a:extLst>
          </p:cNvPr>
          <p:cNvSpPr txBox="1"/>
          <p:nvPr/>
        </p:nvSpPr>
        <p:spPr>
          <a:xfrm>
            <a:off x="619107" y="832352"/>
            <a:ext cx="5705400" cy="1323399"/>
          </a:xfrm>
          <a:prstGeom prst="rect">
            <a:avLst/>
          </a:prstGeom>
          <a:noFill/>
          <a:ln>
            <a:noFill/>
          </a:ln>
        </p:spPr>
        <p:txBody>
          <a:bodyPr spcFirstLastPara="1" wrap="square" lIns="91425" tIns="45700" rIns="91425" bIns="45700" anchor="t" anchorCtr="0">
            <a:spAutoFit/>
          </a:bodyPr>
          <a:lstStyle/>
          <a:p>
            <a:pPr lvl="0"/>
            <a:r>
              <a:rPr lang="en-US" sz="1000" dirty="0">
                <a:solidFill>
                  <a:schemeClr val="dk1"/>
                </a:solidFill>
                <a:latin typeface="Jost" pitchFamily="2" charset="0"/>
                <a:ea typeface="Jost" pitchFamily="2" charset="0"/>
                <a:cs typeface="Quattrocento Sans"/>
                <a:sym typeface="Quattrocento Sans"/>
              </a:rPr>
              <a:t>Models starting with “M” are referred to as the “M Family,” and their sizes are compatible with the Bambu Lab P and X series, as well as the A1.</a:t>
            </a:r>
            <a:r>
              <a:rPr lang="ja-JP" altLang="en-US" sz="1000" dirty="0">
                <a:solidFill>
                  <a:schemeClr val="dk1"/>
                </a:solidFill>
                <a:latin typeface="Jost" pitchFamily="2" charset="0"/>
                <a:ea typeface="IBM Plex Sans JP" panose="020B0503050203000203" pitchFamily="50" charset="-128"/>
                <a:cs typeface="Quattrocento Sans"/>
                <a:sym typeface="Quattrocento Sans"/>
              </a:rPr>
              <a:t> </a:t>
            </a:r>
            <a:r>
              <a:rPr lang="en-US" sz="1000" dirty="0">
                <a:solidFill>
                  <a:schemeClr val="dk1"/>
                </a:solidFill>
                <a:latin typeface="Jost" pitchFamily="2" charset="0"/>
                <a:ea typeface="Jost" pitchFamily="2" charset="0"/>
                <a:cs typeface="Quattrocento Sans"/>
                <a:sym typeface="Quattrocento Sans"/>
              </a:rPr>
              <a:t>The M2 through M4 models are sized to fit perfectly on major 3D printers other than Bambu Lab.</a:t>
            </a:r>
          </a:p>
          <a:p>
            <a:pPr lvl="0"/>
            <a:endParaRPr lang="en-US" sz="500" dirty="0">
              <a:solidFill>
                <a:schemeClr val="dk1"/>
              </a:solidFill>
              <a:latin typeface="Jost" pitchFamily="2" charset="0"/>
              <a:ea typeface="Jost" pitchFamily="2" charset="0"/>
              <a:cs typeface="Quattrocento Sans"/>
              <a:sym typeface="Quattrocento Sans"/>
            </a:endParaRPr>
          </a:p>
          <a:p>
            <a:pPr lvl="0"/>
            <a:r>
              <a:rPr lang="en-US" sz="1000" dirty="0">
                <a:solidFill>
                  <a:schemeClr val="dk1"/>
                </a:solidFill>
                <a:latin typeface="Jost" pitchFamily="2" charset="0"/>
                <a:ea typeface="Jost" pitchFamily="2" charset="0"/>
                <a:cs typeface="Quattrocento Sans"/>
                <a:sym typeface="Quattrocento Sans"/>
              </a:rPr>
              <a:t>Models beginning with “S” are referred to as the “S Family” and are sized to be printed on the Bambu Lab A1 mini. The S4 model is the smallest size and is just large enough to print a 3DBenchy.</a:t>
            </a:r>
          </a:p>
          <a:p>
            <a:pPr lvl="0"/>
            <a:endParaRPr lang="en-US" sz="500" dirty="0">
              <a:solidFill>
                <a:schemeClr val="dk1"/>
              </a:solidFill>
              <a:latin typeface="Jost" pitchFamily="2" charset="0"/>
              <a:ea typeface="Jost" pitchFamily="2" charset="0"/>
              <a:cs typeface="Quattrocento Sans"/>
              <a:sym typeface="Quattrocento Sans"/>
            </a:endParaRPr>
          </a:p>
          <a:p>
            <a:pPr lvl="0"/>
            <a:r>
              <a:rPr lang="en-US" sz="1000" dirty="0">
                <a:solidFill>
                  <a:schemeClr val="dk1"/>
                </a:solidFill>
                <a:latin typeface="Jost" pitchFamily="2" charset="0"/>
                <a:ea typeface="Jost" pitchFamily="2" charset="0"/>
                <a:cs typeface="Quattrocento Sans"/>
                <a:sym typeface="Quattrocento Sans"/>
              </a:rPr>
              <a:t>Models beginning with “L” are large-scale models compatible with the Bambu Lab H Series. Although no plans have been finalized yet, there is a possibility they will be implemented in the future.</a:t>
            </a:r>
            <a:endParaRPr sz="1000" dirty="0">
              <a:solidFill>
                <a:schemeClr val="dk1"/>
              </a:solidFill>
              <a:latin typeface="Jost" pitchFamily="2" charset="0"/>
              <a:ea typeface="Jost" pitchFamily="2" charset="0"/>
              <a:cs typeface="Quattrocento Sans"/>
              <a:sym typeface="Quattrocento Sans"/>
            </a:endParaRPr>
          </a:p>
        </p:txBody>
      </p:sp>
      <p:pic>
        <p:nvPicPr>
          <p:cNvPr id="151" name="Google Shape;151;p15">
            <a:extLst>
              <a:ext uri="{FF2B5EF4-FFF2-40B4-BE49-F238E27FC236}">
                <a16:creationId xmlns:a16="http://schemas.microsoft.com/office/drawing/2014/main" id="{AD90E97A-6D6C-72D8-CCF6-A2A70A1EE49B}"/>
              </a:ext>
            </a:extLst>
          </p:cNvPr>
          <p:cNvPicPr preferRelativeResize="0"/>
          <p:nvPr/>
        </p:nvPicPr>
        <p:blipFill>
          <a:blip r:embed="rId3">
            <a:alphaModFix/>
          </a:blip>
          <a:stretch>
            <a:fillRect/>
          </a:stretch>
        </p:blipFill>
        <p:spPr>
          <a:xfrm>
            <a:off x="945097" y="2232121"/>
            <a:ext cx="4967804" cy="1850792"/>
          </a:xfrm>
          <a:prstGeom prst="rect">
            <a:avLst/>
          </a:prstGeom>
          <a:noFill/>
          <a:ln>
            <a:noFill/>
          </a:ln>
        </p:spPr>
      </p:pic>
      <p:sp>
        <p:nvSpPr>
          <p:cNvPr id="152" name="Google Shape;152;p15">
            <a:extLst>
              <a:ext uri="{FF2B5EF4-FFF2-40B4-BE49-F238E27FC236}">
                <a16:creationId xmlns:a16="http://schemas.microsoft.com/office/drawing/2014/main" id="{8778EC2F-1DD2-CCCA-DF69-823169321E0A}"/>
              </a:ext>
            </a:extLst>
          </p:cNvPr>
          <p:cNvSpPr txBox="1"/>
          <p:nvPr/>
        </p:nvSpPr>
        <p:spPr>
          <a:xfrm>
            <a:off x="652382" y="5880595"/>
            <a:ext cx="5642100" cy="1169511"/>
          </a:xfrm>
          <a:prstGeom prst="rect">
            <a:avLst/>
          </a:prstGeom>
          <a:noFill/>
          <a:ln>
            <a:noFill/>
          </a:ln>
        </p:spPr>
        <p:txBody>
          <a:bodyPr spcFirstLastPara="1" wrap="square" lIns="91425" tIns="45700" rIns="91425" bIns="45700" anchor="t" anchorCtr="0">
            <a:spAutoFit/>
          </a:bodyPr>
          <a:lstStyle/>
          <a:p>
            <a:pPr lvl="0"/>
            <a:r>
              <a:rPr lang="en-US" sz="1600" b="1" dirty="0">
                <a:solidFill>
                  <a:schemeClr val="dk1"/>
                </a:solidFill>
                <a:latin typeface="Jost" pitchFamily="2" charset="0"/>
                <a:ea typeface="Jost" pitchFamily="2" charset="0"/>
                <a:cs typeface="IBM Plex Sans JP"/>
                <a:sym typeface="IBM Plex Sans JP"/>
              </a:rPr>
              <a:t>Mixing Characteristics</a:t>
            </a:r>
            <a:r>
              <a:rPr lang="en-US" sz="1600" dirty="0">
                <a:solidFill>
                  <a:schemeClr val="dk1"/>
                </a:solidFill>
                <a:latin typeface="Jost" pitchFamily="2" charset="0"/>
                <a:ea typeface="Jost" pitchFamily="2" charset="0"/>
                <a:cs typeface="IBM Plex Sans JP"/>
                <a:sym typeface="IBM Plex Sans JP"/>
              </a:rPr>
              <a:t> </a:t>
            </a:r>
            <a:endParaRPr sz="1600" dirty="0">
              <a:solidFill>
                <a:schemeClr val="dk1"/>
              </a:solidFill>
              <a:latin typeface="Jost" pitchFamily="2" charset="0"/>
              <a:ea typeface="Jost" pitchFamily="2" charset="0"/>
              <a:cs typeface="IBM Plex Sans JP"/>
              <a:sym typeface="IBM Plex Sans JP"/>
            </a:endParaRPr>
          </a:p>
          <a:p>
            <a:pPr marL="0" marR="0" lvl="0" indent="0" algn="l" rtl="0">
              <a:spcBef>
                <a:spcPts val="0"/>
              </a:spcBef>
              <a:spcAft>
                <a:spcPts val="0"/>
              </a:spcAft>
              <a:buNone/>
            </a:pPr>
            <a:endParaRPr sz="600" dirty="0">
              <a:solidFill>
                <a:schemeClr val="dk1"/>
              </a:solidFill>
              <a:latin typeface="Jost" pitchFamily="2" charset="0"/>
              <a:ea typeface="Jost" pitchFamily="2" charset="0"/>
              <a:cs typeface="IBM Plex Sans JP"/>
              <a:sym typeface="IBM Plex Sans JP"/>
            </a:endParaRPr>
          </a:p>
          <a:p>
            <a:pPr lvl="0"/>
            <a:r>
              <a:rPr lang="en-US" sz="1200" dirty="0">
                <a:solidFill>
                  <a:schemeClr val="dk1"/>
                </a:solidFill>
                <a:latin typeface="Jost SemiBold" pitchFamily="2" charset="0"/>
                <a:ea typeface="Jost SemiBold" pitchFamily="2" charset="0"/>
                <a:cs typeface="IBM Plex Sans JP"/>
                <a:sym typeface="IBM Plex Sans JP"/>
              </a:rPr>
              <a:t>Small lightness difference (CMY)</a:t>
            </a:r>
            <a:endParaRPr sz="1200" dirty="0">
              <a:solidFill>
                <a:schemeClr val="dk1"/>
              </a:solidFill>
              <a:latin typeface="Jost SemiBold" pitchFamily="2" charset="0"/>
              <a:ea typeface="Jost SemiBold" pitchFamily="2" charset="0"/>
              <a:cs typeface="IBM Plex Sans JP"/>
              <a:sym typeface="IBM Plex Sans JP"/>
            </a:endParaRPr>
          </a:p>
          <a:p>
            <a:pPr marL="0" marR="0" lvl="0" indent="0" algn="l" rtl="0">
              <a:spcBef>
                <a:spcPts val="0"/>
              </a:spcBef>
              <a:spcAft>
                <a:spcPts val="0"/>
              </a:spcAft>
              <a:buNone/>
            </a:pPr>
            <a:endParaRPr sz="400" b="1" dirty="0">
              <a:solidFill>
                <a:schemeClr val="dk1"/>
              </a:solidFill>
              <a:latin typeface="Jost" pitchFamily="2" charset="0"/>
              <a:ea typeface="Jost" pitchFamily="2" charset="0"/>
              <a:cs typeface="IBM Plex Sans JP"/>
              <a:sym typeface="IBM Plex Sans JP"/>
            </a:endParaRPr>
          </a:p>
          <a:p>
            <a:pPr lvl="0"/>
            <a:r>
              <a:rPr lang="en-US" sz="1000" dirty="0">
                <a:solidFill>
                  <a:schemeClr val="dk1"/>
                </a:solidFill>
                <a:latin typeface="Jost" pitchFamily="2" charset="0"/>
                <a:ea typeface="Jost" pitchFamily="2" charset="0"/>
                <a:cs typeface="IBM Plex Sans JP"/>
                <a:sym typeface="IBM Plex Sans JP"/>
              </a:rPr>
              <a:t>Combinations such as Cyan, Magenta, and Yellow have small lightness differences and result in final colors that correspond relatively linearly to the mixing ratio. In this case, Standard Models alone will give sufficient results.</a:t>
            </a:r>
            <a:endParaRPr sz="1000" b="1" dirty="0">
              <a:solidFill>
                <a:schemeClr val="dk1"/>
              </a:solidFill>
              <a:latin typeface="Jost" pitchFamily="2" charset="0"/>
              <a:ea typeface="Jost" pitchFamily="2" charset="0"/>
              <a:cs typeface="IBM Plex Sans JP"/>
              <a:sym typeface="IBM Plex Sans JP"/>
            </a:endParaRPr>
          </a:p>
        </p:txBody>
      </p:sp>
      <p:pic>
        <p:nvPicPr>
          <p:cNvPr id="154" name="Google Shape;154;p15">
            <a:extLst>
              <a:ext uri="{FF2B5EF4-FFF2-40B4-BE49-F238E27FC236}">
                <a16:creationId xmlns:a16="http://schemas.microsoft.com/office/drawing/2014/main" id="{94FC54B1-9D1F-DD8A-B2DD-C9F5546ECBF2}"/>
              </a:ext>
            </a:extLst>
          </p:cNvPr>
          <p:cNvPicPr preferRelativeResize="0"/>
          <p:nvPr/>
        </p:nvPicPr>
        <p:blipFill>
          <a:blip r:embed="rId4">
            <a:alphaModFix/>
          </a:blip>
          <a:stretch>
            <a:fillRect/>
          </a:stretch>
        </p:blipFill>
        <p:spPr>
          <a:xfrm>
            <a:off x="800099" y="6962193"/>
            <a:ext cx="5288555" cy="1673437"/>
          </a:xfrm>
          <a:prstGeom prst="rect">
            <a:avLst/>
          </a:prstGeom>
          <a:solidFill>
            <a:schemeClr val="lt1"/>
          </a:solidFill>
          <a:ln>
            <a:noFill/>
          </a:ln>
        </p:spPr>
      </p:pic>
      <p:sp>
        <p:nvSpPr>
          <p:cNvPr id="144" name="Google Shape;144;p15">
            <a:extLst>
              <a:ext uri="{FF2B5EF4-FFF2-40B4-BE49-F238E27FC236}">
                <a16:creationId xmlns:a16="http://schemas.microsoft.com/office/drawing/2014/main" id="{99A6B45C-018B-34AF-B68E-D5A61DAFD547}"/>
              </a:ext>
            </a:extLst>
          </p:cNvPr>
          <p:cNvSpPr txBox="1"/>
          <p:nvPr/>
        </p:nvSpPr>
        <p:spPr>
          <a:xfrm>
            <a:off x="3163826" y="8511531"/>
            <a:ext cx="575734" cy="369332"/>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800" dirty="0">
                <a:solidFill>
                  <a:schemeClr val="dk1"/>
                </a:solidFill>
                <a:latin typeface="Arial"/>
                <a:ea typeface="Arial"/>
                <a:cs typeface="Arial"/>
                <a:sym typeface="Arial"/>
              </a:rPr>
              <a:t>2</a:t>
            </a:r>
            <a:endParaRPr sz="1800"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0821542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id="{B3FC059C-1677-256B-0C70-3F66BF647387}"/>
            </a:ext>
          </a:extLst>
        </p:cNvPr>
        <p:cNvGrpSpPr/>
        <p:nvPr/>
      </p:nvGrpSpPr>
      <p:grpSpPr>
        <a:xfrm>
          <a:off x="0" y="0"/>
          <a:ext cx="0" cy="0"/>
          <a:chOff x="0" y="0"/>
          <a:chExt cx="0" cy="0"/>
        </a:xfrm>
      </p:grpSpPr>
      <p:sp>
        <p:nvSpPr>
          <p:cNvPr id="159" name="Google Shape;159;p16">
            <a:extLst>
              <a:ext uri="{FF2B5EF4-FFF2-40B4-BE49-F238E27FC236}">
                <a16:creationId xmlns:a16="http://schemas.microsoft.com/office/drawing/2014/main" id="{1C24589C-66C6-A325-0BC2-E34C44CC7CCF}"/>
              </a:ext>
            </a:extLst>
          </p:cNvPr>
          <p:cNvSpPr/>
          <p:nvPr/>
        </p:nvSpPr>
        <p:spPr>
          <a:xfrm>
            <a:off x="84700" y="90087"/>
            <a:ext cx="6722870" cy="8963827"/>
          </a:xfrm>
          <a:prstGeom prst="rect">
            <a:avLst/>
          </a:prstGeom>
          <a:gradFill>
            <a:gsLst>
              <a:gs pos="0">
                <a:srgbClr val="EE00B0"/>
              </a:gs>
              <a:gs pos="10000">
                <a:srgbClr val="EE00B0"/>
              </a:gs>
              <a:gs pos="50000">
                <a:srgbClr val="6200E8"/>
              </a:gs>
              <a:gs pos="90000">
                <a:srgbClr val="0095E5"/>
              </a:gs>
              <a:gs pos="100000">
                <a:srgbClr val="0095E5"/>
              </a:gs>
            </a:gsLst>
            <a:lin ang="1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6" name="フリーフォーム: 図形 5">
            <a:extLst>
              <a:ext uri="{FF2B5EF4-FFF2-40B4-BE49-F238E27FC236}">
                <a16:creationId xmlns:a16="http://schemas.microsoft.com/office/drawing/2014/main" id="{20D56D70-11CF-2556-1F11-BA55CB70ACB9}"/>
              </a:ext>
            </a:extLst>
          </p:cNvPr>
          <p:cNvSpPr/>
          <p:nvPr/>
        </p:nvSpPr>
        <p:spPr>
          <a:xfrm>
            <a:off x="9060" y="0"/>
            <a:ext cx="6858000" cy="9144000"/>
          </a:xfrm>
          <a:custGeom>
            <a:avLst/>
            <a:gdLst>
              <a:gd name="csX0" fmla="*/ 3725784 w 6858000"/>
              <a:gd name="csY0" fmla="*/ 8661917 h 9144000"/>
              <a:gd name="csX1" fmla="*/ 3725784 w 6858000"/>
              <a:gd name="csY1" fmla="*/ 8715917 h 9144000"/>
              <a:gd name="csX2" fmla="*/ 6317784 w 6858000"/>
              <a:gd name="csY2" fmla="*/ 8715917 h 9144000"/>
              <a:gd name="csX3" fmla="*/ 6317784 w 6858000"/>
              <a:gd name="csY3" fmla="*/ 8661917 h 9144000"/>
              <a:gd name="csX4" fmla="*/ 545478 w 6858000"/>
              <a:gd name="csY4" fmla="*/ 8661917 h 9144000"/>
              <a:gd name="csX5" fmla="*/ 545478 w 6858000"/>
              <a:gd name="csY5" fmla="*/ 8715917 h 9144000"/>
              <a:gd name="csX6" fmla="*/ 3137478 w 6858000"/>
              <a:gd name="csY6" fmla="*/ 8715917 h 9144000"/>
              <a:gd name="csX7" fmla="*/ 3137478 w 6858000"/>
              <a:gd name="csY7" fmla="*/ 8661917 h 9144000"/>
              <a:gd name="csX8" fmla="*/ 668965 w 6858000"/>
              <a:gd name="csY8" fmla="*/ 6018902 h 9144000"/>
              <a:gd name="csX9" fmla="*/ 566665 w 6858000"/>
              <a:gd name="csY9" fmla="*/ 6121202 h 9144000"/>
              <a:gd name="csX10" fmla="*/ 668965 w 6858000"/>
              <a:gd name="csY10" fmla="*/ 6223502 h 9144000"/>
              <a:gd name="csX11" fmla="*/ 771265 w 6858000"/>
              <a:gd name="csY11" fmla="*/ 6121202 h 9144000"/>
              <a:gd name="csX12" fmla="*/ 668965 w 6858000"/>
              <a:gd name="csY12" fmla="*/ 6018902 h 9144000"/>
              <a:gd name="csX13" fmla="*/ 647940 w 6858000"/>
              <a:gd name="csY13" fmla="*/ 4343253 h 9144000"/>
              <a:gd name="csX14" fmla="*/ 585690 w 6858000"/>
              <a:gd name="csY14" fmla="*/ 4408203 h 9144000"/>
              <a:gd name="csX15" fmla="*/ 647940 w 6858000"/>
              <a:gd name="csY15" fmla="*/ 4473153 h 9144000"/>
              <a:gd name="csX16" fmla="*/ 710190 w 6858000"/>
              <a:gd name="csY16" fmla="*/ 4408203 h 9144000"/>
              <a:gd name="csX17" fmla="*/ 647940 w 6858000"/>
              <a:gd name="csY17" fmla="*/ 4343253 h 9144000"/>
              <a:gd name="csX18" fmla="*/ 545477 w 6858000"/>
              <a:gd name="csY18" fmla="*/ 433418 h 9144000"/>
              <a:gd name="csX19" fmla="*/ 545477 w 6858000"/>
              <a:gd name="csY19" fmla="*/ 487418 h 9144000"/>
              <a:gd name="csX20" fmla="*/ 6301670 w 6858000"/>
              <a:gd name="csY20" fmla="*/ 487418 h 9144000"/>
              <a:gd name="csX21" fmla="*/ 6301670 w 6858000"/>
              <a:gd name="csY21" fmla="*/ 433418 h 9144000"/>
              <a:gd name="csX22" fmla="*/ 0 w 6858000"/>
              <a:gd name="csY22" fmla="*/ 0 h 9144000"/>
              <a:gd name="csX23" fmla="*/ 6858000 w 6858000"/>
              <a:gd name="csY23" fmla="*/ 0 h 9144000"/>
              <a:gd name="csX24" fmla="*/ 6858000 w 6858000"/>
              <a:gd name="csY24" fmla="*/ 9144000 h 9144000"/>
              <a:gd name="csX25" fmla="*/ 0 w 6858000"/>
              <a:gd name="csY25" fmla="*/ 9144000 h 9144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6858000" h="9144000">
                <a:moveTo>
                  <a:pt x="3725784" y="8661917"/>
                </a:moveTo>
                <a:lnTo>
                  <a:pt x="3725784" y="8715917"/>
                </a:lnTo>
                <a:lnTo>
                  <a:pt x="6317784" y="8715917"/>
                </a:lnTo>
                <a:lnTo>
                  <a:pt x="6317784" y="8661917"/>
                </a:lnTo>
                <a:close/>
                <a:moveTo>
                  <a:pt x="545478" y="8661917"/>
                </a:moveTo>
                <a:lnTo>
                  <a:pt x="545478" y="8715917"/>
                </a:lnTo>
                <a:lnTo>
                  <a:pt x="3137478" y="8715917"/>
                </a:lnTo>
                <a:lnTo>
                  <a:pt x="3137478" y="8661917"/>
                </a:lnTo>
                <a:close/>
                <a:moveTo>
                  <a:pt x="668965" y="6018902"/>
                </a:moveTo>
                <a:cubicBezTo>
                  <a:pt x="612466" y="6018902"/>
                  <a:pt x="566665" y="6064703"/>
                  <a:pt x="566665" y="6121202"/>
                </a:cubicBezTo>
                <a:cubicBezTo>
                  <a:pt x="566665" y="6177701"/>
                  <a:pt x="612466" y="6223502"/>
                  <a:pt x="668965" y="6223502"/>
                </a:cubicBezTo>
                <a:cubicBezTo>
                  <a:pt x="725464" y="6223502"/>
                  <a:pt x="771265" y="6177701"/>
                  <a:pt x="771265" y="6121202"/>
                </a:cubicBezTo>
                <a:cubicBezTo>
                  <a:pt x="771265" y="6064703"/>
                  <a:pt x="725464" y="6018902"/>
                  <a:pt x="668965" y="6018902"/>
                </a:cubicBezTo>
                <a:close/>
                <a:moveTo>
                  <a:pt x="647940" y="4343253"/>
                </a:moveTo>
                <a:cubicBezTo>
                  <a:pt x="613560" y="4343253"/>
                  <a:pt x="585690" y="4372332"/>
                  <a:pt x="585690" y="4408203"/>
                </a:cubicBezTo>
                <a:cubicBezTo>
                  <a:pt x="585690" y="4444074"/>
                  <a:pt x="613560" y="4473153"/>
                  <a:pt x="647940" y="4473153"/>
                </a:cubicBezTo>
                <a:cubicBezTo>
                  <a:pt x="682320" y="4473153"/>
                  <a:pt x="710190" y="4444074"/>
                  <a:pt x="710190" y="4408203"/>
                </a:cubicBezTo>
                <a:cubicBezTo>
                  <a:pt x="710190" y="4372332"/>
                  <a:pt x="682320" y="4343253"/>
                  <a:pt x="647940" y="4343253"/>
                </a:cubicBezTo>
                <a:close/>
                <a:moveTo>
                  <a:pt x="545477" y="433418"/>
                </a:moveTo>
                <a:lnTo>
                  <a:pt x="545477" y="487418"/>
                </a:lnTo>
                <a:lnTo>
                  <a:pt x="6301670" y="487418"/>
                </a:lnTo>
                <a:lnTo>
                  <a:pt x="6301670" y="433418"/>
                </a:lnTo>
                <a:close/>
                <a:moveTo>
                  <a:pt x="0" y="0"/>
                </a:moveTo>
                <a:lnTo>
                  <a:pt x="6858000" y="0"/>
                </a:lnTo>
                <a:lnTo>
                  <a:pt x="6858000" y="9144000"/>
                </a:lnTo>
                <a:lnTo>
                  <a:pt x="0" y="9144000"/>
                </a:lnTo>
                <a:close/>
              </a:path>
            </a:pathLst>
          </a:cu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69" name="Google Shape;169;p16">
            <a:extLst>
              <a:ext uri="{FF2B5EF4-FFF2-40B4-BE49-F238E27FC236}">
                <a16:creationId xmlns:a16="http://schemas.microsoft.com/office/drawing/2014/main" id="{A9DDFFC6-F507-D8A1-47BA-F1AD46D0B2AD}"/>
              </a:ext>
            </a:extLst>
          </p:cNvPr>
          <p:cNvSpPr txBox="1"/>
          <p:nvPr/>
        </p:nvSpPr>
        <p:spPr>
          <a:xfrm>
            <a:off x="3163826" y="8511531"/>
            <a:ext cx="575734" cy="369332"/>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3</a:t>
            </a:r>
            <a:endParaRPr sz="1800">
              <a:solidFill>
                <a:schemeClr val="dk1"/>
              </a:solidFill>
              <a:latin typeface="Arial"/>
              <a:ea typeface="Arial"/>
              <a:cs typeface="Arial"/>
              <a:sym typeface="Arial"/>
            </a:endParaRPr>
          </a:p>
        </p:txBody>
      </p:sp>
      <p:sp>
        <p:nvSpPr>
          <p:cNvPr id="171" name="Google Shape;171;p16">
            <a:extLst>
              <a:ext uri="{FF2B5EF4-FFF2-40B4-BE49-F238E27FC236}">
                <a16:creationId xmlns:a16="http://schemas.microsoft.com/office/drawing/2014/main" id="{7D161211-203F-AE6F-DBD5-4CD8CF81E7B9}"/>
              </a:ext>
            </a:extLst>
          </p:cNvPr>
          <p:cNvSpPr txBox="1"/>
          <p:nvPr/>
        </p:nvSpPr>
        <p:spPr>
          <a:xfrm>
            <a:off x="748128" y="5931004"/>
            <a:ext cx="3645600" cy="400200"/>
          </a:xfrm>
          <a:prstGeom prst="rect">
            <a:avLst/>
          </a:prstGeom>
          <a:noFill/>
          <a:ln>
            <a:noFill/>
          </a:ln>
        </p:spPr>
        <p:txBody>
          <a:bodyPr spcFirstLastPara="1" wrap="square" lIns="91425" tIns="45700" rIns="91425" bIns="45700" anchor="t" anchorCtr="0">
            <a:spAutoFit/>
          </a:bodyPr>
          <a:lstStyle/>
          <a:p>
            <a:pPr lvl="0"/>
            <a:r>
              <a:rPr lang="en-US" sz="2000" dirty="0">
                <a:solidFill>
                  <a:schemeClr val="dk1"/>
                </a:solidFill>
                <a:latin typeface="Jost SemiBold" pitchFamily="2" charset="0"/>
                <a:ea typeface="Jost SemiBold" pitchFamily="2" charset="0"/>
                <a:cs typeface="IBM Plex Sans JP SemiBold"/>
                <a:sym typeface="IBM Plex Sans JP SemiBold"/>
              </a:rPr>
              <a:t>4．Filaments to Use</a:t>
            </a:r>
            <a:endParaRPr sz="2400" dirty="0">
              <a:solidFill>
                <a:schemeClr val="dk1"/>
              </a:solidFill>
              <a:latin typeface="Jost SemiBold" pitchFamily="2" charset="0"/>
              <a:ea typeface="Jost SemiBold" pitchFamily="2" charset="0"/>
              <a:cs typeface="IBM Plex Sans JP SemiBold"/>
              <a:sym typeface="IBM Plex Sans JP SemiBold"/>
            </a:endParaRPr>
          </a:p>
        </p:txBody>
      </p:sp>
      <p:sp>
        <p:nvSpPr>
          <p:cNvPr id="172" name="Google Shape;172;p16">
            <a:extLst>
              <a:ext uri="{FF2B5EF4-FFF2-40B4-BE49-F238E27FC236}">
                <a16:creationId xmlns:a16="http://schemas.microsoft.com/office/drawing/2014/main" id="{ADF5E610-C8CC-806B-5DD9-A1490ED91C0E}"/>
              </a:ext>
            </a:extLst>
          </p:cNvPr>
          <p:cNvSpPr txBox="1"/>
          <p:nvPr/>
        </p:nvSpPr>
        <p:spPr>
          <a:xfrm>
            <a:off x="678058" y="6348557"/>
            <a:ext cx="5649600" cy="2092840"/>
          </a:xfrm>
          <a:prstGeom prst="rect">
            <a:avLst/>
          </a:prstGeom>
          <a:noFill/>
          <a:ln>
            <a:noFill/>
          </a:ln>
        </p:spPr>
        <p:txBody>
          <a:bodyPr spcFirstLastPara="1" wrap="square" lIns="91425" tIns="45700" rIns="91425" bIns="45700" anchor="t" anchorCtr="0">
            <a:spAutoFit/>
          </a:bodyPr>
          <a:lstStyle/>
          <a:p>
            <a:pPr lvl="0"/>
            <a:r>
              <a:rPr lang="en-US" sz="1000" dirty="0">
                <a:solidFill>
                  <a:schemeClr val="dk1"/>
                </a:solidFill>
                <a:latin typeface="Jost" pitchFamily="2" charset="0"/>
                <a:ea typeface="Jost" pitchFamily="2" charset="0"/>
                <a:cs typeface="IBM Plex Sans JP"/>
                <a:sym typeface="IBM Plex Sans JP"/>
              </a:rPr>
              <a:t>We recommend the four colors of Bambu Lab PLA Basic: Cyan, Magenta, Yellow, and White.</a:t>
            </a:r>
          </a:p>
          <a:p>
            <a:pPr lvl="0"/>
            <a:r>
              <a:rPr lang="en-US" sz="1000" dirty="0">
                <a:solidFill>
                  <a:schemeClr val="dk1"/>
                </a:solidFill>
                <a:latin typeface="Jost" pitchFamily="2" charset="0"/>
                <a:ea typeface="Jost" pitchFamily="2" charset="0"/>
                <a:cs typeface="IBM Plex Sans JP"/>
                <a:sym typeface="IBM Plex Sans JP"/>
              </a:rPr>
              <a:t>With these four colors, you can cover a wide range of basic color expressions.</a:t>
            </a:r>
          </a:p>
          <a:p>
            <a:pPr lvl="0"/>
            <a:r>
              <a:rPr lang="en-US" sz="1000" dirty="0">
                <a:solidFill>
                  <a:schemeClr val="dk1"/>
                </a:solidFill>
                <a:latin typeface="Jost" pitchFamily="2" charset="0"/>
                <a:ea typeface="Jost" pitchFamily="2" charset="0"/>
                <a:cs typeface="IBM Plex Sans JP"/>
                <a:sym typeface="IBM Plex Sans JP"/>
              </a:rPr>
              <a:t>Black is also useful for expanding your color palette, but because it has such a strong effect, it can easily cause uneven mixing, so caution is required.</a:t>
            </a:r>
          </a:p>
          <a:p>
            <a:pPr lvl="0"/>
            <a:endParaRPr sz="500" dirty="0">
              <a:solidFill>
                <a:schemeClr val="dk1"/>
              </a:solidFill>
              <a:latin typeface="Jost" pitchFamily="2" charset="0"/>
              <a:ea typeface="Jost" pitchFamily="2" charset="0"/>
              <a:cs typeface="IBM Plex Sans JP"/>
              <a:sym typeface="IBM Plex Sans JP"/>
            </a:endParaRPr>
          </a:p>
          <a:p>
            <a:pPr lvl="0"/>
            <a:r>
              <a:rPr lang="en-US" altLang="ja-JP" sz="1000" dirty="0">
                <a:solidFill>
                  <a:schemeClr val="dk1"/>
                </a:solidFill>
                <a:latin typeface="Jost" pitchFamily="2" charset="0"/>
                <a:ea typeface="Jost" pitchFamily="2" charset="0"/>
                <a:cs typeface="IBM Plex Sans JP"/>
                <a:sym typeface="IBM Plex Sans JP"/>
              </a:rPr>
              <a:t>Theoretically, the midpoint between two primary colors is the “perceptual midpoint color” defined in a color space designed to be perceptually uniform, such as CIE-Lab (or its cylindrical representation, CIE-</a:t>
            </a:r>
            <a:r>
              <a:rPr lang="en-US" altLang="ja-JP" sz="1000" dirty="0" err="1">
                <a:solidFill>
                  <a:schemeClr val="dk1"/>
                </a:solidFill>
                <a:latin typeface="Jost" pitchFamily="2" charset="0"/>
                <a:ea typeface="Jost" pitchFamily="2" charset="0"/>
                <a:cs typeface="IBM Plex Sans JP"/>
                <a:sym typeface="IBM Plex Sans JP"/>
              </a:rPr>
              <a:t>LCh</a:t>
            </a:r>
            <a:r>
              <a:rPr lang="en-US" altLang="ja-JP" sz="1000" dirty="0">
                <a:solidFill>
                  <a:schemeClr val="dk1"/>
                </a:solidFill>
                <a:latin typeface="Jost" pitchFamily="2" charset="0"/>
                <a:ea typeface="Jost" pitchFamily="2" charset="0"/>
                <a:cs typeface="IBM Plex Sans JP"/>
                <a:sym typeface="IBM Plex Sans JP"/>
              </a:rPr>
              <a:t>). </a:t>
            </a:r>
          </a:p>
          <a:p>
            <a:pPr lvl="0"/>
            <a:r>
              <a:rPr lang="en-US" altLang="ja-JP" sz="1000" dirty="0">
                <a:solidFill>
                  <a:schemeClr val="dk1"/>
                </a:solidFill>
                <a:latin typeface="Jost" pitchFamily="2" charset="0"/>
                <a:ea typeface="Jost" pitchFamily="2" charset="0"/>
                <a:cs typeface="IBM Plex Sans JP"/>
                <a:sym typeface="IBM Plex Sans JP"/>
              </a:rPr>
              <a:t>However, in actual filament mixing, due to the absorption characteristics of pigments and the effects of subtractive color mixing, the “material mixing midpoint” shown in the figure below tends to have reduced saturation, resulting in a dull color that differs from the ideal midpoint.</a:t>
            </a:r>
          </a:p>
          <a:p>
            <a:pPr lvl="0"/>
            <a:endParaRPr lang="en-US" sz="500" dirty="0">
              <a:solidFill>
                <a:schemeClr val="dk1"/>
              </a:solidFill>
              <a:latin typeface="Jost" pitchFamily="2" charset="0"/>
              <a:ea typeface="Jost" pitchFamily="2" charset="0"/>
              <a:cs typeface="IBM Plex Sans JP"/>
              <a:sym typeface="IBM Plex Sans JP"/>
            </a:endParaRPr>
          </a:p>
          <a:p>
            <a:pPr lvl="0"/>
            <a:r>
              <a:rPr lang="en-US" sz="1000" dirty="0">
                <a:solidFill>
                  <a:schemeClr val="dk1"/>
                </a:solidFill>
                <a:latin typeface="Jost" pitchFamily="2" charset="0"/>
                <a:ea typeface="Jost" pitchFamily="2" charset="0"/>
                <a:cs typeface="IBM Plex Sans JP"/>
                <a:sym typeface="IBM Plex Sans JP"/>
              </a:rPr>
              <a:t>Therefore, to ensure users can reliably achieve the “natural intermediate hue and saturation” they expect, we have added the “recommended bridge filament” shown in the figure.</a:t>
            </a:r>
            <a:endParaRPr sz="1000" b="1" dirty="0">
              <a:solidFill>
                <a:schemeClr val="dk1"/>
              </a:solidFill>
              <a:latin typeface="Jost" pitchFamily="2" charset="0"/>
              <a:ea typeface="Jost" pitchFamily="2" charset="0"/>
              <a:cs typeface="IBM Plex Sans JP"/>
              <a:sym typeface="IBM Plex Sans JP"/>
            </a:endParaRPr>
          </a:p>
        </p:txBody>
      </p:sp>
      <p:sp>
        <p:nvSpPr>
          <p:cNvPr id="173" name="Google Shape;173;p16">
            <a:extLst>
              <a:ext uri="{FF2B5EF4-FFF2-40B4-BE49-F238E27FC236}">
                <a16:creationId xmlns:a16="http://schemas.microsoft.com/office/drawing/2014/main" id="{8F6059BF-9BB0-466E-B018-EF1A8893657C}"/>
              </a:ext>
            </a:extLst>
          </p:cNvPr>
          <p:cNvSpPr txBox="1"/>
          <p:nvPr/>
        </p:nvSpPr>
        <p:spPr>
          <a:xfrm>
            <a:off x="695070" y="610703"/>
            <a:ext cx="5642100" cy="1338788"/>
          </a:xfrm>
          <a:prstGeom prst="rect">
            <a:avLst/>
          </a:prstGeom>
          <a:noFill/>
          <a:ln>
            <a:noFill/>
          </a:ln>
        </p:spPr>
        <p:txBody>
          <a:bodyPr spcFirstLastPara="1" wrap="square" lIns="91425" tIns="45700" rIns="91425" bIns="45700" anchor="t" anchorCtr="0">
            <a:spAutoFit/>
          </a:bodyPr>
          <a:lstStyle/>
          <a:p>
            <a:pPr lvl="0"/>
            <a:r>
              <a:rPr lang="en-US" sz="1200" dirty="0">
                <a:solidFill>
                  <a:schemeClr val="dk1"/>
                </a:solidFill>
                <a:latin typeface="Jost SemiBold" pitchFamily="2" charset="0"/>
                <a:ea typeface="Jost SemiBold" pitchFamily="2" charset="0"/>
                <a:cs typeface="IBM Plex Sans JP"/>
                <a:sym typeface="IBM Plex Sans JP"/>
              </a:rPr>
              <a:t>Large lightness difference (White / Black)</a:t>
            </a:r>
            <a:endParaRPr sz="1200" dirty="0">
              <a:solidFill>
                <a:schemeClr val="dk1"/>
              </a:solidFill>
              <a:latin typeface="Jost SemiBold" pitchFamily="2" charset="0"/>
              <a:ea typeface="Jost SemiBold" pitchFamily="2" charset="0"/>
              <a:cs typeface="IBM Plex Sans JP"/>
              <a:sym typeface="IBM Plex Sans JP"/>
            </a:endParaRPr>
          </a:p>
          <a:p>
            <a:pPr marL="0" marR="0" lvl="0" indent="0" algn="l" rtl="0">
              <a:spcBef>
                <a:spcPts val="0"/>
              </a:spcBef>
              <a:spcAft>
                <a:spcPts val="0"/>
              </a:spcAft>
              <a:buNone/>
            </a:pPr>
            <a:endParaRPr sz="400" b="1" dirty="0">
              <a:solidFill>
                <a:schemeClr val="dk1"/>
              </a:solidFill>
              <a:latin typeface="Jost" pitchFamily="2" charset="0"/>
              <a:ea typeface="Jost" pitchFamily="2" charset="0"/>
              <a:cs typeface="IBM Plex Sans JP"/>
              <a:sym typeface="IBM Plex Sans JP"/>
            </a:endParaRPr>
          </a:p>
          <a:p>
            <a:pPr lvl="0"/>
            <a:r>
              <a:rPr lang="en-US" sz="1000" dirty="0">
                <a:solidFill>
                  <a:schemeClr val="dk1"/>
                </a:solidFill>
                <a:latin typeface="Jost" pitchFamily="2" charset="0"/>
                <a:ea typeface="Jost" pitchFamily="2" charset="0"/>
                <a:cs typeface="IBM Plex Sans JP"/>
                <a:sym typeface="IBM Plex Sans JP"/>
              </a:rPr>
              <a:t>When the lightness contrast is large—such as black and white—the darker filament dominates, limiting the expressive range of Standard Models. In these cases, please use the Detail Models.</a:t>
            </a:r>
          </a:p>
          <a:p>
            <a:pPr lvl="0"/>
            <a:endParaRPr lang="en-US" sz="500" dirty="0">
              <a:solidFill>
                <a:schemeClr val="dk1"/>
              </a:solidFill>
              <a:latin typeface="Jost" pitchFamily="2" charset="0"/>
              <a:ea typeface="Jost" pitchFamily="2" charset="0"/>
              <a:cs typeface="IBM Plex Sans JP"/>
              <a:sym typeface="IBM Plex Sans JP"/>
            </a:endParaRPr>
          </a:p>
          <a:p>
            <a:pPr lvl="0"/>
            <a:r>
              <a:rPr lang="en-US" sz="1000" dirty="0">
                <a:solidFill>
                  <a:schemeClr val="dk1"/>
                </a:solidFill>
                <a:latin typeface="Jost" pitchFamily="2" charset="0"/>
                <a:ea typeface="Jost" pitchFamily="2" charset="0"/>
                <a:cs typeface="IBM Plex Sans JP"/>
                <a:sym typeface="IBM Plex Sans JP"/>
              </a:rPr>
              <a:t>Because the molten filament has high viscosity and does not fully mix inside the nozzle, blended prints may appear mottled. This is subtle when the brightness contrast is small but becomes noticeable with high-contrast pairs. To create light gray, white + gray is recommended over white + black.</a:t>
            </a:r>
            <a:endParaRPr sz="1000" dirty="0">
              <a:solidFill>
                <a:schemeClr val="dk1"/>
              </a:solidFill>
              <a:latin typeface="Jost" pitchFamily="2" charset="0"/>
              <a:ea typeface="Jost" pitchFamily="2" charset="0"/>
              <a:cs typeface="IBM Plex Sans JP"/>
              <a:sym typeface="IBM Plex Sans JP"/>
            </a:endParaRPr>
          </a:p>
        </p:txBody>
      </p:sp>
      <p:pic>
        <p:nvPicPr>
          <p:cNvPr id="174" name="Google Shape;174;p16">
            <a:extLst>
              <a:ext uri="{FF2B5EF4-FFF2-40B4-BE49-F238E27FC236}">
                <a16:creationId xmlns:a16="http://schemas.microsoft.com/office/drawing/2014/main" id="{C5CB4075-881B-F0EB-31E4-8E7EDC4E1CB3}"/>
              </a:ext>
            </a:extLst>
          </p:cNvPr>
          <p:cNvPicPr preferRelativeResize="0"/>
          <p:nvPr/>
        </p:nvPicPr>
        <p:blipFill>
          <a:blip r:embed="rId3">
            <a:alphaModFix/>
          </a:blip>
          <a:stretch>
            <a:fillRect/>
          </a:stretch>
        </p:blipFill>
        <p:spPr>
          <a:xfrm>
            <a:off x="542588" y="1993898"/>
            <a:ext cx="5772827" cy="1863752"/>
          </a:xfrm>
          <a:prstGeom prst="rect">
            <a:avLst/>
          </a:prstGeom>
          <a:noFill/>
          <a:ln>
            <a:noFill/>
          </a:ln>
        </p:spPr>
      </p:pic>
      <p:sp>
        <p:nvSpPr>
          <p:cNvPr id="175" name="Google Shape;175;p16">
            <a:extLst>
              <a:ext uri="{FF2B5EF4-FFF2-40B4-BE49-F238E27FC236}">
                <a16:creationId xmlns:a16="http://schemas.microsoft.com/office/drawing/2014/main" id="{9DC0C44D-79D5-3F3D-CA66-7899491C9ED7}"/>
              </a:ext>
            </a:extLst>
          </p:cNvPr>
          <p:cNvSpPr txBox="1"/>
          <p:nvPr/>
        </p:nvSpPr>
        <p:spPr>
          <a:xfrm>
            <a:off x="666532" y="4269345"/>
            <a:ext cx="5642100" cy="1615787"/>
          </a:xfrm>
          <a:prstGeom prst="rect">
            <a:avLst/>
          </a:prstGeom>
          <a:noFill/>
          <a:ln>
            <a:noFill/>
          </a:ln>
        </p:spPr>
        <p:txBody>
          <a:bodyPr spcFirstLastPara="1" wrap="square" lIns="91425" tIns="45700" rIns="91425" bIns="45700" anchor="t" anchorCtr="0">
            <a:spAutoFit/>
          </a:bodyPr>
          <a:lstStyle/>
          <a:p>
            <a:pPr lvl="0"/>
            <a:r>
              <a:rPr lang="en-US" b="1" dirty="0">
                <a:solidFill>
                  <a:schemeClr val="dk1"/>
                </a:solidFill>
                <a:latin typeface="Jost SemiBold" pitchFamily="2" charset="0"/>
                <a:ea typeface="Jost SemiBold" pitchFamily="2" charset="0"/>
                <a:cs typeface="IBM Plex Sans JP"/>
                <a:sym typeface="IBM Plex Sans JP"/>
              </a:rPr>
              <a:t>Differences by Material</a:t>
            </a:r>
          </a:p>
          <a:p>
            <a:pPr lvl="0"/>
            <a:endParaRPr sz="500" dirty="0">
              <a:solidFill>
                <a:schemeClr val="dk1"/>
              </a:solidFill>
              <a:latin typeface="Jost" pitchFamily="2" charset="0"/>
              <a:ea typeface="Jost" pitchFamily="2" charset="0"/>
              <a:cs typeface="IBM Plex Sans JP"/>
              <a:sym typeface="IBM Plex Sans JP"/>
            </a:endParaRPr>
          </a:p>
          <a:p>
            <a:pPr lvl="0"/>
            <a:r>
              <a:rPr lang="en-US" sz="1000" dirty="0">
                <a:solidFill>
                  <a:schemeClr val="dk1"/>
                </a:solidFill>
                <a:latin typeface="Jost" pitchFamily="2" charset="0"/>
                <a:ea typeface="Jost" pitchFamily="2" charset="0"/>
                <a:cs typeface="IBM Plex Sans JP"/>
                <a:sym typeface="IBM Plex Sans JP"/>
              </a:rPr>
              <a:t>Looking at the black-and-white results:</a:t>
            </a:r>
          </a:p>
          <a:p>
            <a:pPr lvl="0"/>
            <a:endParaRPr lang="en-US" sz="500" dirty="0">
              <a:solidFill>
                <a:schemeClr val="dk1"/>
              </a:solidFill>
              <a:latin typeface="Jost" pitchFamily="2" charset="0"/>
              <a:ea typeface="Jost" pitchFamily="2" charset="0"/>
              <a:cs typeface="IBM Plex Sans JP"/>
              <a:sym typeface="IBM Plex Sans JP"/>
            </a:endParaRPr>
          </a:p>
          <a:p>
            <a:pPr lvl="0"/>
            <a:r>
              <a:rPr lang="en-US" sz="1000" dirty="0">
                <a:solidFill>
                  <a:schemeClr val="dk1"/>
                </a:solidFill>
                <a:latin typeface="Jost" pitchFamily="2" charset="0"/>
                <a:ea typeface="Jost" pitchFamily="2" charset="0"/>
                <a:cs typeface="IBM Plex Sans JP"/>
                <a:sym typeface="IBM Plex Sans JP"/>
              </a:rPr>
              <a:t>• PLA and PETG produce different blending results.</a:t>
            </a:r>
          </a:p>
          <a:p>
            <a:pPr lvl="0"/>
            <a:r>
              <a:rPr lang="en-US" sz="1000" dirty="0">
                <a:solidFill>
                  <a:schemeClr val="dk1"/>
                </a:solidFill>
                <a:latin typeface="Jost" pitchFamily="2" charset="0"/>
                <a:ea typeface="Jost" pitchFamily="2" charset="0"/>
                <a:cs typeface="IBM Plex Sans JP"/>
                <a:sym typeface="IBM Plex Sans JP"/>
              </a:rPr>
              <a:t>• PLA Basic white is highly translucent, so its influence becomes extremely weak.</a:t>
            </a:r>
          </a:p>
          <a:p>
            <a:pPr lvl="0"/>
            <a:r>
              <a:rPr lang="en-US" sz="1000" dirty="0">
                <a:solidFill>
                  <a:schemeClr val="dk1"/>
                </a:solidFill>
                <a:latin typeface="Jost" pitchFamily="2" charset="0"/>
                <a:ea typeface="Jost" pitchFamily="2" charset="0"/>
                <a:cs typeface="IBM Plex Sans JP"/>
                <a:sym typeface="IBM Plex Sans JP"/>
              </a:rPr>
              <a:t>• PETG HT white has lower translucency, so its influence becomes stronger compared to </a:t>
            </a:r>
          </a:p>
          <a:p>
            <a:pPr lvl="0"/>
            <a:r>
              <a:rPr lang="en-US" sz="1000" dirty="0">
                <a:solidFill>
                  <a:schemeClr val="dk1"/>
                </a:solidFill>
                <a:latin typeface="Jost" pitchFamily="2" charset="0"/>
                <a:ea typeface="Jost" pitchFamily="2" charset="0"/>
                <a:cs typeface="IBM Plex Sans JP"/>
                <a:sym typeface="IBM Plex Sans JP"/>
              </a:rPr>
              <a:t>   PLA Basic.</a:t>
            </a:r>
          </a:p>
          <a:p>
            <a:pPr lvl="0"/>
            <a:endParaRPr lang="en-US" sz="500" dirty="0">
              <a:solidFill>
                <a:schemeClr val="dk1"/>
              </a:solidFill>
              <a:latin typeface="Jost" pitchFamily="2" charset="0"/>
              <a:ea typeface="Jost" pitchFamily="2" charset="0"/>
              <a:cs typeface="IBM Plex Sans JP"/>
              <a:sym typeface="IBM Plex Sans JP"/>
            </a:endParaRPr>
          </a:p>
          <a:p>
            <a:pPr lvl="0"/>
            <a:r>
              <a:rPr lang="en-US" sz="1000" dirty="0">
                <a:solidFill>
                  <a:schemeClr val="dk1"/>
                </a:solidFill>
                <a:latin typeface="Jost" pitchFamily="2" charset="0"/>
                <a:ea typeface="Jost" pitchFamily="2" charset="0"/>
                <a:cs typeface="IBM Plex Sans JP"/>
                <a:sym typeface="IBM Plex Sans JP"/>
              </a:rPr>
              <a:t>Blending is affected not only by the base color but also by translucency. Test printing is recommended.</a:t>
            </a:r>
            <a:endParaRPr sz="1000" dirty="0">
              <a:solidFill>
                <a:schemeClr val="dk1"/>
              </a:solidFill>
              <a:latin typeface="Jost" pitchFamily="2" charset="0"/>
              <a:ea typeface="Jost" pitchFamily="2" charset="0"/>
              <a:cs typeface="IBM Plex Sans JP"/>
              <a:sym typeface="IBM Plex Sans JP"/>
            </a:endParaRPr>
          </a:p>
        </p:txBody>
      </p:sp>
    </p:spTree>
    <p:extLst>
      <p:ext uri="{BB962C8B-B14F-4D97-AF65-F5344CB8AC3E}">
        <p14:creationId xmlns:p14="http://schemas.microsoft.com/office/powerpoint/2010/main" val="41394402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0">
          <a:extLst>
            <a:ext uri="{FF2B5EF4-FFF2-40B4-BE49-F238E27FC236}">
              <a16:creationId xmlns:a16="http://schemas.microsoft.com/office/drawing/2014/main" id="{D4029073-F269-B9B7-0E14-9A4F729AFF3C}"/>
            </a:ext>
          </a:extLst>
        </p:cNvPr>
        <p:cNvGrpSpPr/>
        <p:nvPr/>
      </p:nvGrpSpPr>
      <p:grpSpPr>
        <a:xfrm>
          <a:off x="0" y="0"/>
          <a:ext cx="0" cy="0"/>
          <a:chOff x="0" y="0"/>
          <a:chExt cx="0" cy="0"/>
        </a:xfrm>
      </p:grpSpPr>
      <p:sp>
        <p:nvSpPr>
          <p:cNvPr id="181" name="Google Shape;181;p17">
            <a:extLst>
              <a:ext uri="{FF2B5EF4-FFF2-40B4-BE49-F238E27FC236}">
                <a16:creationId xmlns:a16="http://schemas.microsoft.com/office/drawing/2014/main" id="{2312A3B1-8FAA-5055-58F9-C9104439F599}"/>
              </a:ext>
            </a:extLst>
          </p:cNvPr>
          <p:cNvSpPr/>
          <p:nvPr/>
        </p:nvSpPr>
        <p:spPr>
          <a:xfrm>
            <a:off x="51086" y="45268"/>
            <a:ext cx="6790099" cy="9053465"/>
          </a:xfrm>
          <a:prstGeom prst="rect">
            <a:avLst/>
          </a:prstGeom>
          <a:gradFill>
            <a:gsLst>
              <a:gs pos="0">
                <a:srgbClr val="EE00B0"/>
              </a:gs>
              <a:gs pos="10000">
                <a:srgbClr val="EE00B0"/>
              </a:gs>
              <a:gs pos="50000">
                <a:srgbClr val="6200E8"/>
              </a:gs>
              <a:gs pos="90000">
                <a:srgbClr val="0095E5"/>
              </a:gs>
              <a:gs pos="100000">
                <a:srgbClr val="0095E5"/>
              </a:gs>
            </a:gsLst>
            <a:lin ang="1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8" name="フリーフォーム: 図形 7">
            <a:extLst>
              <a:ext uri="{FF2B5EF4-FFF2-40B4-BE49-F238E27FC236}">
                <a16:creationId xmlns:a16="http://schemas.microsoft.com/office/drawing/2014/main" id="{E7419322-1D63-BB06-D3A1-B8ABA50A9562}"/>
              </a:ext>
            </a:extLst>
          </p:cNvPr>
          <p:cNvSpPr/>
          <p:nvPr/>
        </p:nvSpPr>
        <p:spPr>
          <a:xfrm>
            <a:off x="17051" y="5531"/>
            <a:ext cx="6858000" cy="9144000"/>
          </a:xfrm>
          <a:custGeom>
            <a:avLst/>
            <a:gdLst>
              <a:gd name="csX0" fmla="*/ 3717793 w 6858000"/>
              <a:gd name="csY0" fmla="*/ 8656386 h 9144000"/>
              <a:gd name="csX1" fmla="*/ 3717793 w 6858000"/>
              <a:gd name="csY1" fmla="*/ 8710386 h 9144000"/>
              <a:gd name="csX2" fmla="*/ 6309793 w 6858000"/>
              <a:gd name="csY2" fmla="*/ 8710386 h 9144000"/>
              <a:gd name="csX3" fmla="*/ 6309793 w 6858000"/>
              <a:gd name="csY3" fmla="*/ 8656386 h 9144000"/>
              <a:gd name="csX4" fmla="*/ 537487 w 6858000"/>
              <a:gd name="csY4" fmla="*/ 8656386 h 9144000"/>
              <a:gd name="csX5" fmla="*/ 537487 w 6858000"/>
              <a:gd name="csY5" fmla="*/ 8710386 h 9144000"/>
              <a:gd name="csX6" fmla="*/ 3129487 w 6858000"/>
              <a:gd name="csY6" fmla="*/ 8710386 h 9144000"/>
              <a:gd name="csX7" fmla="*/ 3129487 w 6858000"/>
              <a:gd name="csY7" fmla="*/ 8656386 h 9144000"/>
              <a:gd name="csX8" fmla="*/ 657249 w 6858000"/>
              <a:gd name="csY8" fmla="*/ 6953778 h 9144000"/>
              <a:gd name="csX9" fmla="*/ 594999 w 6858000"/>
              <a:gd name="csY9" fmla="*/ 7018728 h 9144000"/>
              <a:gd name="csX10" fmla="*/ 657249 w 6858000"/>
              <a:gd name="csY10" fmla="*/ 7083678 h 9144000"/>
              <a:gd name="csX11" fmla="*/ 719499 w 6858000"/>
              <a:gd name="csY11" fmla="*/ 7018728 h 9144000"/>
              <a:gd name="csX12" fmla="*/ 657249 w 6858000"/>
              <a:gd name="csY12" fmla="*/ 6953778 h 9144000"/>
              <a:gd name="csX13" fmla="*/ 657245 w 6858000"/>
              <a:gd name="csY13" fmla="*/ 4483969 h 9144000"/>
              <a:gd name="csX14" fmla="*/ 554945 w 6858000"/>
              <a:gd name="csY14" fmla="*/ 4586269 h 9144000"/>
              <a:gd name="csX15" fmla="*/ 657245 w 6858000"/>
              <a:gd name="csY15" fmla="*/ 4688569 h 9144000"/>
              <a:gd name="csX16" fmla="*/ 759545 w 6858000"/>
              <a:gd name="csY16" fmla="*/ 4586269 h 9144000"/>
              <a:gd name="csX17" fmla="*/ 657245 w 6858000"/>
              <a:gd name="csY17" fmla="*/ 4483969 h 9144000"/>
              <a:gd name="csX18" fmla="*/ 537486 w 6858000"/>
              <a:gd name="csY18" fmla="*/ 427887 h 9144000"/>
              <a:gd name="csX19" fmla="*/ 537486 w 6858000"/>
              <a:gd name="csY19" fmla="*/ 481887 h 9144000"/>
              <a:gd name="csX20" fmla="*/ 6293679 w 6858000"/>
              <a:gd name="csY20" fmla="*/ 481887 h 9144000"/>
              <a:gd name="csX21" fmla="*/ 6293679 w 6858000"/>
              <a:gd name="csY21" fmla="*/ 427887 h 9144000"/>
              <a:gd name="csX22" fmla="*/ 0 w 6858000"/>
              <a:gd name="csY22" fmla="*/ 0 h 9144000"/>
              <a:gd name="csX23" fmla="*/ 6858000 w 6858000"/>
              <a:gd name="csY23" fmla="*/ 0 h 9144000"/>
              <a:gd name="csX24" fmla="*/ 6858000 w 6858000"/>
              <a:gd name="csY24" fmla="*/ 9144000 h 9144000"/>
              <a:gd name="csX25" fmla="*/ 0 w 6858000"/>
              <a:gd name="csY25" fmla="*/ 9144000 h 9144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6858000" h="9144000">
                <a:moveTo>
                  <a:pt x="3717793" y="8656386"/>
                </a:moveTo>
                <a:lnTo>
                  <a:pt x="3717793" y="8710386"/>
                </a:lnTo>
                <a:lnTo>
                  <a:pt x="6309793" y="8710386"/>
                </a:lnTo>
                <a:lnTo>
                  <a:pt x="6309793" y="8656386"/>
                </a:lnTo>
                <a:close/>
                <a:moveTo>
                  <a:pt x="537487" y="8656386"/>
                </a:moveTo>
                <a:lnTo>
                  <a:pt x="537487" y="8710386"/>
                </a:lnTo>
                <a:lnTo>
                  <a:pt x="3129487" y="8710386"/>
                </a:lnTo>
                <a:lnTo>
                  <a:pt x="3129487" y="8656386"/>
                </a:lnTo>
                <a:close/>
                <a:moveTo>
                  <a:pt x="657249" y="6953778"/>
                </a:moveTo>
                <a:cubicBezTo>
                  <a:pt x="622869" y="6953778"/>
                  <a:pt x="594999" y="6982857"/>
                  <a:pt x="594999" y="7018728"/>
                </a:cubicBezTo>
                <a:cubicBezTo>
                  <a:pt x="594999" y="7054599"/>
                  <a:pt x="622869" y="7083678"/>
                  <a:pt x="657249" y="7083678"/>
                </a:cubicBezTo>
                <a:cubicBezTo>
                  <a:pt x="691629" y="7083678"/>
                  <a:pt x="719499" y="7054599"/>
                  <a:pt x="719499" y="7018728"/>
                </a:cubicBezTo>
                <a:cubicBezTo>
                  <a:pt x="719499" y="6982857"/>
                  <a:pt x="691629" y="6953778"/>
                  <a:pt x="657249" y="6953778"/>
                </a:cubicBezTo>
                <a:close/>
                <a:moveTo>
                  <a:pt x="657245" y="4483969"/>
                </a:moveTo>
                <a:cubicBezTo>
                  <a:pt x="600746" y="4483969"/>
                  <a:pt x="554945" y="4529770"/>
                  <a:pt x="554945" y="4586269"/>
                </a:cubicBezTo>
                <a:cubicBezTo>
                  <a:pt x="554945" y="4642768"/>
                  <a:pt x="600746" y="4688569"/>
                  <a:pt x="657245" y="4688569"/>
                </a:cubicBezTo>
                <a:cubicBezTo>
                  <a:pt x="713744" y="4688569"/>
                  <a:pt x="759545" y="4642768"/>
                  <a:pt x="759545" y="4586269"/>
                </a:cubicBezTo>
                <a:cubicBezTo>
                  <a:pt x="759545" y="4529770"/>
                  <a:pt x="713744" y="4483969"/>
                  <a:pt x="657245" y="4483969"/>
                </a:cubicBezTo>
                <a:close/>
                <a:moveTo>
                  <a:pt x="537486" y="427887"/>
                </a:moveTo>
                <a:lnTo>
                  <a:pt x="537486" y="481887"/>
                </a:lnTo>
                <a:lnTo>
                  <a:pt x="6293679" y="481887"/>
                </a:lnTo>
                <a:lnTo>
                  <a:pt x="6293679" y="427887"/>
                </a:lnTo>
                <a:close/>
                <a:moveTo>
                  <a:pt x="0" y="0"/>
                </a:moveTo>
                <a:lnTo>
                  <a:pt x="6858000" y="0"/>
                </a:lnTo>
                <a:lnTo>
                  <a:pt x="6858000" y="9144000"/>
                </a:lnTo>
                <a:lnTo>
                  <a:pt x="0" y="9144000"/>
                </a:lnTo>
                <a:close/>
              </a:path>
            </a:pathLst>
          </a:cu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91" name="Google Shape;191;p17">
            <a:extLst>
              <a:ext uri="{FF2B5EF4-FFF2-40B4-BE49-F238E27FC236}">
                <a16:creationId xmlns:a16="http://schemas.microsoft.com/office/drawing/2014/main" id="{B9D16DD0-0096-1FD1-BA18-636AE0CC8064}"/>
              </a:ext>
            </a:extLst>
          </p:cNvPr>
          <p:cNvSpPr txBox="1"/>
          <p:nvPr/>
        </p:nvSpPr>
        <p:spPr>
          <a:xfrm>
            <a:off x="3163826" y="8511531"/>
            <a:ext cx="575734" cy="369332"/>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4</a:t>
            </a:r>
            <a:endParaRPr sz="1800">
              <a:solidFill>
                <a:schemeClr val="dk1"/>
              </a:solidFill>
              <a:latin typeface="Arial"/>
              <a:ea typeface="Arial"/>
              <a:cs typeface="Arial"/>
              <a:sym typeface="Arial"/>
            </a:endParaRPr>
          </a:p>
        </p:txBody>
      </p:sp>
      <p:sp>
        <p:nvSpPr>
          <p:cNvPr id="193" name="Google Shape;193;p17">
            <a:extLst>
              <a:ext uri="{FF2B5EF4-FFF2-40B4-BE49-F238E27FC236}">
                <a16:creationId xmlns:a16="http://schemas.microsoft.com/office/drawing/2014/main" id="{3A05AA7D-04CB-56E3-95F2-D0980CC224E4}"/>
              </a:ext>
            </a:extLst>
          </p:cNvPr>
          <p:cNvSpPr txBox="1"/>
          <p:nvPr/>
        </p:nvSpPr>
        <p:spPr>
          <a:xfrm>
            <a:off x="731981" y="4407439"/>
            <a:ext cx="3560619" cy="400069"/>
          </a:xfrm>
          <a:prstGeom prst="rect">
            <a:avLst/>
          </a:prstGeom>
          <a:noFill/>
          <a:ln>
            <a:noFill/>
          </a:ln>
        </p:spPr>
        <p:txBody>
          <a:bodyPr spcFirstLastPara="1" wrap="square" lIns="91425" tIns="45700" rIns="91425" bIns="45700" anchor="t" anchorCtr="0">
            <a:spAutoFit/>
          </a:bodyPr>
          <a:lstStyle/>
          <a:p>
            <a:pPr lvl="0"/>
            <a:r>
              <a:rPr lang="en-US" sz="2000" dirty="0">
                <a:solidFill>
                  <a:schemeClr val="dk1"/>
                </a:solidFill>
                <a:latin typeface="Jost SemiBold" pitchFamily="2" charset="0"/>
                <a:ea typeface="Jost SemiBold" pitchFamily="2" charset="0"/>
                <a:cs typeface="IBM Plex Sans JP SemiBold"/>
                <a:sym typeface="IBM Plex Sans JP SemiBold"/>
              </a:rPr>
              <a:t>5. Printing Instructions</a:t>
            </a:r>
            <a:endParaRPr sz="2400" dirty="0">
              <a:solidFill>
                <a:schemeClr val="dk1"/>
              </a:solidFill>
              <a:latin typeface="Jost SemiBold" pitchFamily="2" charset="0"/>
              <a:ea typeface="Jost SemiBold" pitchFamily="2" charset="0"/>
              <a:cs typeface="IBM Plex Sans JP SemiBold"/>
              <a:sym typeface="IBM Plex Sans JP SemiBold"/>
            </a:endParaRPr>
          </a:p>
        </p:txBody>
      </p:sp>
      <p:sp>
        <p:nvSpPr>
          <p:cNvPr id="194" name="Google Shape;194;p17">
            <a:extLst>
              <a:ext uri="{FF2B5EF4-FFF2-40B4-BE49-F238E27FC236}">
                <a16:creationId xmlns:a16="http://schemas.microsoft.com/office/drawing/2014/main" id="{F589C67B-09F3-6D3A-FEB1-9E1C09161875}"/>
              </a:ext>
            </a:extLst>
          </p:cNvPr>
          <p:cNvSpPr txBox="1"/>
          <p:nvPr/>
        </p:nvSpPr>
        <p:spPr>
          <a:xfrm>
            <a:off x="672873" y="4754382"/>
            <a:ext cx="5649600" cy="708000"/>
          </a:xfrm>
          <a:prstGeom prst="rect">
            <a:avLst/>
          </a:prstGeom>
          <a:noFill/>
          <a:ln>
            <a:noFill/>
          </a:ln>
        </p:spPr>
        <p:txBody>
          <a:bodyPr spcFirstLastPara="1" wrap="square" lIns="91425" tIns="45700" rIns="91425" bIns="45700" anchor="t" anchorCtr="0">
            <a:spAutoFit/>
          </a:bodyPr>
          <a:lstStyle/>
          <a:p>
            <a:pPr lvl="0"/>
            <a:r>
              <a:rPr lang="en-US" sz="1000" dirty="0">
                <a:solidFill>
                  <a:schemeClr val="dk1"/>
                </a:solidFill>
                <a:latin typeface="Jost SemiBold" pitchFamily="2" charset="0"/>
                <a:ea typeface="Jost SemiBold" pitchFamily="2" charset="0"/>
                <a:cs typeface="IBM Plex Sans JP"/>
                <a:sym typeface="IBM Plex Sans JP"/>
              </a:rPr>
              <a:t>Printing Workflow: </a:t>
            </a:r>
            <a:r>
              <a:rPr lang="en-US" sz="1000" dirty="0">
                <a:solidFill>
                  <a:schemeClr val="dk1"/>
                </a:solidFill>
                <a:latin typeface="Jost" pitchFamily="2" charset="0"/>
                <a:ea typeface="Jost" pitchFamily="2" charset="0"/>
                <a:cs typeface="IBM Plex Sans JP"/>
                <a:sym typeface="IBM Plex Sans JP"/>
              </a:rPr>
              <a:t>This model is used to create blended filaments.</a:t>
            </a:r>
          </a:p>
          <a:p>
            <a:pPr lvl="0"/>
            <a:r>
              <a:rPr lang="en-US" sz="1000" dirty="0">
                <a:solidFill>
                  <a:schemeClr val="dk1"/>
                </a:solidFill>
                <a:latin typeface="Jost" pitchFamily="2" charset="0"/>
                <a:ea typeface="Jost" pitchFamily="2" charset="0"/>
                <a:cs typeface="IBM Plex Sans JP"/>
                <a:sym typeface="IBM Plex Sans JP"/>
              </a:rPr>
              <a:t>1. Using two commercially available filaments, print </a:t>
            </a:r>
            <a:r>
              <a:rPr lang="en-US" sz="1000" dirty="0">
                <a:solidFill>
                  <a:schemeClr val="dk1"/>
                </a:solidFill>
                <a:latin typeface="Jost Medium" pitchFamily="2" charset="0"/>
                <a:ea typeface="Jost Medium" pitchFamily="2" charset="0"/>
                <a:cs typeface="IBM Plex Sans JP"/>
                <a:sym typeface="IBM Plex Sans JP"/>
              </a:rPr>
              <a:t>Blend Filament</a:t>
            </a:r>
            <a:r>
              <a:rPr lang="en-US" sz="1000" dirty="0">
                <a:solidFill>
                  <a:schemeClr val="dk1"/>
                </a:solidFill>
                <a:latin typeface="Jost" pitchFamily="2" charset="0"/>
                <a:ea typeface="Jost" pitchFamily="2" charset="0"/>
                <a:cs typeface="IBM Plex Sans JP"/>
                <a:sym typeface="IBM Plex Sans JP"/>
              </a:rPr>
              <a:t> (Print #1).</a:t>
            </a:r>
          </a:p>
          <a:p>
            <a:pPr lvl="0"/>
            <a:r>
              <a:rPr lang="en-US" sz="1000" dirty="0">
                <a:solidFill>
                  <a:schemeClr val="dk1"/>
                </a:solidFill>
                <a:latin typeface="Jost" pitchFamily="2" charset="0"/>
                <a:ea typeface="Jost" pitchFamily="2" charset="0"/>
                <a:cs typeface="IBM Plex Sans JP"/>
                <a:sym typeface="IBM Plex Sans JP"/>
              </a:rPr>
              <a:t>2. Using this blended filament, print the model you want to create (Print #2).</a:t>
            </a:r>
          </a:p>
          <a:p>
            <a:pPr lvl="0"/>
            <a:r>
              <a:rPr lang="en-US" sz="1000" dirty="0">
                <a:solidFill>
                  <a:schemeClr val="dk1"/>
                </a:solidFill>
                <a:latin typeface="Jost" pitchFamily="2" charset="0"/>
                <a:ea typeface="Jost" pitchFamily="2" charset="0"/>
                <a:cs typeface="IBM Plex Sans JP"/>
                <a:sym typeface="IBM Plex Sans JP"/>
              </a:rPr>
              <a:t>With this two-step printing process, you can produce any shape in the color you want.</a:t>
            </a:r>
            <a:endParaRPr sz="1000" dirty="0">
              <a:latin typeface="Jost" pitchFamily="2" charset="0"/>
              <a:ea typeface="Jost" pitchFamily="2" charset="0"/>
            </a:endParaRPr>
          </a:p>
        </p:txBody>
      </p:sp>
      <p:pic>
        <p:nvPicPr>
          <p:cNvPr id="197" name="Google Shape;197;p17">
            <a:extLst>
              <a:ext uri="{FF2B5EF4-FFF2-40B4-BE49-F238E27FC236}">
                <a16:creationId xmlns:a16="http://schemas.microsoft.com/office/drawing/2014/main" id="{63CDC064-ABB1-BAE7-CBE1-20E3718FA7E3}"/>
              </a:ext>
            </a:extLst>
          </p:cNvPr>
          <p:cNvPicPr preferRelativeResize="0"/>
          <p:nvPr/>
        </p:nvPicPr>
        <p:blipFill>
          <a:blip r:embed="rId3">
            <a:alphaModFix/>
          </a:blip>
          <a:stretch>
            <a:fillRect/>
          </a:stretch>
        </p:blipFill>
        <p:spPr>
          <a:xfrm>
            <a:off x="785500" y="2258112"/>
            <a:ext cx="5536976" cy="2111324"/>
          </a:xfrm>
          <a:prstGeom prst="rect">
            <a:avLst/>
          </a:prstGeom>
          <a:noFill/>
          <a:ln>
            <a:noFill/>
          </a:ln>
        </p:spPr>
      </p:pic>
      <p:pic>
        <p:nvPicPr>
          <p:cNvPr id="199" name="Google Shape;199;p17">
            <a:extLst>
              <a:ext uri="{FF2B5EF4-FFF2-40B4-BE49-F238E27FC236}">
                <a16:creationId xmlns:a16="http://schemas.microsoft.com/office/drawing/2014/main" id="{FC5742CC-F353-0A3E-C847-B0E46385BC80}"/>
              </a:ext>
            </a:extLst>
          </p:cNvPr>
          <p:cNvPicPr preferRelativeResize="0"/>
          <p:nvPr/>
        </p:nvPicPr>
        <p:blipFill>
          <a:blip r:embed="rId4">
            <a:alphaModFix/>
          </a:blip>
          <a:stretch>
            <a:fillRect/>
          </a:stretch>
        </p:blipFill>
        <p:spPr>
          <a:xfrm>
            <a:off x="689488" y="5489451"/>
            <a:ext cx="5479024" cy="1295775"/>
          </a:xfrm>
          <a:prstGeom prst="rect">
            <a:avLst/>
          </a:prstGeom>
          <a:noFill/>
          <a:ln>
            <a:noFill/>
          </a:ln>
        </p:spPr>
      </p:pic>
      <p:sp>
        <p:nvSpPr>
          <p:cNvPr id="200" name="Google Shape;200;p17">
            <a:extLst>
              <a:ext uri="{FF2B5EF4-FFF2-40B4-BE49-F238E27FC236}">
                <a16:creationId xmlns:a16="http://schemas.microsoft.com/office/drawing/2014/main" id="{8BCCB65D-6D39-2E1A-3F36-B11B61CB63FA}"/>
              </a:ext>
            </a:extLst>
          </p:cNvPr>
          <p:cNvSpPr txBox="1"/>
          <p:nvPr/>
        </p:nvSpPr>
        <p:spPr>
          <a:xfrm>
            <a:off x="672873" y="6891023"/>
            <a:ext cx="5649600" cy="1631175"/>
          </a:xfrm>
          <a:prstGeom prst="rect">
            <a:avLst/>
          </a:prstGeom>
          <a:noFill/>
          <a:ln>
            <a:noFill/>
          </a:ln>
        </p:spPr>
        <p:txBody>
          <a:bodyPr spcFirstLastPara="1" wrap="square" lIns="91425" tIns="45700" rIns="91425" bIns="45700" anchor="t" anchorCtr="0">
            <a:spAutoFit/>
          </a:bodyPr>
          <a:lstStyle/>
          <a:p>
            <a:pPr lvl="0"/>
            <a:r>
              <a:rPr lang="en-US" dirty="0">
                <a:latin typeface="Jost SemiBold" pitchFamily="2" charset="0"/>
                <a:ea typeface="Jost SemiBold" pitchFamily="2" charset="0"/>
              </a:rPr>
              <a:t>Before Print #1 (Blend Filament)</a:t>
            </a:r>
          </a:p>
          <a:p>
            <a:pPr lvl="0"/>
            <a:endParaRPr sz="500" dirty="0">
              <a:latin typeface="Jost" pitchFamily="2" charset="0"/>
              <a:ea typeface="Jost" pitchFamily="2" charset="0"/>
            </a:endParaRPr>
          </a:p>
          <a:p>
            <a:pPr lvl="0"/>
            <a:r>
              <a:rPr lang="en-US" sz="1200" dirty="0">
                <a:latin typeface="Jost SemiBold" pitchFamily="2" charset="0"/>
                <a:ea typeface="Jost SemiBold" pitchFamily="2" charset="0"/>
              </a:rPr>
              <a:t>Required </a:t>
            </a:r>
            <a:endParaRPr sz="1200" dirty="0">
              <a:latin typeface="Jost SemiBold" pitchFamily="2" charset="0"/>
              <a:ea typeface="Jost SemiBold" pitchFamily="2" charset="0"/>
            </a:endParaRPr>
          </a:p>
          <a:p>
            <a:pPr marL="0" lvl="0" indent="0" algn="l" rtl="0">
              <a:spcBef>
                <a:spcPts val="0"/>
              </a:spcBef>
              <a:spcAft>
                <a:spcPts val="0"/>
              </a:spcAft>
              <a:buNone/>
            </a:pPr>
            <a:endParaRPr sz="400" b="1" dirty="0">
              <a:latin typeface="Jost" pitchFamily="2" charset="0"/>
              <a:ea typeface="Jost" pitchFamily="2" charset="0"/>
            </a:endParaRPr>
          </a:p>
          <a:p>
            <a:pPr lvl="0"/>
            <a:r>
              <a:rPr lang="en-US" sz="1000" dirty="0">
                <a:latin typeface="Jost" pitchFamily="2" charset="0"/>
                <a:ea typeface="Jost" pitchFamily="2" charset="0"/>
              </a:rPr>
              <a:t>・</a:t>
            </a:r>
            <a:r>
              <a:rPr lang="en-US" sz="1000" dirty="0">
                <a:latin typeface="Jost Medium" pitchFamily="2" charset="0"/>
                <a:ea typeface="Jost Medium" pitchFamily="2" charset="0"/>
              </a:rPr>
              <a:t>AMS required</a:t>
            </a:r>
          </a:p>
          <a:p>
            <a:pPr lvl="0"/>
            <a:r>
              <a:rPr lang="en-US" sz="1000" dirty="0">
                <a:latin typeface="Jost" pitchFamily="2" charset="0"/>
                <a:ea typeface="Jost" pitchFamily="2" charset="0"/>
              </a:rPr>
              <a:t>Frequent switching between two colors is necessary. Use a printer that supports switching between two or more filaments.</a:t>
            </a:r>
          </a:p>
          <a:p>
            <a:pPr lvl="0"/>
            <a:endParaRPr sz="500" dirty="0">
              <a:latin typeface="Jost" pitchFamily="2" charset="0"/>
              <a:ea typeface="Jost" pitchFamily="2" charset="0"/>
            </a:endParaRPr>
          </a:p>
          <a:p>
            <a:pPr lvl="0"/>
            <a:r>
              <a:rPr lang="en-US" sz="1000" dirty="0">
                <a:latin typeface="Jost" pitchFamily="2" charset="0"/>
                <a:ea typeface="Jost" pitchFamily="2" charset="0"/>
              </a:rPr>
              <a:t>・</a:t>
            </a:r>
            <a:r>
              <a:rPr lang="en-US" sz="1000" dirty="0">
                <a:latin typeface="Jost Medium" pitchFamily="2" charset="0"/>
                <a:ea typeface="Jost Medium" pitchFamily="2" charset="0"/>
              </a:rPr>
              <a:t>0.4 mm nozzle required</a:t>
            </a:r>
          </a:p>
          <a:p>
            <a:pPr lvl="0"/>
            <a:r>
              <a:rPr lang="en-US" sz="1000" dirty="0">
                <a:latin typeface="Jost" pitchFamily="2" charset="0"/>
                <a:ea typeface="Jost" pitchFamily="2" charset="0"/>
              </a:rPr>
              <a:t>A 0.4 mm nozzle is essential due to the combination of a relatively thick first layer and thin layers for maintaining mixing accuracy. 0.4 mm high-flow nozzles are acceptable.</a:t>
            </a:r>
            <a:endParaRPr sz="1000" dirty="0">
              <a:latin typeface="Jost" pitchFamily="2" charset="0"/>
              <a:ea typeface="Jost" pitchFamily="2" charset="0"/>
            </a:endParaRPr>
          </a:p>
        </p:txBody>
      </p:sp>
      <p:sp>
        <p:nvSpPr>
          <p:cNvPr id="2" name="Google Shape;195;p17">
            <a:extLst>
              <a:ext uri="{FF2B5EF4-FFF2-40B4-BE49-F238E27FC236}">
                <a16:creationId xmlns:a16="http://schemas.microsoft.com/office/drawing/2014/main" id="{FFD0E31F-6CF8-1D9D-0354-C7F2428900AC}"/>
              </a:ext>
            </a:extLst>
          </p:cNvPr>
          <p:cNvSpPr txBox="1"/>
          <p:nvPr/>
        </p:nvSpPr>
        <p:spPr>
          <a:xfrm>
            <a:off x="597291" y="582386"/>
            <a:ext cx="5649600" cy="1615787"/>
          </a:xfrm>
          <a:prstGeom prst="rect">
            <a:avLst/>
          </a:prstGeom>
          <a:noFill/>
          <a:ln>
            <a:noFill/>
          </a:ln>
        </p:spPr>
        <p:txBody>
          <a:bodyPr spcFirstLastPara="1" wrap="square" lIns="91425" tIns="45700" rIns="91425" bIns="45700" anchor="t" anchorCtr="0">
            <a:spAutoFit/>
          </a:bodyPr>
          <a:lstStyle/>
          <a:p>
            <a:pPr lvl="0"/>
            <a:r>
              <a:rPr lang="en-US" sz="1000" dirty="0">
                <a:solidFill>
                  <a:schemeClr val="dk1"/>
                </a:solidFill>
                <a:latin typeface="Jost" pitchFamily="2" charset="0"/>
                <a:ea typeface="Jost" pitchFamily="2" charset="0"/>
                <a:cs typeface="IBM Plex Sans JP"/>
                <a:sym typeface="IBM Plex Sans JP"/>
              </a:rPr>
              <a:t>Cyan, Magenta, and Yellow are evenly spaced on the color wheel and represent an ideal combination; however, a 50% mixture results in a slight drop in saturation. For some users, this may deviate from their vision of a “vivid intermediate color.”</a:t>
            </a:r>
          </a:p>
          <a:p>
            <a:pPr lvl="0"/>
            <a:endParaRPr lang="en-US" sz="500" dirty="0">
              <a:solidFill>
                <a:schemeClr val="dk1"/>
              </a:solidFill>
              <a:latin typeface="Jost" pitchFamily="2" charset="0"/>
              <a:ea typeface="Jost" pitchFamily="2" charset="0"/>
              <a:cs typeface="IBM Plex Sans JP"/>
              <a:sym typeface="IBM Plex Sans JP"/>
            </a:endParaRPr>
          </a:p>
          <a:p>
            <a:pPr lvl="0"/>
            <a:r>
              <a:rPr lang="en-US" sz="1000" dirty="0">
                <a:solidFill>
                  <a:schemeClr val="dk1"/>
                </a:solidFill>
                <a:latin typeface="Jost" pitchFamily="2" charset="0"/>
                <a:ea typeface="Jost" pitchFamily="2" charset="0"/>
                <a:cs typeface="IBM Plex Sans JP"/>
                <a:sym typeface="IBM Plex Sans JP"/>
              </a:rPr>
              <a:t>Additionally, Jade White and Black have a large difference in lightness and tend to result in a mottled appearance.</a:t>
            </a:r>
          </a:p>
          <a:p>
            <a:pPr lvl="0"/>
            <a:endParaRPr lang="en-US" sz="1000" dirty="0">
              <a:solidFill>
                <a:schemeClr val="dk1"/>
              </a:solidFill>
              <a:latin typeface="Jost" pitchFamily="2" charset="0"/>
              <a:ea typeface="Jost" pitchFamily="2" charset="0"/>
              <a:cs typeface="IBM Plex Sans JP"/>
              <a:sym typeface="IBM Plex Sans JP"/>
            </a:endParaRPr>
          </a:p>
          <a:p>
            <a:pPr lvl="0"/>
            <a:r>
              <a:rPr lang="en-US" sz="1000" dirty="0">
                <a:solidFill>
                  <a:schemeClr val="dk1"/>
                </a:solidFill>
                <a:latin typeface="Jost" pitchFamily="2" charset="0"/>
                <a:ea typeface="Jost" pitchFamily="2" charset="0"/>
                <a:cs typeface="IBM Plex Sans JP"/>
                <a:sym typeface="IBM Plex Sans JP"/>
              </a:rPr>
              <a:t>Therefore, for these color ranges, we propose the following bridge colors (filaments):</a:t>
            </a:r>
          </a:p>
          <a:p>
            <a:pPr lvl="0"/>
            <a:endParaRPr lang="en-US" sz="400" dirty="0">
              <a:solidFill>
                <a:schemeClr val="dk1"/>
              </a:solidFill>
              <a:latin typeface="Jost" pitchFamily="2" charset="0"/>
              <a:ea typeface="Jost" pitchFamily="2" charset="0"/>
              <a:cs typeface="IBM Plex Sans JP"/>
              <a:sym typeface="IBM Plex Sans JP"/>
            </a:endParaRPr>
          </a:p>
          <a:p>
            <a:pPr lvl="0"/>
            <a:r>
              <a:rPr lang="en-US" sz="1000" dirty="0">
                <a:solidFill>
                  <a:schemeClr val="dk1"/>
                </a:solidFill>
                <a:latin typeface="Jost" pitchFamily="2" charset="0"/>
                <a:ea typeface="Jost" pitchFamily="2" charset="0"/>
                <a:cs typeface="IBM Plex Sans JP"/>
                <a:sym typeface="IBM Plex Sans JP"/>
              </a:rPr>
              <a:t>	Cyan‒Yellow → Bamboo Green,      Yellow‒Magenta → Orange</a:t>
            </a:r>
          </a:p>
          <a:p>
            <a:pPr lvl="0"/>
            <a:r>
              <a:rPr lang="en-US" sz="1000" dirty="0">
                <a:solidFill>
                  <a:schemeClr val="dk1"/>
                </a:solidFill>
                <a:latin typeface="Jost" pitchFamily="2" charset="0"/>
                <a:ea typeface="Jost" pitchFamily="2" charset="0"/>
                <a:cs typeface="IBM Plex Sans JP"/>
                <a:sym typeface="IBM Plex Sans JP"/>
              </a:rPr>
              <a:t>	Magenta‒Cyan → Purple,	     Jade White‒Black → Gray</a:t>
            </a:r>
            <a:endParaRPr sz="1000" b="1" dirty="0">
              <a:solidFill>
                <a:schemeClr val="dk1"/>
              </a:solidFill>
              <a:latin typeface="Jost" pitchFamily="2" charset="0"/>
              <a:ea typeface="Jost" pitchFamily="2" charset="0"/>
              <a:cs typeface="IBM Plex Sans JP"/>
              <a:sym typeface="IBM Plex Sans JP"/>
            </a:endParaRPr>
          </a:p>
        </p:txBody>
      </p:sp>
    </p:spTree>
    <p:extLst>
      <p:ext uri="{BB962C8B-B14F-4D97-AF65-F5344CB8AC3E}">
        <p14:creationId xmlns:p14="http://schemas.microsoft.com/office/powerpoint/2010/main" val="21196302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4">
          <a:extLst>
            <a:ext uri="{FF2B5EF4-FFF2-40B4-BE49-F238E27FC236}">
              <a16:creationId xmlns:a16="http://schemas.microsoft.com/office/drawing/2014/main" id="{7D0AFF23-968C-3986-5ED8-918BBAECD032}"/>
            </a:ext>
          </a:extLst>
        </p:cNvPr>
        <p:cNvGrpSpPr/>
        <p:nvPr/>
      </p:nvGrpSpPr>
      <p:grpSpPr>
        <a:xfrm>
          <a:off x="0" y="0"/>
          <a:ext cx="0" cy="0"/>
          <a:chOff x="0" y="0"/>
          <a:chExt cx="0" cy="0"/>
        </a:xfrm>
      </p:grpSpPr>
      <p:sp>
        <p:nvSpPr>
          <p:cNvPr id="205" name="Google Shape;205;p18">
            <a:extLst>
              <a:ext uri="{FF2B5EF4-FFF2-40B4-BE49-F238E27FC236}">
                <a16:creationId xmlns:a16="http://schemas.microsoft.com/office/drawing/2014/main" id="{3B642466-98D2-80C4-4DD0-06F5F8E7EAB1}"/>
              </a:ext>
            </a:extLst>
          </p:cNvPr>
          <p:cNvSpPr/>
          <p:nvPr/>
        </p:nvSpPr>
        <p:spPr>
          <a:xfrm>
            <a:off x="51086" y="45268"/>
            <a:ext cx="6790200" cy="9053400"/>
          </a:xfrm>
          <a:prstGeom prst="rect">
            <a:avLst/>
          </a:prstGeom>
          <a:gradFill>
            <a:gsLst>
              <a:gs pos="0">
                <a:srgbClr val="EE00B0"/>
              </a:gs>
              <a:gs pos="10000">
                <a:srgbClr val="EE00B0"/>
              </a:gs>
              <a:gs pos="50000">
                <a:srgbClr val="6200E8"/>
              </a:gs>
              <a:gs pos="90000">
                <a:srgbClr val="0095E5"/>
              </a:gs>
              <a:gs pos="100000">
                <a:srgbClr val="0095E5"/>
              </a:gs>
            </a:gsLst>
            <a:lin ang="1800004"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 name="フリーフォーム: 図形 4">
            <a:extLst>
              <a:ext uri="{FF2B5EF4-FFF2-40B4-BE49-F238E27FC236}">
                <a16:creationId xmlns:a16="http://schemas.microsoft.com/office/drawing/2014/main" id="{37E0F777-1C22-6043-14C8-A7CA5E6000A4}"/>
              </a:ext>
            </a:extLst>
          </p:cNvPr>
          <p:cNvSpPr/>
          <p:nvPr/>
        </p:nvSpPr>
        <p:spPr>
          <a:xfrm>
            <a:off x="17051" y="5531"/>
            <a:ext cx="6858000" cy="9144000"/>
          </a:xfrm>
          <a:custGeom>
            <a:avLst/>
            <a:gdLst>
              <a:gd name="csX0" fmla="*/ 3717793 w 6858000"/>
              <a:gd name="csY0" fmla="*/ 8656386 h 9144000"/>
              <a:gd name="csX1" fmla="*/ 3717793 w 6858000"/>
              <a:gd name="csY1" fmla="*/ 8710386 h 9144000"/>
              <a:gd name="csX2" fmla="*/ 6309793 w 6858000"/>
              <a:gd name="csY2" fmla="*/ 8710386 h 9144000"/>
              <a:gd name="csX3" fmla="*/ 6309793 w 6858000"/>
              <a:gd name="csY3" fmla="*/ 8656386 h 9144000"/>
              <a:gd name="csX4" fmla="*/ 537487 w 6858000"/>
              <a:gd name="csY4" fmla="*/ 8656386 h 9144000"/>
              <a:gd name="csX5" fmla="*/ 537487 w 6858000"/>
              <a:gd name="csY5" fmla="*/ 8710386 h 9144000"/>
              <a:gd name="csX6" fmla="*/ 3129487 w 6858000"/>
              <a:gd name="csY6" fmla="*/ 8710386 h 9144000"/>
              <a:gd name="csX7" fmla="*/ 3129487 w 6858000"/>
              <a:gd name="csY7" fmla="*/ 8656386 h 9144000"/>
              <a:gd name="csX8" fmla="*/ 657249 w 6858000"/>
              <a:gd name="csY8" fmla="*/ 7172103 h 9144000"/>
              <a:gd name="csX9" fmla="*/ 594999 w 6858000"/>
              <a:gd name="csY9" fmla="*/ 7235143 h 9144000"/>
              <a:gd name="csX10" fmla="*/ 657249 w 6858000"/>
              <a:gd name="csY10" fmla="*/ 7298183 h 9144000"/>
              <a:gd name="csX11" fmla="*/ 719499 w 6858000"/>
              <a:gd name="csY11" fmla="*/ 7235143 h 9144000"/>
              <a:gd name="csX12" fmla="*/ 657249 w 6858000"/>
              <a:gd name="csY12" fmla="*/ 7172103 h 9144000"/>
              <a:gd name="csX13" fmla="*/ 537486 w 6858000"/>
              <a:gd name="csY13" fmla="*/ 427887 h 9144000"/>
              <a:gd name="csX14" fmla="*/ 537486 w 6858000"/>
              <a:gd name="csY14" fmla="*/ 481887 h 9144000"/>
              <a:gd name="csX15" fmla="*/ 6293586 w 6858000"/>
              <a:gd name="csY15" fmla="*/ 481887 h 9144000"/>
              <a:gd name="csX16" fmla="*/ 6293586 w 6858000"/>
              <a:gd name="csY16" fmla="*/ 427887 h 9144000"/>
              <a:gd name="csX17" fmla="*/ 0 w 6858000"/>
              <a:gd name="csY17" fmla="*/ 0 h 9144000"/>
              <a:gd name="csX18" fmla="*/ 6858000 w 6858000"/>
              <a:gd name="csY18" fmla="*/ 0 h 9144000"/>
              <a:gd name="csX19" fmla="*/ 6858000 w 6858000"/>
              <a:gd name="csY19" fmla="*/ 9144000 h 9144000"/>
              <a:gd name="csX20" fmla="*/ 0 w 6858000"/>
              <a:gd name="csY20" fmla="*/ 9144000 h 9144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Lst>
            <a:rect l="l" t="t" r="r" b="b"/>
            <a:pathLst>
              <a:path w="6858000" h="9144000">
                <a:moveTo>
                  <a:pt x="3717793" y="8656386"/>
                </a:moveTo>
                <a:lnTo>
                  <a:pt x="3717793" y="8710386"/>
                </a:lnTo>
                <a:lnTo>
                  <a:pt x="6309793" y="8710386"/>
                </a:lnTo>
                <a:lnTo>
                  <a:pt x="6309793" y="8656386"/>
                </a:lnTo>
                <a:close/>
                <a:moveTo>
                  <a:pt x="537487" y="8656386"/>
                </a:moveTo>
                <a:lnTo>
                  <a:pt x="537487" y="8710386"/>
                </a:lnTo>
                <a:lnTo>
                  <a:pt x="3129487" y="8710386"/>
                </a:lnTo>
                <a:lnTo>
                  <a:pt x="3129487" y="8656386"/>
                </a:lnTo>
                <a:close/>
                <a:moveTo>
                  <a:pt x="657249" y="7172103"/>
                </a:moveTo>
                <a:cubicBezTo>
                  <a:pt x="622869" y="7172103"/>
                  <a:pt x="594999" y="7200327"/>
                  <a:pt x="594999" y="7235143"/>
                </a:cubicBezTo>
                <a:cubicBezTo>
                  <a:pt x="594999" y="7269959"/>
                  <a:pt x="622869" y="7298183"/>
                  <a:pt x="657249" y="7298183"/>
                </a:cubicBezTo>
                <a:cubicBezTo>
                  <a:pt x="691629" y="7298183"/>
                  <a:pt x="719499" y="7269959"/>
                  <a:pt x="719499" y="7235143"/>
                </a:cubicBezTo>
                <a:cubicBezTo>
                  <a:pt x="719499" y="7200327"/>
                  <a:pt x="691629" y="7172103"/>
                  <a:pt x="657249" y="7172103"/>
                </a:cubicBezTo>
                <a:close/>
                <a:moveTo>
                  <a:pt x="537486" y="427887"/>
                </a:moveTo>
                <a:lnTo>
                  <a:pt x="537486" y="481887"/>
                </a:lnTo>
                <a:lnTo>
                  <a:pt x="6293586" y="481887"/>
                </a:lnTo>
                <a:lnTo>
                  <a:pt x="6293586" y="427887"/>
                </a:lnTo>
                <a:close/>
                <a:moveTo>
                  <a:pt x="0" y="0"/>
                </a:moveTo>
                <a:lnTo>
                  <a:pt x="6858000" y="0"/>
                </a:lnTo>
                <a:lnTo>
                  <a:pt x="6858000" y="9144000"/>
                </a:lnTo>
                <a:lnTo>
                  <a:pt x="0" y="9144000"/>
                </a:lnTo>
                <a:close/>
              </a:path>
            </a:pathLst>
          </a:cu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15" name="Google Shape;215;p18">
            <a:extLst>
              <a:ext uri="{FF2B5EF4-FFF2-40B4-BE49-F238E27FC236}">
                <a16:creationId xmlns:a16="http://schemas.microsoft.com/office/drawing/2014/main" id="{756D55B6-98C2-AD22-1910-608A1F93FCC6}"/>
              </a:ext>
            </a:extLst>
          </p:cNvPr>
          <p:cNvSpPr txBox="1"/>
          <p:nvPr/>
        </p:nvSpPr>
        <p:spPr>
          <a:xfrm>
            <a:off x="3163826" y="8511531"/>
            <a:ext cx="575700" cy="369300"/>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800">
                <a:solidFill>
                  <a:schemeClr val="dk1"/>
                </a:solidFill>
              </a:rPr>
              <a:t>5</a:t>
            </a:r>
            <a:endParaRPr sz="1800">
              <a:solidFill>
                <a:schemeClr val="dk1"/>
              </a:solidFill>
              <a:latin typeface="Arial"/>
              <a:ea typeface="Arial"/>
              <a:cs typeface="Arial"/>
              <a:sym typeface="Arial"/>
            </a:endParaRPr>
          </a:p>
        </p:txBody>
      </p:sp>
      <p:sp>
        <p:nvSpPr>
          <p:cNvPr id="216" name="Google Shape;216;p18">
            <a:extLst>
              <a:ext uri="{FF2B5EF4-FFF2-40B4-BE49-F238E27FC236}">
                <a16:creationId xmlns:a16="http://schemas.microsoft.com/office/drawing/2014/main" id="{9EECA24B-7A0B-E9ED-0E8C-3D70EB7E3FA7}"/>
              </a:ext>
            </a:extLst>
          </p:cNvPr>
          <p:cNvSpPr txBox="1"/>
          <p:nvPr/>
        </p:nvSpPr>
        <p:spPr>
          <a:xfrm>
            <a:off x="672873" y="5324372"/>
            <a:ext cx="5649600" cy="1715814"/>
          </a:xfrm>
          <a:prstGeom prst="rect">
            <a:avLst/>
          </a:prstGeom>
          <a:noFill/>
          <a:ln>
            <a:noFill/>
          </a:ln>
        </p:spPr>
        <p:txBody>
          <a:bodyPr spcFirstLastPara="1" wrap="square" lIns="91425" tIns="45700" rIns="91425" bIns="45700" anchor="t" anchorCtr="0">
            <a:spAutoFit/>
          </a:bodyPr>
          <a:lstStyle/>
          <a:p>
            <a:pPr lvl="0"/>
            <a:r>
              <a:rPr lang="en-US" sz="1200" b="1" dirty="0">
                <a:solidFill>
                  <a:schemeClr val="dk1"/>
                </a:solidFill>
                <a:latin typeface="Jost SemiBold" pitchFamily="2" charset="0"/>
                <a:ea typeface="Jost SemiBold" pitchFamily="2" charset="0"/>
                <a:cs typeface="IBM Plex Sans JP"/>
                <a:sym typeface="IBM Plex Sans JP"/>
              </a:rPr>
              <a:t>Not Recommended </a:t>
            </a:r>
            <a:endParaRPr sz="1200" b="1" dirty="0">
              <a:solidFill>
                <a:schemeClr val="dk1"/>
              </a:solidFill>
              <a:latin typeface="Jost SemiBold" pitchFamily="2" charset="0"/>
              <a:ea typeface="Jost SemiBold" pitchFamily="2" charset="0"/>
              <a:cs typeface="IBM Plex Sans JP"/>
              <a:sym typeface="IBM Plex Sans JP"/>
            </a:endParaRPr>
          </a:p>
          <a:p>
            <a:pPr marL="0" marR="0" lvl="0" indent="0" algn="l" rtl="0">
              <a:spcBef>
                <a:spcPts val="0"/>
              </a:spcBef>
              <a:spcAft>
                <a:spcPts val="0"/>
              </a:spcAft>
              <a:buNone/>
            </a:pPr>
            <a:endParaRPr sz="500" b="1" dirty="0">
              <a:solidFill>
                <a:schemeClr val="dk1"/>
              </a:solidFill>
              <a:latin typeface="Jost" pitchFamily="2" charset="0"/>
              <a:ea typeface="Jost" pitchFamily="2" charset="0"/>
              <a:cs typeface="IBM Plex Sans JP"/>
              <a:sym typeface="IBM Plex Sans JP"/>
            </a:endParaRPr>
          </a:p>
          <a:p>
            <a:pPr lvl="0"/>
            <a:r>
              <a:rPr lang="en-US" sz="1050" dirty="0">
                <a:solidFill>
                  <a:schemeClr val="dk1"/>
                </a:solidFill>
                <a:latin typeface="Jost" pitchFamily="2" charset="0"/>
                <a:ea typeface="Jost" pitchFamily="2" charset="0"/>
                <a:cs typeface="IBM Plex Sans JP"/>
                <a:sym typeface="IBM Plex Sans JP"/>
              </a:rPr>
              <a:t>・</a:t>
            </a:r>
            <a:r>
              <a:rPr lang="en-US" sz="1050" dirty="0">
                <a:solidFill>
                  <a:schemeClr val="dk1"/>
                </a:solidFill>
                <a:latin typeface="Jost Medium" pitchFamily="2" charset="0"/>
                <a:ea typeface="Jost Medium" pitchFamily="2" charset="0"/>
                <a:cs typeface="IBM Plex Sans JP"/>
                <a:sym typeface="IBM Plex Sans JP"/>
              </a:rPr>
              <a:t>Glue</a:t>
            </a:r>
          </a:p>
          <a:p>
            <a:pPr lvl="0"/>
            <a:r>
              <a:rPr lang="en-US" sz="1000" dirty="0">
                <a:solidFill>
                  <a:schemeClr val="dk1"/>
                </a:solidFill>
                <a:latin typeface="Jost" pitchFamily="2" charset="0"/>
                <a:ea typeface="Jost" pitchFamily="2" charset="0"/>
                <a:cs typeface="IBM Plex Sans JP"/>
                <a:sym typeface="IBM Plex Sans JP"/>
              </a:rPr>
              <a:t>Glue may clog the nozzle during Print #2.</a:t>
            </a:r>
          </a:p>
          <a:p>
            <a:pPr lvl="0"/>
            <a:endParaRPr sz="1050" dirty="0">
              <a:solidFill>
                <a:schemeClr val="dk1"/>
              </a:solidFill>
              <a:latin typeface="Jost" pitchFamily="2" charset="0"/>
              <a:ea typeface="Jost" pitchFamily="2" charset="0"/>
              <a:cs typeface="IBM Plex Sans JP"/>
              <a:sym typeface="IBM Plex Sans JP"/>
            </a:endParaRPr>
          </a:p>
          <a:p>
            <a:pPr lvl="0"/>
            <a:r>
              <a:rPr lang="en-US" sz="1050" dirty="0">
                <a:solidFill>
                  <a:schemeClr val="dk1"/>
                </a:solidFill>
                <a:latin typeface="Jost" pitchFamily="2" charset="0"/>
                <a:ea typeface="Jost" pitchFamily="2" charset="0"/>
                <a:cs typeface="IBM Plex Sans JP"/>
                <a:sym typeface="IBM Plex Sans JP"/>
              </a:rPr>
              <a:t>・</a:t>
            </a:r>
            <a:r>
              <a:rPr lang="en-US" sz="1050" dirty="0">
                <a:solidFill>
                  <a:schemeClr val="dk1"/>
                </a:solidFill>
                <a:latin typeface="Jost Medium" pitchFamily="2" charset="0"/>
                <a:ea typeface="Jost Medium" pitchFamily="2" charset="0"/>
                <a:cs typeface="IBM Plex Sans JP"/>
                <a:sym typeface="IBM Plex Sans JP"/>
              </a:rPr>
              <a:t>Mixing different material types</a:t>
            </a:r>
          </a:p>
          <a:p>
            <a:pPr lvl="0"/>
            <a:r>
              <a:rPr lang="en-US" sz="1000" dirty="0">
                <a:solidFill>
                  <a:schemeClr val="dk1"/>
                </a:solidFill>
                <a:latin typeface="Jost" pitchFamily="2" charset="0"/>
                <a:ea typeface="Jost" pitchFamily="2" charset="0"/>
                <a:cs typeface="IBM Plex Sans JP"/>
                <a:sym typeface="IBM Plex Sans JP"/>
              </a:rPr>
              <a:t>Filaments with different printing temperatures may clog the nozzle during Print #2. Combinations such as PLA Basic and PLA Matte (same temperature and same material type) may work.</a:t>
            </a:r>
          </a:p>
          <a:p>
            <a:pPr marL="0" marR="0" lvl="0" indent="0" algn="l" rtl="0">
              <a:spcBef>
                <a:spcPts val="0"/>
              </a:spcBef>
              <a:spcAft>
                <a:spcPts val="0"/>
              </a:spcAft>
              <a:buNone/>
            </a:pPr>
            <a:endParaRPr sz="500" dirty="0">
              <a:solidFill>
                <a:schemeClr val="dk1"/>
              </a:solidFill>
              <a:latin typeface="Jost" pitchFamily="2" charset="0"/>
              <a:ea typeface="Jost" pitchFamily="2" charset="0"/>
              <a:cs typeface="IBM Plex Sans JP"/>
              <a:sym typeface="IBM Plex Sans JP"/>
            </a:endParaRPr>
          </a:p>
          <a:p>
            <a:pPr lvl="0"/>
            <a:r>
              <a:rPr lang="en-US" sz="1000" dirty="0">
                <a:solidFill>
                  <a:schemeClr val="dk1"/>
                </a:solidFill>
                <a:latin typeface="Jost" pitchFamily="2" charset="0"/>
                <a:ea typeface="Jost" pitchFamily="2" charset="0"/>
                <a:cs typeface="IBM Plex Sans JP"/>
                <a:sym typeface="IBM Plex Sans JP"/>
              </a:rPr>
              <a:t>As a general rule, use </a:t>
            </a:r>
            <a:r>
              <a:rPr lang="en-US" sz="1000" b="1" dirty="0">
                <a:solidFill>
                  <a:schemeClr val="dk1"/>
                </a:solidFill>
                <a:latin typeface="Jost" pitchFamily="2" charset="0"/>
                <a:ea typeface="Jost" pitchFamily="2" charset="0"/>
                <a:cs typeface="IBM Plex Sans JP"/>
                <a:sym typeface="IBM Plex Sans JP"/>
              </a:rPr>
              <a:t>different colors of the same product from the same manufacturer</a:t>
            </a:r>
            <a:r>
              <a:rPr lang="en-US" sz="1000" dirty="0">
                <a:solidFill>
                  <a:schemeClr val="dk1"/>
                </a:solidFill>
                <a:latin typeface="Jost" pitchFamily="2" charset="0"/>
                <a:ea typeface="Jost" pitchFamily="2" charset="0"/>
                <a:cs typeface="IBM Plex Sans JP"/>
                <a:sym typeface="IBM Plex Sans JP"/>
              </a:rPr>
              <a:t>. Try other combinations at your own risk.</a:t>
            </a:r>
            <a:endParaRPr sz="1000" dirty="0">
              <a:latin typeface="Jost" pitchFamily="2" charset="0"/>
              <a:ea typeface="Jost" pitchFamily="2" charset="0"/>
            </a:endParaRPr>
          </a:p>
        </p:txBody>
      </p:sp>
      <p:sp>
        <p:nvSpPr>
          <p:cNvPr id="217" name="Google Shape;217;p18">
            <a:extLst>
              <a:ext uri="{FF2B5EF4-FFF2-40B4-BE49-F238E27FC236}">
                <a16:creationId xmlns:a16="http://schemas.microsoft.com/office/drawing/2014/main" id="{5AA2ADE1-71E3-6712-81A8-E51CF7FACD6D}"/>
              </a:ext>
            </a:extLst>
          </p:cNvPr>
          <p:cNvSpPr txBox="1"/>
          <p:nvPr/>
        </p:nvSpPr>
        <p:spPr>
          <a:xfrm>
            <a:off x="672873" y="608803"/>
            <a:ext cx="5649600" cy="1031011"/>
          </a:xfrm>
          <a:prstGeom prst="rect">
            <a:avLst/>
          </a:prstGeom>
          <a:noFill/>
          <a:ln>
            <a:noFill/>
          </a:ln>
        </p:spPr>
        <p:txBody>
          <a:bodyPr spcFirstLastPara="1" wrap="square" lIns="91425" tIns="45700" rIns="91425" bIns="45700" anchor="t" anchorCtr="0">
            <a:spAutoFit/>
          </a:bodyPr>
          <a:lstStyle/>
          <a:p>
            <a:pPr lvl="0"/>
            <a:r>
              <a:rPr lang="en-US" sz="1050" dirty="0">
                <a:latin typeface="Jost" pitchFamily="2" charset="0"/>
                <a:ea typeface="Jost" pitchFamily="2" charset="0"/>
              </a:rPr>
              <a:t>・</a:t>
            </a:r>
            <a:r>
              <a:rPr lang="en-US" sz="1050" dirty="0">
                <a:latin typeface="Jost Medium" pitchFamily="2" charset="0"/>
                <a:ea typeface="Jost Medium" pitchFamily="2" charset="0"/>
              </a:rPr>
              <a:t>Degrease the plate and your hands</a:t>
            </a:r>
          </a:p>
          <a:p>
            <a:pPr lvl="0"/>
            <a:r>
              <a:rPr lang="en-US" sz="1000" dirty="0">
                <a:latin typeface="Jost" pitchFamily="2" charset="0"/>
                <a:ea typeface="Jost" pitchFamily="2" charset="0"/>
              </a:rPr>
              <a:t>This model is very sensitive to adhesion. Ensure thorough cleaning. If adhesion remains difficult, consider using a smaller model size.</a:t>
            </a:r>
          </a:p>
          <a:p>
            <a:pPr lvl="0"/>
            <a:endParaRPr sz="1000" dirty="0">
              <a:latin typeface="Jost" pitchFamily="2" charset="0"/>
              <a:ea typeface="Jost" pitchFamily="2" charset="0"/>
            </a:endParaRPr>
          </a:p>
          <a:p>
            <a:pPr lvl="0"/>
            <a:r>
              <a:rPr lang="ja-JP" altLang="en-US" sz="1050" dirty="0">
                <a:latin typeface="Jost Medium" pitchFamily="2" charset="0"/>
                <a:ea typeface="Jost" pitchFamily="2" charset="0"/>
              </a:rPr>
              <a:t>・</a:t>
            </a:r>
            <a:r>
              <a:rPr lang="en-US" sz="1050" dirty="0">
                <a:latin typeface="Jost Medium" pitchFamily="2" charset="0"/>
                <a:ea typeface="Jost Medium" pitchFamily="2" charset="0"/>
              </a:rPr>
              <a:t>Adhesion</a:t>
            </a:r>
          </a:p>
          <a:p>
            <a:pPr lvl="0"/>
            <a:r>
              <a:rPr lang="en-US" sz="1000" dirty="0">
                <a:latin typeface="Jost" pitchFamily="2" charset="0"/>
                <a:ea typeface="Jost" pitchFamily="2" charset="0"/>
              </a:rPr>
              <a:t>Adhesion varies depending on the build plate and filament material. Please refer to the table below.</a:t>
            </a:r>
            <a:endParaRPr sz="900" dirty="0">
              <a:latin typeface="Jost" pitchFamily="2" charset="0"/>
              <a:ea typeface="Jost" pitchFamily="2" charset="0"/>
            </a:endParaRPr>
          </a:p>
        </p:txBody>
      </p:sp>
      <p:sp>
        <p:nvSpPr>
          <p:cNvPr id="218" name="Google Shape;218;p18">
            <a:extLst>
              <a:ext uri="{FF2B5EF4-FFF2-40B4-BE49-F238E27FC236}">
                <a16:creationId xmlns:a16="http://schemas.microsoft.com/office/drawing/2014/main" id="{3CCB2147-F71E-F9EF-F879-0C8AFB5C5718}"/>
              </a:ext>
            </a:extLst>
          </p:cNvPr>
          <p:cNvSpPr txBox="1"/>
          <p:nvPr/>
        </p:nvSpPr>
        <p:spPr>
          <a:xfrm>
            <a:off x="672873" y="3717678"/>
            <a:ext cx="5649600" cy="400200"/>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en-US" sz="1000"/>
              <a:t>・プレートと手の脱脂 本モデルは定着性がシビアです。十分な脱脂を行って、定着性を高めてください。 定着が困難な場合は1サイズ小さいモデルを検討してください。 </a:t>
            </a:r>
            <a:endParaRPr sz="1000"/>
          </a:p>
        </p:txBody>
      </p:sp>
      <p:pic>
        <p:nvPicPr>
          <p:cNvPr id="219" name="Google Shape;219;p18">
            <a:extLst>
              <a:ext uri="{FF2B5EF4-FFF2-40B4-BE49-F238E27FC236}">
                <a16:creationId xmlns:a16="http://schemas.microsoft.com/office/drawing/2014/main" id="{3658AE49-EF6F-C849-6246-967F7496EC26}"/>
              </a:ext>
            </a:extLst>
          </p:cNvPr>
          <p:cNvPicPr preferRelativeResize="0"/>
          <p:nvPr/>
        </p:nvPicPr>
        <p:blipFill>
          <a:blip r:embed="rId3">
            <a:alphaModFix/>
          </a:blip>
          <a:stretch>
            <a:fillRect/>
          </a:stretch>
        </p:blipFill>
        <p:spPr>
          <a:xfrm>
            <a:off x="540573" y="1689330"/>
            <a:ext cx="5776852" cy="3506716"/>
          </a:xfrm>
          <a:prstGeom prst="rect">
            <a:avLst/>
          </a:prstGeom>
          <a:noFill/>
          <a:ln>
            <a:noFill/>
          </a:ln>
        </p:spPr>
      </p:pic>
      <p:sp>
        <p:nvSpPr>
          <p:cNvPr id="220" name="Google Shape;220;p18">
            <a:extLst>
              <a:ext uri="{FF2B5EF4-FFF2-40B4-BE49-F238E27FC236}">
                <a16:creationId xmlns:a16="http://schemas.microsoft.com/office/drawing/2014/main" id="{F595EEA2-CE1A-95E4-59D7-482B89536512}"/>
              </a:ext>
            </a:extLst>
          </p:cNvPr>
          <p:cNvSpPr txBox="1"/>
          <p:nvPr/>
        </p:nvSpPr>
        <p:spPr>
          <a:xfrm>
            <a:off x="672873" y="7120761"/>
            <a:ext cx="5649600" cy="1469593"/>
          </a:xfrm>
          <a:prstGeom prst="rect">
            <a:avLst/>
          </a:prstGeom>
          <a:noFill/>
          <a:ln>
            <a:noFill/>
          </a:ln>
        </p:spPr>
        <p:txBody>
          <a:bodyPr spcFirstLastPara="1" wrap="square" lIns="91425" tIns="45700" rIns="91425" bIns="45700" anchor="t" anchorCtr="0">
            <a:spAutoFit/>
          </a:bodyPr>
          <a:lstStyle/>
          <a:p>
            <a:pPr lvl="0"/>
            <a:r>
              <a:rPr lang="en-US" sz="1200" b="1" dirty="0">
                <a:solidFill>
                  <a:schemeClr val="dk1"/>
                </a:solidFill>
                <a:latin typeface="Jost SemiBold" pitchFamily="2" charset="0"/>
                <a:ea typeface="Jost SemiBold" pitchFamily="2" charset="0"/>
                <a:cs typeface="IBM Plex Sans JP"/>
                <a:sym typeface="IBM Plex Sans JP"/>
              </a:rPr>
              <a:t>Before Print #2 (Final Print)</a:t>
            </a:r>
          </a:p>
          <a:p>
            <a:pPr lvl="0"/>
            <a:endParaRPr sz="600" b="1" dirty="0">
              <a:solidFill>
                <a:schemeClr val="dk1"/>
              </a:solidFill>
              <a:latin typeface="Jost" pitchFamily="2" charset="0"/>
              <a:ea typeface="Jost" pitchFamily="2" charset="0"/>
              <a:cs typeface="IBM Plex Sans JP"/>
              <a:sym typeface="IBM Plex Sans JP"/>
            </a:endParaRPr>
          </a:p>
          <a:p>
            <a:pPr lvl="0"/>
            <a:r>
              <a:rPr lang="en-US" sz="1050" dirty="0">
                <a:solidFill>
                  <a:schemeClr val="dk1"/>
                </a:solidFill>
                <a:latin typeface="Jost" pitchFamily="2" charset="0"/>
                <a:ea typeface="Jost" pitchFamily="2" charset="0"/>
                <a:cs typeface="IBM Plex Sans JP"/>
                <a:sym typeface="IBM Plex Sans JP"/>
              </a:rPr>
              <a:t>・</a:t>
            </a:r>
            <a:r>
              <a:rPr lang="en-US" sz="1050" dirty="0">
                <a:solidFill>
                  <a:schemeClr val="dk1"/>
                </a:solidFill>
                <a:latin typeface="Jost Medium" pitchFamily="2" charset="0"/>
                <a:ea typeface="Jost Medium" pitchFamily="2" charset="0"/>
                <a:cs typeface="IBM Plex Sans JP"/>
                <a:sym typeface="IBM Plex Sans JP"/>
              </a:rPr>
              <a:t>Remove the brim</a:t>
            </a:r>
          </a:p>
          <a:p>
            <a:pPr lvl="0"/>
            <a:r>
              <a:rPr lang="en-US" sz="1000" dirty="0">
                <a:solidFill>
                  <a:schemeClr val="dk1"/>
                </a:solidFill>
                <a:latin typeface="Jost" pitchFamily="2" charset="0"/>
                <a:ea typeface="Jost" pitchFamily="2" charset="0"/>
                <a:cs typeface="IBM Plex Sans JP"/>
                <a:sym typeface="IBM Plex Sans JP"/>
              </a:rPr>
              <a:t>Remove the brim before printing. If you will not print immediately, leave the brim attached. The engraved markings allow you to check the size and mixing ratio.</a:t>
            </a:r>
          </a:p>
          <a:p>
            <a:pPr lvl="0"/>
            <a:endParaRPr sz="1050" dirty="0">
              <a:solidFill>
                <a:schemeClr val="dk1"/>
              </a:solidFill>
              <a:latin typeface="Jost" pitchFamily="2" charset="0"/>
              <a:ea typeface="Jost" pitchFamily="2" charset="0"/>
              <a:cs typeface="IBM Plex Sans JP"/>
              <a:sym typeface="IBM Plex Sans JP"/>
            </a:endParaRPr>
          </a:p>
          <a:p>
            <a:pPr lvl="0"/>
            <a:r>
              <a:rPr lang="en-US" sz="1050" dirty="0">
                <a:solidFill>
                  <a:schemeClr val="dk1"/>
                </a:solidFill>
                <a:latin typeface="Jost Medium" pitchFamily="2" charset="0"/>
                <a:ea typeface="Jost Medium" pitchFamily="2" charset="0"/>
                <a:cs typeface="IBM Plex Sans JP"/>
                <a:sym typeface="IBM Plex Sans JP"/>
              </a:rPr>
              <a:t>・Remove burrs</a:t>
            </a:r>
          </a:p>
          <a:p>
            <a:pPr lvl="0"/>
            <a:r>
              <a:rPr lang="en-US" sz="1000" dirty="0">
                <a:solidFill>
                  <a:schemeClr val="dk1"/>
                </a:solidFill>
                <a:latin typeface="Jost" pitchFamily="2" charset="0"/>
                <a:ea typeface="Jost" pitchFamily="2" charset="0"/>
                <a:cs typeface="IBM Plex Sans JP"/>
                <a:sym typeface="IBM Plex Sans JP"/>
              </a:rPr>
              <a:t>Rarely, burrs may occur. Remove them with nippers or a cutter. Large burrs may cause extrusion issues.</a:t>
            </a:r>
            <a:endParaRPr sz="1000" dirty="0">
              <a:latin typeface="Jost" pitchFamily="2" charset="0"/>
              <a:ea typeface="Jost" pitchFamily="2" charset="0"/>
            </a:endParaRPr>
          </a:p>
        </p:txBody>
      </p:sp>
    </p:spTree>
    <p:extLst>
      <p:ext uri="{BB962C8B-B14F-4D97-AF65-F5344CB8AC3E}">
        <p14:creationId xmlns:p14="http://schemas.microsoft.com/office/powerpoint/2010/main" val="9664166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25">
          <a:extLst>
            <a:ext uri="{FF2B5EF4-FFF2-40B4-BE49-F238E27FC236}">
              <a16:creationId xmlns:a16="http://schemas.microsoft.com/office/drawing/2014/main" id="{1CAD771D-AE31-321D-E3A6-D9C080BD5AD7}"/>
            </a:ext>
          </a:extLst>
        </p:cNvPr>
        <p:cNvGrpSpPr/>
        <p:nvPr/>
      </p:nvGrpSpPr>
      <p:grpSpPr>
        <a:xfrm>
          <a:off x="0" y="0"/>
          <a:ext cx="0" cy="0"/>
          <a:chOff x="0" y="0"/>
          <a:chExt cx="0" cy="0"/>
        </a:xfrm>
      </p:grpSpPr>
      <p:sp>
        <p:nvSpPr>
          <p:cNvPr id="226" name="Google Shape;226;p19">
            <a:extLst>
              <a:ext uri="{FF2B5EF4-FFF2-40B4-BE49-F238E27FC236}">
                <a16:creationId xmlns:a16="http://schemas.microsoft.com/office/drawing/2014/main" id="{3868C20B-5AC7-9041-BE0E-03719665A01D}"/>
              </a:ext>
            </a:extLst>
          </p:cNvPr>
          <p:cNvSpPr/>
          <p:nvPr/>
        </p:nvSpPr>
        <p:spPr>
          <a:xfrm>
            <a:off x="51086" y="45268"/>
            <a:ext cx="6790200" cy="9053400"/>
          </a:xfrm>
          <a:prstGeom prst="rect">
            <a:avLst/>
          </a:prstGeom>
          <a:gradFill>
            <a:gsLst>
              <a:gs pos="0">
                <a:srgbClr val="EE00B0"/>
              </a:gs>
              <a:gs pos="10000">
                <a:srgbClr val="EE00B0"/>
              </a:gs>
              <a:gs pos="50000">
                <a:srgbClr val="6200E8"/>
              </a:gs>
              <a:gs pos="90000">
                <a:srgbClr val="0095E5"/>
              </a:gs>
              <a:gs pos="100000">
                <a:srgbClr val="0095E5"/>
              </a:gs>
            </a:gsLst>
            <a:lin ang="1800004"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6" name="フリーフォーム: 図形 5">
            <a:extLst>
              <a:ext uri="{FF2B5EF4-FFF2-40B4-BE49-F238E27FC236}">
                <a16:creationId xmlns:a16="http://schemas.microsoft.com/office/drawing/2014/main" id="{CE25D62F-F0BC-5AE2-246E-7256050DF54E}"/>
              </a:ext>
            </a:extLst>
          </p:cNvPr>
          <p:cNvSpPr/>
          <p:nvPr/>
        </p:nvSpPr>
        <p:spPr>
          <a:xfrm>
            <a:off x="17051" y="5531"/>
            <a:ext cx="6858000" cy="9144000"/>
          </a:xfrm>
          <a:custGeom>
            <a:avLst/>
            <a:gdLst>
              <a:gd name="csX0" fmla="*/ 3717793 w 6858000"/>
              <a:gd name="csY0" fmla="*/ 8656386 h 9144000"/>
              <a:gd name="csX1" fmla="*/ 3717793 w 6858000"/>
              <a:gd name="csY1" fmla="*/ 8710386 h 9144000"/>
              <a:gd name="csX2" fmla="*/ 6309793 w 6858000"/>
              <a:gd name="csY2" fmla="*/ 8710386 h 9144000"/>
              <a:gd name="csX3" fmla="*/ 6309793 w 6858000"/>
              <a:gd name="csY3" fmla="*/ 8656386 h 9144000"/>
              <a:gd name="csX4" fmla="*/ 537487 w 6858000"/>
              <a:gd name="csY4" fmla="*/ 8656386 h 9144000"/>
              <a:gd name="csX5" fmla="*/ 537487 w 6858000"/>
              <a:gd name="csY5" fmla="*/ 8710386 h 9144000"/>
              <a:gd name="csX6" fmla="*/ 3129487 w 6858000"/>
              <a:gd name="csY6" fmla="*/ 8710386 h 9144000"/>
              <a:gd name="csX7" fmla="*/ 3129487 w 6858000"/>
              <a:gd name="csY7" fmla="*/ 8656386 h 9144000"/>
              <a:gd name="csX8" fmla="*/ 666135 w 6858000"/>
              <a:gd name="csY8" fmla="*/ 2876799 h 9144000"/>
              <a:gd name="csX9" fmla="*/ 563835 w 6858000"/>
              <a:gd name="csY9" fmla="*/ 2979099 h 9144000"/>
              <a:gd name="csX10" fmla="*/ 666135 w 6858000"/>
              <a:gd name="csY10" fmla="*/ 3081399 h 9144000"/>
              <a:gd name="csX11" fmla="*/ 768435 w 6858000"/>
              <a:gd name="csY11" fmla="*/ 2979099 h 9144000"/>
              <a:gd name="csX12" fmla="*/ 666135 w 6858000"/>
              <a:gd name="csY12" fmla="*/ 2876799 h 9144000"/>
              <a:gd name="csX13" fmla="*/ 666147 w 6858000"/>
              <a:gd name="csY13" fmla="*/ 1465299 h 9144000"/>
              <a:gd name="csX14" fmla="*/ 563847 w 6858000"/>
              <a:gd name="csY14" fmla="*/ 1567599 h 9144000"/>
              <a:gd name="csX15" fmla="*/ 666147 w 6858000"/>
              <a:gd name="csY15" fmla="*/ 1669899 h 9144000"/>
              <a:gd name="csX16" fmla="*/ 768447 w 6858000"/>
              <a:gd name="csY16" fmla="*/ 1567599 h 9144000"/>
              <a:gd name="csX17" fmla="*/ 666147 w 6858000"/>
              <a:gd name="csY17" fmla="*/ 1465299 h 9144000"/>
              <a:gd name="csX18" fmla="*/ 537486 w 6858000"/>
              <a:gd name="csY18" fmla="*/ 427887 h 9144000"/>
              <a:gd name="csX19" fmla="*/ 537486 w 6858000"/>
              <a:gd name="csY19" fmla="*/ 481887 h 9144000"/>
              <a:gd name="csX20" fmla="*/ 6293586 w 6858000"/>
              <a:gd name="csY20" fmla="*/ 481887 h 9144000"/>
              <a:gd name="csX21" fmla="*/ 6293586 w 6858000"/>
              <a:gd name="csY21" fmla="*/ 427887 h 9144000"/>
              <a:gd name="csX22" fmla="*/ 0 w 6858000"/>
              <a:gd name="csY22" fmla="*/ 0 h 9144000"/>
              <a:gd name="csX23" fmla="*/ 6858000 w 6858000"/>
              <a:gd name="csY23" fmla="*/ 0 h 9144000"/>
              <a:gd name="csX24" fmla="*/ 6858000 w 6858000"/>
              <a:gd name="csY24" fmla="*/ 9144000 h 9144000"/>
              <a:gd name="csX25" fmla="*/ 0 w 6858000"/>
              <a:gd name="csY25" fmla="*/ 9144000 h 9144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6858000" h="9144000">
                <a:moveTo>
                  <a:pt x="3717793" y="8656386"/>
                </a:moveTo>
                <a:lnTo>
                  <a:pt x="3717793" y="8710386"/>
                </a:lnTo>
                <a:lnTo>
                  <a:pt x="6309793" y="8710386"/>
                </a:lnTo>
                <a:lnTo>
                  <a:pt x="6309793" y="8656386"/>
                </a:lnTo>
                <a:close/>
                <a:moveTo>
                  <a:pt x="537487" y="8656386"/>
                </a:moveTo>
                <a:lnTo>
                  <a:pt x="537487" y="8710386"/>
                </a:lnTo>
                <a:lnTo>
                  <a:pt x="3129487" y="8710386"/>
                </a:lnTo>
                <a:lnTo>
                  <a:pt x="3129487" y="8656386"/>
                </a:lnTo>
                <a:close/>
                <a:moveTo>
                  <a:pt x="666135" y="2876799"/>
                </a:moveTo>
                <a:cubicBezTo>
                  <a:pt x="609636" y="2876799"/>
                  <a:pt x="563835" y="2922600"/>
                  <a:pt x="563835" y="2979099"/>
                </a:cubicBezTo>
                <a:cubicBezTo>
                  <a:pt x="563835" y="3035598"/>
                  <a:pt x="609636" y="3081399"/>
                  <a:pt x="666135" y="3081399"/>
                </a:cubicBezTo>
                <a:cubicBezTo>
                  <a:pt x="722634" y="3081399"/>
                  <a:pt x="768435" y="3035598"/>
                  <a:pt x="768435" y="2979099"/>
                </a:cubicBezTo>
                <a:cubicBezTo>
                  <a:pt x="768435" y="2922600"/>
                  <a:pt x="722634" y="2876799"/>
                  <a:pt x="666135" y="2876799"/>
                </a:cubicBezTo>
                <a:close/>
                <a:moveTo>
                  <a:pt x="666147" y="1465299"/>
                </a:moveTo>
                <a:cubicBezTo>
                  <a:pt x="609648" y="1465299"/>
                  <a:pt x="563847" y="1511100"/>
                  <a:pt x="563847" y="1567599"/>
                </a:cubicBezTo>
                <a:cubicBezTo>
                  <a:pt x="563847" y="1624098"/>
                  <a:pt x="609648" y="1669899"/>
                  <a:pt x="666147" y="1669899"/>
                </a:cubicBezTo>
                <a:cubicBezTo>
                  <a:pt x="722646" y="1669899"/>
                  <a:pt x="768447" y="1624098"/>
                  <a:pt x="768447" y="1567599"/>
                </a:cubicBezTo>
                <a:cubicBezTo>
                  <a:pt x="768447" y="1511100"/>
                  <a:pt x="722646" y="1465299"/>
                  <a:pt x="666147" y="1465299"/>
                </a:cubicBezTo>
                <a:close/>
                <a:moveTo>
                  <a:pt x="537486" y="427887"/>
                </a:moveTo>
                <a:lnTo>
                  <a:pt x="537486" y="481887"/>
                </a:lnTo>
                <a:lnTo>
                  <a:pt x="6293586" y="481887"/>
                </a:lnTo>
                <a:lnTo>
                  <a:pt x="6293586" y="427887"/>
                </a:lnTo>
                <a:close/>
                <a:moveTo>
                  <a:pt x="0" y="0"/>
                </a:moveTo>
                <a:lnTo>
                  <a:pt x="6858000" y="0"/>
                </a:lnTo>
                <a:lnTo>
                  <a:pt x="6858000" y="9144000"/>
                </a:lnTo>
                <a:lnTo>
                  <a:pt x="0" y="9144000"/>
                </a:lnTo>
                <a:close/>
              </a:path>
            </a:pathLst>
          </a:cu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36" name="Google Shape;236;p19">
            <a:extLst>
              <a:ext uri="{FF2B5EF4-FFF2-40B4-BE49-F238E27FC236}">
                <a16:creationId xmlns:a16="http://schemas.microsoft.com/office/drawing/2014/main" id="{9F2C23C2-024E-6BD2-35EF-7543BF72C047}"/>
              </a:ext>
            </a:extLst>
          </p:cNvPr>
          <p:cNvSpPr txBox="1"/>
          <p:nvPr/>
        </p:nvSpPr>
        <p:spPr>
          <a:xfrm>
            <a:off x="3163826" y="8511531"/>
            <a:ext cx="575700" cy="369300"/>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800">
                <a:solidFill>
                  <a:schemeClr val="dk1"/>
                </a:solidFill>
              </a:rPr>
              <a:t>6</a:t>
            </a:r>
            <a:endParaRPr sz="1800">
              <a:solidFill>
                <a:schemeClr val="dk1"/>
              </a:solidFill>
              <a:latin typeface="Arial"/>
              <a:ea typeface="Arial"/>
              <a:cs typeface="Arial"/>
              <a:sym typeface="Arial"/>
            </a:endParaRPr>
          </a:p>
        </p:txBody>
      </p:sp>
      <p:sp>
        <p:nvSpPr>
          <p:cNvPr id="238" name="Google Shape;238;p19">
            <a:extLst>
              <a:ext uri="{FF2B5EF4-FFF2-40B4-BE49-F238E27FC236}">
                <a16:creationId xmlns:a16="http://schemas.microsoft.com/office/drawing/2014/main" id="{E9184F32-D1BE-7E38-5E6C-F8DEC1B0C4D7}"/>
              </a:ext>
            </a:extLst>
          </p:cNvPr>
          <p:cNvSpPr txBox="1"/>
          <p:nvPr/>
        </p:nvSpPr>
        <p:spPr>
          <a:xfrm>
            <a:off x="812651" y="2847881"/>
            <a:ext cx="2313092" cy="338514"/>
          </a:xfrm>
          <a:prstGeom prst="rect">
            <a:avLst/>
          </a:prstGeom>
          <a:noFill/>
          <a:ln>
            <a:noFill/>
          </a:ln>
        </p:spPr>
        <p:txBody>
          <a:bodyPr spcFirstLastPara="1" wrap="square" lIns="91425" tIns="45700" rIns="91425" bIns="45700" anchor="t" anchorCtr="0">
            <a:spAutoFit/>
          </a:bodyPr>
          <a:lstStyle/>
          <a:p>
            <a:pPr lvl="0"/>
            <a:r>
              <a:rPr lang="en-US" sz="1600" b="1" dirty="0">
                <a:solidFill>
                  <a:schemeClr val="dk1"/>
                </a:solidFill>
                <a:latin typeface="Jost" pitchFamily="2" charset="0"/>
                <a:ea typeface="Jost" pitchFamily="2" charset="0"/>
                <a:cs typeface="IBM Plex Sans JP SemiBold"/>
                <a:sym typeface="IBM Plex Sans JP SemiBold"/>
              </a:rPr>
              <a:t>7. </a:t>
            </a:r>
            <a:r>
              <a:rPr lang="en-US" altLang="ja-JP" sz="1600" b="1" dirty="0">
                <a:solidFill>
                  <a:schemeClr val="dk1"/>
                </a:solidFill>
                <a:latin typeface="Jost" pitchFamily="2" charset="0"/>
                <a:ea typeface="IBM Plex Sans JP" panose="020B0503050203000203" pitchFamily="50" charset="-128"/>
                <a:cs typeface="IBM Plex Sans JP SemiBold"/>
                <a:sym typeface="IBM Plex Sans JP SemiBold"/>
              </a:rPr>
              <a:t>Revision History</a:t>
            </a:r>
            <a:endParaRPr sz="1800" b="1" dirty="0">
              <a:solidFill>
                <a:schemeClr val="dk1"/>
              </a:solidFill>
              <a:latin typeface="Jost" pitchFamily="2" charset="0"/>
              <a:ea typeface="Jost" pitchFamily="2" charset="0"/>
              <a:cs typeface="IBM Plex Sans JP SemiBold"/>
              <a:sym typeface="IBM Plex Sans JP SemiBold"/>
            </a:endParaRPr>
          </a:p>
        </p:txBody>
      </p:sp>
      <p:sp>
        <p:nvSpPr>
          <p:cNvPr id="239" name="Google Shape;239;p19">
            <a:extLst>
              <a:ext uri="{FF2B5EF4-FFF2-40B4-BE49-F238E27FC236}">
                <a16:creationId xmlns:a16="http://schemas.microsoft.com/office/drawing/2014/main" id="{BA0891DA-EF2A-7BCA-0C1F-650AC662B7A5}"/>
              </a:ext>
            </a:extLst>
          </p:cNvPr>
          <p:cNvSpPr txBox="1"/>
          <p:nvPr/>
        </p:nvSpPr>
        <p:spPr>
          <a:xfrm>
            <a:off x="672860" y="3162690"/>
            <a:ext cx="5649600" cy="507791"/>
          </a:xfrm>
          <a:prstGeom prst="rect">
            <a:avLst/>
          </a:prstGeom>
          <a:noFill/>
          <a:ln>
            <a:noFill/>
          </a:ln>
        </p:spPr>
        <p:txBody>
          <a:bodyPr spcFirstLastPara="1" wrap="square" lIns="91425" tIns="45700" rIns="91425" bIns="45700" anchor="t" anchorCtr="0">
            <a:spAutoFit/>
          </a:bodyPr>
          <a:lstStyle/>
          <a:p>
            <a:pPr lvl="0"/>
            <a:r>
              <a:rPr lang="ja-JP" altLang="ja-JP" sz="900" dirty="0">
                <a:latin typeface="Jost" pitchFamily="2" charset="0"/>
              </a:rPr>
              <a:t>Ver.1.0</a:t>
            </a:r>
            <a:r>
              <a:rPr lang="en-US" altLang="ja-JP" sz="900" dirty="0">
                <a:latin typeface="Jost" pitchFamily="2" charset="0"/>
                <a:ea typeface="Jost" pitchFamily="2" charset="0"/>
              </a:rPr>
              <a:t>0</a:t>
            </a:r>
            <a:r>
              <a:rPr lang="ja-JP" altLang="ja-JP" sz="900" dirty="0">
                <a:latin typeface="Jost" pitchFamily="2" charset="0"/>
              </a:rPr>
              <a:t> 2026-03-24 </a:t>
            </a:r>
            <a:r>
              <a:rPr lang="en-US" altLang="ja-JP" sz="900" dirty="0">
                <a:latin typeface="Jost" pitchFamily="2" charset="0"/>
              </a:rPr>
              <a:t>: Initial release</a:t>
            </a:r>
            <a:endParaRPr lang="en-US" altLang="ja-JP" sz="900" dirty="0">
              <a:latin typeface="Jost" pitchFamily="2" charset="0"/>
              <a:ea typeface="Jost" pitchFamily="2" charset="0"/>
            </a:endParaRPr>
          </a:p>
          <a:p>
            <a:pPr lvl="0"/>
            <a:r>
              <a:rPr lang="ja-JP" altLang="ja-JP" sz="900" dirty="0">
                <a:latin typeface="Jost" pitchFamily="2" charset="0"/>
              </a:rPr>
              <a:t>Ver</a:t>
            </a:r>
            <a:r>
              <a:rPr lang="en-US" altLang="ja-JP" sz="900" dirty="0">
                <a:latin typeface="Jost" pitchFamily="2" charset="0"/>
                <a:ea typeface="Jost" pitchFamily="2" charset="0"/>
              </a:rPr>
              <a:t>.</a:t>
            </a:r>
            <a:r>
              <a:rPr lang="ja-JP" altLang="ja-JP" sz="900" dirty="0">
                <a:latin typeface="Jost" pitchFamily="2" charset="0"/>
              </a:rPr>
              <a:t>2.0</a:t>
            </a:r>
            <a:r>
              <a:rPr lang="en-US" altLang="ja-JP" sz="900" dirty="0">
                <a:latin typeface="Jost" pitchFamily="2" charset="0"/>
                <a:ea typeface="Jost" pitchFamily="2" charset="0"/>
              </a:rPr>
              <a:t>0</a:t>
            </a:r>
            <a:r>
              <a:rPr lang="ja-JP" altLang="ja-JP" sz="900" dirty="0">
                <a:latin typeface="Jost" pitchFamily="2" charset="0"/>
              </a:rPr>
              <a:t> 2026-06-19 </a:t>
            </a:r>
            <a:r>
              <a:rPr lang="en-US" altLang="ja-JP" sz="900" dirty="0">
                <a:latin typeface="Jost" pitchFamily="2" charset="0"/>
              </a:rPr>
              <a:t>: </a:t>
            </a:r>
            <a:r>
              <a:rPr lang="en-US" altLang="ja-JP" sz="900" dirty="0">
                <a:latin typeface="Jost" pitchFamily="2" charset="0"/>
                <a:ea typeface="Jost" pitchFamily="2" charset="0"/>
              </a:rPr>
              <a:t>Corrected color mixing ratios, updated graphs, bridge filament</a:t>
            </a:r>
          </a:p>
          <a:p>
            <a:r>
              <a:rPr lang="ja-JP" altLang="ja-JP" sz="900" dirty="0">
                <a:latin typeface="Jost" pitchFamily="2" charset="0"/>
              </a:rPr>
              <a:t>Ver</a:t>
            </a:r>
            <a:r>
              <a:rPr lang="en-US" altLang="ja-JP" sz="900" dirty="0">
                <a:latin typeface="Jost" pitchFamily="2" charset="0"/>
                <a:ea typeface="Jost" pitchFamily="2" charset="0"/>
              </a:rPr>
              <a:t>.</a:t>
            </a:r>
            <a:r>
              <a:rPr lang="ja-JP" altLang="ja-JP" sz="900" dirty="0">
                <a:latin typeface="Jost" pitchFamily="2" charset="0"/>
              </a:rPr>
              <a:t>2.</a:t>
            </a:r>
            <a:r>
              <a:rPr lang="en-US" altLang="ja-JP" sz="900" dirty="0">
                <a:latin typeface="Jost" pitchFamily="2" charset="0"/>
                <a:ea typeface="Jost" pitchFamily="2" charset="0"/>
              </a:rPr>
              <a:t>10</a:t>
            </a:r>
            <a:r>
              <a:rPr lang="ja-JP" altLang="ja-JP" sz="900" dirty="0">
                <a:latin typeface="Jost" pitchFamily="2" charset="0"/>
              </a:rPr>
              <a:t> 2026-0</a:t>
            </a:r>
            <a:r>
              <a:rPr lang="en-US" altLang="ja-JP" sz="900" dirty="0">
                <a:latin typeface="Jost" pitchFamily="2" charset="0"/>
                <a:ea typeface="Jost" pitchFamily="2" charset="0"/>
              </a:rPr>
              <a:t>9</a:t>
            </a:r>
            <a:r>
              <a:rPr lang="ja-JP" altLang="ja-JP" sz="900" dirty="0">
                <a:latin typeface="Jost" pitchFamily="2" charset="0"/>
              </a:rPr>
              <a:t>-</a:t>
            </a:r>
            <a:r>
              <a:rPr lang="en-US" altLang="ja-JP" sz="900" dirty="0">
                <a:latin typeface="Jost" pitchFamily="2" charset="0"/>
                <a:ea typeface="Jost" pitchFamily="2" charset="0"/>
              </a:rPr>
              <a:t>16</a:t>
            </a:r>
            <a:r>
              <a:rPr lang="ja-JP" altLang="en-US" sz="900" dirty="0">
                <a:latin typeface="Jost" pitchFamily="2" charset="0"/>
              </a:rPr>
              <a:t> </a:t>
            </a:r>
            <a:r>
              <a:rPr lang="en-US" altLang="ja-JP" sz="900" dirty="0">
                <a:latin typeface="Jost" pitchFamily="2" charset="0"/>
              </a:rPr>
              <a:t>: Revisions for Integrated Design</a:t>
            </a:r>
            <a:endParaRPr lang="en-US" altLang="ja-JP" sz="900" dirty="0">
              <a:latin typeface="Jost" pitchFamily="2" charset="0"/>
              <a:ea typeface="Jost" pitchFamily="2" charset="0"/>
            </a:endParaRPr>
          </a:p>
        </p:txBody>
      </p:sp>
      <p:sp>
        <p:nvSpPr>
          <p:cNvPr id="240" name="Google Shape;240;p19">
            <a:extLst>
              <a:ext uri="{FF2B5EF4-FFF2-40B4-BE49-F238E27FC236}">
                <a16:creationId xmlns:a16="http://schemas.microsoft.com/office/drawing/2014/main" id="{1C17DB10-7163-828F-667E-363BF5D70A82}"/>
              </a:ext>
            </a:extLst>
          </p:cNvPr>
          <p:cNvSpPr txBox="1"/>
          <p:nvPr/>
        </p:nvSpPr>
        <p:spPr>
          <a:xfrm>
            <a:off x="672873" y="681673"/>
            <a:ext cx="5649600" cy="584735"/>
          </a:xfrm>
          <a:prstGeom prst="rect">
            <a:avLst/>
          </a:prstGeom>
          <a:noFill/>
          <a:ln>
            <a:noFill/>
          </a:ln>
        </p:spPr>
        <p:txBody>
          <a:bodyPr spcFirstLastPara="1" wrap="square" lIns="91425" tIns="45700" rIns="91425" bIns="45700" anchor="t" anchorCtr="0">
            <a:spAutoFit/>
          </a:bodyPr>
          <a:lstStyle/>
          <a:p>
            <a:pPr lvl="0"/>
            <a:r>
              <a:rPr lang="en-US" sz="1100" dirty="0">
                <a:solidFill>
                  <a:schemeClr val="dk1"/>
                </a:solidFill>
                <a:latin typeface="Jost Medium" pitchFamily="2" charset="0"/>
                <a:ea typeface="Jost Medium" pitchFamily="2" charset="0"/>
                <a:cs typeface="IBM Plex Sans JP"/>
                <a:sym typeface="IBM Plex Sans JP"/>
              </a:rPr>
              <a:t> ・Nozzle influence in Print #2</a:t>
            </a:r>
          </a:p>
          <a:p>
            <a:pPr lvl="0"/>
            <a:r>
              <a:rPr lang="en-US" sz="1050" dirty="0">
                <a:solidFill>
                  <a:schemeClr val="dk1"/>
                </a:solidFill>
                <a:latin typeface="Jost" pitchFamily="2" charset="0"/>
                <a:ea typeface="Jost" pitchFamily="2" charset="0"/>
                <a:cs typeface="IBM Plex Sans JP"/>
                <a:sym typeface="IBM Plex Sans JP"/>
              </a:rPr>
              <a:t>Mixing performance varies by nozzle. Smaller diameters and high-flow nozzles tend to mix better.</a:t>
            </a:r>
            <a:endParaRPr sz="1050" dirty="0">
              <a:latin typeface="Jost" pitchFamily="2" charset="0"/>
              <a:ea typeface="Jost" pitchFamily="2" charset="0"/>
            </a:endParaRPr>
          </a:p>
        </p:txBody>
      </p:sp>
      <p:sp>
        <p:nvSpPr>
          <p:cNvPr id="242" name="Google Shape;242;p19">
            <a:extLst>
              <a:ext uri="{FF2B5EF4-FFF2-40B4-BE49-F238E27FC236}">
                <a16:creationId xmlns:a16="http://schemas.microsoft.com/office/drawing/2014/main" id="{768CCEF5-2027-282E-E536-862E26599E9E}"/>
              </a:ext>
            </a:extLst>
          </p:cNvPr>
          <p:cNvSpPr txBox="1"/>
          <p:nvPr/>
        </p:nvSpPr>
        <p:spPr>
          <a:xfrm>
            <a:off x="764253" y="1427106"/>
            <a:ext cx="1923900" cy="338700"/>
          </a:xfrm>
          <a:prstGeom prst="rect">
            <a:avLst/>
          </a:prstGeom>
          <a:noFill/>
          <a:ln>
            <a:noFill/>
          </a:ln>
        </p:spPr>
        <p:txBody>
          <a:bodyPr spcFirstLastPara="1" wrap="square" lIns="91425" tIns="45700" rIns="91425" bIns="45700" anchor="t" anchorCtr="0">
            <a:spAutoFit/>
          </a:bodyPr>
          <a:lstStyle/>
          <a:p>
            <a:pPr lvl="0"/>
            <a:r>
              <a:rPr lang="en-US" sz="1600" b="1" dirty="0">
                <a:solidFill>
                  <a:schemeClr val="dk1"/>
                </a:solidFill>
                <a:latin typeface="Jost" pitchFamily="2" charset="0"/>
                <a:ea typeface="Jost" pitchFamily="2" charset="0"/>
                <a:cs typeface="IBM Plex Sans JP SemiBold"/>
                <a:sym typeface="IBM Plex Sans JP SemiBold"/>
              </a:rPr>
              <a:t>6. Closing</a:t>
            </a:r>
            <a:endParaRPr sz="1800" b="1" dirty="0">
              <a:solidFill>
                <a:schemeClr val="dk1"/>
              </a:solidFill>
              <a:latin typeface="Jost" pitchFamily="2" charset="0"/>
              <a:ea typeface="Jost" pitchFamily="2" charset="0"/>
              <a:cs typeface="IBM Plex Sans JP SemiBold"/>
              <a:sym typeface="IBM Plex Sans JP SemiBold"/>
            </a:endParaRPr>
          </a:p>
        </p:txBody>
      </p:sp>
      <p:sp>
        <p:nvSpPr>
          <p:cNvPr id="243" name="Google Shape;243;p19">
            <a:extLst>
              <a:ext uri="{FF2B5EF4-FFF2-40B4-BE49-F238E27FC236}">
                <a16:creationId xmlns:a16="http://schemas.microsoft.com/office/drawing/2014/main" id="{4BC78C0C-9368-7B0E-27C0-B0E4623DB702}"/>
              </a:ext>
            </a:extLst>
          </p:cNvPr>
          <p:cNvSpPr txBox="1"/>
          <p:nvPr/>
        </p:nvSpPr>
        <p:spPr>
          <a:xfrm>
            <a:off x="672873" y="1828465"/>
            <a:ext cx="5649600" cy="792484"/>
          </a:xfrm>
          <a:prstGeom prst="rect">
            <a:avLst/>
          </a:prstGeom>
          <a:noFill/>
          <a:ln>
            <a:noFill/>
          </a:ln>
        </p:spPr>
        <p:txBody>
          <a:bodyPr spcFirstLastPara="1" wrap="square" lIns="91425" tIns="45700" rIns="91425" bIns="45700" anchor="t" anchorCtr="0">
            <a:spAutoFit/>
          </a:bodyPr>
          <a:lstStyle/>
          <a:p>
            <a:pPr lvl="0"/>
            <a:r>
              <a:rPr lang="en-US" sz="1050" dirty="0">
                <a:solidFill>
                  <a:schemeClr val="dk1"/>
                </a:solidFill>
                <a:latin typeface="Jost" pitchFamily="2" charset="0"/>
                <a:ea typeface="Jost" pitchFamily="2" charset="0"/>
                <a:cs typeface="IBM Plex Sans JP"/>
                <a:sym typeface="IBM Plex Sans JP"/>
              </a:rPr>
              <a:t>Thank you for reading.</a:t>
            </a:r>
          </a:p>
          <a:p>
            <a:pPr lvl="0"/>
            <a:r>
              <a:rPr lang="en-US" sz="1050" dirty="0">
                <a:solidFill>
                  <a:schemeClr val="dk1"/>
                </a:solidFill>
                <a:latin typeface="Jost" pitchFamily="2" charset="0"/>
                <a:ea typeface="Jost" pitchFamily="2" charset="0"/>
                <a:cs typeface="IBM Plex Sans JP"/>
                <a:sym typeface="IBM Plex Sans JP"/>
              </a:rPr>
              <a:t>We hope that </a:t>
            </a:r>
            <a:r>
              <a:rPr lang="en-US" sz="1050" dirty="0">
                <a:solidFill>
                  <a:schemeClr val="dk1"/>
                </a:solidFill>
                <a:latin typeface="Jost SemiBold" pitchFamily="2" charset="0"/>
                <a:ea typeface="Jost SemiBold" pitchFamily="2" charset="0"/>
                <a:cs typeface="IBM Plex Sans JP"/>
                <a:sym typeface="IBM Plex Sans JP"/>
              </a:rPr>
              <a:t>FlexChroma</a:t>
            </a:r>
            <a:r>
              <a:rPr lang="en-US" sz="1050" dirty="0">
                <a:solidFill>
                  <a:schemeClr val="dk1"/>
                </a:solidFill>
                <a:latin typeface="Jost" pitchFamily="2" charset="0"/>
                <a:ea typeface="Jost" pitchFamily="2" charset="0"/>
                <a:cs typeface="IBM Plex Sans JP"/>
                <a:sym typeface="IBM Plex Sans JP"/>
              </a:rPr>
              <a:t> expands your creative possibilities.</a:t>
            </a:r>
          </a:p>
          <a:p>
            <a:pPr lvl="0"/>
            <a:endParaRPr sz="1050" dirty="0">
              <a:solidFill>
                <a:schemeClr val="dk1"/>
              </a:solidFill>
              <a:latin typeface="Jost" pitchFamily="2" charset="0"/>
              <a:ea typeface="Jost" pitchFamily="2" charset="0"/>
              <a:cs typeface="IBM Plex Sans JP"/>
              <a:sym typeface="IBM Plex Sans JP"/>
            </a:endParaRPr>
          </a:p>
          <a:p>
            <a:pPr marL="0" marR="0" lvl="0" indent="0" algn="l" rtl="0">
              <a:spcBef>
                <a:spcPts val="0"/>
              </a:spcBef>
              <a:spcAft>
                <a:spcPts val="0"/>
              </a:spcAft>
              <a:buNone/>
            </a:pPr>
            <a:r>
              <a:rPr lang="en-US" dirty="0">
                <a:solidFill>
                  <a:schemeClr val="dk1"/>
                </a:solidFill>
                <a:latin typeface="Jost SemiBold" pitchFamily="2" charset="0"/>
                <a:ea typeface="Jost SemiBold" pitchFamily="2" charset="0"/>
                <a:cs typeface="IBM Plex Sans JP"/>
                <a:sym typeface="IBM Plex Sans JP"/>
              </a:rPr>
              <a:t>Print Colors You Imagine. </a:t>
            </a:r>
            <a:endParaRPr sz="1800" dirty="0">
              <a:latin typeface="Jost SemiBold" pitchFamily="2" charset="0"/>
              <a:ea typeface="Jost SemiBold" pitchFamily="2" charset="0"/>
            </a:endParaRPr>
          </a:p>
        </p:txBody>
      </p:sp>
    </p:spTree>
    <p:extLst>
      <p:ext uri="{BB962C8B-B14F-4D97-AF65-F5344CB8AC3E}">
        <p14:creationId xmlns:p14="http://schemas.microsoft.com/office/powerpoint/2010/main" val="2387343652"/>
      </p:ext>
    </p:extLst>
  </p:cSld>
  <p:clrMapOvr>
    <a:masterClrMapping/>
  </p:clrMapOvr>
</p:sld>
</file>

<file path=ppt/theme/theme1.xml><?xml version="1.0" encoding="utf-8"?>
<a:theme xmlns:a="http://schemas.openxmlformats.org/drawingml/2006/main" name="Office テーマ">
  <a:themeElements>
    <a:clrScheme name="Office テーマ">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140</TotalTime>
  <Words>3003</Words>
  <Application>Microsoft Office PowerPoint</Application>
  <PresentationFormat>画面に合わせる (4:3)</PresentationFormat>
  <Paragraphs>247</Paragraphs>
  <Slides>13</Slides>
  <Notes>13</Notes>
  <HiddenSlides>0</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13</vt:i4>
      </vt:variant>
    </vt:vector>
  </HeadingPairs>
  <TitlesOfParts>
    <vt:vector size="20" baseType="lpstr">
      <vt:lpstr>Jost</vt:lpstr>
      <vt:lpstr>Jost SemiBold</vt:lpstr>
      <vt:lpstr>Play</vt:lpstr>
      <vt:lpstr>Jost Medium</vt:lpstr>
      <vt:lpstr>Arial</vt:lpstr>
      <vt:lpstr>IBM Plex Sans JP</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MAKOTO YAZAKI (矢﨑 誠)</cp:lastModifiedBy>
  <cp:revision>12</cp:revision>
  <cp:lastPrinted>2026-09-16T06:25:49Z</cp:lastPrinted>
  <dcterms:modified xsi:type="dcterms:W3CDTF">2026-09-23T05:33:35Z</dcterms:modified>
</cp:coreProperties>
</file>