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9"/>
  </p:notesMasterIdLst>
  <p:sldIdLst>
    <p:sldId id="256" r:id="rId2"/>
    <p:sldId id="257" r:id="rId3"/>
    <p:sldId id="258" r:id="rId4"/>
    <p:sldId id="259" r:id="rId5"/>
    <p:sldId id="260" r:id="rId6"/>
    <p:sldId id="261" r:id="rId7"/>
    <p:sldId id="262" r:id="rId8"/>
  </p:sldIdLst>
  <p:sldSz cx="6858000" cy="9144000" type="screen4x3"/>
  <p:notesSz cx="7104063" cy="10234613"/>
  <p:embeddedFontLst>
    <p:embeddedFont>
      <p:font typeface="IBM Plex Sans JP" panose="020B0503050203000203" pitchFamily="50" charset="-128"/>
      <p:regular r:id="rId10"/>
      <p:bold r:id="rId11"/>
    </p:embeddedFont>
    <p:embeddedFont>
      <p:font typeface="Jost" pitchFamily="2" charset="0"/>
      <p:regular r:id="rId12"/>
      <p:bold r:id="rId13"/>
      <p:italic r:id="rId14"/>
      <p:boldItalic r:id="rId15"/>
    </p:embeddedFont>
    <p:embeddedFont>
      <p:font typeface="Jost Medium" pitchFamily="2" charset="0"/>
      <p:regular r:id="rId16"/>
      <p:italic r:id="rId17"/>
    </p:embeddedFont>
    <p:embeddedFont>
      <p:font typeface="Jost SemiBold" pitchFamily="2" charset="0"/>
      <p:bold r:id="rId18"/>
      <p:boldItalic r:id="rId19"/>
    </p:embeddedFont>
    <p:embeddedFont>
      <p:font typeface="Play" panose="020B0600070205080204" charset="0"/>
      <p:regular r:id="rId20"/>
      <p:bold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97" autoAdjust="0"/>
    <p:restoredTop sz="94660"/>
  </p:normalViewPr>
  <p:slideViewPr>
    <p:cSldViewPr snapToGrid="0">
      <p:cViewPr>
        <p:scale>
          <a:sx n="150" d="100"/>
          <a:sy n="150" d="100"/>
        </p:scale>
        <p:origin x="1542" y="-23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viewProps" Target="viewProp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84225" y="767575"/>
            <a:ext cx="4736250" cy="38379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10400" y="4861425"/>
            <a:ext cx="5683225" cy="460555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3: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3:notes"/>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4:notes"/>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5: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5:notes"/>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f70e81ac3d_0_45:notes"/>
          <p:cNvSpPr txBox="1">
            <a:spLocks noGrp="1"/>
          </p:cNvSpPr>
          <p:nvPr>
            <p:ph type="body" idx="1"/>
          </p:nvPr>
        </p:nvSpPr>
        <p:spPr>
          <a:xfrm>
            <a:off x="710400" y="4861425"/>
            <a:ext cx="5683200" cy="460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g3f70e81ac3d_0_45:notes"/>
          <p:cNvSpPr>
            <a:spLocks noGrp="1" noRot="1" noChangeAspect="1"/>
          </p:cNvSpPr>
          <p:nvPr>
            <p:ph type="sldImg" idx="2"/>
          </p:nvPr>
        </p:nvSpPr>
        <p:spPr>
          <a:xfrm>
            <a:off x="2114550" y="768350"/>
            <a:ext cx="287655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f70e81ac3d_0_65:notes"/>
          <p:cNvSpPr txBox="1">
            <a:spLocks noGrp="1"/>
          </p:cNvSpPr>
          <p:nvPr>
            <p:ph type="body" idx="1"/>
          </p:nvPr>
        </p:nvSpPr>
        <p:spPr>
          <a:xfrm>
            <a:off x="710400" y="4861425"/>
            <a:ext cx="5683200" cy="460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g3f70e81ac3d_0_65:notes"/>
          <p:cNvSpPr>
            <a:spLocks noGrp="1" noRot="1" noChangeAspect="1"/>
          </p:cNvSpPr>
          <p:nvPr>
            <p:ph type="sldImg" idx="2"/>
          </p:nvPr>
        </p:nvSpPr>
        <p:spPr>
          <a:xfrm>
            <a:off x="2114550" y="768350"/>
            <a:ext cx="287655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514350" y="1496484"/>
            <a:ext cx="5829300" cy="3183467"/>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857250" y="4802717"/>
            <a:ext cx="5143500" cy="220768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14" name="Google Shape;14;p2"/>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471488" y="2434167"/>
            <a:ext cx="5915025" cy="5801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467916" y="2279653"/>
            <a:ext cx="5915025" cy="380364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467916" y="6119286"/>
            <a:ext cx="5915025" cy="200024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757575"/>
              </a:buClr>
              <a:buSzPts val="1800"/>
              <a:buNone/>
              <a:defRPr sz="1800">
                <a:solidFill>
                  <a:srgbClr val="757575"/>
                </a:solidFill>
              </a:defRPr>
            </a:lvl1pPr>
            <a:lvl2pPr marL="914400" lvl="1" indent="-228600" algn="l">
              <a:lnSpc>
                <a:spcPct val="90000"/>
              </a:lnSpc>
              <a:spcBef>
                <a:spcPts val="375"/>
              </a:spcBef>
              <a:spcAft>
                <a:spcPts val="0"/>
              </a:spcAft>
              <a:buClr>
                <a:srgbClr val="757575"/>
              </a:buClr>
              <a:buSzPts val="1500"/>
              <a:buNone/>
              <a:defRPr sz="1500">
                <a:solidFill>
                  <a:srgbClr val="757575"/>
                </a:solidFill>
              </a:defRPr>
            </a:lvl2pPr>
            <a:lvl3pPr marL="1371600" lvl="2" indent="-228600" algn="l">
              <a:lnSpc>
                <a:spcPct val="90000"/>
              </a:lnSpc>
              <a:spcBef>
                <a:spcPts val="375"/>
              </a:spcBef>
              <a:spcAft>
                <a:spcPts val="0"/>
              </a:spcAft>
              <a:buClr>
                <a:srgbClr val="757575"/>
              </a:buClr>
              <a:buSzPts val="1350"/>
              <a:buNone/>
              <a:defRPr sz="1350">
                <a:solidFill>
                  <a:srgbClr val="757575"/>
                </a:solidFill>
              </a:defRPr>
            </a:lvl3pPr>
            <a:lvl4pPr marL="1828800" lvl="3" indent="-228600" algn="l">
              <a:lnSpc>
                <a:spcPct val="90000"/>
              </a:lnSpc>
              <a:spcBef>
                <a:spcPts val="375"/>
              </a:spcBef>
              <a:spcAft>
                <a:spcPts val="0"/>
              </a:spcAft>
              <a:buClr>
                <a:srgbClr val="757575"/>
              </a:buClr>
              <a:buSzPts val="1200"/>
              <a:buNone/>
              <a:defRPr sz="1200">
                <a:solidFill>
                  <a:srgbClr val="757575"/>
                </a:solidFill>
              </a:defRPr>
            </a:lvl4pPr>
            <a:lvl5pPr marL="2286000" lvl="4" indent="-228600" algn="l">
              <a:lnSpc>
                <a:spcPct val="90000"/>
              </a:lnSpc>
              <a:spcBef>
                <a:spcPts val="375"/>
              </a:spcBef>
              <a:spcAft>
                <a:spcPts val="0"/>
              </a:spcAft>
              <a:buClr>
                <a:srgbClr val="757575"/>
              </a:buClr>
              <a:buSzPts val="1200"/>
              <a:buNone/>
              <a:defRPr sz="1200">
                <a:solidFill>
                  <a:srgbClr val="757575"/>
                </a:solidFill>
              </a:defRPr>
            </a:lvl5pPr>
            <a:lvl6pPr marL="2743200" lvl="5" indent="-228600" algn="l">
              <a:lnSpc>
                <a:spcPct val="90000"/>
              </a:lnSpc>
              <a:spcBef>
                <a:spcPts val="375"/>
              </a:spcBef>
              <a:spcAft>
                <a:spcPts val="0"/>
              </a:spcAft>
              <a:buClr>
                <a:srgbClr val="757575"/>
              </a:buClr>
              <a:buSzPts val="1200"/>
              <a:buNone/>
              <a:defRPr sz="1200">
                <a:solidFill>
                  <a:srgbClr val="757575"/>
                </a:solidFill>
              </a:defRPr>
            </a:lvl6pPr>
            <a:lvl7pPr marL="3200400" lvl="6" indent="-228600" algn="l">
              <a:lnSpc>
                <a:spcPct val="90000"/>
              </a:lnSpc>
              <a:spcBef>
                <a:spcPts val="375"/>
              </a:spcBef>
              <a:spcAft>
                <a:spcPts val="0"/>
              </a:spcAft>
              <a:buClr>
                <a:srgbClr val="757575"/>
              </a:buClr>
              <a:buSzPts val="1200"/>
              <a:buNone/>
              <a:defRPr sz="1200">
                <a:solidFill>
                  <a:srgbClr val="757575"/>
                </a:solidFill>
              </a:defRPr>
            </a:lvl7pPr>
            <a:lvl8pPr marL="3657600" lvl="7" indent="-228600" algn="l">
              <a:lnSpc>
                <a:spcPct val="90000"/>
              </a:lnSpc>
              <a:spcBef>
                <a:spcPts val="375"/>
              </a:spcBef>
              <a:spcAft>
                <a:spcPts val="0"/>
              </a:spcAft>
              <a:buClr>
                <a:srgbClr val="757575"/>
              </a:buClr>
              <a:buSzPts val="1200"/>
              <a:buNone/>
              <a:defRPr sz="1200">
                <a:solidFill>
                  <a:srgbClr val="757575"/>
                </a:solidFill>
              </a:defRPr>
            </a:lvl8pPr>
            <a:lvl9pPr marL="4114800" lvl="8" indent="-228600" algn="l">
              <a:lnSpc>
                <a:spcPct val="90000"/>
              </a:lnSpc>
              <a:spcBef>
                <a:spcPts val="375"/>
              </a:spcBef>
              <a:spcAft>
                <a:spcPts val="0"/>
              </a:spcAft>
              <a:buClr>
                <a:srgbClr val="757575"/>
              </a:buClr>
              <a:buSzPts val="1200"/>
              <a:buNone/>
              <a:defRPr sz="1200">
                <a:solidFill>
                  <a:srgbClr val="757575"/>
                </a:solidFill>
              </a:defRPr>
            </a:lvl9pPr>
          </a:lstStyle>
          <a:p>
            <a:endParaRPr/>
          </a:p>
        </p:txBody>
      </p:sp>
      <p:sp>
        <p:nvSpPr>
          <p:cNvPr id="26" name="Google Shape;26;p4"/>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471488" y="2434167"/>
            <a:ext cx="2914650" cy="5801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3471863" y="2434167"/>
            <a:ext cx="2914650" cy="5801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72381"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472381" y="2241551"/>
            <a:ext cx="2901255" cy="1098549"/>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39" name="Google Shape;39;p6"/>
          <p:cNvSpPr txBox="1">
            <a:spLocks noGrp="1"/>
          </p:cNvSpPr>
          <p:nvPr>
            <p:ph type="body" idx="2"/>
          </p:nvPr>
        </p:nvSpPr>
        <p:spPr>
          <a:xfrm>
            <a:off x="472381" y="3340100"/>
            <a:ext cx="2901255" cy="4912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0" name="Google Shape;40;p6"/>
          <p:cNvSpPr txBox="1">
            <a:spLocks noGrp="1"/>
          </p:cNvSpPr>
          <p:nvPr>
            <p:ph type="body" idx="3"/>
          </p:nvPr>
        </p:nvSpPr>
        <p:spPr>
          <a:xfrm>
            <a:off x="3471863" y="2241551"/>
            <a:ext cx="2915543" cy="1098549"/>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1" name="Google Shape;41;p6"/>
          <p:cNvSpPr txBox="1">
            <a:spLocks noGrp="1"/>
          </p:cNvSpPr>
          <p:nvPr>
            <p:ph type="body" idx="4"/>
          </p:nvPr>
        </p:nvSpPr>
        <p:spPr>
          <a:xfrm>
            <a:off x="3471863" y="3340100"/>
            <a:ext cx="2915543" cy="4912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72381" y="609600"/>
            <a:ext cx="2211884" cy="2133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2915543" y="1316569"/>
            <a:ext cx="3471863" cy="6498167"/>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57" name="Google Shape;57;p9"/>
          <p:cNvSpPr txBox="1">
            <a:spLocks noGrp="1"/>
          </p:cNvSpPr>
          <p:nvPr>
            <p:ph type="body" idx="2"/>
          </p:nvPr>
        </p:nvSpPr>
        <p:spPr>
          <a:xfrm>
            <a:off x="472381" y="2743200"/>
            <a:ext cx="2211884" cy="508211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58" name="Google Shape;58;p9"/>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472381" y="609600"/>
            <a:ext cx="2211884" cy="2133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2915543" y="1316569"/>
            <a:ext cx="3471863" cy="6498167"/>
          </a:xfrm>
          <a:prstGeom prst="rect">
            <a:avLst/>
          </a:prstGeom>
          <a:noFill/>
          <a:ln>
            <a:noFill/>
          </a:ln>
        </p:spPr>
      </p:sp>
      <p:sp>
        <p:nvSpPr>
          <p:cNvPr id="64" name="Google Shape;64;p10"/>
          <p:cNvSpPr txBox="1">
            <a:spLocks noGrp="1"/>
          </p:cNvSpPr>
          <p:nvPr>
            <p:ph type="body" idx="1"/>
          </p:nvPr>
        </p:nvSpPr>
        <p:spPr>
          <a:xfrm>
            <a:off x="472381" y="2743200"/>
            <a:ext cx="2211884" cy="508211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5" name="Google Shape;65;p10"/>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528108" y="2377546"/>
            <a:ext cx="5801784" cy="59150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1772577" y="3622015"/>
            <a:ext cx="7749117" cy="147875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227798" y="2186121"/>
            <a:ext cx="7749117" cy="435054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Play"/>
              <a:buNone/>
              <a:defRPr sz="33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71488" y="2434167"/>
            <a:ext cx="5915025" cy="5801784"/>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1"/>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1"/>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757575"/>
                </a:solidFill>
                <a:latin typeface="Arial"/>
                <a:ea typeface="Arial"/>
                <a:cs typeface="Arial"/>
                <a:sym typeface="Arial"/>
              </a:defRPr>
            </a:lvl1pPr>
            <a:lvl2pPr marL="0" marR="0" lvl="1" indent="0" algn="r" rtl="0">
              <a:spcBef>
                <a:spcPts val="0"/>
              </a:spcBef>
              <a:buNone/>
              <a:defRPr sz="900" b="0" i="0" u="none" strike="noStrike" cap="none">
                <a:solidFill>
                  <a:srgbClr val="757575"/>
                </a:solidFill>
                <a:latin typeface="Arial"/>
                <a:ea typeface="Arial"/>
                <a:cs typeface="Arial"/>
                <a:sym typeface="Arial"/>
              </a:defRPr>
            </a:lvl2pPr>
            <a:lvl3pPr marL="0" marR="0" lvl="2" indent="0" algn="r" rtl="0">
              <a:spcBef>
                <a:spcPts val="0"/>
              </a:spcBef>
              <a:buNone/>
              <a:defRPr sz="900" b="0" i="0" u="none" strike="noStrike" cap="none">
                <a:solidFill>
                  <a:srgbClr val="757575"/>
                </a:solidFill>
                <a:latin typeface="Arial"/>
                <a:ea typeface="Arial"/>
                <a:cs typeface="Arial"/>
                <a:sym typeface="Arial"/>
              </a:defRPr>
            </a:lvl3pPr>
            <a:lvl4pPr marL="0" marR="0" lvl="3" indent="0" algn="r" rtl="0">
              <a:spcBef>
                <a:spcPts val="0"/>
              </a:spcBef>
              <a:buNone/>
              <a:defRPr sz="900" b="0" i="0" u="none" strike="noStrike" cap="none">
                <a:solidFill>
                  <a:srgbClr val="757575"/>
                </a:solidFill>
                <a:latin typeface="Arial"/>
                <a:ea typeface="Arial"/>
                <a:cs typeface="Arial"/>
                <a:sym typeface="Arial"/>
              </a:defRPr>
            </a:lvl4pPr>
            <a:lvl5pPr marL="0" marR="0" lvl="4" indent="0" algn="r" rtl="0">
              <a:spcBef>
                <a:spcPts val="0"/>
              </a:spcBef>
              <a:buNone/>
              <a:defRPr sz="900" b="0" i="0" u="none" strike="noStrike" cap="none">
                <a:solidFill>
                  <a:srgbClr val="757575"/>
                </a:solidFill>
                <a:latin typeface="Arial"/>
                <a:ea typeface="Arial"/>
                <a:cs typeface="Arial"/>
                <a:sym typeface="Arial"/>
              </a:defRPr>
            </a:lvl5pPr>
            <a:lvl6pPr marL="0" marR="0" lvl="5" indent="0" algn="r" rtl="0">
              <a:spcBef>
                <a:spcPts val="0"/>
              </a:spcBef>
              <a:buNone/>
              <a:defRPr sz="900" b="0" i="0" u="none" strike="noStrike" cap="none">
                <a:solidFill>
                  <a:srgbClr val="757575"/>
                </a:solidFill>
                <a:latin typeface="Arial"/>
                <a:ea typeface="Arial"/>
                <a:cs typeface="Arial"/>
                <a:sym typeface="Arial"/>
              </a:defRPr>
            </a:lvl6pPr>
            <a:lvl7pPr marL="0" marR="0" lvl="6" indent="0" algn="r" rtl="0">
              <a:spcBef>
                <a:spcPts val="0"/>
              </a:spcBef>
              <a:buNone/>
              <a:defRPr sz="900" b="0" i="0" u="none" strike="noStrike" cap="none">
                <a:solidFill>
                  <a:srgbClr val="757575"/>
                </a:solidFill>
                <a:latin typeface="Arial"/>
                <a:ea typeface="Arial"/>
                <a:cs typeface="Arial"/>
                <a:sym typeface="Arial"/>
              </a:defRPr>
            </a:lvl7pPr>
            <a:lvl8pPr marL="0" marR="0" lvl="7" indent="0" algn="r" rtl="0">
              <a:spcBef>
                <a:spcPts val="0"/>
              </a:spcBef>
              <a:buNone/>
              <a:defRPr sz="900" b="0" i="0" u="none" strike="noStrike" cap="none">
                <a:solidFill>
                  <a:srgbClr val="757575"/>
                </a:solidFill>
                <a:latin typeface="Arial"/>
                <a:ea typeface="Arial"/>
                <a:cs typeface="Arial"/>
                <a:sym typeface="Arial"/>
              </a:defRPr>
            </a:lvl8pPr>
            <a:lvl9pPr marL="0" marR="0" lvl="8" indent="0" algn="r" rtl="0">
              <a:spcBef>
                <a:spcPts val="0"/>
              </a:spcBef>
              <a:buNone/>
              <a:defRPr sz="9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p:nvPr/>
        </p:nvSpPr>
        <p:spPr>
          <a:xfrm>
            <a:off x="33951"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5" name="Google Shape;85;p13"/>
          <p:cNvSpPr/>
          <p:nvPr/>
        </p:nvSpPr>
        <p:spPr>
          <a:xfrm>
            <a:off x="16975" y="0"/>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86" name="Google Shape;86;p13"/>
          <p:cNvGrpSpPr/>
          <p:nvPr/>
        </p:nvGrpSpPr>
        <p:grpSpPr>
          <a:xfrm>
            <a:off x="0" y="0"/>
            <a:ext cx="6865269" cy="9144001"/>
            <a:chOff x="0" y="0"/>
            <a:chExt cx="6865269" cy="9144001"/>
          </a:xfrm>
        </p:grpSpPr>
        <p:sp>
          <p:nvSpPr>
            <p:cNvPr id="87" name="Google Shape;87;p13"/>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8" name="Google Shape;88;p13"/>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9" name="Google Shape;89;p13"/>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0" name="Google Shape;90;p13"/>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91" name="Google Shape;91;p13"/>
          <p:cNvSpPr/>
          <p:nvPr/>
        </p:nvSpPr>
        <p:spPr>
          <a:xfrm>
            <a:off x="539999" y="431999"/>
            <a:ext cx="5785269"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2" name="Google Shape;92;p13"/>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3" name="Google Shape;93;p13"/>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4" name="Google Shape;94;p13"/>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1</a:t>
            </a: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4"/>
          <p:cNvSpPr/>
          <p:nvPr/>
        </p:nvSpPr>
        <p:spPr>
          <a:xfrm>
            <a:off x="67565" y="90087"/>
            <a:ext cx="6722870" cy="8963827"/>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0" name="Google Shape;100;p14"/>
          <p:cNvSpPr/>
          <p:nvPr/>
        </p:nvSpPr>
        <p:spPr>
          <a:xfrm>
            <a:off x="7977" y="0"/>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101" name="Google Shape;101;p14"/>
          <p:cNvGrpSpPr/>
          <p:nvPr/>
        </p:nvGrpSpPr>
        <p:grpSpPr>
          <a:xfrm>
            <a:off x="0" y="0"/>
            <a:ext cx="6865269" cy="9144001"/>
            <a:chOff x="0" y="0"/>
            <a:chExt cx="6865269" cy="9144001"/>
          </a:xfrm>
        </p:grpSpPr>
        <p:sp>
          <p:nvSpPr>
            <p:cNvPr id="102" name="Google Shape;102;p14"/>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3" name="Google Shape;103;p14"/>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4" name="Google Shape;104;p14"/>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5" name="Google Shape;105;p14"/>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106" name="Google Shape;106;p14"/>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7" name="Google Shape;107;p14"/>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8" name="Google Shape;108;p14"/>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1</a:t>
            </a:r>
            <a:endParaRPr sz="1800" b="0" i="0" u="none" strike="noStrike" cap="none">
              <a:solidFill>
                <a:schemeClr val="dk1"/>
              </a:solidFill>
              <a:latin typeface="Arial"/>
              <a:ea typeface="Arial"/>
              <a:cs typeface="Arial"/>
              <a:sym typeface="Arial"/>
            </a:endParaRPr>
          </a:p>
        </p:txBody>
      </p:sp>
      <p:sp>
        <p:nvSpPr>
          <p:cNvPr id="109" name="Google Shape;109;p14"/>
          <p:cNvSpPr txBox="1"/>
          <p:nvPr/>
        </p:nvSpPr>
        <p:spPr>
          <a:xfrm>
            <a:off x="1000558" y="869188"/>
            <a:ext cx="5260584" cy="523180"/>
          </a:xfrm>
          <a:prstGeom prst="rect">
            <a:avLst/>
          </a:prstGeom>
          <a:noFill/>
          <a:ln>
            <a:noFill/>
          </a:ln>
        </p:spPr>
        <p:txBody>
          <a:bodyPr spcFirstLastPara="1" wrap="square" lIns="91425" tIns="45700" rIns="91425" bIns="45700" anchor="t" anchorCtr="0">
            <a:spAutoFit/>
          </a:bodyPr>
          <a:lstStyle/>
          <a:p>
            <a:pPr lvl="0" algn="ctr"/>
            <a:r>
              <a:rPr lang="en-US" sz="2800" dirty="0">
                <a:solidFill>
                  <a:schemeClr val="dk1"/>
                </a:solidFill>
                <a:latin typeface="Jost Medium" pitchFamily="2" charset="0"/>
                <a:ea typeface="Jost Medium" pitchFamily="2" charset="0"/>
                <a:cs typeface="Segoe UI Semibold" panose="020B0702040204020203" pitchFamily="34" charset="0"/>
                <a:sym typeface="Quattrocento Sans"/>
              </a:rPr>
              <a:t>FlexChroma </a:t>
            </a:r>
            <a:r>
              <a:rPr lang="en-US" sz="2800" dirty="0" err="1">
                <a:solidFill>
                  <a:schemeClr val="dk1"/>
                </a:solidFill>
                <a:latin typeface="Jost Medium" pitchFamily="2" charset="0"/>
                <a:ea typeface="Jost Medium" pitchFamily="2" charset="0"/>
                <a:cs typeface="Segoe UI Semibold" panose="020B0702040204020203" pitchFamily="34" charset="0"/>
                <a:sym typeface="Quattrocento Sans"/>
              </a:rPr>
              <a:t>Mischfarben</a:t>
            </a:r>
            <a:r>
              <a:rPr lang="en-US" sz="2800" dirty="0">
                <a:solidFill>
                  <a:schemeClr val="dk1"/>
                </a:solidFill>
                <a:latin typeface="Jost Medium" pitchFamily="2" charset="0"/>
                <a:ea typeface="Jost Medium" pitchFamily="2" charset="0"/>
                <a:cs typeface="Segoe UI Semibold" panose="020B0702040204020203" pitchFamily="34" charset="0"/>
                <a:sym typeface="Quattrocento Sans"/>
              </a:rPr>
              <a:t> Guide</a:t>
            </a:r>
            <a:endParaRPr sz="2000" dirty="0">
              <a:solidFill>
                <a:schemeClr val="dk1"/>
              </a:solidFill>
              <a:latin typeface="Jost Medium" pitchFamily="2" charset="0"/>
              <a:ea typeface="Jost Medium" pitchFamily="2" charset="0"/>
              <a:cs typeface="Segoe UI Semibold" panose="020B0702040204020203" pitchFamily="34" charset="0"/>
              <a:sym typeface="IBM Plex Sans JP"/>
            </a:endParaRPr>
          </a:p>
        </p:txBody>
      </p:sp>
      <p:sp>
        <p:nvSpPr>
          <p:cNvPr id="110" name="Google Shape;110;p14"/>
          <p:cNvSpPr/>
          <p:nvPr/>
        </p:nvSpPr>
        <p:spPr>
          <a:xfrm>
            <a:off x="566175" y="2715452"/>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1" name="Google Shape;111;p14"/>
          <p:cNvSpPr txBox="1"/>
          <p:nvPr/>
        </p:nvSpPr>
        <p:spPr>
          <a:xfrm>
            <a:off x="743949" y="2640435"/>
            <a:ext cx="2685051" cy="400069"/>
          </a:xfrm>
          <a:prstGeom prst="rect">
            <a:avLst/>
          </a:prstGeom>
          <a:noFill/>
          <a:ln>
            <a:noFill/>
          </a:ln>
        </p:spPr>
        <p:txBody>
          <a:bodyPr spcFirstLastPara="1" wrap="square" lIns="91425" tIns="45700" rIns="91425" bIns="45700" anchor="t" anchorCtr="0">
            <a:spAutoFit/>
          </a:bodyPr>
          <a:lstStyle/>
          <a:p>
            <a:pPr lvl="0"/>
            <a:r>
              <a:rPr lang="en-US" sz="2000" dirty="0">
                <a:solidFill>
                  <a:schemeClr val="dk1"/>
                </a:solidFill>
                <a:latin typeface="Jost SemiBold" pitchFamily="2" charset="0"/>
                <a:ea typeface="Jost SemiBold" pitchFamily="2" charset="0"/>
                <a:cs typeface="IBM Plex Sans JP SemiBold"/>
                <a:sym typeface="IBM Plex Sans JP SemiBold"/>
              </a:rPr>
              <a:t>1. </a:t>
            </a:r>
            <a:r>
              <a:rPr lang="en-US" sz="2000" dirty="0" err="1">
                <a:solidFill>
                  <a:schemeClr val="dk1"/>
                </a:solidFill>
                <a:latin typeface="Jost SemiBold" pitchFamily="2" charset="0"/>
                <a:ea typeface="Jost SemiBold" pitchFamily="2" charset="0"/>
                <a:cs typeface="IBM Plex Sans JP SemiBold"/>
                <a:sym typeface="IBM Plex Sans JP SemiBold"/>
              </a:rPr>
              <a:t>Einleitung</a:t>
            </a:r>
            <a:endParaRPr sz="2000" dirty="0">
              <a:solidFill>
                <a:schemeClr val="dk1"/>
              </a:solidFill>
              <a:latin typeface="Jost SemiBold" pitchFamily="2" charset="0"/>
              <a:ea typeface="Jost SemiBold" pitchFamily="2" charset="0"/>
              <a:cs typeface="IBM Plex Sans JP SemiBold"/>
              <a:sym typeface="IBM Plex Sans JP SemiBold"/>
            </a:endParaRPr>
          </a:p>
        </p:txBody>
      </p:sp>
      <p:sp>
        <p:nvSpPr>
          <p:cNvPr id="112" name="Google Shape;112;p14"/>
          <p:cNvSpPr txBox="1"/>
          <p:nvPr/>
        </p:nvSpPr>
        <p:spPr>
          <a:xfrm>
            <a:off x="693908" y="3135342"/>
            <a:ext cx="5649600" cy="954067"/>
          </a:xfrm>
          <a:prstGeom prst="rect">
            <a:avLst/>
          </a:prstGeom>
          <a:noFill/>
          <a:ln>
            <a:noFill/>
          </a:ln>
        </p:spPr>
        <p:txBody>
          <a:bodyPr spcFirstLastPara="1" wrap="square" lIns="91425" tIns="45700" rIns="91425" bIns="45700" anchor="t" anchorCtr="0">
            <a:spAutoFit/>
          </a:bodyPr>
          <a:lstStyle/>
          <a:p>
            <a:pPr lvl="0"/>
            <a:r>
              <a:rPr lang="en-US" dirty="0" err="1">
                <a:solidFill>
                  <a:schemeClr val="dk1"/>
                </a:solidFill>
                <a:latin typeface="Jost SemiBold" pitchFamily="2" charset="0"/>
                <a:ea typeface="Jost SemiBold" pitchFamily="2" charset="0"/>
                <a:cs typeface="Quattrocento Sans"/>
                <a:sym typeface="Quattrocento Sans"/>
              </a:rPr>
              <a:t>Markenübersicht</a:t>
            </a:r>
            <a:endParaRPr lang="en-US" dirty="0">
              <a:solidFill>
                <a:schemeClr val="dk1"/>
              </a:solidFill>
              <a:latin typeface="Jost SemiBold" pitchFamily="2" charset="0"/>
              <a:ea typeface="Jost SemiBold" pitchFamily="2" charset="0"/>
              <a:cs typeface="Quattrocento Sans"/>
              <a:sym typeface="Quattrocento Sans"/>
            </a:endParaRPr>
          </a:p>
          <a:p>
            <a:pPr lvl="0"/>
            <a:r>
              <a:rPr lang="de-DE" sz="1050" dirty="0">
                <a:solidFill>
                  <a:schemeClr val="dk1"/>
                </a:solidFill>
                <a:latin typeface="Jost SemiBold" pitchFamily="2" charset="0"/>
                <a:ea typeface="Jost SemiBold" pitchFamily="2" charset="0"/>
                <a:cs typeface="Quattrocento Sans"/>
                <a:sym typeface="Quattrocento Sans"/>
              </a:rPr>
              <a:t>FlexChroma </a:t>
            </a:r>
            <a:r>
              <a:rPr lang="de-DE" sz="1050" dirty="0">
                <a:solidFill>
                  <a:schemeClr val="dk1"/>
                </a:solidFill>
                <a:latin typeface="Jost" pitchFamily="2" charset="0"/>
                <a:ea typeface="Jost" pitchFamily="2" charset="0"/>
                <a:cs typeface="Quattrocento Sans"/>
                <a:sym typeface="Quattrocento Sans"/>
              </a:rPr>
              <a:t>ist eine Marke, die nicht nur für Menschen geschaffen wurde, denen die Farbauswahl bestehender Filamente nicht ausreicht, sondern auch für all jene, deren begrenzte Filamentsammlung sie daran hindert, ihre Kreativität voll zu entfalten.Das Ziel von FlexChroma ist es, Ihnen völlig neue Freiheiten bei der Farbauswahl zu eröffnen.</a:t>
            </a:r>
            <a:endParaRPr sz="1050" b="1" dirty="0">
              <a:solidFill>
                <a:schemeClr val="dk1"/>
              </a:solidFill>
              <a:latin typeface="Jost" pitchFamily="2" charset="0"/>
              <a:ea typeface="Jost" pitchFamily="2" charset="0"/>
              <a:cs typeface="IBM Plex Sans JP"/>
              <a:sym typeface="IBM Plex Sans JP"/>
            </a:endParaRPr>
          </a:p>
        </p:txBody>
      </p:sp>
      <p:grpSp>
        <p:nvGrpSpPr>
          <p:cNvPr id="113" name="Google Shape;113;p14"/>
          <p:cNvGrpSpPr/>
          <p:nvPr/>
        </p:nvGrpSpPr>
        <p:grpSpPr>
          <a:xfrm>
            <a:off x="737384" y="441444"/>
            <a:ext cx="5419984" cy="400120"/>
            <a:chOff x="1042026" y="430737"/>
            <a:chExt cx="4781214" cy="377792"/>
          </a:xfrm>
        </p:grpSpPr>
        <p:sp>
          <p:nvSpPr>
            <p:cNvPr id="114" name="Google Shape;114;p14"/>
            <p:cNvSpPr/>
            <p:nvPr/>
          </p:nvSpPr>
          <p:spPr>
            <a:xfrm>
              <a:off x="1042026" y="430737"/>
              <a:ext cx="4781214" cy="377792"/>
            </a:xfrm>
            <a:prstGeom prst="round2SameRect">
              <a:avLst>
                <a:gd name="adj1" fmla="val 50000"/>
                <a:gd name="adj2" fmla="val 0"/>
              </a:avLst>
            </a:prstGeom>
            <a:solidFill>
              <a:schemeClr val="accent1"/>
            </a:solidFill>
            <a:ln w="20175" cap="flat" cmpd="sng">
              <a:solidFill>
                <a:srgbClr val="082836"/>
              </a:solidFill>
              <a:prstDash val="solid"/>
              <a:miter lim="8000"/>
              <a:headEnd type="none" w="sm" len="sm"/>
              <a:tailEnd type="none" w="sm" len="sm"/>
            </a:ln>
          </p:spPr>
          <p:txBody>
            <a:bodyPr spcFirstLastPara="1" wrap="square" lIns="96825" tIns="48400" rIns="96825" bIns="48400" anchor="ctr" anchorCtr="0">
              <a:noAutofit/>
            </a:bodyPr>
            <a:lstStyle/>
            <a:p>
              <a:pPr marL="0" marR="0" lvl="0" indent="0" algn="ctr" rtl="0">
                <a:spcBef>
                  <a:spcPts val="0"/>
                </a:spcBef>
                <a:spcAft>
                  <a:spcPts val="0"/>
                </a:spcAft>
                <a:buNone/>
              </a:pPr>
              <a:endParaRPr sz="1906">
                <a:solidFill>
                  <a:schemeClr val="lt1"/>
                </a:solidFill>
                <a:latin typeface="Arial"/>
                <a:ea typeface="Arial"/>
                <a:cs typeface="Arial"/>
                <a:sym typeface="Arial"/>
              </a:endParaRPr>
            </a:p>
          </p:txBody>
        </p:sp>
        <p:sp>
          <p:nvSpPr>
            <p:cNvPr id="115" name="Google Shape;115;p14"/>
            <p:cNvSpPr/>
            <p:nvPr/>
          </p:nvSpPr>
          <p:spPr>
            <a:xfrm>
              <a:off x="1042026" y="697920"/>
              <a:ext cx="4781214" cy="110609"/>
            </a:xfrm>
            <a:prstGeom prst="round2SameRect">
              <a:avLst>
                <a:gd name="adj1" fmla="val 50000"/>
                <a:gd name="adj2" fmla="val 0"/>
              </a:avLst>
            </a:prstGeom>
            <a:solidFill>
              <a:schemeClr val="accent1"/>
            </a:solidFill>
            <a:ln w="20175" cap="flat" cmpd="sng">
              <a:solidFill>
                <a:srgbClr val="082836"/>
              </a:solidFill>
              <a:prstDash val="solid"/>
              <a:miter lim="8000"/>
              <a:headEnd type="none" w="sm" len="sm"/>
              <a:tailEnd type="none" w="sm" len="sm"/>
            </a:ln>
          </p:spPr>
          <p:txBody>
            <a:bodyPr spcFirstLastPara="1" wrap="square" lIns="96825" tIns="48400" rIns="96825" bIns="48400" anchor="ctr" anchorCtr="0">
              <a:noAutofit/>
            </a:bodyPr>
            <a:lstStyle/>
            <a:p>
              <a:pPr marL="0" marR="0" lvl="0" indent="0" algn="ctr" rtl="0">
                <a:spcBef>
                  <a:spcPts val="0"/>
                </a:spcBef>
                <a:spcAft>
                  <a:spcPts val="0"/>
                </a:spcAft>
                <a:buNone/>
              </a:pPr>
              <a:endParaRPr sz="1906">
                <a:solidFill>
                  <a:schemeClr val="lt1"/>
                </a:solidFill>
                <a:latin typeface="Arial"/>
                <a:ea typeface="Arial"/>
                <a:cs typeface="Arial"/>
                <a:sym typeface="Arial"/>
              </a:endParaRPr>
            </a:p>
          </p:txBody>
        </p:sp>
      </p:grpSp>
      <p:grpSp>
        <p:nvGrpSpPr>
          <p:cNvPr id="116" name="Google Shape;116;p14"/>
          <p:cNvGrpSpPr/>
          <p:nvPr/>
        </p:nvGrpSpPr>
        <p:grpSpPr>
          <a:xfrm rot="10800000">
            <a:off x="737383" y="2224664"/>
            <a:ext cx="5419985" cy="377792"/>
            <a:chOff x="1042026" y="430737"/>
            <a:chExt cx="4781214" cy="377792"/>
          </a:xfrm>
        </p:grpSpPr>
        <p:sp>
          <p:nvSpPr>
            <p:cNvPr id="117" name="Google Shape;117;p14"/>
            <p:cNvSpPr/>
            <p:nvPr/>
          </p:nvSpPr>
          <p:spPr>
            <a:xfrm>
              <a:off x="1042026" y="430737"/>
              <a:ext cx="4781214" cy="377792"/>
            </a:xfrm>
            <a:prstGeom prst="round2SameRect">
              <a:avLst>
                <a:gd name="adj1" fmla="val 50000"/>
                <a:gd name="adj2" fmla="val 0"/>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8" name="Google Shape;118;p14"/>
            <p:cNvSpPr/>
            <p:nvPr/>
          </p:nvSpPr>
          <p:spPr>
            <a:xfrm>
              <a:off x="1042026" y="697920"/>
              <a:ext cx="4781214" cy="110609"/>
            </a:xfrm>
            <a:prstGeom prst="round2SameRect">
              <a:avLst>
                <a:gd name="adj1" fmla="val 50000"/>
                <a:gd name="adj2" fmla="val 0"/>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19" name="Google Shape;119;p14"/>
          <p:cNvSpPr txBox="1"/>
          <p:nvPr/>
        </p:nvSpPr>
        <p:spPr>
          <a:xfrm>
            <a:off x="1515655" y="1444411"/>
            <a:ext cx="3826689" cy="338554"/>
          </a:xfrm>
          <a:prstGeom prst="rect">
            <a:avLst/>
          </a:prstGeom>
          <a:noFill/>
          <a:ln>
            <a:noFill/>
          </a:ln>
        </p:spPr>
        <p:txBody>
          <a:bodyPr spcFirstLastPara="1" wrap="square" lIns="91425" tIns="45700" rIns="91425" bIns="45700" anchor="t" anchorCtr="0">
            <a:spAutoFit/>
          </a:bodyPr>
          <a:lstStyle/>
          <a:p>
            <a:pPr lvl="0" algn="ctr"/>
            <a:r>
              <a:rPr lang="de-DE" sz="1600" dirty="0">
                <a:solidFill>
                  <a:schemeClr val="dk1"/>
                </a:solidFill>
                <a:latin typeface="Jost" pitchFamily="2" charset="0"/>
                <a:ea typeface="Jost" pitchFamily="2" charset="0"/>
                <a:cs typeface="Segoe UI Semibold" panose="020B0702040204020203" pitchFamily="34" charset="0"/>
                <a:sym typeface="IBM Plex Sans JP"/>
              </a:rPr>
              <a:t>- Drucke die Farben deiner Fantasie. -</a:t>
            </a:r>
            <a:endParaRPr sz="1600" dirty="0">
              <a:solidFill>
                <a:schemeClr val="dk1"/>
              </a:solidFill>
              <a:latin typeface="Jost" pitchFamily="2" charset="0"/>
              <a:ea typeface="Jost" pitchFamily="2" charset="0"/>
              <a:cs typeface="Segoe UI Semibold" panose="020B0702040204020203" pitchFamily="34" charset="0"/>
              <a:sym typeface="IBM Plex Sans JP"/>
            </a:endParaRPr>
          </a:p>
        </p:txBody>
      </p:sp>
      <p:sp>
        <p:nvSpPr>
          <p:cNvPr id="120" name="Google Shape;120;p14"/>
          <p:cNvSpPr txBox="1"/>
          <p:nvPr/>
        </p:nvSpPr>
        <p:spPr>
          <a:xfrm>
            <a:off x="2428662" y="1849925"/>
            <a:ext cx="19896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chemeClr val="dk1"/>
                </a:solidFill>
                <a:latin typeface="Jost" pitchFamily="2" charset="0"/>
                <a:ea typeface="Jost" pitchFamily="2" charset="0"/>
                <a:cs typeface="IBM Plex Sans JP"/>
                <a:sym typeface="IBM Plex Sans JP"/>
              </a:rPr>
              <a:t>Ver.</a:t>
            </a:r>
            <a:r>
              <a:rPr lang="en-US" dirty="0">
                <a:solidFill>
                  <a:schemeClr val="dk1"/>
                </a:solidFill>
                <a:latin typeface="Jost" pitchFamily="2" charset="0"/>
                <a:ea typeface="Jost" pitchFamily="2" charset="0"/>
                <a:cs typeface="IBM Plex Sans JP"/>
                <a:sym typeface="IBM Plex Sans JP"/>
              </a:rPr>
              <a:t>1</a:t>
            </a:r>
            <a:r>
              <a:rPr lang="en-US" sz="1400" dirty="0">
                <a:solidFill>
                  <a:schemeClr val="dk1"/>
                </a:solidFill>
                <a:latin typeface="Jost" pitchFamily="2" charset="0"/>
                <a:ea typeface="Jost" pitchFamily="2" charset="0"/>
                <a:cs typeface="IBM Plex Sans JP"/>
                <a:sym typeface="IBM Plex Sans JP"/>
              </a:rPr>
              <a:t>.0</a:t>
            </a:r>
            <a:r>
              <a:rPr lang="en-US" dirty="0">
                <a:solidFill>
                  <a:schemeClr val="dk1"/>
                </a:solidFill>
                <a:latin typeface="Jost" pitchFamily="2" charset="0"/>
                <a:ea typeface="Jost" pitchFamily="2" charset="0"/>
                <a:cs typeface="IBM Plex Sans JP"/>
                <a:sym typeface="IBM Plex Sans JP"/>
              </a:rPr>
              <a:t>0</a:t>
            </a:r>
            <a:r>
              <a:rPr lang="en-US" sz="1400" dirty="0">
                <a:solidFill>
                  <a:schemeClr val="dk1"/>
                </a:solidFill>
                <a:latin typeface="Jost" pitchFamily="2" charset="0"/>
                <a:ea typeface="Jost" pitchFamily="2" charset="0"/>
                <a:cs typeface="IBM Plex Sans JP"/>
                <a:sym typeface="IBM Plex Sans JP"/>
              </a:rPr>
              <a:t>  2026.9.24</a:t>
            </a:r>
            <a:endParaRPr sz="1400" dirty="0">
              <a:solidFill>
                <a:schemeClr val="dk1"/>
              </a:solidFill>
              <a:latin typeface="Jost" pitchFamily="2" charset="0"/>
              <a:ea typeface="Jost" pitchFamily="2" charset="0"/>
              <a:cs typeface="IBM Plex Sans JP"/>
              <a:sym typeface="IBM Plex Sans JP"/>
            </a:endParaRPr>
          </a:p>
        </p:txBody>
      </p:sp>
      <p:sp>
        <p:nvSpPr>
          <p:cNvPr id="121" name="Google Shape;121;p14"/>
          <p:cNvSpPr txBox="1"/>
          <p:nvPr/>
        </p:nvSpPr>
        <p:spPr>
          <a:xfrm>
            <a:off x="668508" y="4088392"/>
            <a:ext cx="5649600" cy="1438815"/>
          </a:xfrm>
          <a:prstGeom prst="rect">
            <a:avLst/>
          </a:prstGeom>
          <a:noFill/>
          <a:ln>
            <a:noFill/>
          </a:ln>
        </p:spPr>
        <p:txBody>
          <a:bodyPr spcFirstLastPara="1" wrap="square" lIns="91425" tIns="45700" rIns="91425" bIns="45700" anchor="t" anchorCtr="0">
            <a:spAutoFit/>
          </a:bodyPr>
          <a:lstStyle/>
          <a:p>
            <a:pPr lvl="0"/>
            <a:r>
              <a:rPr lang="en-US" dirty="0" err="1">
                <a:solidFill>
                  <a:schemeClr val="dk1"/>
                </a:solidFill>
                <a:latin typeface="Jost SemiBold" pitchFamily="2" charset="0"/>
                <a:ea typeface="Jost SemiBold" pitchFamily="2" charset="0"/>
                <a:cs typeface="Quattrocento Sans"/>
                <a:sym typeface="Quattrocento Sans"/>
              </a:rPr>
              <a:t>Serienübersicht</a:t>
            </a:r>
            <a:endParaRPr lang="en-US" dirty="0">
              <a:solidFill>
                <a:schemeClr val="dk1"/>
              </a:solidFill>
              <a:latin typeface="Jost SemiBold" pitchFamily="2" charset="0"/>
              <a:ea typeface="Jost SemiBold" pitchFamily="2" charset="0"/>
              <a:cs typeface="Quattrocento Sans"/>
              <a:sym typeface="Quattrocento Sans"/>
            </a:endParaRPr>
          </a:p>
          <a:p>
            <a:pPr lvl="0"/>
            <a:r>
              <a:rPr lang="de-DE" sz="1050" dirty="0">
                <a:solidFill>
                  <a:schemeClr val="dk1"/>
                </a:solidFill>
                <a:latin typeface="Jost" pitchFamily="2" charset="0"/>
                <a:ea typeface="Jost" pitchFamily="2" charset="0"/>
                <a:cs typeface="Quattrocento Sans"/>
                <a:sym typeface="Quattrocento Sans"/>
              </a:rPr>
              <a:t>Die Mischfilament-Serie ist die grundlegendste Serie von </a:t>
            </a:r>
            <a:r>
              <a:rPr lang="de-DE" sz="1050" dirty="0">
                <a:solidFill>
                  <a:schemeClr val="dk1"/>
                </a:solidFill>
                <a:latin typeface="Jost SemiBold" pitchFamily="2" charset="0"/>
                <a:ea typeface="Jost SemiBold" pitchFamily="2" charset="0"/>
                <a:cs typeface="Quattrocento Sans"/>
                <a:sym typeface="Quattrocento Sans"/>
              </a:rPr>
              <a:t>FlexChroma</a:t>
            </a:r>
            <a:r>
              <a:rPr lang="de-DE" sz="1050" dirty="0">
                <a:solidFill>
                  <a:schemeClr val="dk1"/>
                </a:solidFill>
                <a:latin typeface="Jost" pitchFamily="2" charset="0"/>
                <a:ea typeface="Jost" pitchFamily="2" charset="0"/>
                <a:cs typeface="Quattrocento Sans"/>
                <a:sym typeface="Quattrocento Sans"/>
              </a:rPr>
              <a:t>.Durch das Kombinieren zweier Filamente in verschiedenen Mischungsverhältnissen können Sie eine große Vielfalt an maßgeschneiderten Farben kreieren.</a:t>
            </a:r>
          </a:p>
          <a:p>
            <a:pPr lvl="0"/>
            <a:r>
              <a:rPr lang="de-DE" sz="1050" dirty="0">
                <a:solidFill>
                  <a:schemeClr val="dk1"/>
                </a:solidFill>
                <a:latin typeface="Jost" pitchFamily="2" charset="0"/>
                <a:ea typeface="Jost" pitchFamily="2" charset="0"/>
                <a:cs typeface="Quattrocento Sans"/>
                <a:sym typeface="Quattrocento Sans"/>
              </a:rPr>
              <a:t>Für Anwender, die eine noch präzisere Kontrolle wünschen oder Kombinationen mit großen Helligkeitsunterschieden nutzen, stehen zudem die Detail-Modelle zur Verfügung.</a:t>
            </a:r>
          </a:p>
          <a:p>
            <a:pPr lvl="0"/>
            <a:r>
              <a:rPr lang="de-DE" sz="1050" dirty="0">
                <a:solidFill>
                  <a:schemeClr val="dk1"/>
                </a:solidFill>
                <a:latin typeface="Jost" pitchFamily="2" charset="0"/>
                <a:ea typeface="Jost" pitchFamily="2" charset="0"/>
                <a:cs typeface="Quattrocento Sans"/>
                <a:sym typeface="Quattrocento Sans"/>
              </a:rPr>
              <a:t>Diese decken Mischungsverhältnisse von 90 bis 99,5 % ab und ermöglichen so feinere Abstimmungen, die mit den Standard-Modellen nicht erreicht werden können.</a:t>
            </a:r>
            <a:endParaRPr sz="1050" dirty="0">
              <a:solidFill>
                <a:schemeClr val="dk1"/>
              </a:solidFill>
              <a:latin typeface="Jost" pitchFamily="2" charset="0"/>
              <a:ea typeface="Jost" pitchFamily="2" charset="0"/>
              <a:cs typeface="IBM Plex Sans JP"/>
              <a:sym typeface="IBM Plex Sans JP"/>
            </a:endParaRPr>
          </a:p>
        </p:txBody>
      </p:sp>
      <p:sp>
        <p:nvSpPr>
          <p:cNvPr id="122" name="Google Shape;122;p14"/>
          <p:cNvSpPr/>
          <p:nvPr/>
        </p:nvSpPr>
        <p:spPr>
          <a:xfrm>
            <a:off x="554550" y="5710596"/>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3" name="Google Shape;123;p14"/>
          <p:cNvSpPr txBox="1"/>
          <p:nvPr/>
        </p:nvSpPr>
        <p:spPr>
          <a:xfrm>
            <a:off x="732323" y="5644952"/>
            <a:ext cx="2923095" cy="400069"/>
          </a:xfrm>
          <a:prstGeom prst="rect">
            <a:avLst/>
          </a:prstGeom>
          <a:noFill/>
          <a:ln>
            <a:noFill/>
          </a:ln>
        </p:spPr>
        <p:txBody>
          <a:bodyPr spcFirstLastPara="1" wrap="square" lIns="91425" tIns="45700" rIns="91425" bIns="45700" anchor="t" anchorCtr="0">
            <a:spAutoFit/>
          </a:bodyPr>
          <a:lstStyle/>
          <a:p>
            <a:pPr lvl="0"/>
            <a:r>
              <a:rPr lang="en-US" sz="2000" dirty="0">
                <a:solidFill>
                  <a:schemeClr val="dk1"/>
                </a:solidFill>
                <a:latin typeface="Jost SemiBold" pitchFamily="2" charset="0"/>
                <a:ea typeface="Jost SemiBold" pitchFamily="2" charset="0"/>
                <a:cs typeface="IBM Plex Sans JP SemiBold"/>
                <a:sym typeface="IBM Plex Sans JP SemiBold"/>
              </a:rPr>
              <a:t>2. </a:t>
            </a:r>
            <a:r>
              <a:rPr lang="en-US" sz="2000" dirty="0" err="1">
                <a:solidFill>
                  <a:schemeClr val="dk1"/>
                </a:solidFill>
                <a:latin typeface="Jost SemiBold" pitchFamily="2" charset="0"/>
                <a:ea typeface="Jost SemiBold" pitchFamily="2" charset="0"/>
                <a:cs typeface="IBM Plex Sans JP SemiBold"/>
                <a:sym typeface="IBM Plex Sans JP SemiBold"/>
              </a:rPr>
              <a:t>Modellstruktur</a:t>
            </a:r>
            <a:endParaRPr sz="2000" dirty="0">
              <a:solidFill>
                <a:schemeClr val="dk1"/>
              </a:solidFill>
              <a:latin typeface="Jost SemiBold" pitchFamily="2" charset="0"/>
              <a:ea typeface="Jost SemiBold" pitchFamily="2" charset="0"/>
              <a:cs typeface="IBM Plex Sans JP SemiBold"/>
              <a:sym typeface="IBM Plex Sans JP SemiBold"/>
            </a:endParaRPr>
          </a:p>
        </p:txBody>
      </p:sp>
      <p:sp>
        <p:nvSpPr>
          <p:cNvPr id="124" name="Google Shape;124;p14"/>
          <p:cNvSpPr txBox="1"/>
          <p:nvPr/>
        </p:nvSpPr>
        <p:spPr>
          <a:xfrm>
            <a:off x="783555" y="6451596"/>
            <a:ext cx="2632509" cy="307736"/>
          </a:xfrm>
          <a:prstGeom prst="rect">
            <a:avLst/>
          </a:prstGeom>
          <a:noFill/>
          <a:ln>
            <a:noFill/>
          </a:ln>
        </p:spPr>
        <p:txBody>
          <a:bodyPr spcFirstLastPara="1" wrap="square" lIns="91425" tIns="45700" rIns="91425" bIns="45700" anchor="t" anchorCtr="0">
            <a:spAutoFit/>
          </a:bodyPr>
          <a:lstStyle/>
          <a:p>
            <a:pPr lvl="0"/>
            <a:r>
              <a:rPr lang="en-US" b="1" dirty="0" err="1">
                <a:solidFill>
                  <a:schemeClr val="dk1"/>
                </a:solidFill>
                <a:latin typeface="Jost SemiBold" pitchFamily="2" charset="0"/>
                <a:ea typeface="Jost SemiBold" pitchFamily="2" charset="0"/>
                <a:cs typeface="Quattrocento Sans"/>
                <a:sym typeface="Quattrocento Sans"/>
              </a:rPr>
              <a:t>Mischungsverhältnisse</a:t>
            </a:r>
            <a:endParaRPr b="1" dirty="0">
              <a:solidFill>
                <a:schemeClr val="dk1"/>
              </a:solidFill>
              <a:latin typeface="Jost SemiBold" pitchFamily="2" charset="0"/>
              <a:ea typeface="Jost SemiBold" pitchFamily="2" charset="0"/>
              <a:cs typeface="Quattrocento Sans"/>
              <a:sym typeface="Quattrocento Sans"/>
            </a:endParaRPr>
          </a:p>
        </p:txBody>
      </p:sp>
      <p:sp>
        <p:nvSpPr>
          <p:cNvPr id="125" name="Google Shape;125;p14"/>
          <p:cNvSpPr/>
          <p:nvPr/>
        </p:nvSpPr>
        <p:spPr>
          <a:xfrm>
            <a:off x="607651" y="4143898"/>
            <a:ext cx="124500" cy="118091"/>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6" name="Google Shape;126;p14"/>
          <p:cNvSpPr/>
          <p:nvPr/>
        </p:nvSpPr>
        <p:spPr>
          <a:xfrm>
            <a:off x="607651" y="3208986"/>
            <a:ext cx="124500" cy="118091"/>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7" name="Google Shape;127;p14"/>
          <p:cNvSpPr txBox="1"/>
          <p:nvPr/>
        </p:nvSpPr>
        <p:spPr>
          <a:xfrm>
            <a:off x="668508" y="5932967"/>
            <a:ext cx="5649600" cy="415500"/>
          </a:xfrm>
          <a:prstGeom prst="rect">
            <a:avLst/>
          </a:prstGeom>
          <a:noFill/>
          <a:ln>
            <a:noFill/>
          </a:ln>
        </p:spPr>
        <p:txBody>
          <a:bodyPr spcFirstLastPara="1" wrap="square" lIns="91425" tIns="45700" rIns="91425" bIns="45700" anchor="t" anchorCtr="0">
            <a:spAutoFit/>
          </a:bodyPr>
          <a:lstStyle/>
          <a:p>
            <a:pPr lvl="0"/>
            <a:r>
              <a:rPr lang="de-DE" sz="1050" dirty="0">
                <a:solidFill>
                  <a:schemeClr val="dk1"/>
                </a:solidFill>
                <a:latin typeface="Jost" pitchFamily="2" charset="0"/>
                <a:ea typeface="Jost" pitchFamily="2" charset="0"/>
                <a:cs typeface="Quattrocento Sans"/>
                <a:sym typeface="Quattrocento Sans"/>
              </a:rPr>
              <a:t>Diese Produktreihe ist nach Größen segmentiert. Jede Kategorie beinhaltet sowohl die Standard-Modelle als auch die separat erhältlichen Detail-Modelle.</a:t>
            </a:r>
            <a:endParaRPr sz="1050" dirty="0">
              <a:solidFill>
                <a:schemeClr val="dk1"/>
              </a:solidFill>
              <a:latin typeface="Jost" pitchFamily="2" charset="0"/>
              <a:ea typeface="Jost" pitchFamily="2" charset="0"/>
              <a:cs typeface="Quattrocento Sans"/>
              <a:sym typeface="Quattrocento Sans"/>
            </a:endParaRPr>
          </a:p>
        </p:txBody>
      </p:sp>
      <p:sp>
        <p:nvSpPr>
          <p:cNvPr id="128" name="Google Shape;128;p14"/>
          <p:cNvSpPr txBox="1"/>
          <p:nvPr/>
        </p:nvSpPr>
        <p:spPr>
          <a:xfrm>
            <a:off x="659598" y="6747925"/>
            <a:ext cx="5705400" cy="1923563"/>
          </a:xfrm>
          <a:prstGeom prst="rect">
            <a:avLst/>
          </a:prstGeom>
          <a:noFill/>
          <a:ln>
            <a:noFill/>
          </a:ln>
        </p:spPr>
        <p:txBody>
          <a:bodyPr spcFirstLastPara="1" wrap="square" lIns="91425" tIns="45700" rIns="91425" bIns="45700" anchor="t" anchorCtr="0">
            <a:spAutoFit/>
          </a:bodyPr>
          <a:lstStyle/>
          <a:p>
            <a:pPr lvl="0"/>
            <a:r>
              <a:rPr lang="de-DE" sz="1000" dirty="0">
                <a:solidFill>
                  <a:schemeClr val="dk1"/>
                </a:solidFill>
                <a:latin typeface="Jost" pitchFamily="2" charset="0"/>
                <a:ea typeface="Jost" pitchFamily="2" charset="0"/>
                <a:cs typeface="Quattrocento Sans"/>
                <a:sym typeface="Quattrocento Sans"/>
              </a:rPr>
              <a:t>Die Mischungsverhältnisse werden im Wesentlichen durch zwei Modelltypen definiert:Standard-Modell: 50%‒95% in Schritten von 5% (10 Modelle)Detail-Modell: 90%; 92,5%; 95%; 96%; 97%; 98%; 98,5%; 99%; 99,5% (9 Modelle)</a:t>
            </a:r>
          </a:p>
          <a:p>
            <a:pPr lvl="0"/>
            <a:r>
              <a:rPr lang="de-DE" sz="900" dirty="0">
                <a:solidFill>
                  <a:schemeClr val="dk1"/>
                </a:solidFill>
                <a:latin typeface="Jost" pitchFamily="2" charset="0"/>
                <a:ea typeface="Jost" pitchFamily="2" charset="0"/>
                <a:cs typeface="Quattrocento Sans"/>
                <a:sym typeface="Quattrocento Sans"/>
              </a:rPr>
              <a:t>Hinweis: Das 90%- und 95%-Modell sind in beiden Ausführungen identisch.</a:t>
            </a:r>
          </a:p>
          <a:p>
            <a:pPr lvl="0"/>
            <a:endParaRPr lang="de-DE" sz="500" dirty="0">
              <a:solidFill>
                <a:schemeClr val="dk1"/>
              </a:solidFill>
              <a:latin typeface="Jost" pitchFamily="2" charset="0"/>
              <a:ea typeface="Jost" pitchFamily="2" charset="0"/>
              <a:cs typeface="Quattrocento Sans"/>
              <a:sym typeface="Quattrocento Sans"/>
            </a:endParaRPr>
          </a:p>
          <a:p>
            <a:pPr lvl="0"/>
            <a:r>
              <a:rPr lang="de-DE" sz="1000" dirty="0">
                <a:solidFill>
                  <a:schemeClr val="dk1"/>
                </a:solidFill>
                <a:latin typeface="Jost" pitchFamily="2" charset="0"/>
                <a:ea typeface="Jost" pitchFamily="2" charset="0"/>
                <a:cs typeface="Quattrocento Sans"/>
                <a:sym typeface="Quattrocento Sans"/>
              </a:rPr>
              <a:t>Obwohl insgesamt 17 Mischungsverhältnisse zur Verfügung stehen, lässt sich durch das Vertauschen der Filamente A und B das jeweils umgekehrte Verhältnis erzielen (ausgenommen beim 50%-Modell).(Beispiel: Die Verwendung des 75%-Modells ergibt ein Verhältnis von A:B = 75%:25%. Durch das Vertauschen der Filamente wird ein Verhältnis von A:B = 25%:75% erreicht, was dem 25%-Mischungsverhältnis entspricht.)</a:t>
            </a:r>
          </a:p>
          <a:p>
            <a:pPr lvl="0"/>
            <a:endParaRPr lang="de-DE" sz="500" dirty="0">
              <a:solidFill>
                <a:schemeClr val="dk1"/>
              </a:solidFill>
              <a:latin typeface="Jost" pitchFamily="2" charset="0"/>
              <a:ea typeface="Jost" pitchFamily="2" charset="0"/>
              <a:cs typeface="Quattrocento Sans"/>
              <a:sym typeface="Quattrocento Sans"/>
            </a:endParaRPr>
          </a:p>
          <a:p>
            <a:pPr lvl="0"/>
            <a:r>
              <a:rPr lang="de-DE" sz="1000" dirty="0">
                <a:solidFill>
                  <a:schemeClr val="dk1"/>
                </a:solidFill>
                <a:latin typeface="Jost" pitchFamily="2" charset="0"/>
                <a:ea typeface="Jost" pitchFamily="2" charset="0"/>
                <a:cs typeface="Quattrocento Sans"/>
                <a:sym typeface="Quattrocento Sans"/>
              </a:rPr>
              <a:t>Um die Dateigröße zu minimieren, können die Standard-Modelle in die Segmente ‚Standard 1‘ und ‚Standard 2‘ aufgeteilt sein.</a:t>
            </a:r>
            <a:endParaRPr sz="1000" dirty="0">
              <a:solidFill>
                <a:schemeClr val="dk1"/>
              </a:solidFill>
              <a:latin typeface="Jost" pitchFamily="2" charset="0"/>
              <a:ea typeface="Jost" pitchFamily="2" charset="0"/>
              <a:cs typeface="Quattrocento Sans"/>
              <a:sym typeface="Quattrocento Sans"/>
            </a:endParaRPr>
          </a:p>
        </p:txBody>
      </p:sp>
      <p:sp>
        <p:nvSpPr>
          <p:cNvPr id="129" name="Google Shape;129;p14"/>
          <p:cNvSpPr/>
          <p:nvPr/>
        </p:nvSpPr>
        <p:spPr>
          <a:xfrm>
            <a:off x="705856" y="6534873"/>
            <a:ext cx="124500" cy="118091"/>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pic>
        <p:nvPicPr>
          <p:cNvPr id="3" name="図 2">
            <a:extLst>
              <a:ext uri="{FF2B5EF4-FFF2-40B4-BE49-F238E27FC236}">
                <a16:creationId xmlns:a16="http://schemas.microsoft.com/office/drawing/2014/main" id="{3BFB578B-2FC5-0CFA-B9F7-66AFD3E53782}"/>
              </a:ext>
            </a:extLst>
          </p:cNvPr>
          <p:cNvPicPr>
            <a:picLocks noChangeAspect="1"/>
          </p:cNvPicPr>
          <p:nvPr/>
        </p:nvPicPr>
        <p:blipFill>
          <a:blip r:embed="rId3"/>
          <a:stretch>
            <a:fillRect/>
          </a:stretch>
        </p:blipFill>
        <p:spPr>
          <a:xfrm>
            <a:off x="722483" y="946491"/>
            <a:ext cx="356510" cy="34367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5"/>
          <p:cNvSpPr/>
          <p:nvPr/>
        </p:nvSpPr>
        <p:spPr>
          <a:xfrm>
            <a:off x="67565" y="90087"/>
            <a:ext cx="6722870" cy="8963827"/>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5" name="Google Shape;135;p15"/>
          <p:cNvSpPr/>
          <p:nvPr/>
        </p:nvSpPr>
        <p:spPr>
          <a:xfrm>
            <a:off x="20300" y="12028"/>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36" name="Google Shape;136;p15"/>
          <p:cNvGrpSpPr/>
          <p:nvPr/>
        </p:nvGrpSpPr>
        <p:grpSpPr>
          <a:xfrm>
            <a:off x="0" y="0"/>
            <a:ext cx="6865269" cy="9144001"/>
            <a:chOff x="0" y="0"/>
            <a:chExt cx="6865269" cy="9144001"/>
          </a:xfrm>
        </p:grpSpPr>
        <p:sp>
          <p:nvSpPr>
            <p:cNvPr id="137" name="Google Shape;137;p15"/>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8" name="Google Shape;138;p15"/>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9" name="Google Shape;139;p15"/>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0" name="Google Shape;140;p15"/>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41" name="Google Shape;141;p15"/>
          <p:cNvSpPr/>
          <p:nvPr/>
        </p:nvSpPr>
        <p:spPr>
          <a:xfrm>
            <a:off x="554537" y="433418"/>
            <a:ext cx="5756193"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2" name="Google Shape;142;p15"/>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3" name="Google Shape;143;p15"/>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5" name="Google Shape;145;p15"/>
          <p:cNvSpPr/>
          <p:nvPr/>
        </p:nvSpPr>
        <p:spPr>
          <a:xfrm>
            <a:off x="549450" y="4379215"/>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6" name="Google Shape;146;p15"/>
          <p:cNvSpPr txBox="1"/>
          <p:nvPr/>
        </p:nvSpPr>
        <p:spPr>
          <a:xfrm>
            <a:off x="712942" y="4312369"/>
            <a:ext cx="2716057" cy="400200"/>
          </a:xfrm>
          <a:prstGeom prst="rect">
            <a:avLst/>
          </a:prstGeom>
          <a:noFill/>
          <a:ln>
            <a:noFill/>
          </a:ln>
        </p:spPr>
        <p:txBody>
          <a:bodyPr spcFirstLastPara="1" wrap="square" lIns="91425" tIns="45700" rIns="91425" bIns="45700" anchor="t" anchorCtr="0">
            <a:spAutoFit/>
          </a:bodyPr>
          <a:lstStyle/>
          <a:p>
            <a:pPr lvl="0"/>
            <a:r>
              <a:rPr 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3. </a:t>
            </a:r>
            <a:r>
              <a:rPr lang="en-US" sz="2000" b="1" dirty="0" err="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Mischergebnisse</a:t>
            </a:r>
            <a:endParaRPr sz="28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47" name="Google Shape;147;p15"/>
          <p:cNvSpPr txBox="1"/>
          <p:nvPr/>
        </p:nvSpPr>
        <p:spPr>
          <a:xfrm>
            <a:off x="642882" y="4603120"/>
            <a:ext cx="5756192" cy="1384954"/>
          </a:xfrm>
          <a:prstGeom prst="rect">
            <a:avLst/>
          </a:prstGeom>
          <a:noFill/>
          <a:ln>
            <a:noFill/>
          </a:ln>
        </p:spPr>
        <p:txBody>
          <a:bodyPr spcFirstLastPara="1" wrap="square" lIns="91425" tIns="45700" rIns="91425" bIns="45700" anchor="t" anchorCtr="0">
            <a:spAutoFit/>
          </a:bodyPr>
          <a:lstStyle/>
          <a:p>
            <a:pPr lvl="0"/>
            <a:r>
              <a:rPr lang="de-DE" sz="1000" dirty="0">
                <a:solidFill>
                  <a:schemeClr val="dk1"/>
                </a:solidFill>
                <a:latin typeface="Jost" pitchFamily="2" charset="0"/>
                <a:ea typeface="Jost" pitchFamily="2" charset="0"/>
                <a:cs typeface="IBM Plex Sans JP"/>
                <a:sym typeface="IBM Plex Sans JP"/>
              </a:rPr>
              <a:t>Einige Filamente liefern beim Schichtdruck bessere Farbergebnisse als andere. Im Allgemeinen erzielen Filamente mit geringerer Helligkeit tendenziell bessere Ergebnisse, während solche mit hoher Helligkeit zu weniger optimalen Resultaten neigen. Daher müssen Sie das passende Modell basierend auf der spezifischen Filamentkombination auswählen, die Sie verwenden möchten.</a:t>
            </a:r>
          </a:p>
          <a:p>
            <a:pPr lvl="0"/>
            <a:endParaRPr lang="de-DE" sz="400" dirty="0">
              <a:solidFill>
                <a:schemeClr val="dk1"/>
              </a:solidFill>
              <a:latin typeface="Jost" pitchFamily="2" charset="0"/>
              <a:ea typeface="Jost" pitchFamily="2" charset="0"/>
              <a:cs typeface="IBM Plex Sans JP"/>
              <a:sym typeface="IBM Plex Sans JP"/>
            </a:endParaRPr>
          </a:p>
          <a:p>
            <a:pPr lvl="0"/>
            <a:r>
              <a:rPr lang="de-DE" sz="1000" dirty="0">
                <a:solidFill>
                  <a:schemeClr val="dk1"/>
                </a:solidFill>
                <a:latin typeface="Jost" pitchFamily="2" charset="0"/>
                <a:ea typeface="Jost" pitchFamily="2" charset="0"/>
                <a:cs typeface="IBM Plex Sans JP"/>
                <a:sym typeface="IBM Plex Sans JP"/>
              </a:rPr>
              <a:t>Wie die finale Farbe exakt aussieht, lässt sich erst nach dem eigentlichen Druck beurteilen. Es ist zwar ratsam, Testfilamente zu erstellen und diese auf einem S4-Modell zu prüfen – sofern es die Zeit erlaubt, empfehlen wir jedoch die Nutzung des Blend Color Checkers, um die Ergebnisse zu vergleichen und die Farben zu überprüfen.</a:t>
            </a:r>
            <a:endParaRPr sz="1000" b="1" dirty="0">
              <a:solidFill>
                <a:schemeClr val="dk1"/>
              </a:solidFill>
              <a:latin typeface="Jost" pitchFamily="2" charset="0"/>
              <a:ea typeface="Jost" pitchFamily="2" charset="0"/>
              <a:cs typeface="IBM Plex Sans JP"/>
              <a:sym typeface="IBM Plex Sans JP"/>
            </a:endParaRPr>
          </a:p>
        </p:txBody>
      </p:sp>
      <p:sp>
        <p:nvSpPr>
          <p:cNvPr id="148" name="Google Shape;148;p15"/>
          <p:cNvSpPr txBox="1"/>
          <p:nvPr/>
        </p:nvSpPr>
        <p:spPr>
          <a:xfrm>
            <a:off x="623556" y="529686"/>
            <a:ext cx="1536600" cy="276900"/>
          </a:xfrm>
          <a:prstGeom prst="rect">
            <a:avLst/>
          </a:prstGeom>
          <a:noFill/>
          <a:ln>
            <a:noFill/>
          </a:ln>
        </p:spPr>
        <p:txBody>
          <a:bodyPr spcFirstLastPara="1" wrap="square" lIns="91425" tIns="45700" rIns="91425" bIns="45700" anchor="t" anchorCtr="0">
            <a:spAutoFit/>
          </a:bodyPr>
          <a:lstStyle/>
          <a:p>
            <a:pPr lvl="0"/>
            <a:r>
              <a:rPr lang="en-US" sz="1200" dirty="0" err="1">
                <a:solidFill>
                  <a:schemeClr val="dk1"/>
                </a:solidFill>
                <a:latin typeface="Jost SemiBold" pitchFamily="2" charset="0"/>
                <a:ea typeface="Jost SemiBold" pitchFamily="2" charset="0"/>
                <a:cs typeface="Quattrocento Sans"/>
                <a:sym typeface="Quattrocento Sans"/>
              </a:rPr>
              <a:t>Größen</a:t>
            </a:r>
            <a:endParaRPr sz="1200" dirty="0">
              <a:solidFill>
                <a:schemeClr val="dk1"/>
              </a:solidFill>
              <a:latin typeface="Jost SemiBold" pitchFamily="2" charset="0"/>
              <a:ea typeface="Jost SemiBold" pitchFamily="2" charset="0"/>
              <a:cs typeface="Quattrocento Sans"/>
              <a:sym typeface="Quattrocento Sans"/>
            </a:endParaRPr>
          </a:p>
        </p:txBody>
      </p:sp>
      <p:sp>
        <p:nvSpPr>
          <p:cNvPr id="149" name="Google Shape;149;p15"/>
          <p:cNvSpPr txBox="1"/>
          <p:nvPr/>
        </p:nvSpPr>
        <p:spPr>
          <a:xfrm>
            <a:off x="619106" y="745268"/>
            <a:ext cx="5756193" cy="1754286"/>
          </a:xfrm>
          <a:prstGeom prst="rect">
            <a:avLst/>
          </a:prstGeom>
          <a:noFill/>
          <a:ln>
            <a:noFill/>
          </a:ln>
        </p:spPr>
        <p:txBody>
          <a:bodyPr spcFirstLastPara="1" wrap="square" lIns="91425" tIns="45700" rIns="91425" bIns="45700" anchor="t" anchorCtr="0">
            <a:spAutoFit/>
          </a:bodyPr>
          <a:lstStyle/>
          <a:p>
            <a:pPr lvl="0"/>
            <a:r>
              <a:rPr lang="de-DE" sz="1000" dirty="0">
                <a:solidFill>
                  <a:schemeClr val="dk1"/>
                </a:solidFill>
                <a:latin typeface="Jost" pitchFamily="2" charset="0"/>
                <a:ea typeface="Jost" pitchFamily="2" charset="0"/>
                <a:cs typeface="Quattrocento Sans"/>
                <a:sym typeface="Quattrocento Sans"/>
              </a:rPr>
              <a:t>Modelle, die mit ‚M‘ beginnen, werden als ‚M-Familie‘ bezeichnet. Ihre Abmessungen sind sowohl mit der Bambu Lab P- und X-Serie als auch mit dem A1 kompatibel. Die Ausführungen M2 bis M4 sind zudem so dimensioniert, dass sie perfekt auf die gängigsten 3D-Drucker abseits von Bambu Lab passen.</a:t>
            </a:r>
          </a:p>
          <a:p>
            <a:pPr lvl="0"/>
            <a:endParaRPr lang="de-DE" sz="400" dirty="0">
              <a:solidFill>
                <a:schemeClr val="dk1"/>
              </a:solidFill>
              <a:latin typeface="Jost" pitchFamily="2" charset="0"/>
              <a:ea typeface="Jost" pitchFamily="2" charset="0"/>
              <a:cs typeface="Quattrocento Sans"/>
              <a:sym typeface="Quattrocento Sans"/>
            </a:endParaRPr>
          </a:p>
          <a:p>
            <a:pPr lvl="0"/>
            <a:r>
              <a:rPr lang="de-DE" sz="1000" dirty="0">
                <a:solidFill>
                  <a:schemeClr val="dk1"/>
                </a:solidFill>
                <a:latin typeface="Jost" pitchFamily="2" charset="0"/>
                <a:ea typeface="Jost" pitchFamily="2" charset="0"/>
                <a:cs typeface="Quattrocento Sans"/>
                <a:sym typeface="Quattrocento Sans"/>
              </a:rPr>
              <a:t>Modelle mit dem Anfangsbuchstaben ‚S‘ bilden die ‚S-Familie‘. Diese sind speziell für den Druck auf dem Bambu Lab A1 mini ausgelegt. Das Modell S4 stellt dabei die kleinste Variante dar und bietet exakt die Mindestgröße, um ein 3DBenchy zu drucken.</a:t>
            </a:r>
          </a:p>
          <a:p>
            <a:pPr lvl="0"/>
            <a:endParaRPr lang="de-DE" sz="400" dirty="0">
              <a:solidFill>
                <a:schemeClr val="dk1"/>
              </a:solidFill>
              <a:latin typeface="Jost" pitchFamily="2" charset="0"/>
              <a:ea typeface="Jost" pitchFamily="2" charset="0"/>
              <a:cs typeface="Quattrocento Sans"/>
              <a:sym typeface="Quattrocento Sans"/>
            </a:endParaRPr>
          </a:p>
          <a:p>
            <a:pPr lvl="0"/>
            <a:r>
              <a:rPr lang="de-DE" sz="1000" dirty="0">
                <a:solidFill>
                  <a:schemeClr val="dk1"/>
                </a:solidFill>
                <a:latin typeface="Jost" pitchFamily="2" charset="0"/>
                <a:ea typeface="Jost" pitchFamily="2" charset="0"/>
                <a:cs typeface="Quattrocento Sans"/>
                <a:sym typeface="Quattrocento Sans"/>
              </a:rPr>
              <a:t>Modelle, die mit ‚L‘ beginnen, sind großformatige Ausführungen, die für die Bambu Lab H-Serie konzipiert wurden. Obwohl die Planungen hierfür noch nicht final abgeschlossen sind, besteht die Option, dass diese in Zukunft implementiert werden.</a:t>
            </a:r>
            <a:endParaRPr sz="1000" dirty="0">
              <a:solidFill>
                <a:schemeClr val="dk1"/>
              </a:solidFill>
              <a:latin typeface="Jost" pitchFamily="2" charset="0"/>
              <a:ea typeface="Jost" pitchFamily="2" charset="0"/>
              <a:cs typeface="Quattrocento Sans"/>
              <a:sym typeface="Quattrocento Sans"/>
            </a:endParaRPr>
          </a:p>
        </p:txBody>
      </p:sp>
      <p:sp>
        <p:nvSpPr>
          <p:cNvPr id="150" name="Google Shape;150;p15"/>
          <p:cNvSpPr/>
          <p:nvPr/>
        </p:nvSpPr>
        <p:spPr>
          <a:xfrm>
            <a:off x="566176" y="594451"/>
            <a:ext cx="124500" cy="118772"/>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pic>
        <p:nvPicPr>
          <p:cNvPr id="151" name="Google Shape;151;p15"/>
          <p:cNvPicPr preferRelativeResize="0"/>
          <p:nvPr/>
        </p:nvPicPr>
        <p:blipFill>
          <a:blip r:embed="rId3">
            <a:alphaModFix/>
          </a:blip>
          <a:stretch>
            <a:fillRect/>
          </a:stretch>
        </p:blipFill>
        <p:spPr>
          <a:xfrm>
            <a:off x="1106812" y="2492120"/>
            <a:ext cx="4729989" cy="1762192"/>
          </a:xfrm>
          <a:prstGeom prst="rect">
            <a:avLst/>
          </a:prstGeom>
          <a:noFill/>
          <a:ln>
            <a:noFill/>
          </a:ln>
        </p:spPr>
      </p:pic>
      <p:sp>
        <p:nvSpPr>
          <p:cNvPr id="152" name="Google Shape;152;p15"/>
          <p:cNvSpPr txBox="1"/>
          <p:nvPr/>
        </p:nvSpPr>
        <p:spPr>
          <a:xfrm>
            <a:off x="652382" y="5982193"/>
            <a:ext cx="5642100" cy="1169511"/>
          </a:xfrm>
          <a:prstGeom prst="rect">
            <a:avLst/>
          </a:prstGeom>
          <a:noFill/>
          <a:ln>
            <a:noFill/>
          </a:ln>
        </p:spPr>
        <p:txBody>
          <a:bodyPr spcFirstLastPara="1" wrap="square" lIns="91425" tIns="45700" rIns="91425" bIns="45700" anchor="t" anchorCtr="0">
            <a:spAutoFit/>
          </a:bodyPr>
          <a:lstStyle/>
          <a:p>
            <a:pPr lvl="0"/>
            <a:r>
              <a:rPr lang="en-US" sz="1600" b="1" dirty="0" err="1">
                <a:solidFill>
                  <a:schemeClr val="dk1"/>
                </a:solidFill>
                <a:latin typeface="Jost" pitchFamily="2" charset="0"/>
                <a:ea typeface="Jost" pitchFamily="2" charset="0"/>
                <a:cs typeface="IBM Plex Sans JP"/>
                <a:sym typeface="IBM Plex Sans JP"/>
              </a:rPr>
              <a:t>Mischeigenschaften</a:t>
            </a:r>
            <a:endParaRPr sz="1600" dirty="0">
              <a:solidFill>
                <a:schemeClr val="dk1"/>
              </a:solidFill>
              <a:latin typeface="Jost" pitchFamily="2" charset="0"/>
              <a:ea typeface="Jost" pitchFamily="2" charset="0"/>
              <a:cs typeface="IBM Plex Sans JP"/>
              <a:sym typeface="IBM Plex Sans JP"/>
            </a:endParaRPr>
          </a:p>
          <a:p>
            <a:pPr marL="0" marR="0" lvl="0" indent="0" algn="l" rtl="0">
              <a:spcBef>
                <a:spcPts val="0"/>
              </a:spcBef>
              <a:spcAft>
                <a:spcPts val="0"/>
              </a:spcAft>
              <a:buNone/>
            </a:pPr>
            <a:endParaRPr sz="600" dirty="0">
              <a:solidFill>
                <a:schemeClr val="dk1"/>
              </a:solidFill>
              <a:latin typeface="Jost" pitchFamily="2" charset="0"/>
              <a:ea typeface="Jost" pitchFamily="2" charset="0"/>
              <a:cs typeface="IBM Plex Sans JP"/>
              <a:sym typeface="IBM Plex Sans JP"/>
            </a:endParaRPr>
          </a:p>
          <a:p>
            <a:pPr lvl="0"/>
            <a:r>
              <a:rPr lang="en-US" sz="1200" dirty="0">
                <a:solidFill>
                  <a:schemeClr val="dk1"/>
                </a:solidFill>
                <a:latin typeface="Jost SemiBold" pitchFamily="2" charset="0"/>
                <a:ea typeface="Jost SemiBold" pitchFamily="2" charset="0"/>
                <a:cs typeface="IBM Plex Sans JP"/>
                <a:sym typeface="IBM Plex Sans JP"/>
              </a:rPr>
              <a:t>Geringer </a:t>
            </a:r>
            <a:r>
              <a:rPr lang="en-US" sz="1200" dirty="0" err="1">
                <a:solidFill>
                  <a:schemeClr val="dk1"/>
                </a:solidFill>
                <a:latin typeface="Jost SemiBold" pitchFamily="2" charset="0"/>
                <a:ea typeface="Jost SemiBold" pitchFamily="2" charset="0"/>
                <a:cs typeface="IBM Plex Sans JP"/>
                <a:sym typeface="IBM Plex Sans JP"/>
              </a:rPr>
              <a:t>Helligkeitsunterschied</a:t>
            </a:r>
            <a:r>
              <a:rPr lang="en-US" sz="1200" dirty="0">
                <a:solidFill>
                  <a:schemeClr val="dk1"/>
                </a:solidFill>
                <a:latin typeface="Jost SemiBold" pitchFamily="2" charset="0"/>
                <a:ea typeface="Jost SemiBold" pitchFamily="2" charset="0"/>
                <a:cs typeface="IBM Plex Sans JP"/>
                <a:sym typeface="IBM Plex Sans JP"/>
              </a:rPr>
              <a:t> (CMY)</a:t>
            </a:r>
            <a:endParaRPr sz="1200" dirty="0">
              <a:solidFill>
                <a:schemeClr val="dk1"/>
              </a:solidFill>
              <a:latin typeface="Jost SemiBold" pitchFamily="2" charset="0"/>
              <a:ea typeface="Jost SemiBold" pitchFamily="2" charset="0"/>
              <a:cs typeface="IBM Plex Sans JP"/>
              <a:sym typeface="IBM Plex Sans JP"/>
            </a:endParaRPr>
          </a:p>
          <a:p>
            <a:pPr marL="0" marR="0" lvl="0" indent="0" algn="l" rtl="0">
              <a:spcBef>
                <a:spcPts val="0"/>
              </a:spcBef>
              <a:spcAft>
                <a:spcPts val="0"/>
              </a:spcAft>
              <a:buNone/>
            </a:pPr>
            <a:endParaRPr sz="400" b="1" dirty="0">
              <a:solidFill>
                <a:schemeClr val="dk1"/>
              </a:solidFill>
              <a:latin typeface="Jost" pitchFamily="2" charset="0"/>
              <a:ea typeface="Jost" pitchFamily="2" charset="0"/>
              <a:cs typeface="IBM Plex Sans JP"/>
              <a:sym typeface="IBM Plex Sans JP"/>
            </a:endParaRPr>
          </a:p>
          <a:p>
            <a:pPr lvl="0"/>
            <a:r>
              <a:rPr lang="de-DE" sz="1000" dirty="0">
                <a:solidFill>
                  <a:schemeClr val="dk1"/>
                </a:solidFill>
                <a:latin typeface="Jost" pitchFamily="2" charset="0"/>
                <a:ea typeface="Jost" pitchFamily="2" charset="0"/>
                <a:cs typeface="IBM Plex Sans JP"/>
                <a:sym typeface="IBM Plex Sans JP"/>
              </a:rPr>
              <a:t>Kombinationen wie Cyan, Magenta und Yellow aufweisen nur geringe Helligkeitsunterschiede und führen zu finalen Farben, die relativ linear auf das Mischungsverhältnis reagieren. In diesem Fall liefern bereits die Standard-Modelle absolut ausreichende Ergebnisse.</a:t>
            </a:r>
            <a:endParaRPr sz="1000" b="1" dirty="0">
              <a:solidFill>
                <a:schemeClr val="dk1"/>
              </a:solidFill>
              <a:latin typeface="Jost" pitchFamily="2" charset="0"/>
              <a:ea typeface="Jost" pitchFamily="2" charset="0"/>
              <a:cs typeface="IBM Plex Sans JP"/>
              <a:sym typeface="IBM Plex Sans JP"/>
            </a:endParaRPr>
          </a:p>
        </p:txBody>
      </p:sp>
      <p:sp>
        <p:nvSpPr>
          <p:cNvPr id="153" name="Google Shape;153;p15"/>
          <p:cNvSpPr/>
          <p:nvPr/>
        </p:nvSpPr>
        <p:spPr>
          <a:xfrm>
            <a:off x="580600" y="6060819"/>
            <a:ext cx="124500" cy="120465"/>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pic>
        <p:nvPicPr>
          <p:cNvPr id="154" name="Google Shape;154;p15"/>
          <p:cNvPicPr preferRelativeResize="0"/>
          <p:nvPr/>
        </p:nvPicPr>
        <p:blipFill>
          <a:blip r:embed="rId4">
            <a:alphaModFix/>
          </a:blip>
          <a:stretch>
            <a:fillRect/>
          </a:stretch>
        </p:blipFill>
        <p:spPr>
          <a:xfrm>
            <a:off x="930949" y="7079134"/>
            <a:ext cx="5036702" cy="1576756"/>
          </a:xfrm>
          <a:prstGeom prst="rect">
            <a:avLst/>
          </a:prstGeom>
          <a:solidFill>
            <a:schemeClr val="lt1"/>
          </a:solidFill>
          <a:ln>
            <a:noFill/>
          </a:ln>
        </p:spPr>
      </p:pic>
      <p:sp>
        <p:nvSpPr>
          <p:cNvPr id="144" name="Google Shape;144;p15"/>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dirty="0">
                <a:solidFill>
                  <a:schemeClr val="dk1"/>
                </a:solidFill>
                <a:latin typeface="Arial"/>
                <a:ea typeface="Arial"/>
                <a:cs typeface="Arial"/>
                <a:sym typeface="Arial"/>
              </a:rPr>
              <a:t>2</a:t>
            </a:r>
            <a:endParaRPr sz="1800" dirty="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6"/>
          <p:cNvSpPr/>
          <p:nvPr/>
        </p:nvSpPr>
        <p:spPr>
          <a:xfrm>
            <a:off x="84700" y="90087"/>
            <a:ext cx="6722870" cy="8963827"/>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0" name="Google Shape;160;p16"/>
          <p:cNvSpPr/>
          <p:nvPr/>
        </p:nvSpPr>
        <p:spPr>
          <a:xfrm>
            <a:off x="9060" y="0"/>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61" name="Google Shape;161;p16"/>
          <p:cNvGrpSpPr/>
          <p:nvPr/>
        </p:nvGrpSpPr>
        <p:grpSpPr>
          <a:xfrm>
            <a:off x="0" y="0"/>
            <a:ext cx="6865269" cy="9144001"/>
            <a:chOff x="0" y="0"/>
            <a:chExt cx="6865269" cy="9144001"/>
          </a:xfrm>
        </p:grpSpPr>
        <p:sp>
          <p:nvSpPr>
            <p:cNvPr id="162" name="Google Shape;162;p16"/>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3" name="Google Shape;163;p16"/>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4" name="Google Shape;164;p16"/>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5" name="Google Shape;165;p16"/>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66" name="Google Shape;166;p16"/>
          <p:cNvSpPr/>
          <p:nvPr/>
        </p:nvSpPr>
        <p:spPr>
          <a:xfrm>
            <a:off x="554537" y="433418"/>
            <a:ext cx="5756193"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7" name="Google Shape;167;p16"/>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8" name="Google Shape;168;p16"/>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9" name="Google Shape;169;p16"/>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3</a:t>
            </a:r>
            <a:endParaRPr sz="1800">
              <a:solidFill>
                <a:schemeClr val="dk1"/>
              </a:solidFill>
              <a:latin typeface="Arial"/>
              <a:ea typeface="Arial"/>
              <a:cs typeface="Arial"/>
              <a:sym typeface="Arial"/>
            </a:endParaRPr>
          </a:p>
        </p:txBody>
      </p:sp>
      <p:sp>
        <p:nvSpPr>
          <p:cNvPr id="170" name="Google Shape;170;p16"/>
          <p:cNvSpPr/>
          <p:nvPr/>
        </p:nvSpPr>
        <p:spPr>
          <a:xfrm>
            <a:off x="575725" y="6047930"/>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1" name="Google Shape;171;p16"/>
          <p:cNvSpPr txBox="1"/>
          <p:nvPr/>
        </p:nvSpPr>
        <p:spPr>
          <a:xfrm>
            <a:off x="748128" y="5960032"/>
            <a:ext cx="3645600" cy="400200"/>
          </a:xfrm>
          <a:prstGeom prst="rect">
            <a:avLst/>
          </a:prstGeom>
          <a:noFill/>
          <a:ln>
            <a:noFill/>
          </a:ln>
        </p:spPr>
        <p:txBody>
          <a:bodyPr spcFirstLastPara="1" wrap="square" lIns="91425" tIns="45700" rIns="91425" bIns="45700" anchor="t" anchorCtr="0">
            <a:spAutoFit/>
          </a:bodyPr>
          <a:lstStyle/>
          <a:p>
            <a:pPr lvl="0"/>
            <a:r>
              <a:rPr lang="en-US" sz="2000" dirty="0">
                <a:solidFill>
                  <a:schemeClr val="dk1"/>
                </a:solidFill>
                <a:latin typeface="Jost SemiBold" pitchFamily="2" charset="0"/>
                <a:ea typeface="Jost SemiBold" pitchFamily="2" charset="0"/>
                <a:cs typeface="IBM Plex Sans JP SemiBold"/>
                <a:sym typeface="IBM Plex Sans JP SemiBold"/>
              </a:rPr>
              <a:t>4</a:t>
            </a:r>
            <a:r>
              <a:rPr lang="en-US" altLang="ja-JP" sz="2000" dirty="0">
                <a:solidFill>
                  <a:schemeClr val="dk1"/>
                </a:solidFill>
                <a:latin typeface="Jost SemiBold" pitchFamily="2" charset="0"/>
                <a:ea typeface="Jost SemiBold" pitchFamily="2" charset="0"/>
                <a:cs typeface="IBM Plex Sans JP SemiBold"/>
                <a:sym typeface="IBM Plex Sans JP SemiBold"/>
              </a:rPr>
              <a:t>.</a:t>
            </a:r>
            <a:r>
              <a:rPr lang="ja-JP" altLang="en-US" sz="2000" dirty="0">
                <a:solidFill>
                  <a:schemeClr val="dk1"/>
                </a:solidFill>
                <a:latin typeface="Jost SemiBold" pitchFamily="2" charset="0"/>
                <a:ea typeface="Jost SemiBold" pitchFamily="2" charset="0"/>
                <a:cs typeface="IBM Plex Sans JP SemiBold"/>
                <a:sym typeface="IBM Plex Sans JP SemiBold"/>
              </a:rPr>
              <a:t> </a:t>
            </a:r>
            <a:r>
              <a:rPr lang="en-US" sz="2000" dirty="0" err="1">
                <a:solidFill>
                  <a:schemeClr val="dk1"/>
                </a:solidFill>
                <a:latin typeface="Jost SemiBold" pitchFamily="2" charset="0"/>
                <a:ea typeface="Jost SemiBold" pitchFamily="2" charset="0"/>
                <a:cs typeface="IBM Plex Sans JP SemiBold"/>
                <a:sym typeface="IBM Plex Sans JP SemiBold"/>
              </a:rPr>
              <a:t>Empfohlene</a:t>
            </a:r>
            <a:r>
              <a:rPr lang="en-US" sz="2000" dirty="0">
                <a:solidFill>
                  <a:schemeClr val="dk1"/>
                </a:solidFill>
                <a:latin typeface="Jost SemiBold" pitchFamily="2" charset="0"/>
                <a:ea typeface="Jost SemiBold" pitchFamily="2" charset="0"/>
                <a:cs typeface="IBM Plex Sans JP SemiBold"/>
                <a:sym typeface="IBM Plex Sans JP SemiBold"/>
              </a:rPr>
              <a:t> </a:t>
            </a:r>
            <a:r>
              <a:rPr lang="en-US" sz="2000" dirty="0" err="1">
                <a:solidFill>
                  <a:schemeClr val="dk1"/>
                </a:solidFill>
                <a:latin typeface="Jost SemiBold" pitchFamily="2" charset="0"/>
                <a:ea typeface="Jost SemiBold" pitchFamily="2" charset="0"/>
                <a:cs typeface="IBM Plex Sans JP SemiBold"/>
                <a:sym typeface="IBM Plex Sans JP SemiBold"/>
              </a:rPr>
              <a:t>Filamente</a:t>
            </a:r>
            <a:endParaRPr sz="2400" dirty="0">
              <a:solidFill>
                <a:schemeClr val="dk1"/>
              </a:solidFill>
              <a:latin typeface="Jost SemiBold" pitchFamily="2" charset="0"/>
              <a:ea typeface="Jost SemiBold" pitchFamily="2" charset="0"/>
              <a:cs typeface="IBM Plex Sans JP SemiBold"/>
              <a:sym typeface="IBM Plex Sans JP SemiBold"/>
            </a:endParaRPr>
          </a:p>
        </p:txBody>
      </p:sp>
      <p:sp>
        <p:nvSpPr>
          <p:cNvPr id="172" name="Google Shape;172;p16"/>
          <p:cNvSpPr txBox="1"/>
          <p:nvPr/>
        </p:nvSpPr>
        <p:spPr>
          <a:xfrm>
            <a:off x="678058" y="6377585"/>
            <a:ext cx="5649600" cy="2323673"/>
          </a:xfrm>
          <a:prstGeom prst="rect">
            <a:avLst/>
          </a:prstGeom>
          <a:noFill/>
          <a:ln>
            <a:noFill/>
          </a:ln>
        </p:spPr>
        <p:txBody>
          <a:bodyPr spcFirstLastPara="1" wrap="square" lIns="91425" tIns="45700" rIns="91425" bIns="45700" anchor="t" anchorCtr="0">
            <a:spAutoFit/>
          </a:bodyPr>
          <a:lstStyle/>
          <a:p>
            <a:pPr lvl="0"/>
            <a:r>
              <a:rPr lang="de-DE" sz="1000" dirty="0">
                <a:solidFill>
                  <a:schemeClr val="dk1"/>
                </a:solidFill>
                <a:latin typeface="Jost" pitchFamily="2" charset="0"/>
                <a:ea typeface="Jost" pitchFamily="2" charset="0"/>
                <a:cs typeface="IBM Plex Sans JP"/>
                <a:sym typeface="IBM Plex Sans JP"/>
              </a:rPr>
              <a:t>Wir empfehlen die vier Farben von Bambu Lab PLA Basic: Cyan, Magenta, Yellow und White.Mit diesen vier Farben können Sie ein breites Spektrum an grundlegenden Farbstilen abdecken.Black ist ebenfalls nützlich, um Ihre Farbpalette zu erweitern. Da es jedoch eine sehr starke Wirkung besitzt, kann es leicht zu einer ungleichmäßigen Vermischung führen, weshalb hier Vorsicht geboten ist.</a:t>
            </a:r>
          </a:p>
          <a:p>
            <a:pPr lvl="0"/>
            <a:endParaRPr sz="600" dirty="0">
              <a:solidFill>
                <a:schemeClr val="dk1"/>
              </a:solidFill>
              <a:latin typeface="Jost" pitchFamily="2" charset="0"/>
              <a:ea typeface="Jost" pitchFamily="2" charset="0"/>
              <a:cs typeface="IBM Plex Sans JP"/>
              <a:sym typeface="IBM Plex Sans JP"/>
            </a:endParaRPr>
          </a:p>
          <a:p>
            <a:pPr lvl="0"/>
            <a:r>
              <a:rPr lang="de-DE" sz="1000" dirty="0">
                <a:solidFill>
                  <a:schemeClr val="dk1"/>
                </a:solidFill>
                <a:latin typeface="Jost" pitchFamily="2" charset="0"/>
                <a:ea typeface="Jost" pitchFamily="2" charset="0"/>
                <a:cs typeface="IBM Plex Sans JP"/>
                <a:sym typeface="IBM Plex Sans JP"/>
              </a:rPr>
              <a:t>Theoretisch entspricht der Mittelpunkt zwischen zwei Primärfarben der ‚wahrgenommenen Mittelfarbe‘, wie sie in einem gleichhellen Farbraum (wie CIE-LCh) definiert ist. Beim tatsächlichen Mischen von Filamenten neigt der unten in der Abbildung dargestellte ‚Mischungsmittelpunkt des Materials‘ jedoch aufgrund der Absorptionscharakteristik von Pigmenten und der Effekte der subtraktiven Farbmischung zu einer verringerten Sättigung. Dies führt zu einer matten Farbe, die vom idealen Mittelpunkt abweicht.</a:t>
            </a:r>
          </a:p>
          <a:p>
            <a:pPr lvl="0"/>
            <a:endParaRPr lang="de-DE" sz="600" dirty="0">
              <a:solidFill>
                <a:schemeClr val="dk1"/>
              </a:solidFill>
              <a:latin typeface="Jost" pitchFamily="2" charset="0"/>
              <a:ea typeface="Jost" pitchFamily="2" charset="0"/>
              <a:cs typeface="IBM Plex Sans JP"/>
              <a:sym typeface="IBM Plex Sans JP"/>
            </a:endParaRPr>
          </a:p>
          <a:p>
            <a:pPr lvl="0"/>
            <a:r>
              <a:rPr lang="de-DE" sz="1000" dirty="0">
                <a:solidFill>
                  <a:schemeClr val="dk1"/>
                </a:solidFill>
                <a:latin typeface="Jost" pitchFamily="2" charset="0"/>
                <a:ea typeface="Jost" pitchFamily="2" charset="0"/>
                <a:cs typeface="IBM Plex Sans JP"/>
                <a:sym typeface="IBM Plex Sans JP"/>
              </a:rPr>
              <a:t>Um sicherzustellen, dass Anwender verlässlich den von ihnen erwarteten ‚natürlichen Zwischenton und Sättigungsgrad‘ erzielen können, haben wir das in der Abbildung gezeigte ‚empfohlene Brücken-Filament‘ hinzugefügt.</a:t>
            </a:r>
            <a:endParaRPr sz="1000" b="1" dirty="0">
              <a:solidFill>
                <a:schemeClr val="dk1"/>
              </a:solidFill>
              <a:latin typeface="Jost" pitchFamily="2" charset="0"/>
              <a:ea typeface="Jost" pitchFamily="2" charset="0"/>
              <a:cs typeface="IBM Plex Sans JP"/>
              <a:sym typeface="IBM Plex Sans JP"/>
            </a:endParaRPr>
          </a:p>
        </p:txBody>
      </p:sp>
      <p:sp>
        <p:nvSpPr>
          <p:cNvPr id="173" name="Google Shape;173;p16"/>
          <p:cNvSpPr txBox="1"/>
          <p:nvPr/>
        </p:nvSpPr>
        <p:spPr>
          <a:xfrm>
            <a:off x="695070" y="610703"/>
            <a:ext cx="5649600" cy="1692731"/>
          </a:xfrm>
          <a:prstGeom prst="rect">
            <a:avLst/>
          </a:prstGeom>
          <a:noFill/>
          <a:ln>
            <a:noFill/>
          </a:ln>
        </p:spPr>
        <p:txBody>
          <a:bodyPr spcFirstLastPara="1" wrap="square" lIns="91425" tIns="45700" rIns="91425" bIns="45700" anchor="t" anchorCtr="0">
            <a:spAutoFit/>
          </a:bodyPr>
          <a:lstStyle/>
          <a:p>
            <a:pPr lvl="0"/>
            <a:r>
              <a:rPr lang="en-US" sz="1200" dirty="0" err="1">
                <a:solidFill>
                  <a:schemeClr val="dk1"/>
                </a:solidFill>
                <a:latin typeface="Jost SemiBold" pitchFamily="2" charset="0"/>
                <a:ea typeface="Jost SemiBold" pitchFamily="2" charset="0"/>
                <a:cs typeface="IBM Plex Sans JP"/>
                <a:sym typeface="IBM Plex Sans JP"/>
              </a:rPr>
              <a:t>Großer</a:t>
            </a:r>
            <a:r>
              <a:rPr lang="en-US" sz="1200" dirty="0">
                <a:solidFill>
                  <a:schemeClr val="dk1"/>
                </a:solidFill>
                <a:latin typeface="Jost SemiBold" pitchFamily="2" charset="0"/>
                <a:ea typeface="Jost SemiBold" pitchFamily="2" charset="0"/>
                <a:cs typeface="IBM Plex Sans JP"/>
                <a:sym typeface="IBM Plex Sans JP"/>
              </a:rPr>
              <a:t> </a:t>
            </a:r>
            <a:r>
              <a:rPr lang="en-US" sz="1200" dirty="0" err="1">
                <a:solidFill>
                  <a:schemeClr val="dk1"/>
                </a:solidFill>
                <a:latin typeface="Jost SemiBold" pitchFamily="2" charset="0"/>
                <a:ea typeface="Jost SemiBold" pitchFamily="2" charset="0"/>
                <a:cs typeface="IBM Plex Sans JP"/>
                <a:sym typeface="IBM Plex Sans JP"/>
              </a:rPr>
              <a:t>Helligkeitsunterschied</a:t>
            </a:r>
            <a:r>
              <a:rPr lang="en-US" sz="1200" dirty="0">
                <a:solidFill>
                  <a:schemeClr val="dk1"/>
                </a:solidFill>
                <a:latin typeface="Jost SemiBold" pitchFamily="2" charset="0"/>
                <a:ea typeface="Jost SemiBold" pitchFamily="2" charset="0"/>
                <a:cs typeface="IBM Plex Sans JP"/>
                <a:sym typeface="IBM Plex Sans JP"/>
              </a:rPr>
              <a:t> (Weiß / Schwarz)</a:t>
            </a:r>
            <a:endParaRPr sz="1200" dirty="0">
              <a:solidFill>
                <a:schemeClr val="dk1"/>
              </a:solidFill>
              <a:latin typeface="Jost SemiBold" pitchFamily="2" charset="0"/>
              <a:ea typeface="Jost SemiBold" pitchFamily="2" charset="0"/>
              <a:cs typeface="IBM Plex Sans JP"/>
              <a:sym typeface="IBM Plex Sans JP"/>
            </a:endParaRPr>
          </a:p>
          <a:p>
            <a:pPr marL="0" marR="0" lvl="0" indent="0" algn="l" rtl="0">
              <a:spcBef>
                <a:spcPts val="0"/>
              </a:spcBef>
              <a:spcAft>
                <a:spcPts val="0"/>
              </a:spcAft>
              <a:buNone/>
            </a:pPr>
            <a:endParaRPr sz="400" b="1" dirty="0">
              <a:solidFill>
                <a:schemeClr val="dk1"/>
              </a:solidFill>
              <a:latin typeface="Jost" pitchFamily="2" charset="0"/>
              <a:ea typeface="Jost" pitchFamily="2" charset="0"/>
              <a:cs typeface="IBM Plex Sans JP"/>
              <a:sym typeface="IBM Plex Sans JP"/>
            </a:endParaRPr>
          </a:p>
          <a:p>
            <a:pPr lvl="0"/>
            <a:r>
              <a:rPr lang="de-DE" sz="1000" dirty="0">
                <a:solidFill>
                  <a:schemeClr val="dk1"/>
                </a:solidFill>
                <a:latin typeface="Jost" pitchFamily="2" charset="0"/>
                <a:ea typeface="Jost" pitchFamily="2" charset="0"/>
                <a:cs typeface="IBM Plex Sans JP"/>
                <a:sym typeface="IBM Plex Sans JP"/>
              </a:rPr>
              <a:t>Bei einem großen Helligkeitskontrast – wie beispielsweise zwischen Schwarz und Weiß – dominiert das dunklere Filament, was den Gestaltungsbereich der Standard-Modelle stark einschränkt. Bitte nutzen Sie in diesen Fällen die Detail-Modelle.</a:t>
            </a:r>
          </a:p>
          <a:p>
            <a:pPr lvl="0"/>
            <a:endParaRPr lang="de-DE" sz="500" dirty="0">
              <a:solidFill>
                <a:schemeClr val="dk1"/>
              </a:solidFill>
              <a:latin typeface="Jost" pitchFamily="2" charset="0"/>
              <a:ea typeface="Jost" pitchFamily="2" charset="0"/>
              <a:cs typeface="IBM Plex Sans JP"/>
              <a:sym typeface="IBM Plex Sans JP"/>
            </a:endParaRPr>
          </a:p>
          <a:p>
            <a:pPr lvl="0"/>
            <a:r>
              <a:rPr lang="de-DE" sz="1000" dirty="0">
                <a:solidFill>
                  <a:schemeClr val="dk1"/>
                </a:solidFill>
                <a:latin typeface="Jost" pitchFamily="2" charset="0"/>
                <a:ea typeface="Jost" pitchFamily="2" charset="0"/>
                <a:cs typeface="IBM Plex Sans JP"/>
                <a:sym typeface="IBM Plex Sans JP"/>
              </a:rPr>
              <a:t>Da das geschmolzene Filament eine hohe Viskosität aufweist und sich innerhalb der Düse nicht vollständig vermischt, können gemischte Drucke ein gesprenkeltes Erscheinungsbild aufweisen.</a:t>
            </a:r>
          </a:p>
          <a:p>
            <a:pPr lvl="0"/>
            <a:endParaRPr lang="de-DE" sz="400" dirty="0">
              <a:solidFill>
                <a:schemeClr val="dk1"/>
              </a:solidFill>
              <a:latin typeface="Jost" pitchFamily="2" charset="0"/>
              <a:ea typeface="Jost" pitchFamily="2" charset="0"/>
              <a:cs typeface="IBM Plex Sans JP"/>
              <a:sym typeface="IBM Plex Sans JP"/>
            </a:endParaRPr>
          </a:p>
          <a:p>
            <a:pPr lvl="0"/>
            <a:r>
              <a:rPr lang="de-DE" sz="1000" dirty="0">
                <a:solidFill>
                  <a:schemeClr val="dk1"/>
                </a:solidFill>
                <a:latin typeface="Jost" pitchFamily="2" charset="0"/>
                <a:ea typeface="Jost" pitchFamily="2" charset="0"/>
                <a:cs typeface="IBM Plex Sans JP"/>
                <a:sym typeface="IBM Plex Sans JP"/>
              </a:rPr>
              <a:t>Bei geringen Helligkeitsunterschieden ist dieser Effekt subtil, wird jedoch bei kontrastreichen Kombinationen deutlich sichtbar. Um ein helles Grau zu erzeugen, wird daher die Kombination aus Weiß + Grau gegenüber der Variante Weiß + Schwarz empfohlen.</a:t>
            </a:r>
            <a:endParaRPr sz="1000" dirty="0">
              <a:solidFill>
                <a:schemeClr val="dk1"/>
              </a:solidFill>
              <a:latin typeface="Jost" pitchFamily="2" charset="0"/>
              <a:ea typeface="Jost" pitchFamily="2" charset="0"/>
              <a:cs typeface="IBM Plex Sans JP"/>
              <a:sym typeface="IBM Plex Sans JP"/>
            </a:endParaRPr>
          </a:p>
        </p:txBody>
      </p:sp>
      <p:pic>
        <p:nvPicPr>
          <p:cNvPr id="174" name="Google Shape;174;p16"/>
          <p:cNvPicPr preferRelativeResize="0"/>
          <p:nvPr/>
        </p:nvPicPr>
        <p:blipFill>
          <a:blip r:embed="rId3">
            <a:alphaModFix/>
          </a:blip>
          <a:stretch>
            <a:fillRect/>
          </a:stretch>
        </p:blipFill>
        <p:spPr>
          <a:xfrm>
            <a:off x="557102" y="2338708"/>
            <a:ext cx="5772827" cy="1863752"/>
          </a:xfrm>
          <a:prstGeom prst="rect">
            <a:avLst/>
          </a:prstGeom>
          <a:noFill/>
          <a:ln>
            <a:noFill/>
          </a:ln>
        </p:spPr>
      </p:pic>
      <p:sp>
        <p:nvSpPr>
          <p:cNvPr id="175" name="Google Shape;175;p16"/>
          <p:cNvSpPr txBox="1"/>
          <p:nvPr/>
        </p:nvSpPr>
        <p:spPr>
          <a:xfrm>
            <a:off x="666532" y="4269345"/>
            <a:ext cx="5642100" cy="1677342"/>
          </a:xfrm>
          <a:prstGeom prst="rect">
            <a:avLst/>
          </a:prstGeom>
          <a:noFill/>
          <a:ln>
            <a:noFill/>
          </a:ln>
        </p:spPr>
        <p:txBody>
          <a:bodyPr spcFirstLastPara="1" wrap="square" lIns="91425" tIns="45700" rIns="91425" bIns="45700" anchor="t" anchorCtr="0">
            <a:spAutoFit/>
          </a:bodyPr>
          <a:lstStyle/>
          <a:p>
            <a:pPr lvl="0"/>
            <a:r>
              <a:rPr lang="en-US" b="1" dirty="0" err="1">
                <a:solidFill>
                  <a:schemeClr val="dk1"/>
                </a:solidFill>
                <a:latin typeface="Jost SemiBold" pitchFamily="2" charset="0"/>
                <a:ea typeface="Jost SemiBold" pitchFamily="2" charset="0"/>
                <a:cs typeface="IBM Plex Sans JP"/>
                <a:sym typeface="IBM Plex Sans JP"/>
              </a:rPr>
              <a:t>Materialbedingte</a:t>
            </a:r>
            <a:r>
              <a:rPr lang="en-US" b="1" dirty="0">
                <a:solidFill>
                  <a:schemeClr val="dk1"/>
                </a:solidFill>
                <a:latin typeface="Jost SemiBold" pitchFamily="2" charset="0"/>
                <a:ea typeface="Jost SemiBold" pitchFamily="2" charset="0"/>
                <a:cs typeface="IBM Plex Sans JP"/>
                <a:sym typeface="IBM Plex Sans JP"/>
              </a:rPr>
              <a:t> </a:t>
            </a:r>
            <a:r>
              <a:rPr lang="en-US" b="1" dirty="0" err="1">
                <a:solidFill>
                  <a:schemeClr val="dk1"/>
                </a:solidFill>
                <a:latin typeface="Jost SemiBold" pitchFamily="2" charset="0"/>
                <a:ea typeface="Jost SemiBold" pitchFamily="2" charset="0"/>
                <a:cs typeface="IBM Plex Sans JP"/>
                <a:sym typeface="IBM Plex Sans JP"/>
              </a:rPr>
              <a:t>Unterschiedel</a:t>
            </a:r>
            <a:endParaRPr lang="en-US" b="1" dirty="0">
              <a:solidFill>
                <a:schemeClr val="dk1"/>
              </a:solidFill>
              <a:latin typeface="Jost SemiBold" pitchFamily="2" charset="0"/>
              <a:ea typeface="Jost SemiBold" pitchFamily="2" charset="0"/>
              <a:cs typeface="IBM Plex Sans JP"/>
              <a:sym typeface="IBM Plex Sans JP"/>
            </a:endParaRPr>
          </a:p>
          <a:p>
            <a:pPr lvl="0"/>
            <a:endParaRPr sz="500" dirty="0">
              <a:solidFill>
                <a:schemeClr val="dk1"/>
              </a:solidFill>
              <a:latin typeface="Jost" pitchFamily="2" charset="0"/>
              <a:ea typeface="Jost" pitchFamily="2" charset="0"/>
              <a:cs typeface="IBM Plex Sans JP"/>
              <a:sym typeface="IBM Plex Sans JP"/>
            </a:endParaRPr>
          </a:p>
          <a:p>
            <a:pPr lvl="0"/>
            <a:r>
              <a:rPr lang="de-DE" sz="1000" dirty="0">
                <a:solidFill>
                  <a:schemeClr val="dk1"/>
                </a:solidFill>
                <a:latin typeface="Jost" pitchFamily="2" charset="0"/>
                <a:ea typeface="Jost" pitchFamily="2" charset="0"/>
                <a:cs typeface="IBM Plex Sans JP"/>
                <a:sym typeface="IBM Plex Sans JP"/>
              </a:rPr>
              <a:t>Ein Blick auf die Schwarz-Weiß-Ergebnisse zeigt:</a:t>
            </a:r>
          </a:p>
          <a:p>
            <a:pPr lvl="0"/>
            <a:endParaRPr lang="de-DE" sz="400" dirty="0">
              <a:solidFill>
                <a:schemeClr val="dk1"/>
              </a:solidFill>
              <a:latin typeface="Jost" pitchFamily="2" charset="0"/>
              <a:ea typeface="Jost" pitchFamily="2" charset="0"/>
              <a:cs typeface="IBM Plex Sans JP"/>
              <a:sym typeface="IBM Plex Sans JP"/>
            </a:endParaRPr>
          </a:p>
          <a:p>
            <a:pPr lvl="0"/>
            <a:r>
              <a:rPr lang="de-DE" sz="1000" dirty="0">
                <a:solidFill>
                  <a:schemeClr val="dk1"/>
                </a:solidFill>
                <a:latin typeface="Jost" pitchFamily="2" charset="0"/>
                <a:ea typeface="Jost" pitchFamily="2" charset="0"/>
                <a:cs typeface="IBM Plex Sans JP"/>
                <a:sym typeface="IBM Plex Sans JP"/>
              </a:rPr>
              <a:t>• PLA und PETG liefern unterschiedliche Mischergebnisse.PLA Basic (Weiß) ist stark transluzent (lichtdurchlässig), weshalb sein Einfluss auf das Gesamtergebnis extrem schwach ausfällt.</a:t>
            </a:r>
          </a:p>
          <a:p>
            <a:pPr lvl="0"/>
            <a:br>
              <a:rPr lang="de-DE" sz="400" dirty="0">
                <a:solidFill>
                  <a:schemeClr val="dk1"/>
                </a:solidFill>
                <a:latin typeface="Jost" pitchFamily="2" charset="0"/>
                <a:ea typeface="Jost" pitchFamily="2" charset="0"/>
                <a:cs typeface="IBM Plex Sans JP"/>
                <a:sym typeface="IBM Plex Sans JP"/>
              </a:rPr>
            </a:br>
            <a:r>
              <a:rPr lang="de-DE" sz="1000" dirty="0">
                <a:solidFill>
                  <a:schemeClr val="dk1"/>
                </a:solidFill>
                <a:latin typeface="Jost" pitchFamily="2" charset="0"/>
                <a:ea typeface="Jost" pitchFamily="2" charset="0"/>
                <a:cs typeface="IBM Plex Sans JP"/>
                <a:sym typeface="IBM Plex Sans JP"/>
              </a:rPr>
              <a:t>• PETG HT (Weiß) weist eine geringere Transluzenz auf, wodurch seine Wirkung im Vergleich zu PLA Basic deutlich stärker ist.</a:t>
            </a:r>
          </a:p>
          <a:p>
            <a:pPr lvl="0"/>
            <a:endParaRPr lang="de-DE" sz="700" dirty="0">
              <a:solidFill>
                <a:schemeClr val="dk1"/>
              </a:solidFill>
              <a:latin typeface="Jost" pitchFamily="2" charset="0"/>
              <a:ea typeface="Jost" pitchFamily="2" charset="0"/>
              <a:cs typeface="IBM Plex Sans JP"/>
              <a:sym typeface="IBM Plex Sans JP"/>
            </a:endParaRPr>
          </a:p>
          <a:p>
            <a:pPr lvl="0"/>
            <a:r>
              <a:rPr lang="de-DE" sz="1000" dirty="0">
                <a:solidFill>
                  <a:schemeClr val="dk1"/>
                </a:solidFill>
                <a:latin typeface="Jost" pitchFamily="2" charset="0"/>
                <a:ea typeface="Jost" pitchFamily="2" charset="0"/>
                <a:cs typeface="IBM Plex Sans JP"/>
                <a:sym typeface="IBM Plex Sans JP"/>
              </a:rPr>
              <a:t>Die Farbmischung wird somit nicht nur von der Grundfarbe, sondern maßgeblich auch von der Transluzenz beeinflusst. Ein Testdruck wird daher dringend empfohlen.</a:t>
            </a:r>
            <a:endParaRPr sz="1000" dirty="0">
              <a:solidFill>
                <a:schemeClr val="dk1"/>
              </a:solidFill>
              <a:latin typeface="Jost" pitchFamily="2" charset="0"/>
              <a:ea typeface="Jost" pitchFamily="2" charset="0"/>
              <a:cs typeface="IBM Plex Sans JP"/>
              <a:sym typeface="IBM Plex Sans JP"/>
            </a:endParaRPr>
          </a:p>
        </p:txBody>
      </p:sp>
      <p:sp>
        <p:nvSpPr>
          <p:cNvPr id="176" name="Google Shape;176;p16"/>
          <p:cNvSpPr/>
          <p:nvPr/>
        </p:nvSpPr>
        <p:spPr>
          <a:xfrm>
            <a:off x="594750" y="4343253"/>
            <a:ext cx="124500" cy="1299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7"/>
          <p:cNvSpPr/>
          <p:nvPr/>
        </p:nvSpPr>
        <p:spPr>
          <a:xfrm>
            <a:off x="51086"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2" name="Google Shape;182;p17"/>
          <p:cNvSpPr/>
          <p:nvPr/>
        </p:nvSpPr>
        <p:spPr>
          <a:xfrm>
            <a:off x="17051" y="5531"/>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grpSp>
        <p:nvGrpSpPr>
          <p:cNvPr id="183" name="Google Shape;183;p17"/>
          <p:cNvGrpSpPr/>
          <p:nvPr/>
        </p:nvGrpSpPr>
        <p:grpSpPr>
          <a:xfrm>
            <a:off x="0" y="0"/>
            <a:ext cx="6865269" cy="9144001"/>
            <a:chOff x="0" y="0"/>
            <a:chExt cx="6865269" cy="9144001"/>
          </a:xfrm>
        </p:grpSpPr>
        <p:sp>
          <p:nvSpPr>
            <p:cNvPr id="184" name="Google Shape;184;p17"/>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5" name="Google Shape;185;p17"/>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6" name="Google Shape;186;p17"/>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7" name="Google Shape;187;p17"/>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88" name="Google Shape;188;p17"/>
          <p:cNvSpPr/>
          <p:nvPr/>
        </p:nvSpPr>
        <p:spPr>
          <a:xfrm>
            <a:off x="554537" y="433418"/>
            <a:ext cx="5756193"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9" name="Google Shape;189;p17"/>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0" name="Google Shape;190;p17"/>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1" name="Google Shape;191;p17"/>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4</a:t>
            </a:r>
            <a:endParaRPr sz="1800">
              <a:solidFill>
                <a:schemeClr val="dk1"/>
              </a:solidFill>
              <a:latin typeface="Arial"/>
              <a:ea typeface="Arial"/>
              <a:cs typeface="Arial"/>
              <a:sym typeface="Arial"/>
            </a:endParaRPr>
          </a:p>
        </p:txBody>
      </p:sp>
      <p:pic>
        <p:nvPicPr>
          <p:cNvPr id="197" name="Google Shape;197;p17"/>
          <p:cNvPicPr preferRelativeResize="0"/>
          <p:nvPr/>
        </p:nvPicPr>
        <p:blipFill>
          <a:blip r:embed="rId3">
            <a:alphaModFix/>
          </a:blip>
          <a:stretch>
            <a:fillRect/>
          </a:stretch>
        </p:blipFill>
        <p:spPr>
          <a:xfrm>
            <a:off x="785500" y="2258112"/>
            <a:ext cx="5536976" cy="2111324"/>
          </a:xfrm>
          <a:prstGeom prst="rect">
            <a:avLst/>
          </a:prstGeom>
          <a:noFill/>
          <a:ln>
            <a:noFill/>
          </a:ln>
        </p:spPr>
      </p:pic>
      <p:sp>
        <p:nvSpPr>
          <p:cNvPr id="198" name="Google Shape;198;p17"/>
          <p:cNvSpPr/>
          <p:nvPr/>
        </p:nvSpPr>
        <p:spPr>
          <a:xfrm>
            <a:off x="612050" y="6889459"/>
            <a:ext cx="124500" cy="1299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pic>
        <p:nvPicPr>
          <p:cNvPr id="199" name="Google Shape;199;p17"/>
          <p:cNvPicPr preferRelativeResize="0"/>
          <p:nvPr/>
        </p:nvPicPr>
        <p:blipFill>
          <a:blip r:embed="rId4">
            <a:alphaModFix/>
          </a:blip>
          <a:stretch>
            <a:fillRect/>
          </a:stretch>
        </p:blipFill>
        <p:spPr>
          <a:xfrm>
            <a:off x="689488" y="5489451"/>
            <a:ext cx="5479024" cy="1295775"/>
          </a:xfrm>
          <a:prstGeom prst="rect">
            <a:avLst/>
          </a:prstGeom>
          <a:noFill/>
          <a:ln>
            <a:noFill/>
          </a:ln>
        </p:spPr>
      </p:pic>
      <p:sp>
        <p:nvSpPr>
          <p:cNvPr id="200" name="Google Shape;200;p17"/>
          <p:cNvSpPr txBox="1"/>
          <p:nvPr/>
        </p:nvSpPr>
        <p:spPr>
          <a:xfrm>
            <a:off x="672872" y="6821173"/>
            <a:ext cx="5766027" cy="1785064"/>
          </a:xfrm>
          <a:prstGeom prst="rect">
            <a:avLst/>
          </a:prstGeom>
          <a:noFill/>
          <a:ln>
            <a:noFill/>
          </a:ln>
        </p:spPr>
        <p:txBody>
          <a:bodyPr spcFirstLastPara="1" wrap="square" lIns="91425" tIns="45700" rIns="91425" bIns="45700" anchor="t" anchorCtr="0">
            <a:spAutoFit/>
          </a:bodyPr>
          <a:lstStyle/>
          <a:p>
            <a:pPr lvl="0"/>
            <a:r>
              <a:rPr lang="en-US" dirty="0">
                <a:latin typeface="Jost SemiBold" pitchFamily="2" charset="0"/>
                <a:ea typeface="Jost SemiBold" pitchFamily="2" charset="0"/>
              </a:rPr>
              <a:t>Vor Druck #1 (</a:t>
            </a:r>
            <a:r>
              <a:rPr lang="en-US" dirty="0" err="1">
                <a:latin typeface="Jost SemiBold" pitchFamily="2" charset="0"/>
                <a:ea typeface="Jost SemiBold" pitchFamily="2" charset="0"/>
              </a:rPr>
              <a:t>Mischfilament</a:t>
            </a:r>
            <a:r>
              <a:rPr lang="en-US" dirty="0">
                <a:latin typeface="Jost SemiBold" pitchFamily="2" charset="0"/>
                <a:ea typeface="Jost SemiBold" pitchFamily="2" charset="0"/>
              </a:rPr>
              <a:t>)</a:t>
            </a:r>
          </a:p>
          <a:p>
            <a:pPr lvl="0"/>
            <a:r>
              <a:rPr lang="en-US" sz="1200" dirty="0" err="1">
                <a:latin typeface="Jost SemiBold" pitchFamily="2" charset="0"/>
                <a:ea typeface="Jost SemiBold" pitchFamily="2" charset="0"/>
              </a:rPr>
              <a:t>Erforderlich</a:t>
            </a:r>
            <a:r>
              <a:rPr lang="en-US" sz="1200" dirty="0">
                <a:latin typeface="Jost SemiBold" pitchFamily="2" charset="0"/>
                <a:ea typeface="Jost SemiBold" pitchFamily="2" charset="0"/>
              </a:rPr>
              <a:t> </a:t>
            </a:r>
            <a:endParaRPr sz="1200" dirty="0">
              <a:latin typeface="Jost SemiBold" pitchFamily="2" charset="0"/>
              <a:ea typeface="Jost SemiBold" pitchFamily="2" charset="0"/>
            </a:endParaRPr>
          </a:p>
          <a:p>
            <a:pPr marL="0" lvl="0" indent="0" algn="l" rtl="0">
              <a:spcBef>
                <a:spcPts val="0"/>
              </a:spcBef>
              <a:spcAft>
                <a:spcPts val="0"/>
              </a:spcAft>
              <a:buNone/>
            </a:pPr>
            <a:endParaRPr sz="400" b="1" dirty="0">
              <a:latin typeface="Jost" pitchFamily="2" charset="0"/>
              <a:ea typeface="Jost" pitchFamily="2" charset="0"/>
            </a:endParaRPr>
          </a:p>
          <a:p>
            <a:pPr lvl="0"/>
            <a:r>
              <a:rPr lang="en-US" sz="1000" dirty="0">
                <a:latin typeface="Jost" pitchFamily="2" charset="0"/>
                <a:ea typeface="Jost" pitchFamily="2" charset="0"/>
              </a:rPr>
              <a:t>・</a:t>
            </a:r>
            <a:r>
              <a:rPr lang="en-US" sz="1000" dirty="0">
                <a:latin typeface="Jost Medium" pitchFamily="2" charset="0"/>
                <a:ea typeface="Jost Medium" pitchFamily="2" charset="0"/>
              </a:rPr>
              <a:t>AMS </a:t>
            </a:r>
            <a:r>
              <a:rPr lang="en-US" sz="1000" dirty="0" err="1">
                <a:latin typeface="Jost Medium" pitchFamily="2" charset="0"/>
                <a:ea typeface="Jost Medium" pitchFamily="2" charset="0"/>
              </a:rPr>
              <a:t>erforderlich</a:t>
            </a:r>
            <a:endParaRPr lang="en-US" sz="1000" dirty="0">
              <a:latin typeface="Jost Medium" pitchFamily="2" charset="0"/>
              <a:ea typeface="Jost Medium" pitchFamily="2" charset="0"/>
            </a:endParaRPr>
          </a:p>
          <a:p>
            <a:pPr lvl="0"/>
            <a:r>
              <a:rPr lang="de-DE" sz="1000" dirty="0">
                <a:latin typeface="Jost" pitchFamily="2" charset="0"/>
                <a:ea typeface="Jost" pitchFamily="2" charset="0"/>
              </a:rPr>
              <a:t>Ein häufiges Wechseln zwischen zwei Farben ist erforderlich.</a:t>
            </a:r>
          </a:p>
          <a:p>
            <a:pPr lvl="0"/>
            <a:r>
              <a:rPr lang="de-DE" sz="1000" dirty="0">
                <a:latin typeface="Jost" pitchFamily="2" charset="0"/>
                <a:ea typeface="Jost" pitchFamily="2" charset="0"/>
              </a:rPr>
              <a:t>Nutzen Sie einen Drucker, der das Wechseln zwischen zwei oder mehr Filamenten unterstützt.</a:t>
            </a:r>
            <a:endParaRPr sz="500" dirty="0">
              <a:latin typeface="Jost" pitchFamily="2" charset="0"/>
              <a:ea typeface="Jost" pitchFamily="2" charset="0"/>
            </a:endParaRPr>
          </a:p>
          <a:p>
            <a:pPr lvl="0"/>
            <a:endParaRPr lang="en-US" sz="1000" dirty="0">
              <a:latin typeface="Jost" pitchFamily="2" charset="0"/>
              <a:ea typeface="Jost" pitchFamily="2" charset="0"/>
            </a:endParaRPr>
          </a:p>
          <a:p>
            <a:pPr lvl="0"/>
            <a:r>
              <a:rPr lang="en-US" sz="1000" dirty="0">
                <a:latin typeface="Jost" pitchFamily="2" charset="0"/>
                <a:ea typeface="Jost" pitchFamily="2" charset="0"/>
              </a:rPr>
              <a:t>・</a:t>
            </a:r>
            <a:r>
              <a:rPr lang="en-US" sz="1000" dirty="0">
                <a:latin typeface="Jost Medium" pitchFamily="2" charset="0"/>
                <a:ea typeface="Jost Medium" pitchFamily="2" charset="0"/>
              </a:rPr>
              <a:t>0,4-mm-Düse </a:t>
            </a:r>
            <a:r>
              <a:rPr lang="en-US" sz="1000" dirty="0" err="1">
                <a:latin typeface="Jost Medium" pitchFamily="2" charset="0"/>
                <a:ea typeface="Jost Medium" pitchFamily="2" charset="0"/>
              </a:rPr>
              <a:t>erforderlich</a:t>
            </a:r>
            <a:endParaRPr lang="en-US" sz="1000" dirty="0">
              <a:latin typeface="Jost Medium" pitchFamily="2" charset="0"/>
              <a:ea typeface="Jost Medium" pitchFamily="2" charset="0"/>
            </a:endParaRPr>
          </a:p>
          <a:p>
            <a:pPr lvl="0"/>
            <a:r>
              <a:rPr lang="de-DE" sz="1000" dirty="0">
                <a:latin typeface="Jost" pitchFamily="2" charset="0"/>
                <a:ea typeface="Jost" pitchFamily="2" charset="0"/>
              </a:rPr>
              <a:t>Eine 0,4-mm-Düse ist zwingend erforderlich. Grund dafür ist die Kombination aus einer relativ dicken ersten Schicht und dünnen Folgeschichten, die notwendig sind, um die Genauigkeit der Farbmischung beizubehalten. 0,4-mm-High-Flow-Düsen sind zulässig.</a:t>
            </a:r>
            <a:endParaRPr sz="1000" dirty="0">
              <a:latin typeface="Jost" pitchFamily="2" charset="0"/>
              <a:ea typeface="Jost" pitchFamily="2" charset="0"/>
            </a:endParaRPr>
          </a:p>
        </p:txBody>
      </p:sp>
      <p:sp>
        <p:nvSpPr>
          <p:cNvPr id="2" name="Google Shape;195;p17">
            <a:extLst>
              <a:ext uri="{FF2B5EF4-FFF2-40B4-BE49-F238E27FC236}">
                <a16:creationId xmlns:a16="http://schemas.microsoft.com/office/drawing/2014/main" id="{0E23C69C-49DA-ADDD-3E55-0336AF41C654}"/>
              </a:ext>
            </a:extLst>
          </p:cNvPr>
          <p:cNvSpPr txBox="1"/>
          <p:nvPr/>
        </p:nvSpPr>
        <p:spPr>
          <a:xfrm>
            <a:off x="597291" y="582386"/>
            <a:ext cx="5649600" cy="1631175"/>
          </a:xfrm>
          <a:prstGeom prst="rect">
            <a:avLst/>
          </a:prstGeom>
          <a:noFill/>
          <a:ln>
            <a:noFill/>
          </a:ln>
        </p:spPr>
        <p:txBody>
          <a:bodyPr spcFirstLastPara="1" wrap="square" lIns="91425" tIns="45700" rIns="91425" bIns="45700" anchor="t" anchorCtr="0">
            <a:spAutoFit/>
          </a:bodyPr>
          <a:lstStyle/>
          <a:p>
            <a:pPr lvl="0"/>
            <a:r>
              <a:rPr lang="de-DE" sz="1000" dirty="0">
                <a:solidFill>
                  <a:schemeClr val="dk1"/>
                </a:solidFill>
                <a:latin typeface="Jost" pitchFamily="2" charset="0"/>
                <a:ea typeface="Jost" pitchFamily="2" charset="0"/>
                <a:cs typeface="IBM Plex Sans JP"/>
                <a:sym typeface="IBM Plex Sans JP"/>
              </a:rPr>
              <a:t>Cyan, Magenta und Yellow sind auf dem Farbkreis gleichmäßig verteilt und stellen eine ideale Kombination dar. </a:t>
            </a:r>
          </a:p>
          <a:p>
            <a:pPr lvl="0"/>
            <a:r>
              <a:rPr lang="de-DE" sz="1000" dirty="0">
                <a:solidFill>
                  <a:schemeClr val="dk1"/>
                </a:solidFill>
                <a:latin typeface="Jost" pitchFamily="2" charset="0"/>
                <a:ea typeface="Jost" pitchFamily="2" charset="0"/>
                <a:cs typeface="IBM Plex Sans JP"/>
                <a:sym typeface="IBM Plex Sans JP"/>
              </a:rPr>
              <a:t>Eine 50%-Mischung führt jedoch zu einem leichten Abfall der Sättigung. Für einige Anwender kann dies von ihrer Vorstellung einer ‚lebendigen Zwischenfarbe‘ abweichen.</a:t>
            </a:r>
          </a:p>
          <a:p>
            <a:pPr lvl="0"/>
            <a:r>
              <a:rPr lang="de-DE" sz="1000" dirty="0">
                <a:solidFill>
                  <a:schemeClr val="dk1"/>
                </a:solidFill>
                <a:latin typeface="Jost" pitchFamily="2" charset="0"/>
                <a:ea typeface="Jost" pitchFamily="2" charset="0"/>
                <a:cs typeface="IBM Plex Sans JP"/>
                <a:sym typeface="IBM Plex Sans JP"/>
              </a:rPr>
              <a:t>Zudem weisen Jade Weiß und Schwarz einen großen Helligkeitsunterschied auf und neigen zu einem gesprenkelten Erscheinungsbild.</a:t>
            </a:r>
          </a:p>
          <a:p>
            <a:pPr lvl="0"/>
            <a:endParaRPr lang="de-DE" sz="600" dirty="0">
              <a:solidFill>
                <a:schemeClr val="dk1"/>
              </a:solidFill>
              <a:latin typeface="Jost" pitchFamily="2" charset="0"/>
              <a:ea typeface="Jost" pitchFamily="2" charset="0"/>
              <a:cs typeface="IBM Plex Sans JP"/>
              <a:sym typeface="IBM Plex Sans JP"/>
            </a:endParaRPr>
          </a:p>
          <a:p>
            <a:pPr lvl="0"/>
            <a:r>
              <a:rPr lang="de-DE" sz="1000" dirty="0">
                <a:solidFill>
                  <a:schemeClr val="dk1"/>
                </a:solidFill>
                <a:latin typeface="Jost" pitchFamily="2" charset="0"/>
                <a:ea typeface="Jost" pitchFamily="2" charset="0"/>
                <a:cs typeface="IBM Plex Sans JP"/>
                <a:sym typeface="IBM Plex Sans JP"/>
              </a:rPr>
              <a:t>Daher schlagen wir für diese Farbbereiche die folgenden Brückenfarben (Filamente) vor:</a:t>
            </a:r>
          </a:p>
          <a:p>
            <a:pPr lvl="0" algn="ctr"/>
            <a:r>
              <a:rPr lang="de-DE" sz="1000" dirty="0">
                <a:solidFill>
                  <a:schemeClr val="dk1"/>
                </a:solidFill>
                <a:latin typeface="Jost" pitchFamily="2" charset="0"/>
                <a:ea typeface="Jost" pitchFamily="2" charset="0"/>
                <a:cs typeface="IBM Plex Sans JP"/>
                <a:sym typeface="IBM Plex Sans JP"/>
              </a:rPr>
              <a:t>Cyan‒Yellow → Bambusgrün, Yellow‒Magenta → Orange</a:t>
            </a:r>
          </a:p>
          <a:p>
            <a:pPr lvl="0" algn="ctr"/>
            <a:r>
              <a:rPr lang="de-DE" sz="1000" dirty="0">
                <a:solidFill>
                  <a:schemeClr val="dk1"/>
                </a:solidFill>
                <a:latin typeface="Jost" pitchFamily="2" charset="0"/>
                <a:ea typeface="Jost" pitchFamily="2" charset="0"/>
                <a:cs typeface="IBM Plex Sans JP"/>
                <a:sym typeface="IBM Plex Sans JP"/>
              </a:rPr>
              <a:t>  Magenta‒Cyan → LilaJade,    Weiß‒Schwarz → Grau</a:t>
            </a:r>
            <a:endParaRPr sz="1000" b="1" dirty="0">
              <a:solidFill>
                <a:schemeClr val="dk1"/>
              </a:solidFill>
              <a:latin typeface="Jost" pitchFamily="2" charset="0"/>
              <a:ea typeface="Jost" pitchFamily="2" charset="0"/>
              <a:cs typeface="IBM Plex Sans JP"/>
              <a:sym typeface="IBM Plex Sans JP"/>
            </a:endParaRPr>
          </a:p>
        </p:txBody>
      </p:sp>
      <p:sp>
        <p:nvSpPr>
          <p:cNvPr id="3" name="Google Shape;195;p17">
            <a:extLst>
              <a:ext uri="{FF2B5EF4-FFF2-40B4-BE49-F238E27FC236}">
                <a16:creationId xmlns:a16="http://schemas.microsoft.com/office/drawing/2014/main" id="{8A6390F1-C0F7-3310-2398-EAA17338D9CC}"/>
              </a:ext>
            </a:extLst>
          </p:cNvPr>
          <p:cNvSpPr txBox="1"/>
          <p:nvPr/>
        </p:nvSpPr>
        <p:spPr>
          <a:xfrm>
            <a:off x="6976854" y="582385"/>
            <a:ext cx="5649600" cy="1615787"/>
          </a:xfrm>
          <a:prstGeom prst="rect">
            <a:avLst/>
          </a:prstGeom>
          <a:noFill/>
          <a:ln>
            <a:noFill/>
          </a:ln>
        </p:spPr>
        <p:txBody>
          <a:bodyPr spcFirstLastPara="1" wrap="square" lIns="91425" tIns="45700" rIns="91425" bIns="45700" anchor="t" anchorCtr="0">
            <a:spAutoFit/>
          </a:bodyPr>
          <a:lstStyle/>
          <a:p>
            <a:pPr lvl="0"/>
            <a:r>
              <a:rPr lang="en-US" sz="1000" dirty="0">
                <a:solidFill>
                  <a:schemeClr val="dk1"/>
                </a:solidFill>
                <a:latin typeface="Jost" pitchFamily="2" charset="0"/>
                <a:ea typeface="Jost" pitchFamily="2" charset="0"/>
                <a:cs typeface="IBM Plex Sans JP"/>
                <a:sym typeface="IBM Plex Sans JP"/>
              </a:rPr>
              <a:t>Cyan, Magenta, and Yellow are evenly spaced on the color wheel and represent an ideal combination; however, a 50% mixture results in a slight drop in saturation. For some users, this may deviate from their vision of a “vivid intermediate color.”</a:t>
            </a:r>
          </a:p>
          <a:p>
            <a:pPr lvl="0"/>
            <a:endParaRPr lang="en-US" sz="5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Additionally, Jade White and Black have a large difference in lightness and tend to result in a mottled appearance.</a:t>
            </a:r>
          </a:p>
          <a:p>
            <a:pPr lvl="0"/>
            <a:endParaRPr lang="en-US" sz="10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Therefore, for these color ranges, we propose the following bridge colors (filaments):</a:t>
            </a:r>
          </a:p>
          <a:p>
            <a:pPr lvl="0"/>
            <a:endParaRPr lang="en-US" sz="4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	Cyan‒Yellow → Bamboo Green,      Yellow‒Magenta → Orange</a:t>
            </a:r>
          </a:p>
          <a:p>
            <a:pPr lvl="0"/>
            <a:r>
              <a:rPr lang="en-US" sz="1000" dirty="0">
                <a:solidFill>
                  <a:schemeClr val="dk1"/>
                </a:solidFill>
                <a:latin typeface="Jost" pitchFamily="2" charset="0"/>
                <a:ea typeface="Jost" pitchFamily="2" charset="0"/>
                <a:cs typeface="IBM Plex Sans JP"/>
                <a:sym typeface="IBM Plex Sans JP"/>
              </a:rPr>
              <a:t>	Magenta‒Cyan → Purple,	     Jade White‒Black → Gray</a:t>
            </a:r>
            <a:endParaRPr sz="1000" b="1" dirty="0">
              <a:solidFill>
                <a:schemeClr val="dk1"/>
              </a:solidFill>
              <a:latin typeface="Jost" pitchFamily="2" charset="0"/>
              <a:ea typeface="Jost" pitchFamily="2" charset="0"/>
              <a:cs typeface="IBM Plex Sans JP"/>
              <a:sym typeface="IBM Plex Sans JP"/>
            </a:endParaRPr>
          </a:p>
        </p:txBody>
      </p:sp>
      <p:sp>
        <p:nvSpPr>
          <p:cNvPr id="192" name="Google Shape;192;p17"/>
          <p:cNvSpPr/>
          <p:nvPr/>
        </p:nvSpPr>
        <p:spPr>
          <a:xfrm>
            <a:off x="571996" y="4419650"/>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3" name="Google Shape;193;p17"/>
          <p:cNvSpPr txBox="1"/>
          <p:nvPr/>
        </p:nvSpPr>
        <p:spPr>
          <a:xfrm>
            <a:off x="731981" y="4350289"/>
            <a:ext cx="3560619" cy="400069"/>
          </a:xfrm>
          <a:prstGeom prst="rect">
            <a:avLst/>
          </a:prstGeom>
          <a:noFill/>
          <a:ln>
            <a:noFill/>
          </a:ln>
        </p:spPr>
        <p:txBody>
          <a:bodyPr spcFirstLastPara="1" wrap="square" lIns="91425" tIns="45700" rIns="91425" bIns="45700" anchor="t" anchorCtr="0">
            <a:spAutoFit/>
          </a:bodyPr>
          <a:lstStyle/>
          <a:p>
            <a:pPr lvl="0"/>
            <a:r>
              <a:rPr lang="en-US" sz="2000" dirty="0">
                <a:solidFill>
                  <a:schemeClr val="dk1"/>
                </a:solidFill>
                <a:latin typeface="Jost SemiBold" pitchFamily="2" charset="0"/>
                <a:ea typeface="Jost SemiBold" pitchFamily="2" charset="0"/>
                <a:cs typeface="IBM Plex Sans JP SemiBold"/>
                <a:sym typeface="IBM Plex Sans JP SemiBold"/>
              </a:rPr>
              <a:t>5. </a:t>
            </a:r>
            <a:r>
              <a:rPr lang="en-US" sz="2000" dirty="0" err="1">
                <a:solidFill>
                  <a:schemeClr val="dk1"/>
                </a:solidFill>
                <a:latin typeface="Jost SemiBold" pitchFamily="2" charset="0"/>
                <a:ea typeface="Jost SemiBold" pitchFamily="2" charset="0"/>
                <a:cs typeface="IBM Plex Sans JP SemiBold"/>
                <a:sym typeface="IBM Plex Sans JP SemiBold"/>
              </a:rPr>
              <a:t>Druckanleitung</a:t>
            </a:r>
            <a:endParaRPr sz="2400" dirty="0">
              <a:solidFill>
                <a:schemeClr val="dk1"/>
              </a:solidFill>
              <a:latin typeface="Jost SemiBold" pitchFamily="2" charset="0"/>
              <a:ea typeface="Jost SemiBold" pitchFamily="2" charset="0"/>
              <a:cs typeface="IBM Plex Sans JP SemiBold"/>
              <a:sym typeface="IBM Plex Sans JP SemiBold"/>
            </a:endParaRPr>
          </a:p>
        </p:txBody>
      </p:sp>
      <p:sp>
        <p:nvSpPr>
          <p:cNvPr id="194" name="Google Shape;194;p17"/>
          <p:cNvSpPr txBox="1"/>
          <p:nvPr/>
        </p:nvSpPr>
        <p:spPr>
          <a:xfrm>
            <a:off x="628422" y="4697232"/>
            <a:ext cx="5886677" cy="861734"/>
          </a:xfrm>
          <a:prstGeom prst="rect">
            <a:avLst/>
          </a:prstGeom>
          <a:noFill/>
          <a:ln>
            <a:noFill/>
          </a:ln>
        </p:spPr>
        <p:txBody>
          <a:bodyPr spcFirstLastPara="1" wrap="square" lIns="91425" tIns="45700" rIns="91425" bIns="45700" anchor="t" anchorCtr="0">
            <a:spAutoFit/>
          </a:bodyPr>
          <a:lstStyle/>
          <a:p>
            <a:pPr lvl="0"/>
            <a:r>
              <a:rPr lang="en-US" sz="1000" dirty="0" err="1">
                <a:solidFill>
                  <a:schemeClr val="dk1"/>
                </a:solidFill>
                <a:latin typeface="Jost SemiBold" pitchFamily="2" charset="0"/>
                <a:ea typeface="Jost SemiBold" pitchFamily="2" charset="0"/>
                <a:cs typeface="IBM Plex Sans JP"/>
                <a:sym typeface="IBM Plex Sans JP"/>
              </a:rPr>
              <a:t>Druckablauf</a:t>
            </a:r>
            <a:r>
              <a:rPr lang="en-US" sz="1000" dirty="0">
                <a:solidFill>
                  <a:schemeClr val="dk1"/>
                </a:solidFill>
                <a:latin typeface="Jost SemiBold" pitchFamily="2" charset="0"/>
                <a:ea typeface="Jost SemiBold" pitchFamily="2" charset="0"/>
                <a:cs typeface="IBM Plex Sans JP"/>
                <a:sym typeface="IBM Plex Sans JP"/>
              </a:rPr>
              <a:t>: </a:t>
            </a:r>
            <a:r>
              <a:rPr lang="de-DE" sz="1000" dirty="0">
                <a:solidFill>
                  <a:schemeClr val="dk1"/>
                </a:solidFill>
                <a:latin typeface="Jost" pitchFamily="2" charset="0"/>
                <a:ea typeface="Jost" pitchFamily="2" charset="0"/>
                <a:cs typeface="IBM Plex Sans JP"/>
                <a:sym typeface="IBM Plex Sans JP"/>
              </a:rPr>
              <a:t>Dieses Modell wird zur Herstellung von Mischfilamenten verwendet.</a:t>
            </a:r>
          </a:p>
          <a:p>
            <a:pPr lvl="0"/>
            <a:r>
              <a:rPr lang="de-DE" sz="1000" dirty="0">
                <a:solidFill>
                  <a:schemeClr val="dk1"/>
                </a:solidFill>
                <a:latin typeface="Jost" pitchFamily="2" charset="0"/>
                <a:ea typeface="Jost" pitchFamily="2" charset="0"/>
                <a:cs typeface="IBM Plex Sans JP"/>
                <a:sym typeface="IBM Plex Sans JP"/>
              </a:rPr>
              <a:t>1. Drucken Sie unter Verwendung zweier handelsüblicher Filamente das Mischfilament (Druck #1).</a:t>
            </a:r>
          </a:p>
          <a:p>
            <a:pPr lvl="0"/>
            <a:r>
              <a:rPr lang="de-DE" sz="1000" dirty="0">
                <a:solidFill>
                  <a:schemeClr val="dk1"/>
                </a:solidFill>
                <a:latin typeface="Jost" pitchFamily="2" charset="0"/>
                <a:ea typeface="Jost" pitchFamily="2" charset="0"/>
                <a:cs typeface="IBM Plex Sans JP"/>
                <a:sym typeface="IBM Plex Sans JP"/>
              </a:rPr>
              <a:t>2. Drucken Sie anschließend mit diesem Mischfilament das Modell, das Sie erstellen möchten (Druck #2).</a:t>
            </a:r>
          </a:p>
          <a:p>
            <a:pPr lvl="0"/>
            <a:r>
              <a:rPr lang="de-DE" sz="1000" dirty="0">
                <a:solidFill>
                  <a:schemeClr val="dk1"/>
                </a:solidFill>
                <a:latin typeface="Jost" pitchFamily="2" charset="0"/>
                <a:ea typeface="Jost" pitchFamily="2" charset="0"/>
                <a:cs typeface="IBM Plex Sans JP"/>
                <a:sym typeface="IBM Plex Sans JP"/>
              </a:rPr>
              <a:t>Durch diesen zweistufigen Druckprozess können Sie jede beliebige Form in Ihrer Wunschfarbe herstellen.</a:t>
            </a:r>
            <a:endParaRPr sz="1000" dirty="0">
              <a:latin typeface="Jost" pitchFamily="2" charset="0"/>
              <a:ea typeface="Jost"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8"/>
          <p:cNvSpPr/>
          <p:nvPr/>
        </p:nvSpPr>
        <p:spPr>
          <a:xfrm>
            <a:off x="51086" y="45268"/>
            <a:ext cx="6790200" cy="9053400"/>
          </a:xfrm>
          <a:prstGeom prst="rect">
            <a:avLst/>
          </a:prstGeom>
          <a:gradFill>
            <a:gsLst>
              <a:gs pos="0">
                <a:srgbClr val="EE00B0"/>
              </a:gs>
              <a:gs pos="10000">
                <a:srgbClr val="EE00B0"/>
              </a:gs>
              <a:gs pos="50000">
                <a:srgbClr val="6200E8"/>
              </a:gs>
              <a:gs pos="90000">
                <a:srgbClr val="0095E5"/>
              </a:gs>
              <a:gs pos="100000">
                <a:srgbClr val="0095E5"/>
              </a:gs>
            </a:gsLst>
            <a:lin ang="1800004"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6" name="Google Shape;206;p18"/>
          <p:cNvSpPr/>
          <p:nvPr/>
        </p:nvSpPr>
        <p:spPr>
          <a:xfrm>
            <a:off x="17051" y="5531"/>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207" name="Google Shape;207;p18"/>
          <p:cNvGrpSpPr/>
          <p:nvPr/>
        </p:nvGrpSpPr>
        <p:grpSpPr>
          <a:xfrm>
            <a:off x="0" y="0"/>
            <a:ext cx="6865269" cy="9144001"/>
            <a:chOff x="0" y="0"/>
            <a:chExt cx="6865269" cy="9144001"/>
          </a:xfrm>
        </p:grpSpPr>
        <p:sp>
          <p:nvSpPr>
            <p:cNvPr id="208" name="Google Shape;208;p18"/>
            <p:cNvSpPr/>
            <p:nvPr/>
          </p:nvSpPr>
          <p:spPr>
            <a:xfrm>
              <a:off x="0" y="0"/>
              <a:ext cx="6858000" cy="432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9" name="Google Shape;209;p18"/>
            <p:cNvSpPr/>
            <p:nvPr/>
          </p:nvSpPr>
          <p:spPr>
            <a:xfrm>
              <a:off x="0" y="8712000"/>
              <a:ext cx="6858000" cy="432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0" name="Google Shape;210;p18"/>
            <p:cNvSpPr/>
            <p:nvPr/>
          </p:nvSpPr>
          <p:spPr>
            <a:xfrm>
              <a:off x="0" y="1"/>
              <a:ext cx="540000" cy="9144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1" name="Google Shape;211;p18"/>
            <p:cNvSpPr/>
            <p:nvPr/>
          </p:nvSpPr>
          <p:spPr>
            <a:xfrm>
              <a:off x="6325269" y="0"/>
              <a:ext cx="540000" cy="9144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212" name="Google Shape;212;p18"/>
          <p:cNvSpPr/>
          <p:nvPr/>
        </p:nvSpPr>
        <p:spPr>
          <a:xfrm>
            <a:off x="554537" y="433418"/>
            <a:ext cx="57561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3" name="Google Shape;213;p18"/>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4" name="Google Shape;214;p18"/>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5" name="Google Shape;215;p18"/>
          <p:cNvSpPr txBox="1"/>
          <p:nvPr/>
        </p:nvSpPr>
        <p:spPr>
          <a:xfrm>
            <a:off x="3163826" y="8511531"/>
            <a:ext cx="575700" cy="3693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rPr>
              <a:t>5</a:t>
            </a:r>
            <a:endParaRPr sz="1800">
              <a:solidFill>
                <a:schemeClr val="dk1"/>
              </a:solidFill>
              <a:latin typeface="Arial"/>
              <a:ea typeface="Arial"/>
              <a:cs typeface="Arial"/>
              <a:sym typeface="Arial"/>
            </a:endParaRPr>
          </a:p>
        </p:txBody>
      </p:sp>
      <p:sp>
        <p:nvSpPr>
          <p:cNvPr id="216" name="Google Shape;216;p18"/>
          <p:cNvSpPr txBox="1"/>
          <p:nvPr/>
        </p:nvSpPr>
        <p:spPr>
          <a:xfrm>
            <a:off x="672873" y="5812907"/>
            <a:ext cx="5649600" cy="2308284"/>
          </a:xfrm>
          <a:prstGeom prst="rect">
            <a:avLst/>
          </a:prstGeom>
          <a:noFill/>
          <a:ln>
            <a:noFill/>
          </a:ln>
        </p:spPr>
        <p:txBody>
          <a:bodyPr spcFirstLastPara="1" wrap="square" lIns="91425" tIns="45700" rIns="91425" bIns="45700" anchor="t" anchorCtr="0">
            <a:spAutoFit/>
          </a:bodyPr>
          <a:lstStyle/>
          <a:p>
            <a:pPr lvl="0"/>
            <a:r>
              <a:rPr lang="en-US" sz="1200" b="1" dirty="0">
                <a:solidFill>
                  <a:schemeClr val="dk1"/>
                </a:solidFill>
                <a:latin typeface="Jost SemiBold" pitchFamily="2" charset="0"/>
                <a:ea typeface="Jost SemiBold" pitchFamily="2" charset="0"/>
                <a:cs typeface="IBM Plex Sans JP"/>
                <a:sym typeface="IBM Plex Sans JP"/>
              </a:rPr>
              <a:t>Nicht </a:t>
            </a:r>
            <a:r>
              <a:rPr lang="en-US" sz="1200" b="1" dirty="0" err="1">
                <a:solidFill>
                  <a:schemeClr val="dk1"/>
                </a:solidFill>
                <a:latin typeface="Jost SemiBold" pitchFamily="2" charset="0"/>
                <a:ea typeface="Jost SemiBold" pitchFamily="2" charset="0"/>
                <a:cs typeface="IBM Plex Sans JP"/>
                <a:sym typeface="IBM Plex Sans JP"/>
              </a:rPr>
              <a:t>empfohlen</a:t>
            </a:r>
            <a:endParaRPr sz="1200" b="1" dirty="0">
              <a:solidFill>
                <a:schemeClr val="dk1"/>
              </a:solidFill>
              <a:latin typeface="Jost SemiBold" pitchFamily="2" charset="0"/>
              <a:ea typeface="Jost SemiBold" pitchFamily="2" charset="0"/>
              <a:cs typeface="IBM Plex Sans JP"/>
              <a:sym typeface="IBM Plex Sans JP"/>
            </a:endParaRPr>
          </a:p>
          <a:p>
            <a:pPr marL="0" marR="0" lvl="0" indent="0" algn="l" rtl="0">
              <a:spcBef>
                <a:spcPts val="0"/>
              </a:spcBef>
              <a:spcAft>
                <a:spcPts val="0"/>
              </a:spcAft>
              <a:buNone/>
            </a:pPr>
            <a:endParaRPr sz="500" b="1" dirty="0">
              <a:solidFill>
                <a:schemeClr val="dk1"/>
              </a:solidFill>
              <a:latin typeface="Jost" pitchFamily="2" charset="0"/>
              <a:ea typeface="Jost" pitchFamily="2" charset="0"/>
              <a:cs typeface="IBM Plex Sans JP"/>
              <a:sym typeface="IBM Plex Sans JP"/>
            </a:endParaRPr>
          </a:p>
          <a:p>
            <a:pPr lvl="0"/>
            <a:r>
              <a:rPr lang="en-US" sz="1050" dirty="0">
                <a:solidFill>
                  <a:schemeClr val="dk1"/>
                </a:solidFill>
                <a:latin typeface="Jost" pitchFamily="2" charset="0"/>
                <a:ea typeface="Jost" pitchFamily="2" charset="0"/>
                <a:cs typeface="IBM Plex Sans JP"/>
                <a:sym typeface="IBM Plex Sans JP"/>
              </a:rPr>
              <a:t>・</a:t>
            </a:r>
            <a:r>
              <a:rPr lang="en-US" sz="1050" dirty="0">
                <a:solidFill>
                  <a:schemeClr val="dk1"/>
                </a:solidFill>
                <a:latin typeface="Jost Medium" pitchFamily="2" charset="0"/>
                <a:ea typeface="Jost Medium" pitchFamily="2" charset="0"/>
                <a:cs typeface="IBM Plex Sans JP"/>
                <a:sym typeface="IBM Plex Sans JP"/>
              </a:rPr>
              <a:t>Kleber</a:t>
            </a:r>
          </a:p>
          <a:p>
            <a:pPr lvl="0"/>
            <a:r>
              <a:rPr lang="de-DE" sz="1000" dirty="0">
                <a:solidFill>
                  <a:schemeClr val="dk1"/>
                </a:solidFill>
                <a:latin typeface="Jost" pitchFamily="2" charset="0"/>
                <a:ea typeface="Jost" pitchFamily="2" charset="0"/>
                <a:cs typeface="IBM Plex Sans JP"/>
                <a:sym typeface="IBM Plex Sans JP"/>
              </a:rPr>
              <a:t>Klebstoff kann während Druck #2 zu einer Düsenverstopfung führen.</a:t>
            </a:r>
          </a:p>
          <a:p>
            <a:pPr lvl="0"/>
            <a:endParaRPr sz="600" dirty="0">
              <a:solidFill>
                <a:schemeClr val="dk1"/>
              </a:solidFill>
              <a:latin typeface="Jost" pitchFamily="2" charset="0"/>
              <a:ea typeface="Jost" pitchFamily="2" charset="0"/>
              <a:cs typeface="IBM Plex Sans JP"/>
              <a:sym typeface="IBM Plex Sans JP"/>
            </a:endParaRPr>
          </a:p>
          <a:p>
            <a:pPr lvl="0"/>
            <a:r>
              <a:rPr lang="en-US" sz="1050" dirty="0">
                <a:solidFill>
                  <a:schemeClr val="dk1"/>
                </a:solidFill>
                <a:latin typeface="Jost" pitchFamily="2" charset="0"/>
                <a:ea typeface="Jost" pitchFamily="2" charset="0"/>
                <a:cs typeface="IBM Plex Sans JP"/>
                <a:sym typeface="IBM Plex Sans JP"/>
              </a:rPr>
              <a:t>・</a:t>
            </a:r>
            <a:r>
              <a:rPr lang="en-US" sz="1050" dirty="0" err="1">
                <a:solidFill>
                  <a:schemeClr val="dk1"/>
                </a:solidFill>
                <a:latin typeface="Jost Medium" pitchFamily="2" charset="0"/>
                <a:ea typeface="Jost Medium" pitchFamily="2" charset="0"/>
                <a:cs typeface="IBM Plex Sans JP"/>
                <a:sym typeface="IBM Plex Sans JP"/>
              </a:rPr>
              <a:t>Mischen</a:t>
            </a:r>
            <a:r>
              <a:rPr lang="en-US" sz="1050" dirty="0">
                <a:solidFill>
                  <a:schemeClr val="dk1"/>
                </a:solidFill>
                <a:latin typeface="Jost Medium" pitchFamily="2" charset="0"/>
                <a:ea typeface="Jost Medium" pitchFamily="2" charset="0"/>
                <a:cs typeface="IBM Plex Sans JP"/>
                <a:sym typeface="IBM Plex Sans JP"/>
              </a:rPr>
              <a:t> </a:t>
            </a:r>
            <a:r>
              <a:rPr lang="en-US" sz="1050" dirty="0" err="1">
                <a:solidFill>
                  <a:schemeClr val="dk1"/>
                </a:solidFill>
                <a:latin typeface="Jost Medium" pitchFamily="2" charset="0"/>
                <a:ea typeface="Jost Medium" pitchFamily="2" charset="0"/>
                <a:cs typeface="IBM Plex Sans JP"/>
                <a:sym typeface="IBM Plex Sans JP"/>
              </a:rPr>
              <a:t>verschiedener</a:t>
            </a:r>
            <a:r>
              <a:rPr lang="en-US" sz="1050" dirty="0">
                <a:solidFill>
                  <a:schemeClr val="dk1"/>
                </a:solidFill>
                <a:latin typeface="Jost Medium" pitchFamily="2" charset="0"/>
                <a:ea typeface="Jost Medium" pitchFamily="2" charset="0"/>
                <a:cs typeface="IBM Plex Sans JP"/>
                <a:sym typeface="IBM Plex Sans JP"/>
              </a:rPr>
              <a:t> </a:t>
            </a:r>
            <a:r>
              <a:rPr lang="en-US" sz="1050" dirty="0" err="1">
                <a:solidFill>
                  <a:schemeClr val="dk1"/>
                </a:solidFill>
                <a:latin typeface="Jost Medium" pitchFamily="2" charset="0"/>
                <a:ea typeface="Jost Medium" pitchFamily="2" charset="0"/>
                <a:cs typeface="IBM Plex Sans JP"/>
                <a:sym typeface="IBM Plex Sans JP"/>
              </a:rPr>
              <a:t>Materialtypen</a:t>
            </a:r>
            <a:endParaRPr lang="en-US" sz="1050" dirty="0">
              <a:solidFill>
                <a:schemeClr val="dk1"/>
              </a:solidFill>
              <a:latin typeface="Jost Medium" pitchFamily="2" charset="0"/>
              <a:ea typeface="Jost Medium" pitchFamily="2" charset="0"/>
              <a:cs typeface="IBM Plex Sans JP"/>
              <a:sym typeface="IBM Plex Sans JP"/>
            </a:endParaRPr>
          </a:p>
          <a:p>
            <a:pPr lvl="0"/>
            <a:r>
              <a:rPr lang="de-DE" sz="1000" dirty="0">
                <a:solidFill>
                  <a:schemeClr val="dk1"/>
                </a:solidFill>
                <a:latin typeface="Jost" pitchFamily="2" charset="0"/>
                <a:ea typeface="Jost" pitchFamily="2" charset="0"/>
                <a:cs typeface="IBM Plex Sans JP"/>
                <a:sym typeface="IBM Plex Sans JP"/>
              </a:rPr>
              <a:t>Filamente mit unterschiedlichen Drucktemperaturen können während Druck #2 zu einer Düsenverstopfung führen.</a:t>
            </a:r>
          </a:p>
          <a:p>
            <a:pPr lvl="0"/>
            <a:r>
              <a:rPr lang="de-DE" sz="1000" dirty="0">
                <a:solidFill>
                  <a:schemeClr val="dk1"/>
                </a:solidFill>
                <a:latin typeface="Jost" pitchFamily="2" charset="0"/>
                <a:ea typeface="Jost" pitchFamily="2" charset="0"/>
                <a:cs typeface="IBM Plex Sans JP"/>
                <a:sym typeface="IBM Plex Sans JP"/>
              </a:rPr>
              <a:t>Kombinationen wie PLA Basic und PLA Matte (gleiche Temperatur und gleicher Materialtyp) können funktionieren.Als allgemeine Regel gilt: Verwenden Sie verschiedene Farben desselben Produkts vom selben Hersteller.</a:t>
            </a:r>
          </a:p>
          <a:p>
            <a:pPr lvl="0"/>
            <a:endParaRPr lang="de-DE" sz="600" dirty="0">
              <a:solidFill>
                <a:schemeClr val="dk1"/>
              </a:solidFill>
              <a:latin typeface="Jost" pitchFamily="2" charset="0"/>
              <a:ea typeface="Jost" pitchFamily="2" charset="0"/>
              <a:cs typeface="IBM Plex Sans JP"/>
              <a:sym typeface="IBM Plex Sans JP"/>
            </a:endParaRPr>
          </a:p>
          <a:p>
            <a:pPr lvl="0"/>
            <a:r>
              <a:rPr lang="de-DE" sz="1000" dirty="0">
                <a:solidFill>
                  <a:schemeClr val="dk1"/>
                </a:solidFill>
                <a:latin typeface="Jost" pitchFamily="2" charset="0"/>
                <a:ea typeface="Jost" pitchFamily="2" charset="0"/>
                <a:cs typeface="IBM Plex Sans JP"/>
                <a:sym typeface="IBM Plex Sans JP"/>
              </a:rPr>
              <a:t>Das Testen anderer Kombinationen erfolgt auf eigene Gefahr.</a:t>
            </a:r>
            <a:endParaRPr sz="500" dirty="0">
              <a:solidFill>
                <a:schemeClr val="dk1"/>
              </a:solidFill>
              <a:latin typeface="Jost" pitchFamily="2" charset="0"/>
              <a:ea typeface="Jost" pitchFamily="2" charset="0"/>
              <a:cs typeface="IBM Plex Sans JP"/>
              <a:sym typeface="IBM Plex Sans JP"/>
            </a:endParaRPr>
          </a:p>
          <a:p>
            <a:pPr lvl="0"/>
            <a:r>
              <a:rPr lang="en-US" sz="1000" dirty="0">
                <a:solidFill>
                  <a:schemeClr val="dk1"/>
                </a:solidFill>
                <a:latin typeface="Jost" pitchFamily="2" charset="0"/>
                <a:ea typeface="Jost" pitchFamily="2" charset="0"/>
                <a:cs typeface="IBM Plex Sans JP"/>
                <a:sym typeface="IBM Plex Sans JP"/>
              </a:rPr>
              <a:t>As a general rule, use </a:t>
            </a:r>
            <a:r>
              <a:rPr lang="en-US" sz="1000" b="1" dirty="0">
                <a:solidFill>
                  <a:schemeClr val="dk1"/>
                </a:solidFill>
                <a:latin typeface="Jost" pitchFamily="2" charset="0"/>
                <a:ea typeface="Jost" pitchFamily="2" charset="0"/>
                <a:cs typeface="IBM Plex Sans JP"/>
                <a:sym typeface="IBM Plex Sans JP"/>
              </a:rPr>
              <a:t>different colors of the same product from the same manufacturer</a:t>
            </a:r>
            <a:r>
              <a:rPr lang="en-US" sz="1000" dirty="0">
                <a:solidFill>
                  <a:schemeClr val="dk1"/>
                </a:solidFill>
                <a:latin typeface="Jost" pitchFamily="2" charset="0"/>
                <a:ea typeface="Jost" pitchFamily="2" charset="0"/>
                <a:cs typeface="IBM Plex Sans JP"/>
                <a:sym typeface="IBM Plex Sans JP"/>
              </a:rPr>
              <a:t>. Try other combinations at your own risk.</a:t>
            </a:r>
            <a:endParaRPr sz="1000" dirty="0">
              <a:latin typeface="Jost" pitchFamily="2" charset="0"/>
              <a:ea typeface="Jost" pitchFamily="2" charset="0"/>
            </a:endParaRPr>
          </a:p>
        </p:txBody>
      </p:sp>
      <p:sp>
        <p:nvSpPr>
          <p:cNvPr id="217" name="Google Shape;217;p18"/>
          <p:cNvSpPr txBox="1"/>
          <p:nvPr/>
        </p:nvSpPr>
        <p:spPr>
          <a:xfrm>
            <a:off x="672873" y="675321"/>
            <a:ext cx="5649600" cy="1261844"/>
          </a:xfrm>
          <a:prstGeom prst="rect">
            <a:avLst/>
          </a:prstGeom>
          <a:noFill/>
          <a:ln>
            <a:noFill/>
          </a:ln>
        </p:spPr>
        <p:txBody>
          <a:bodyPr spcFirstLastPara="1" wrap="square" lIns="91425" tIns="45700" rIns="91425" bIns="45700" anchor="t" anchorCtr="0">
            <a:spAutoFit/>
          </a:bodyPr>
          <a:lstStyle/>
          <a:p>
            <a:pPr lvl="0"/>
            <a:r>
              <a:rPr lang="en-US" sz="1050" dirty="0">
                <a:latin typeface="Jost" pitchFamily="2" charset="0"/>
                <a:ea typeface="Jost" pitchFamily="2" charset="0"/>
              </a:rPr>
              <a:t>・</a:t>
            </a:r>
            <a:r>
              <a:rPr lang="en-US" sz="1050" dirty="0" err="1">
                <a:latin typeface="Jost Medium" pitchFamily="2" charset="0"/>
                <a:ea typeface="Jost Medium" pitchFamily="2" charset="0"/>
              </a:rPr>
              <a:t>Druckplatte</a:t>
            </a:r>
            <a:r>
              <a:rPr lang="en-US" sz="1050" dirty="0">
                <a:latin typeface="Jost Medium" pitchFamily="2" charset="0"/>
                <a:ea typeface="Jost Medium" pitchFamily="2" charset="0"/>
              </a:rPr>
              <a:t> und Hände </a:t>
            </a:r>
            <a:r>
              <a:rPr lang="en-US" sz="1050" dirty="0" err="1">
                <a:latin typeface="Jost Medium" pitchFamily="2" charset="0"/>
                <a:ea typeface="Jost Medium" pitchFamily="2" charset="0"/>
              </a:rPr>
              <a:t>entfetten</a:t>
            </a:r>
            <a:endParaRPr lang="en-US" sz="1050" dirty="0">
              <a:latin typeface="Jost Medium" pitchFamily="2" charset="0"/>
              <a:ea typeface="Jost Medium" pitchFamily="2" charset="0"/>
            </a:endParaRPr>
          </a:p>
          <a:p>
            <a:pPr lvl="0"/>
            <a:r>
              <a:rPr lang="de-DE" sz="1000" dirty="0">
                <a:latin typeface="Jost" pitchFamily="2" charset="0"/>
                <a:ea typeface="Jost" pitchFamily="2" charset="0"/>
              </a:rPr>
              <a:t>Dieses Modell reagiert sehr empfindlich auf mangelnde Betthaftung. Stellen Sie eine gründliche Reinigung sicher.Falls weiterhin Haftungsprobleme auftreten, weichen Sie gegebenenfalls auf eine kleinere Modellgröße aus.</a:t>
            </a:r>
          </a:p>
          <a:p>
            <a:pPr lvl="0"/>
            <a:endParaRPr sz="500" dirty="0">
              <a:latin typeface="Jost" pitchFamily="2" charset="0"/>
              <a:ea typeface="Jost" pitchFamily="2" charset="0"/>
            </a:endParaRPr>
          </a:p>
          <a:p>
            <a:pPr lvl="0"/>
            <a:r>
              <a:rPr lang="ja-JP" altLang="en-US" sz="1050" dirty="0">
                <a:latin typeface="Jost Medium" pitchFamily="2" charset="0"/>
                <a:ea typeface="Jost" pitchFamily="2" charset="0"/>
              </a:rPr>
              <a:t>・</a:t>
            </a:r>
            <a:r>
              <a:rPr lang="en-US" sz="1050" dirty="0" err="1">
                <a:latin typeface="Jost Medium" pitchFamily="2" charset="0"/>
                <a:ea typeface="Jost Medium" pitchFamily="2" charset="0"/>
              </a:rPr>
              <a:t>Betthaftung</a:t>
            </a:r>
            <a:endParaRPr lang="en-US" sz="1050" dirty="0">
              <a:latin typeface="Jost Medium" pitchFamily="2" charset="0"/>
              <a:ea typeface="Jost Medium" pitchFamily="2" charset="0"/>
            </a:endParaRPr>
          </a:p>
          <a:p>
            <a:pPr lvl="0"/>
            <a:r>
              <a:rPr lang="de-DE" sz="1000" dirty="0">
                <a:latin typeface="Jost" pitchFamily="2" charset="0"/>
                <a:ea typeface="Jost" pitchFamily="2" charset="0"/>
              </a:rPr>
              <a:t>Die Betthaftung variiert je nach Druckplatte und Filamentmaterial. Bitte beachten Sie hierzu die folgende Tabelle.</a:t>
            </a:r>
            <a:endParaRPr sz="900" dirty="0">
              <a:latin typeface="Jost" pitchFamily="2" charset="0"/>
              <a:ea typeface="Jost" pitchFamily="2" charset="0"/>
            </a:endParaRPr>
          </a:p>
        </p:txBody>
      </p:sp>
      <p:sp>
        <p:nvSpPr>
          <p:cNvPr id="218" name="Google Shape;218;p18"/>
          <p:cNvSpPr txBox="1"/>
          <p:nvPr/>
        </p:nvSpPr>
        <p:spPr>
          <a:xfrm>
            <a:off x="672873" y="3717678"/>
            <a:ext cx="5649600" cy="400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000"/>
              <a:t>・プレートと手の脱脂 本モデルは定着性がシビアです。十分な脱脂を行って、定着性を高めてください。 定着が困難な場合は1サイズ小さいモデルを検討してください。 </a:t>
            </a:r>
            <a:endParaRPr sz="1000"/>
          </a:p>
        </p:txBody>
      </p:sp>
      <p:pic>
        <p:nvPicPr>
          <p:cNvPr id="219" name="Google Shape;219;p18"/>
          <p:cNvPicPr preferRelativeResize="0"/>
          <p:nvPr/>
        </p:nvPicPr>
        <p:blipFill>
          <a:blip r:embed="rId3">
            <a:alphaModFix/>
          </a:blip>
          <a:stretch>
            <a:fillRect/>
          </a:stretch>
        </p:blipFill>
        <p:spPr>
          <a:xfrm>
            <a:off x="540573" y="2054399"/>
            <a:ext cx="5776852" cy="350671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9"/>
          <p:cNvSpPr/>
          <p:nvPr/>
        </p:nvSpPr>
        <p:spPr>
          <a:xfrm>
            <a:off x="51086" y="45268"/>
            <a:ext cx="6790200" cy="9053400"/>
          </a:xfrm>
          <a:prstGeom prst="rect">
            <a:avLst/>
          </a:prstGeom>
          <a:gradFill>
            <a:gsLst>
              <a:gs pos="0">
                <a:srgbClr val="EE00B0"/>
              </a:gs>
              <a:gs pos="10000">
                <a:srgbClr val="EE00B0"/>
              </a:gs>
              <a:gs pos="50000">
                <a:srgbClr val="6200E8"/>
              </a:gs>
              <a:gs pos="90000">
                <a:srgbClr val="0095E5"/>
              </a:gs>
              <a:gs pos="100000">
                <a:srgbClr val="0095E5"/>
              </a:gs>
            </a:gsLst>
            <a:lin ang="1800004"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27" name="Google Shape;227;p19"/>
          <p:cNvSpPr/>
          <p:nvPr/>
        </p:nvSpPr>
        <p:spPr>
          <a:xfrm>
            <a:off x="17051" y="5531"/>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228" name="Google Shape;228;p19"/>
          <p:cNvGrpSpPr/>
          <p:nvPr/>
        </p:nvGrpSpPr>
        <p:grpSpPr>
          <a:xfrm>
            <a:off x="0" y="0"/>
            <a:ext cx="6865269" cy="9144001"/>
            <a:chOff x="0" y="0"/>
            <a:chExt cx="6865269" cy="9144001"/>
          </a:xfrm>
        </p:grpSpPr>
        <p:sp>
          <p:nvSpPr>
            <p:cNvPr id="229" name="Google Shape;229;p19"/>
            <p:cNvSpPr/>
            <p:nvPr/>
          </p:nvSpPr>
          <p:spPr>
            <a:xfrm>
              <a:off x="0" y="0"/>
              <a:ext cx="6858000" cy="432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0" name="Google Shape;230;p19"/>
            <p:cNvSpPr/>
            <p:nvPr/>
          </p:nvSpPr>
          <p:spPr>
            <a:xfrm>
              <a:off x="0" y="8712000"/>
              <a:ext cx="6858000" cy="432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1" name="Google Shape;231;p19"/>
            <p:cNvSpPr/>
            <p:nvPr/>
          </p:nvSpPr>
          <p:spPr>
            <a:xfrm>
              <a:off x="0" y="1"/>
              <a:ext cx="540000" cy="9144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2" name="Google Shape;232;p19"/>
            <p:cNvSpPr/>
            <p:nvPr/>
          </p:nvSpPr>
          <p:spPr>
            <a:xfrm>
              <a:off x="6325269" y="0"/>
              <a:ext cx="540000" cy="9144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233" name="Google Shape;233;p19"/>
          <p:cNvSpPr/>
          <p:nvPr/>
        </p:nvSpPr>
        <p:spPr>
          <a:xfrm>
            <a:off x="554537" y="433418"/>
            <a:ext cx="57561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4" name="Google Shape;234;p19"/>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5" name="Google Shape;235;p19"/>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6" name="Google Shape;236;p19"/>
          <p:cNvSpPr txBox="1"/>
          <p:nvPr/>
        </p:nvSpPr>
        <p:spPr>
          <a:xfrm>
            <a:off x="3163826" y="8511531"/>
            <a:ext cx="575700" cy="3693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rPr>
              <a:t>6</a:t>
            </a:r>
            <a:endParaRPr sz="1800">
              <a:solidFill>
                <a:schemeClr val="dk1"/>
              </a:solidFill>
              <a:latin typeface="Arial"/>
              <a:ea typeface="Arial"/>
              <a:cs typeface="Arial"/>
              <a:sym typeface="Arial"/>
            </a:endParaRPr>
          </a:p>
        </p:txBody>
      </p:sp>
      <p:sp>
        <p:nvSpPr>
          <p:cNvPr id="237" name="Google Shape;237;p19"/>
          <p:cNvSpPr/>
          <p:nvPr/>
        </p:nvSpPr>
        <p:spPr>
          <a:xfrm>
            <a:off x="580886" y="4733390"/>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8" name="Google Shape;238;p19"/>
          <p:cNvSpPr txBox="1"/>
          <p:nvPr/>
        </p:nvSpPr>
        <p:spPr>
          <a:xfrm>
            <a:off x="812651" y="4698941"/>
            <a:ext cx="2313092" cy="338514"/>
          </a:xfrm>
          <a:prstGeom prst="rect">
            <a:avLst/>
          </a:prstGeom>
          <a:noFill/>
          <a:ln>
            <a:noFill/>
          </a:ln>
        </p:spPr>
        <p:txBody>
          <a:bodyPr spcFirstLastPara="1" wrap="square" lIns="91425" tIns="45700" rIns="91425" bIns="45700" anchor="t" anchorCtr="0">
            <a:spAutoFit/>
          </a:bodyPr>
          <a:lstStyle/>
          <a:p>
            <a:pPr lvl="0"/>
            <a:r>
              <a:rPr lang="en-US" sz="1600" b="1" dirty="0">
                <a:solidFill>
                  <a:schemeClr val="dk1"/>
                </a:solidFill>
                <a:latin typeface="Jost" pitchFamily="2" charset="0"/>
                <a:ea typeface="Jost" pitchFamily="2" charset="0"/>
                <a:cs typeface="IBM Plex Sans JP SemiBold"/>
                <a:sym typeface="IBM Plex Sans JP SemiBold"/>
              </a:rPr>
              <a:t>7. </a:t>
            </a:r>
            <a:r>
              <a:rPr lang="en-US" sz="1600" b="1" dirty="0" err="1">
                <a:solidFill>
                  <a:schemeClr val="dk1"/>
                </a:solidFill>
                <a:latin typeface="Jost" pitchFamily="2" charset="0"/>
                <a:ea typeface="Jost" pitchFamily="2" charset="0"/>
                <a:cs typeface="IBM Plex Sans JP SemiBold"/>
                <a:sym typeface="IBM Plex Sans JP SemiBold"/>
              </a:rPr>
              <a:t>Versionshistorie</a:t>
            </a:r>
            <a:endParaRPr lang="en-US" altLang="ja-JP" sz="1600" b="1" dirty="0">
              <a:solidFill>
                <a:schemeClr val="dk1"/>
              </a:solidFill>
              <a:latin typeface="Jost" pitchFamily="2" charset="0"/>
              <a:ea typeface="IBM Plex Sans JP" panose="020B0503050203000203" pitchFamily="50" charset="-128"/>
              <a:cs typeface="IBM Plex Sans JP SemiBold"/>
              <a:sym typeface="IBM Plex Sans JP SemiBold"/>
            </a:endParaRPr>
          </a:p>
        </p:txBody>
      </p:sp>
      <p:sp>
        <p:nvSpPr>
          <p:cNvPr id="239" name="Google Shape;239;p19"/>
          <p:cNvSpPr txBox="1"/>
          <p:nvPr/>
        </p:nvSpPr>
        <p:spPr>
          <a:xfrm>
            <a:off x="672860" y="5013750"/>
            <a:ext cx="5649600" cy="230792"/>
          </a:xfrm>
          <a:prstGeom prst="rect">
            <a:avLst/>
          </a:prstGeom>
          <a:noFill/>
          <a:ln>
            <a:noFill/>
          </a:ln>
        </p:spPr>
        <p:txBody>
          <a:bodyPr spcFirstLastPara="1" wrap="square" lIns="91425" tIns="45700" rIns="91425" bIns="45700" anchor="t" anchorCtr="0">
            <a:spAutoFit/>
          </a:bodyPr>
          <a:lstStyle/>
          <a:p>
            <a:pPr lvl="0"/>
            <a:r>
              <a:rPr lang="en-US" altLang="ja-JP" sz="900">
                <a:latin typeface="Jost" pitchFamily="2" charset="0"/>
              </a:rPr>
              <a:t>Ver.1.00 24.09.2026 : Erstveröffentlichung</a:t>
            </a:r>
            <a:endParaRPr lang="en-US" altLang="ja-JP" sz="900" dirty="0">
              <a:latin typeface="Jost" pitchFamily="2" charset="0"/>
            </a:endParaRPr>
          </a:p>
        </p:txBody>
      </p:sp>
      <p:sp>
        <p:nvSpPr>
          <p:cNvPr id="240" name="Google Shape;240;p19"/>
          <p:cNvSpPr txBox="1"/>
          <p:nvPr/>
        </p:nvSpPr>
        <p:spPr>
          <a:xfrm>
            <a:off x="672873" y="1663478"/>
            <a:ext cx="5649600" cy="1200288"/>
          </a:xfrm>
          <a:prstGeom prst="rect">
            <a:avLst/>
          </a:prstGeom>
          <a:noFill/>
          <a:ln>
            <a:noFill/>
          </a:ln>
        </p:spPr>
        <p:txBody>
          <a:bodyPr spcFirstLastPara="1" wrap="square" lIns="91425" tIns="45700" rIns="91425" bIns="45700" anchor="t" anchorCtr="0">
            <a:spAutoFit/>
          </a:bodyPr>
          <a:lstStyle/>
          <a:p>
            <a:pPr lvl="0"/>
            <a:r>
              <a:rPr lang="ja-JP" altLang="en-US" sz="1200" dirty="0">
                <a:solidFill>
                  <a:schemeClr val="dk1"/>
                </a:solidFill>
                <a:latin typeface="Jost Medium" pitchFamily="2" charset="0"/>
                <a:ea typeface="Jost Medium" pitchFamily="2" charset="0"/>
                <a:cs typeface="IBM Plex Sans JP"/>
                <a:sym typeface="IBM Plex Sans JP"/>
              </a:rPr>
              <a:t>・</a:t>
            </a:r>
            <a:r>
              <a:rPr lang="en-US" altLang="ja-JP" sz="1200" dirty="0" err="1">
                <a:solidFill>
                  <a:schemeClr val="dk1"/>
                </a:solidFill>
                <a:latin typeface="Jost Medium" pitchFamily="2" charset="0"/>
                <a:ea typeface="Jost Medium" pitchFamily="2" charset="0"/>
                <a:cs typeface="IBM Plex Sans JP"/>
                <a:sym typeface="IBM Plex Sans JP"/>
              </a:rPr>
              <a:t>Grat</a:t>
            </a:r>
            <a:r>
              <a:rPr lang="en-US" altLang="ja-JP" sz="1200" dirty="0">
                <a:solidFill>
                  <a:schemeClr val="dk1"/>
                </a:solidFill>
                <a:latin typeface="Jost Medium" pitchFamily="2" charset="0"/>
                <a:ea typeface="Jost Medium" pitchFamily="2" charset="0"/>
                <a:cs typeface="IBM Plex Sans JP"/>
                <a:sym typeface="IBM Plex Sans JP"/>
              </a:rPr>
              <a:t> </a:t>
            </a:r>
            <a:r>
              <a:rPr lang="en-US" altLang="ja-JP" sz="1200" dirty="0" err="1">
                <a:solidFill>
                  <a:schemeClr val="dk1"/>
                </a:solidFill>
                <a:latin typeface="Jost Medium" pitchFamily="2" charset="0"/>
                <a:ea typeface="Jost Medium" pitchFamily="2" charset="0"/>
                <a:cs typeface="IBM Plex Sans JP"/>
                <a:sym typeface="IBM Plex Sans JP"/>
              </a:rPr>
              <a:t>entfernen</a:t>
            </a:r>
            <a:endParaRPr lang="en-US" altLang="ja-JP" sz="1200" dirty="0">
              <a:solidFill>
                <a:schemeClr val="dk1"/>
              </a:solidFill>
              <a:latin typeface="Jost Medium" pitchFamily="2" charset="0"/>
              <a:ea typeface="Jost Medium" pitchFamily="2" charset="0"/>
              <a:cs typeface="IBM Plex Sans JP"/>
              <a:sym typeface="IBM Plex Sans JP"/>
            </a:endParaRPr>
          </a:p>
          <a:p>
            <a:pPr lvl="0"/>
            <a:r>
              <a:rPr lang="de-DE" altLang="ja-JP" sz="1100" dirty="0">
                <a:solidFill>
                  <a:schemeClr val="dk1"/>
                </a:solidFill>
                <a:latin typeface="Jost" pitchFamily="2" charset="0"/>
                <a:ea typeface="Jost" pitchFamily="2" charset="0"/>
                <a:cs typeface="IBM Plex Sans JP"/>
                <a:sym typeface="IBM Plex Sans JP"/>
              </a:rPr>
              <a:t>In seltenen Fällen können Grate entstehen.Entfernen Sie diese mit einem Seitenschneider oder einem Cutter-Messer.Große Grate können zu Problemen bei der Extrusion führen.</a:t>
            </a:r>
          </a:p>
          <a:p>
            <a:pPr lvl="0"/>
            <a:endParaRPr lang="en-US" sz="600" dirty="0">
              <a:solidFill>
                <a:schemeClr val="dk1"/>
              </a:solidFill>
              <a:latin typeface="Jost Medium" pitchFamily="2" charset="0"/>
              <a:ea typeface="Jost Medium" pitchFamily="2" charset="0"/>
              <a:cs typeface="IBM Plex Sans JP"/>
              <a:sym typeface="IBM Plex Sans JP"/>
            </a:endParaRPr>
          </a:p>
          <a:p>
            <a:pPr lvl="0"/>
            <a:r>
              <a:rPr lang="en-US" sz="600" dirty="0">
                <a:solidFill>
                  <a:schemeClr val="dk1"/>
                </a:solidFill>
                <a:latin typeface="Jost Medium" pitchFamily="2" charset="0"/>
                <a:ea typeface="Jost Medium" pitchFamily="2" charset="0"/>
                <a:cs typeface="IBM Plex Sans JP"/>
                <a:sym typeface="IBM Plex Sans JP"/>
              </a:rPr>
              <a:t> </a:t>
            </a:r>
            <a:r>
              <a:rPr lang="en-US" sz="1100" dirty="0">
                <a:solidFill>
                  <a:schemeClr val="dk1"/>
                </a:solidFill>
                <a:latin typeface="Jost Medium" pitchFamily="2" charset="0"/>
                <a:ea typeface="Jost Medium" pitchFamily="2" charset="0"/>
                <a:cs typeface="IBM Plex Sans JP"/>
                <a:sym typeface="IBM Plex Sans JP"/>
              </a:rPr>
              <a:t>・</a:t>
            </a:r>
            <a:r>
              <a:rPr lang="de-DE" sz="1100" dirty="0">
                <a:solidFill>
                  <a:schemeClr val="dk1"/>
                </a:solidFill>
                <a:latin typeface="Jost Medium" pitchFamily="2" charset="0"/>
                <a:ea typeface="Jost Medium" pitchFamily="2" charset="0"/>
                <a:cs typeface="IBM Plex Sans JP"/>
                <a:sym typeface="IBM Plex Sans JP"/>
              </a:rPr>
              <a:t>Einfluss der Düse bei Druck #2</a:t>
            </a:r>
            <a:endParaRPr lang="en-US" sz="1100" dirty="0">
              <a:solidFill>
                <a:schemeClr val="dk1"/>
              </a:solidFill>
              <a:latin typeface="Jost Medium" pitchFamily="2" charset="0"/>
              <a:ea typeface="Jost Medium" pitchFamily="2" charset="0"/>
              <a:cs typeface="IBM Plex Sans JP"/>
              <a:sym typeface="IBM Plex Sans JP"/>
            </a:endParaRPr>
          </a:p>
          <a:p>
            <a:pPr lvl="0"/>
            <a:r>
              <a:rPr lang="de-DE" sz="1050" dirty="0">
                <a:solidFill>
                  <a:schemeClr val="dk1"/>
                </a:solidFill>
                <a:latin typeface="Jost" pitchFamily="2" charset="0"/>
                <a:ea typeface="Jost" pitchFamily="2" charset="0"/>
                <a:cs typeface="IBM Plex Sans JP"/>
                <a:sym typeface="IBM Plex Sans JP"/>
              </a:rPr>
              <a:t>Die Mischleistung variiert je nach Düsentyp.Kleinere Durchmesser und High-Flow-Düsen neigen tendenziell zu einer besseren Durchmischung.</a:t>
            </a:r>
            <a:endParaRPr sz="1050" dirty="0">
              <a:latin typeface="Jost" pitchFamily="2" charset="0"/>
              <a:ea typeface="Jost" pitchFamily="2" charset="0"/>
            </a:endParaRPr>
          </a:p>
        </p:txBody>
      </p:sp>
      <p:sp>
        <p:nvSpPr>
          <p:cNvPr id="241" name="Google Shape;241;p19"/>
          <p:cNvSpPr/>
          <p:nvPr/>
        </p:nvSpPr>
        <p:spPr>
          <a:xfrm>
            <a:off x="580898" y="3131390"/>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2" name="Google Shape;242;p19"/>
          <p:cNvSpPr txBox="1"/>
          <p:nvPr/>
        </p:nvSpPr>
        <p:spPr>
          <a:xfrm>
            <a:off x="764253" y="3087666"/>
            <a:ext cx="1923900" cy="338700"/>
          </a:xfrm>
          <a:prstGeom prst="rect">
            <a:avLst/>
          </a:prstGeom>
          <a:noFill/>
          <a:ln>
            <a:noFill/>
          </a:ln>
        </p:spPr>
        <p:txBody>
          <a:bodyPr spcFirstLastPara="1" wrap="square" lIns="91425" tIns="45700" rIns="91425" bIns="45700" anchor="t" anchorCtr="0">
            <a:spAutoFit/>
          </a:bodyPr>
          <a:lstStyle/>
          <a:p>
            <a:pPr lvl="0"/>
            <a:r>
              <a:rPr lang="en-US" sz="1600" b="1" dirty="0">
                <a:solidFill>
                  <a:schemeClr val="dk1"/>
                </a:solidFill>
                <a:latin typeface="Jost" pitchFamily="2" charset="0"/>
                <a:ea typeface="Jost" pitchFamily="2" charset="0"/>
                <a:cs typeface="IBM Plex Sans JP SemiBold"/>
                <a:sym typeface="IBM Plex Sans JP SemiBold"/>
              </a:rPr>
              <a:t>6. </a:t>
            </a:r>
            <a:r>
              <a:rPr lang="en-US" sz="1600" b="1" dirty="0" err="1">
                <a:solidFill>
                  <a:schemeClr val="dk1"/>
                </a:solidFill>
                <a:latin typeface="Jost" pitchFamily="2" charset="0"/>
                <a:ea typeface="Jost" pitchFamily="2" charset="0"/>
                <a:cs typeface="IBM Plex Sans JP SemiBold"/>
                <a:sym typeface="IBM Plex Sans JP SemiBold"/>
              </a:rPr>
              <a:t>Schlusswort</a:t>
            </a:r>
            <a:endParaRPr sz="1800" b="1" dirty="0">
              <a:solidFill>
                <a:schemeClr val="dk1"/>
              </a:solidFill>
              <a:latin typeface="Jost" pitchFamily="2" charset="0"/>
              <a:ea typeface="Jost" pitchFamily="2" charset="0"/>
              <a:cs typeface="IBM Plex Sans JP SemiBold"/>
              <a:sym typeface="IBM Plex Sans JP SemiBold"/>
            </a:endParaRPr>
          </a:p>
        </p:txBody>
      </p:sp>
      <p:sp>
        <p:nvSpPr>
          <p:cNvPr id="243" name="Google Shape;243;p19"/>
          <p:cNvSpPr txBox="1"/>
          <p:nvPr/>
        </p:nvSpPr>
        <p:spPr>
          <a:xfrm>
            <a:off x="672873" y="3489025"/>
            <a:ext cx="5649600" cy="954067"/>
          </a:xfrm>
          <a:prstGeom prst="rect">
            <a:avLst/>
          </a:prstGeom>
          <a:noFill/>
          <a:ln>
            <a:noFill/>
          </a:ln>
        </p:spPr>
        <p:txBody>
          <a:bodyPr spcFirstLastPara="1" wrap="square" lIns="91425" tIns="45700" rIns="91425" bIns="45700" anchor="t" anchorCtr="0">
            <a:spAutoFit/>
          </a:bodyPr>
          <a:lstStyle/>
          <a:p>
            <a:pPr lvl="0"/>
            <a:r>
              <a:rPr lang="de-DE" sz="1050" dirty="0">
                <a:solidFill>
                  <a:schemeClr val="dk1"/>
                </a:solidFill>
                <a:latin typeface="Jost" pitchFamily="2" charset="0"/>
                <a:ea typeface="Jost" pitchFamily="2" charset="0"/>
                <a:cs typeface="IBM Plex Sans JP"/>
                <a:sym typeface="IBM Plex Sans JP"/>
              </a:rPr>
              <a:t>Vielen Dank fürs Lesen.</a:t>
            </a:r>
          </a:p>
          <a:p>
            <a:pPr lvl="0"/>
            <a:r>
              <a:rPr lang="de-DE" sz="1050" dirty="0">
                <a:solidFill>
                  <a:schemeClr val="dk1"/>
                </a:solidFill>
                <a:latin typeface="Jost" pitchFamily="2" charset="0"/>
                <a:ea typeface="Jost" pitchFamily="2" charset="0"/>
                <a:cs typeface="IBM Plex Sans JP"/>
                <a:sym typeface="IBM Plex Sans JP"/>
              </a:rPr>
              <a:t>Wir hoffen, dass </a:t>
            </a:r>
            <a:r>
              <a:rPr lang="de-DE" sz="1050" dirty="0">
                <a:solidFill>
                  <a:schemeClr val="dk1"/>
                </a:solidFill>
                <a:latin typeface="Jost SemiBold" pitchFamily="2" charset="0"/>
                <a:ea typeface="Jost SemiBold" pitchFamily="2" charset="0"/>
                <a:cs typeface="IBM Plex Sans JP"/>
                <a:sym typeface="IBM Plex Sans JP"/>
              </a:rPr>
              <a:t>FlexChroma</a:t>
            </a:r>
          </a:p>
          <a:p>
            <a:pPr lvl="0"/>
            <a:r>
              <a:rPr lang="de-DE" sz="1050" dirty="0">
                <a:solidFill>
                  <a:schemeClr val="dk1"/>
                </a:solidFill>
                <a:latin typeface="Jost" pitchFamily="2" charset="0"/>
                <a:ea typeface="Jost" pitchFamily="2" charset="0"/>
                <a:cs typeface="IBM Plex Sans JP"/>
                <a:sym typeface="IBM Plex Sans JP"/>
              </a:rPr>
              <a:t> Ihre kreativen Möglichkeiten erweitert.</a:t>
            </a:r>
          </a:p>
          <a:p>
            <a:pPr lvl="0"/>
            <a:endParaRPr sz="1050" dirty="0">
              <a:solidFill>
                <a:schemeClr val="dk1"/>
              </a:solidFill>
              <a:latin typeface="Jost" pitchFamily="2" charset="0"/>
              <a:ea typeface="Jost" pitchFamily="2" charset="0"/>
              <a:cs typeface="IBM Plex Sans JP"/>
              <a:sym typeface="IBM Plex Sans JP"/>
            </a:endParaRPr>
          </a:p>
          <a:p>
            <a:pPr lvl="0"/>
            <a:r>
              <a:rPr lang="de-DE" dirty="0">
                <a:solidFill>
                  <a:schemeClr val="dk1"/>
                </a:solidFill>
                <a:latin typeface="Jost SemiBold" pitchFamily="2" charset="0"/>
                <a:ea typeface="Jost SemiBold" pitchFamily="2" charset="0"/>
                <a:cs typeface="IBM Plex Sans JP"/>
                <a:sym typeface="IBM Plex Sans JP"/>
              </a:rPr>
              <a:t>Drucken Sie die Farben Ihrer Fantasie.</a:t>
            </a:r>
            <a:endParaRPr sz="1800" dirty="0">
              <a:latin typeface="Jost SemiBold" pitchFamily="2" charset="0"/>
              <a:ea typeface="Jost SemiBold" pitchFamily="2" charset="0"/>
            </a:endParaRPr>
          </a:p>
        </p:txBody>
      </p:sp>
      <p:sp>
        <p:nvSpPr>
          <p:cNvPr id="3" name="Google Shape;220;p18">
            <a:extLst>
              <a:ext uri="{FF2B5EF4-FFF2-40B4-BE49-F238E27FC236}">
                <a16:creationId xmlns:a16="http://schemas.microsoft.com/office/drawing/2014/main" id="{21ED297B-9BE3-DA2F-3998-17D8C5E00380}"/>
              </a:ext>
            </a:extLst>
          </p:cNvPr>
          <p:cNvSpPr txBox="1"/>
          <p:nvPr/>
        </p:nvSpPr>
        <p:spPr>
          <a:xfrm>
            <a:off x="672873" y="679168"/>
            <a:ext cx="5649600" cy="992539"/>
          </a:xfrm>
          <a:prstGeom prst="rect">
            <a:avLst/>
          </a:prstGeom>
          <a:noFill/>
          <a:ln>
            <a:noFill/>
          </a:ln>
        </p:spPr>
        <p:txBody>
          <a:bodyPr spcFirstLastPara="1" wrap="square" lIns="91425" tIns="45700" rIns="91425" bIns="45700" anchor="t" anchorCtr="0">
            <a:spAutoFit/>
          </a:bodyPr>
          <a:lstStyle/>
          <a:p>
            <a:pPr lvl="0"/>
            <a:r>
              <a:rPr lang="de-DE" sz="1200" b="1" dirty="0">
                <a:solidFill>
                  <a:schemeClr val="dk1"/>
                </a:solidFill>
                <a:latin typeface="Jost SemiBold" pitchFamily="2" charset="0"/>
                <a:ea typeface="Jost SemiBold" pitchFamily="2" charset="0"/>
                <a:cs typeface="IBM Plex Sans JP"/>
                <a:sym typeface="IBM Plex Sans JP"/>
              </a:rPr>
              <a:t>Vor Druck #2 (Finaler Druck</a:t>
            </a:r>
            <a:r>
              <a:rPr lang="en-US" sz="1200" b="1" dirty="0">
                <a:solidFill>
                  <a:schemeClr val="dk1"/>
                </a:solidFill>
                <a:latin typeface="Jost SemiBold" pitchFamily="2" charset="0"/>
                <a:ea typeface="Jost SemiBold" pitchFamily="2" charset="0"/>
                <a:cs typeface="IBM Plex Sans JP"/>
                <a:sym typeface="IBM Plex Sans JP"/>
              </a:rPr>
              <a:t>)</a:t>
            </a:r>
          </a:p>
          <a:p>
            <a:pPr lvl="0"/>
            <a:endParaRPr sz="600" b="1" dirty="0">
              <a:solidFill>
                <a:schemeClr val="dk1"/>
              </a:solidFill>
              <a:latin typeface="Jost" pitchFamily="2" charset="0"/>
              <a:ea typeface="Jost" pitchFamily="2" charset="0"/>
              <a:cs typeface="IBM Plex Sans JP"/>
              <a:sym typeface="IBM Plex Sans JP"/>
            </a:endParaRPr>
          </a:p>
          <a:p>
            <a:pPr lvl="0"/>
            <a:r>
              <a:rPr lang="en-US" sz="1050" dirty="0">
                <a:solidFill>
                  <a:schemeClr val="dk1"/>
                </a:solidFill>
                <a:latin typeface="Jost" pitchFamily="2" charset="0"/>
                <a:ea typeface="Jost" pitchFamily="2" charset="0"/>
                <a:cs typeface="IBM Plex Sans JP"/>
                <a:sym typeface="IBM Plex Sans JP"/>
              </a:rPr>
              <a:t>・</a:t>
            </a:r>
            <a:r>
              <a:rPr lang="en-US" sz="1050" dirty="0">
                <a:solidFill>
                  <a:schemeClr val="dk1"/>
                </a:solidFill>
                <a:latin typeface="Jost Medium" pitchFamily="2" charset="0"/>
                <a:ea typeface="Jost Medium" pitchFamily="2" charset="0"/>
                <a:cs typeface="IBM Plex Sans JP"/>
                <a:sym typeface="IBM Plex Sans JP"/>
              </a:rPr>
              <a:t>Brim/Rand </a:t>
            </a:r>
            <a:r>
              <a:rPr lang="en-US" sz="1050" dirty="0" err="1">
                <a:solidFill>
                  <a:schemeClr val="dk1"/>
                </a:solidFill>
                <a:latin typeface="Jost Medium" pitchFamily="2" charset="0"/>
                <a:ea typeface="Jost Medium" pitchFamily="2" charset="0"/>
                <a:cs typeface="IBM Plex Sans JP"/>
                <a:sym typeface="IBM Plex Sans JP"/>
              </a:rPr>
              <a:t>entfernen</a:t>
            </a:r>
            <a:endParaRPr lang="en-US" sz="1050" dirty="0">
              <a:solidFill>
                <a:schemeClr val="dk1"/>
              </a:solidFill>
              <a:latin typeface="Jost Medium" pitchFamily="2" charset="0"/>
              <a:ea typeface="Jost Medium" pitchFamily="2" charset="0"/>
              <a:cs typeface="IBM Plex Sans JP"/>
              <a:sym typeface="IBM Plex Sans JP"/>
            </a:endParaRPr>
          </a:p>
          <a:p>
            <a:pPr lvl="0"/>
            <a:r>
              <a:rPr lang="de-DE" sz="1000" dirty="0">
                <a:solidFill>
                  <a:schemeClr val="dk1"/>
                </a:solidFill>
                <a:latin typeface="Jost" pitchFamily="2" charset="0"/>
                <a:ea typeface="Jost" pitchFamily="2" charset="0"/>
                <a:cs typeface="IBM Plex Sans JP"/>
                <a:sym typeface="IBM Plex Sans JP"/>
              </a:rPr>
              <a:t>Entfernen Sie den Brim erst unmittelbar vor dem Drucken. Wenn Sie nicht sofort drucken, lassen Sie den Brim am Modell fixiert. Die eingravierten Markierungen ermöglichen es Ihnen, die Größe und das Mischungsverhältnis zu überprüfen.</a:t>
            </a:r>
            <a:endParaRPr lang="en-US" sz="1000" dirty="0">
              <a:solidFill>
                <a:schemeClr val="dk1"/>
              </a:solidFill>
              <a:latin typeface="Jost" pitchFamily="2" charset="0"/>
              <a:ea typeface="Jost" pitchFamily="2" charset="0"/>
              <a:cs typeface="IBM Plex Sans JP"/>
              <a:sym typeface="IBM Plex Sans JP"/>
            </a:endParaRPr>
          </a:p>
        </p:txBody>
      </p:sp>
      <p:sp>
        <p:nvSpPr>
          <p:cNvPr id="5" name="Google Shape;221;p18">
            <a:extLst>
              <a:ext uri="{FF2B5EF4-FFF2-40B4-BE49-F238E27FC236}">
                <a16:creationId xmlns:a16="http://schemas.microsoft.com/office/drawing/2014/main" id="{312E082F-0B54-3F2C-3BFE-210FCB45C552}"/>
              </a:ext>
            </a:extLst>
          </p:cNvPr>
          <p:cNvSpPr/>
          <p:nvPr/>
        </p:nvSpPr>
        <p:spPr>
          <a:xfrm>
            <a:off x="612050" y="736041"/>
            <a:ext cx="124500" cy="12608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 name="テキスト ボックス 34">
            <a:extLst>
              <a:ext uri="{FF2B5EF4-FFF2-40B4-BE49-F238E27FC236}">
                <a16:creationId xmlns:a16="http://schemas.microsoft.com/office/drawing/2014/main" id="{5D348F0F-76D8-CD1A-BC48-6F66C13087B7}"/>
              </a:ext>
            </a:extLst>
          </p:cNvPr>
          <p:cNvSpPr txBox="1"/>
          <p:nvPr/>
        </p:nvSpPr>
        <p:spPr>
          <a:xfrm>
            <a:off x="684043" y="5787938"/>
            <a:ext cx="5558051"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900"/>
            </a:lvl1pPr>
          </a:lstStyle>
          <a:p>
            <a:r>
              <a:rPr lang="en-US" dirty="0" err="1">
                <a:latin typeface="Jost" pitchFamily="2" charset="0"/>
                <a:ea typeface="Jost" pitchFamily="2" charset="0"/>
              </a:rPr>
              <a:t>Nennung</a:t>
            </a:r>
            <a:r>
              <a:rPr lang="en-US" dirty="0">
                <a:latin typeface="Jost" pitchFamily="2" charset="0"/>
                <a:ea typeface="Jost" pitchFamily="2" charset="0"/>
              </a:rPr>
              <a:t> : </a:t>
            </a:r>
          </a:p>
          <a:p>
            <a:r>
              <a:rPr lang="en-US" dirty="0">
                <a:latin typeface="Jost" pitchFamily="2" charset="0"/>
                <a:ea typeface="Jost" pitchFamily="2" charset="0"/>
              </a:rPr>
              <a:t> Deutsche </a:t>
            </a:r>
            <a:r>
              <a:rPr lang="en-US" dirty="0" err="1">
                <a:latin typeface="Jost" pitchFamily="2" charset="0"/>
                <a:ea typeface="Jost" pitchFamily="2" charset="0"/>
              </a:rPr>
              <a:t>Übersetzung</a:t>
            </a:r>
            <a:r>
              <a:rPr lang="en-US" dirty="0">
                <a:latin typeface="Jost" pitchFamily="2" charset="0"/>
                <a:ea typeface="Jost" pitchFamily="2" charset="0"/>
              </a:rPr>
              <a:t> –Domenik</a:t>
            </a:r>
            <a:endParaRPr dirty="0">
              <a:latin typeface="Jost" pitchFamily="2" charset="0"/>
              <a:ea typeface="Jost" pitchFamily="2" charset="0"/>
            </a:endParaRPr>
          </a:p>
        </p:txBody>
      </p:sp>
    </p:spTree>
  </p:cSld>
  <p:clrMapOvr>
    <a:masterClrMapping/>
  </p:clrMapOvr>
</p:sld>
</file>

<file path=ppt/theme/theme1.xml><?xml version="1.0" encoding="utf-8"?>
<a:theme xmlns:a="http://schemas.openxmlformats.org/drawingml/2006/main" name="Office テーマ">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204</TotalTime>
  <Words>1686</Words>
  <Application>Microsoft Office PowerPoint</Application>
  <PresentationFormat>画面に合わせる (4:3)</PresentationFormat>
  <Paragraphs>127</Paragraphs>
  <Slides>7</Slides>
  <Notes>7</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7</vt:i4>
      </vt:variant>
    </vt:vector>
  </HeadingPairs>
  <TitlesOfParts>
    <vt:vector size="14" baseType="lpstr">
      <vt:lpstr>Jost</vt:lpstr>
      <vt:lpstr>Jost SemiBold</vt:lpstr>
      <vt:lpstr>Play</vt:lpstr>
      <vt:lpstr>Jost Medium</vt:lpstr>
      <vt:lpstr>Arial</vt:lpstr>
      <vt:lpstr>IBM Plex Sans JP</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MAKOTO YAZAKI (矢﨑 誠)</cp:lastModifiedBy>
  <cp:revision>11</cp:revision>
  <cp:lastPrinted>2026-09-16T06:25:49Z</cp:lastPrinted>
  <dcterms:modified xsi:type="dcterms:W3CDTF">2026-09-23T04:42:43Z</dcterms:modified>
</cp:coreProperties>
</file>