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5" r:id="rId6"/>
    <p:sldId id="266" r:id="rId7"/>
    <p:sldId id="267" r:id="rId8"/>
    <p:sldId id="268" r:id="rId9"/>
    <p:sldId id="269" r:id="rId10"/>
    <p:sldId id="270" r:id="rId11"/>
    <p:sldId id="271" r:id="rId12"/>
  </p:sldIdLst>
  <p:sldSz cx="6858000" cy="9144000" type="screen4x3"/>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5E5"/>
    <a:srgbClr val="6200E8"/>
    <a:srgbClr val="EE00B0"/>
    <a:srgbClr val="0086D6"/>
    <a:srgbClr val="FF00FF"/>
    <a:srgbClr val="AE00F4"/>
    <a:srgbClr val="5800E1"/>
    <a:srgbClr val="EC00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178" autoAdjust="0"/>
    <p:restoredTop sz="94660"/>
  </p:normalViewPr>
  <p:slideViewPr>
    <p:cSldViewPr snapToGrid="0">
      <p:cViewPr>
        <p:scale>
          <a:sx n="125" d="100"/>
          <a:sy n="125" d="100"/>
        </p:scale>
        <p:origin x="1230" y="-25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normAutofit/>
          </a:bodyPr>
          <a:lstStyle>
            <a:lvl1pPr algn="ctr">
              <a:defRPr sz="2800"/>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857250" y="4802717"/>
            <a:ext cx="5143500" cy="2207683"/>
          </a:xfrm>
        </p:spPr>
        <p:txBody>
          <a:bodyPr>
            <a:normAutofit/>
          </a:bodyPr>
          <a:lstStyle>
            <a:lvl1pPr marL="0" indent="0" algn="ctr">
              <a:buNone/>
              <a:defRPr sz="105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マスター サブタイトルの書式設定</a:t>
            </a:r>
            <a:endParaRPr lang="en-US" dirty="0"/>
          </a:p>
        </p:txBody>
      </p:sp>
      <p:sp>
        <p:nvSpPr>
          <p:cNvPr id="4" name="Date Placeholder 3"/>
          <p:cNvSpPr>
            <a:spLocks noGrp="1"/>
          </p:cNvSpPr>
          <p:nvPr>
            <p:ph type="dt" sz="half" idx="10"/>
          </p:nvPr>
        </p:nvSpPr>
        <p:spPr/>
        <p:txBody>
          <a:bodyPr/>
          <a:lstStyle/>
          <a:p>
            <a:fld id="{71132294-360C-4425-B294-91EF6E97A591}" type="datetimeFigureOut">
              <a:rPr kumimoji="1" lang="ja-JP" altLang="en-US" smtClean="0"/>
              <a:t>2026/7/24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3241936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800"/>
            </a:lvl1pPr>
          </a:lstStyle>
          <a:p>
            <a:r>
              <a:rPr lang="ja-JP" altLang="en-US" dirty="0"/>
              <a:t>マスター タイトルの書式設定</a:t>
            </a:r>
            <a:endParaRPr lang="en-US" dirty="0"/>
          </a:p>
        </p:txBody>
      </p:sp>
      <p:sp>
        <p:nvSpPr>
          <p:cNvPr id="3" name="Content Placeholder 2"/>
          <p:cNvSpPr>
            <a:spLocks noGrp="1"/>
          </p:cNvSpPr>
          <p:nvPr>
            <p:ph idx="1"/>
          </p:nvPr>
        </p:nvSpPr>
        <p:spPr/>
        <p:txBody>
          <a:bodyPr/>
          <a:lstStyle>
            <a:lvl1pPr>
              <a:defRPr sz="2000"/>
            </a:lvl1pPr>
            <a:lvl2pPr>
              <a:defRPr sz="1600"/>
            </a:lvl2pPr>
            <a:lvl3pPr>
              <a:defRPr sz="1300"/>
            </a:lvl3pPr>
            <a:lvl4pPr>
              <a:defRPr sz="1200"/>
            </a:lvl4pPr>
            <a:lvl5pPr>
              <a:defRPr sz="1100"/>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71132294-360C-4425-B294-91EF6E97A591}" type="datetimeFigureOut">
              <a:rPr kumimoji="1" lang="ja-JP" altLang="en-US" smtClean="0"/>
              <a:t>2026/7/24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1125556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71132294-360C-4425-B294-91EF6E97A591}" type="datetimeFigureOut">
              <a:rPr kumimoji="1" lang="ja-JP" altLang="en-US" smtClean="0"/>
              <a:t>2026/7/24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2448264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71132294-360C-4425-B294-91EF6E97A591}" type="datetimeFigureOut">
              <a:rPr kumimoji="1" lang="ja-JP" altLang="en-US" smtClean="0"/>
              <a:t>2026/7/24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1075338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4" name="Content Placeholder 3"/>
          <p:cNvSpPr>
            <a:spLocks noGrp="1"/>
          </p:cNvSpPr>
          <p:nvPr>
            <p:ph sz="half" idx="2"/>
          </p:nvPr>
        </p:nvSpPr>
        <p:spPr>
          <a:xfrm>
            <a:off x="472381" y="3340100"/>
            <a:ext cx="2901255" cy="491278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6" name="Content Placeholder 5"/>
          <p:cNvSpPr>
            <a:spLocks noGrp="1"/>
          </p:cNvSpPr>
          <p:nvPr>
            <p:ph sz="quarter" idx="4"/>
          </p:nvPr>
        </p:nvSpPr>
        <p:spPr>
          <a:xfrm>
            <a:off x="3471863" y="3340100"/>
            <a:ext cx="2915543" cy="491278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71132294-360C-4425-B294-91EF6E97A591}" type="datetimeFigureOut">
              <a:rPr kumimoji="1" lang="ja-JP" altLang="en-US" smtClean="0"/>
              <a:t>2026/7/24</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458540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71132294-360C-4425-B294-91EF6E97A591}" type="datetimeFigureOut">
              <a:rPr kumimoji="1" lang="ja-JP" altLang="en-US" smtClean="0"/>
              <a:t>2026/7/24</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437606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132294-360C-4425-B294-91EF6E97A591}" type="datetimeFigureOut">
              <a:rPr kumimoji="1" lang="ja-JP" altLang="en-US" smtClean="0"/>
              <a:t>2026/7/24</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1048455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ja-JP" altLang="en-US"/>
              <a:t>マスター タイトルの書式設定</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71132294-360C-4425-B294-91EF6E97A591}" type="datetimeFigureOut">
              <a:rPr kumimoji="1" lang="ja-JP" altLang="en-US" smtClean="0"/>
              <a:t>2026/7/24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4001763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71132294-360C-4425-B294-91EF6E97A591}" type="datetimeFigureOut">
              <a:rPr kumimoji="1" lang="ja-JP" altLang="en-US" smtClean="0"/>
              <a:t>2026/7/24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86067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1132294-360C-4425-B294-91EF6E97A591}" type="datetimeFigureOut">
              <a:rPr kumimoji="1" lang="ja-JP" altLang="en-US" smtClean="0"/>
              <a:t>2026/7/24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2870933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1132294-360C-4425-B294-91EF6E97A591}" type="datetimeFigureOut">
              <a:rPr kumimoji="1" lang="ja-JP" altLang="en-US" smtClean="0"/>
              <a:t>2026/7/24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1107239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82000"/>
                  </a:schemeClr>
                </a:solidFill>
              </a:defRPr>
            </a:lvl1pPr>
          </a:lstStyle>
          <a:p>
            <a:fld id="{71132294-360C-4425-B294-91EF6E97A591}" type="datetimeFigureOut">
              <a:rPr kumimoji="1" lang="ja-JP" altLang="en-US" smtClean="0"/>
              <a:t>2026/7/24</a:t>
            </a:fld>
            <a:endParaRPr kumimoji="1" lang="ja-JP" alt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82000"/>
                  </a:schemeClr>
                </a:solidFill>
              </a:defRPr>
            </a:lvl1p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19441948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1.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1.xml"/><Relationship Id="rId4" Type="http://schemas.openxmlformats.org/officeDocument/2006/relationships/image" Target="../media/image7.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1.xml"/><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1.xml"/><Relationship Id="rId4" Type="http://schemas.openxmlformats.org/officeDocument/2006/relationships/image" Target="../media/image7.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5AA41A86-A2F3-1D06-7116-45400082F3B6}"/>
              </a:ext>
            </a:extLst>
          </p:cNvPr>
          <p:cNvSpPr/>
          <p:nvPr/>
        </p:nvSpPr>
        <p:spPr>
          <a:xfrm>
            <a:off x="33951" y="45268"/>
            <a:ext cx="6790099" cy="9053465"/>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97CD271A-34A9-3E4B-032F-15C70AF19889}"/>
              </a:ext>
            </a:extLst>
          </p:cNvPr>
          <p:cNvSpPr/>
          <p:nvPr/>
        </p:nvSpPr>
        <p:spPr>
          <a:xfrm>
            <a:off x="16975" y="0"/>
            <a:ext cx="6858000" cy="9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73915448-3941-BA60-2C94-241A97D6CAC9}"/>
              </a:ext>
            </a:extLst>
          </p:cNvPr>
          <p:cNvGrpSpPr/>
          <p:nvPr/>
        </p:nvGrpSpPr>
        <p:grpSpPr>
          <a:xfrm>
            <a:off x="0" y="0"/>
            <a:ext cx="6865269" cy="9144001"/>
            <a:chOff x="0" y="0"/>
            <a:chExt cx="6865269" cy="9144001"/>
          </a:xfrm>
        </p:grpSpPr>
        <p:sp>
          <p:nvSpPr>
            <p:cNvPr id="6" name="正方形/長方形 5">
              <a:extLst>
                <a:ext uri="{FF2B5EF4-FFF2-40B4-BE49-F238E27FC236}">
                  <a16:creationId xmlns:a16="http://schemas.microsoft.com/office/drawing/2014/main" id="{552EEC23-A78A-14A0-56DD-8CB91A02DD2F}"/>
                </a:ext>
              </a:extLst>
            </p:cNvPr>
            <p:cNvSpPr/>
            <p:nvPr/>
          </p:nvSpPr>
          <p:spPr>
            <a:xfrm>
              <a:off x="0" y="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733F6922-5537-D3C9-1E45-625FD880C031}"/>
                </a:ext>
              </a:extLst>
            </p:cNvPr>
            <p:cNvSpPr/>
            <p:nvPr/>
          </p:nvSpPr>
          <p:spPr>
            <a:xfrm>
              <a:off x="0" y="871200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F3EA9AD3-66B2-9EA5-5711-3C6A318F5512}"/>
                </a:ext>
              </a:extLst>
            </p:cNvPr>
            <p:cNvSpPr/>
            <p:nvPr/>
          </p:nvSpPr>
          <p:spPr>
            <a:xfrm>
              <a:off x="0" y="1"/>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正方形/長方形 8">
              <a:extLst>
                <a:ext uri="{FF2B5EF4-FFF2-40B4-BE49-F238E27FC236}">
                  <a16:creationId xmlns:a16="http://schemas.microsoft.com/office/drawing/2014/main" id="{705123BF-B9A2-835D-6FE4-689D9F62F382}"/>
                </a:ext>
              </a:extLst>
            </p:cNvPr>
            <p:cNvSpPr/>
            <p:nvPr/>
          </p:nvSpPr>
          <p:spPr>
            <a:xfrm>
              <a:off x="6325269" y="0"/>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3" name="正方形/長方形 12">
            <a:extLst>
              <a:ext uri="{FF2B5EF4-FFF2-40B4-BE49-F238E27FC236}">
                <a16:creationId xmlns:a16="http://schemas.microsoft.com/office/drawing/2014/main" id="{D340CDC6-D787-7B25-2307-F3BA1042D402}"/>
              </a:ext>
            </a:extLst>
          </p:cNvPr>
          <p:cNvSpPr/>
          <p:nvPr/>
        </p:nvSpPr>
        <p:spPr>
          <a:xfrm>
            <a:off x="539999" y="431999"/>
            <a:ext cx="5785269"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FF25BF82-13EE-2D0B-D376-F101E332C733}"/>
              </a:ext>
            </a:extLst>
          </p:cNvPr>
          <p:cNvSpPr/>
          <p:nvPr/>
        </p:nvSpPr>
        <p:spPr>
          <a:xfrm>
            <a:off x="554538"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F8BCCC25-0C62-4E5D-0486-3F637C4A1C59}"/>
              </a:ext>
            </a:extLst>
          </p:cNvPr>
          <p:cNvSpPr/>
          <p:nvPr/>
        </p:nvSpPr>
        <p:spPr>
          <a:xfrm>
            <a:off x="3734844"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5CFE29C1-D44C-58E2-5EDB-51A8D3EC840E}"/>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1</a:t>
            </a:r>
            <a:endParaRPr kumimoji="1" lang="ja-JP" altLang="en-US" dirty="0"/>
          </a:p>
        </p:txBody>
      </p:sp>
    </p:spTree>
    <p:extLst>
      <p:ext uri="{BB962C8B-B14F-4D97-AF65-F5344CB8AC3E}">
        <p14:creationId xmlns:p14="http://schemas.microsoft.com/office/powerpoint/2010/main" val="2457412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540A8-5932-22C2-7D48-A0EA57C305DB}"/>
            </a:ext>
          </a:extLst>
        </p:cNvPr>
        <p:cNvGrpSpPr/>
        <p:nvPr/>
      </p:nvGrpSpPr>
      <p:grpSpPr>
        <a:xfrm>
          <a:off x="0" y="0"/>
          <a:ext cx="0" cy="0"/>
          <a:chOff x="0" y="0"/>
          <a:chExt cx="0" cy="0"/>
        </a:xfrm>
      </p:grpSpPr>
      <p:sp>
        <p:nvSpPr>
          <p:cNvPr id="32" name="正方形/長方形 31">
            <a:extLst>
              <a:ext uri="{FF2B5EF4-FFF2-40B4-BE49-F238E27FC236}">
                <a16:creationId xmlns:a16="http://schemas.microsoft.com/office/drawing/2014/main" id="{CD9029B2-D1D6-26F4-0BA3-DE439C520D10}"/>
              </a:ext>
            </a:extLst>
          </p:cNvPr>
          <p:cNvSpPr/>
          <p:nvPr/>
        </p:nvSpPr>
        <p:spPr>
          <a:xfrm>
            <a:off x="33951" y="45268"/>
            <a:ext cx="6790099" cy="9053465"/>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7B3C0006-8C0E-711B-ECD8-45CF7F1D1609}"/>
              </a:ext>
            </a:extLst>
          </p:cNvPr>
          <p:cNvSpPr/>
          <p:nvPr/>
        </p:nvSpPr>
        <p:spPr>
          <a:xfrm>
            <a:off x="7269" y="0"/>
            <a:ext cx="6858000" cy="9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9C59FD50-8143-8A52-2646-26C8BDBFFDD3}"/>
              </a:ext>
            </a:extLst>
          </p:cNvPr>
          <p:cNvGrpSpPr/>
          <p:nvPr/>
        </p:nvGrpSpPr>
        <p:grpSpPr>
          <a:xfrm>
            <a:off x="0" y="0"/>
            <a:ext cx="6865269" cy="9144001"/>
            <a:chOff x="0" y="0"/>
            <a:chExt cx="6865269" cy="9144001"/>
          </a:xfrm>
        </p:grpSpPr>
        <p:sp>
          <p:nvSpPr>
            <p:cNvPr id="6" name="正方形/長方形 5">
              <a:extLst>
                <a:ext uri="{FF2B5EF4-FFF2-40B4-BE49-F238E27FC236}">
                  <a16:creationId xmlns:a16="http://schemas.microsoft.com/office/drawing/2014/main" id="{46770B46-C072-DF34-BD8D-2065F41808D5}"/>
                </a:ext>
              </a:extLst>
            </p:cNvPr>
            <p:cNvSpPr/>
            <p:nvPr/>
          </p:nvSpPr>
          <p:spPr>
            <a:xfrm>
              <a:off x="0" y="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C3E27AFA-EFCD-0428-55DA-15697DE6456A}"/>
                </a:ext>
              </a:extLst>
            </p:cNvPr>
            <p:cNvSpPr/>
            <p:nvPr/>
          </p:nvSpPr>
          <p:spPr>
            <a:xfrm>
              <a:off x="0" y="871200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C16363EA-88CD-F1FE-3650-7B24149569AE}"/>
                </a:ext>
              </a:extLst>
            </p:cNvPr>
            <p:cNvSpPr/>
            <p:nvPr/>
          </p:nvSpPr>
          <p:spPr>
            <a:xfrm>
              <a:off x="0" y="1"/>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正方形/長方形 8">
              <a:extLst>
                <a:ext uri="{FF2B5EF4-FFF2-40B4-BE49-F238E27FC236}">
                  <a16:creationId xmlns:a16="http://schemas.microsoft.com/office/drawing/2014/main" id="{6E68F704-A898-98C2-EE85-8B817126B2F6}"/>
                </a:ext>
              </a:extLst>
            </p:cNvPr>
            <p:cNvSpPr/>
            <p:nvPr/>
          </p:nvSpPr>
          <p:spPr>
            <a:xfrm>
              <a:off x="6325269" y="0"/>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正方形/長方形 14">
            <a:extLst>
              <a:ext uri="{FF2B5EF4-FFF2-40B4-BE49-F238E27FC236}">
                <a16:creationId xmlns:a16="http://schemas.microsoft.com/office/drawing/2014/main" id="{2F960D99-6370-5724-453C-20AA9AC92D12}"/>
              </a:ext>
            </a:extLst>
          </p:cNvPr>
          <p:cNvSpPr/>
          <p:nvPr/>
        </p:nvSpPr>
        <p:spPr>
          <a:xfrm>
            <a:off x="554538"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708601A0-5532-E890-C737-AF5B225E91D8}"/>
              </a:ext>
            </a:extLst>
          </p:cNvPr>
          <p:cNvSpPr/>
          <p:nvPr/>
        </p:nvSpPr>
        <p:spPr>
          <a:xfrm>
            <a:off x="3734844"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2CCFBEBF-78FF-8FF9-3487-B087FB4F1A56}"/>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1</a:t>
            </a:r>
            <a:endParaRPr kumimoji="1" lang="ja-JP" altLang="en-US" dirty="0"/>
          </a:p>
        </p:txBody>
      </p:sp>
      <p:sp>
        <p:nvSpPr>
          <p:cNvPr id="2" name="テキスト ボックス 1">
            <a:extLst>
              <a:ext uri="{FF2B5EF4-FFF2-40B4-BE49-F238E27FC236}">
                <a16:creationId xmlns:a16="http://schemas.microsoft.com/office/drawing/2014/main" id="{AB06514E-2962-A9E0-36A8-FFA8ABD714B3}"/>
              </a:ext>
            </a:extLst>
          </p:cNvPr>
          <p:cNvSpPr txBox="1"/>
          <p:nvPr/>
        </p:nvSpPr>
        <p:spPr>
          <a:xfrm>
            <a:off x="694934" y="909134"/>
            <a:ext cx="5535746" cy="492443"/>
          </a:xfrm>
          <a:prstGeom prst="rect">
            <a:avLst/>
          </a:prstGeom>
          <a:noFill/>
        </p:spPr>
        <p:txBody>
          <a:bodyPr wrap="none" rtlCol="0">
            <a:spAutoFit/>
          </a:bodyPr>
          <a:lstStyle/>
          <a:p>
            <a:r>
              <a:rPr lang="en-US" altLang="ja-JP" sz="2600" b="1" dirty="0">
                <a:latin typeface="Segoe UI Semibold" panose="020B0702040204020203" pitchFamily="34" charset="0"/>
                <a:ea typeface="IBM Plex Sans JP" panose="020B0503050203000203" pitchFamily="50" charset="-128"/>
                <a:cs typeface="Segoe UI Semibold" panose="020B0702040204020203" pitchFamily="34" charset="0"/>
              </a:rPr>
              <a:t>FlexChroma™ </a:t>
            </a:r>
            <a:r>
              <a:rPr lang="en-US" altLang="ja-JP" sz="2600" b="1" dirty="0">
                <a:latin typeface="Segoe UI Semibold" panose="020B0702040204020203" pitchFamily="34" charset="0"/>
                <a:ea typeface="+mj-ea"/>
                <a:cs typeface="Segoe UI Semibold" panose="020B0702040204020203" pitchFamily="34" charset="0"/>
              </a:rPr>
              <a:t>Blend Filament</a:t>
            </a:r>
            <a:r>
              <a:rPr lang="ja-JP" altLang="en-US" sz="2600" b="1" dirty="0">
                <a:latin typeface="+mj-ea"/>
                <a:ea typeface="+mj-ea"/>
              </a:rPr>
              <a:t>ガイド</a:t>
            </a:r>
            <a:endParaRPr lang="ja-JP" altLang="ja-JP" sz="2600" dirty="0">
              <a:latin typeface="+mj-ea"/>
              <a:ea typeface="+mj-ea"/>
            </a:endParaRPr>
          </a:p>
        </p:txBody>
      </p:sp>
      <p:sp>
        <p:nvSpPr>
          <p:cNvPr id="14" name="楕円 13">
            <a:extLst>
              <a:ext uri="{FF2B5EF4-FFF2-40B4-BE49-F238E27FC236}">
                <a16:creationId xmlns:a16="http://schemas.microsoft.com/office/drawing/2014/main" id="{86E89BA8-E7B2-7AB3-7267-37838D435E76}"/>
              </a:ext>
            </a:extLst>
          </p:cNvPr>
          <p:cNvSpPr/>
          <p:nvPr/>
        </p:nvSpPr>
        <p:spPr>
          <a:xfrm>
            <a:off x="566175" y="3069491"/>
            <a:ext cx="204669" cy="2046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CB797E49-CA37-4B2A-5187-03EC3007B3C7}"/>
              </a:ext>
            </a:extLst>
          </p:cNvPr>
          <p:cNvSpPr txBox="1"/>
          <p:nvPr/>
        </p:nvSpPr>
        <p:spPr>
          <a:xfrm>
            <a:off x="770844" y="3001606"/>
            <a:ext cx="1516762"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1. </a:t>
            </a:r>
            <a:r>
              <a:rPr lang="ja-JP" altLang="en-US" sz="2000" dirty="0">
                <a:latin typeface="IBM Plex Sans JP SemiBold" panose="020B0703050203000203" pitchFamily="50" charset="-128"/>
                <a:ea typeface="IBM Plex Sans JP SemiBold" panose="020B0703050203000203" pitchFamily="50" charset="-128"/>
              </a:rPr>
              <a:t>はじめに</a:t>
            </a:r>
            <a:endParaRPr kumimoji="1" lang="ja-JP" altLang="en-US" sz="2000" b="1" dirty="0">
              <a:latin typeface="IBM Plex Sans JP SemiBold" panose="020B0703050203000203" pitchFamily="50" charset="-128"/>
              <a:ea typeface="IBM Plex Sans JP SemiBold" panose="020B0703050203000203" pitchFamily="50" charset="-128"/>
            </a:endParaRPr>
          </a:p>
        </p:txBody>
      </p:sp>
      <p:sp>
        <p:nvSpPr>
          <p:cNvPr id="19" name="テキスト ボックス 18">
            <a:extLst>
              <a:ext uri="{FF2B5EF4-FFF2-40B4-BE49-F238E27FC236}">
                <a16:creationId xmlns:a16="http://schemas.microsoft.com/office/drawing/2014/main" id="{0E5F4AF3-4FAB-E906-2281-AF56CB9A9F5F}"/>
              </a:ext>
            </a:extLst>
          </p:cNvPr>
          <p:cNvSpPr txBox="1"/>
          <p:nvPr/>
        </p:nvSpPr>
        <p:spPr>
          <a:xfrm>
            <a:off x="668508" y="3340375"/>
            <a:ext cx="5649491" cy="900246"/>
          </a:xfrm>
          <a:prstGeom prst="rect">
            <a:avLst/>
          </a:prstGeom>
          <a:noFill/>
        </p:spPr>
        <p:txBody>
          <a:bodyPr wrap="square" rtlCol="0">
            <a:spAutoFit/>
          </a:bodyPr>
          <a:lstStyle/>
          <a:p>
            <a:r>
              <a:rPr lang="en-US" altLang="ja-JP" sz="1050" dirty="0">
                <a:latin typeface="Segoe UI Semibold" panose="020B0702040204020203" pitchFamily="34" charset="0"/>
                <a:cs typeface="Segoe UI Semibold" panose="020B0702040204020203" pitchFamily="34" charset="0"/>
              </a:rPr>
              <a:t>FlexChroma™ Blend Filament </a:t>
            </a:r>
            <a:r>
              <a:rPr lang="ja-JP" altLang="ja-JP" sz="1050" dirty="0"/>
              <a:t>は、市販の</a:t>
            </a:r>
            <a:r>
              <a:rPr lang="en-US" altLang="ja-JP" sz="1050" dirty="0"/>
              <a:t>2</a:t>
            </a:r>
            <a:r>
              <a:rPr lang="ja-JP" altLang="ja-JP" sz="1050" dirty="0"/>
              <a:t>色のフィラメントを組み合わせて中間色を作り出すための、フィラメント生成モデルです。</a:t>
            </a:r>
          </a:p>
          <a:p>
            <a:r>
              <a:rPr lang="ja-JP" altLang="ja-JP" sz="1050" dirty="0"/>
              <a:t>このモデルを使う事で元のフィラメントの</a:t>
            </a:r>
            <a:r>
              <a:rPr lang="en-US" altLang="ja-JP" sz="1050" dirty="0"/>
              <a:t>2</a:t>
            </a:r>
            <a:r>
              <a:rPr lang="ja-JP" altLang="ja-JP" sz="1050" dirty="0"/>
              <a:t>色を加え</a:t>
            </a:r>
            <a:r>
              <a:rPr lang="en-US" altLang="ja-JP" sz="1050" dirty="0"/>
              <a:t>35</a:t>
            </a:r>
            <a:r>
              <a:rPr lang="ja-JP" altLang="ja-JP" sz="1050" dirty="0"/>
              <a:t>色のフィラメントを使うことが出来るようになります。</a:t>
            </a:r>
          </a:p>
          <a:p>
            <a:endParaRPr lang="ja-JP" altLang="ja-JP" sz="1050" dirty="0"/>
          </a:p>
        </p:txBody>
      </p:sp>
      <p:sp>
        <p:nvSpPr>
          <p:cNvPr id="20" name="楕円 19">
            <a:extLst>
              <a:ext uri="{FF2B5EF4-FFF2-40B4-BE49-F238E27FC236}">
                <a16:creationId xmlns:a16="http://schemas.microsoft.com/office/drawing/2014/main" id="{64F690EF-7932-B480-4E0E-878C474B7FC9}"/>
              </a:ext>
            </a:extLst>
          </p:cNvPr>
          <p:cNvSpPr/>
          <p:nvPr/>
        </p:nvSpPr>
        <p:spPr>
          <a:xfrm>
            <a:off x="591624" y="4353587"/>
            <a:ext cx="153771" cy="153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FDE03A10-2964-5391-2223-CBCA00D23411}"/>
              </a:ext>
            </a:extLst>
          </p:cNvPr>
          <p:cNvSpPr txBox="1"/>
          <p:nvPr/>
        </p:nvSpPr>
        <p:spPr>
          <a:xfrm>
            <a:off x="770844" y="4301817"/>
            <a:ext cx="1561646" cy="292388"/>
          </a:xfrm>
          <a:prstGeom prst="rect">
            <a:avLst/>
          </a:prstGeom>
          <a:noFill/>
        </p:spPr>
        <p:txBody>
          <a:bodyPr wrap="none" rtlCol="0">
            <a:spAutoFit/>
          </a:bodyPr>
          <a:lstStyle/>
          <a:p>
            <a:r>
              <a:rPr lang="en-US" altLang="ja-JP" sz="1300" dirty="0">
                <a:latin typeface="IBM Plex Sans JP SemiBold" panose="020B0703050203000203" pitchFamily="50" charset="-128"/>
                <a:ea typeface="IBM Plex Sans JP SemiBold" panose="020B0703050203000203" pitchFamily="50" charset="-128"/>
              </a:rPr>
              <a:t>1-1. </a:t>
            </a:r>
            <a:r>
              <a:rPr lang="ja-JP" altLang="en-US" sz="1300" dirty="0">
                <a:latin typeface="IBM Plex Sans JP SemiBold" panose="020B0703050203000203" pitchFamily="50" charset="-128"/>
                <a:ea typeface="IBM Plex Sans JP SemiBold" panose="020B0703050203000203" pitchFamily="50" charset="-128"/>
              </a:rPr>
              <a:t>ブランド概要</a:t>
            </a:r>
            <a:endParaRPr kumimoji="1" lang="ja-JP" altLang="en-US" sz="1300" b="1" dirty="0">
              <a:latin typeface="IBM Plex Sans JP SemiBold" panose="020B0703050203000203" pitchFamily="50" charset="-128"/>
              <a:ea typeface="IBM Plex Sans JP SemiBold" panose="020B0703050203000203" pitchFamily="50" charset="-128"/>
            </a:endParaRPr>
          </a:p>
        </p:txBody>
      </p:sp>
      <p:sp>
        <p:nvSpPr>
          <p:cNvPr id="22" name="テキスト ボックス 21">
            <a:extLst>
              <a:ext uri="{FF2B5EF4-FFF2-40B4-BE49-F238E27FC236}">
                <a16:creationId xmlns:a16="http://schemas.microsoft.com/office/drawing/2014/main" id="{B96C8996-A004-2B6F-419A-B5C7EEF88FAF}"/>
              </a:ext>
            </a:extLst>
          </p:cNvPr>
          <p:cNvSpPr txBox="1"/>
          <p:nvPr/>
        </p:nvSpPr>
        <p:spPr>
          <a:xfrm>
            <a:off x="661239" y="4594179"/>
            <a:ext cx="5649492" cy="577081"/>
          </a:xfrm>
          <a:prstGeom prst="rect">
            <a:avLst/>
          </a:prstGeom>
          <a:noFill/>
        </p:spPr>
        <p:txBody>
          <a:bodyPr wrap="square" rtlCol="0">
            <a:spAutoFit/>
          </a:bodyPr>
          <a:lstStyle/>
          <a:p>
            <a:r>
              <a:rPr lang="en-US" altLang="ja-JP" sz="1050" dirty="0">
                <a:latin typeface="Segoe UI Semibold" panose="020B0702040204020203" pitchFamily="34" charset="0"/>
                <a:cs typeface="Segoe UI Semibold" panose="020B0702040204020203" pitchFamily="34" charset="0"/>
              </a:rPr>
              <a:t>FlexChroma</a:t>
            </a:r>
            <a:r>
              <a:rPr lang="ja-JP" altLang="ja-JP" sz="1050" dirty="0"/>
              <a:t>は既存のフィラメントの持つ色では満足できない人だけでなく、保有フィラメントが少ないせいで創造性を十分に発揮できていない人に向けた、色の自由度を開放するブランドです。</a:t>
            </a:r>
          </a:p>
        </p:txBody>
      </p:sp>
      <p:grpSp>
        <p:nvGrpSpPr>
          <p:cNvPr id="23" name="グループ化 22">
            <a:extLst>
              <a:ext uri="{FF2B5EF4-FFF2-40B4-BE49-F238E27FC236}">
                <a16:creationId xmlns:a16="http://schemas.microsoft.com/office/drawing/2014/main" id="{8F15D30C-9810-6554-3F9D-C666664BC62E}"/>
              </a:ext>
            </a:extLst>
          </p:cNvPr>
          <p:cNvGrpSpPr/>
          <p:nvPr/>
        </p:nvGrpSpPr>
        <p:grpSpPr>
          <a:xfrm>
            <a:off x="750110" y="431920"/>
            <a:ext cx="5365047" cy="377792"/>
            <a:chOff x="1042026" y="430737"/>
            <a:chExt cx="4781214" cy="377792"/>
          </a:xfrm>
        </p:grpSpPr>
        <p:sp>
          <p:nvSpPr>
            <p:cNvPr id="3" name="四角形: 上の 2 つの角を丸める 2">
              <a:extLst>
                <a:ext uri="{FF2B5EF4-FFF2-40B4-BE49-F238E27FC236}">
                  <a16:creationId xmlns:a16="http://schemas.microsoft.com/office/drawing/2014/main" id="{3A18D7FF-2AB7-9784-CFCF-AD9569D61BBD}"/>
                </a:ext>
              </a:extLst>
            </p:cNvPr>
            <p:cNvSpPr/>
            <p:nvPr/>
          </p:nvSpPr>
          <p:spPr>
            <a:xfrm>
              <a:off x="1042026" y="430737"/>
              <a:ext cx="4781214" cy="377792"/>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上の 2 つの角を丸める 3">
              <a:extLst>
                <a:ext uri="{FF2B5EF4-FFF2-40B4-BE49-F238E27FC236}">
                  <a16:creationId xmlns:a16="http://schemas.microsoft.com/office/drawing/2014/main" id="{A7264CEB-0E02-D992-7F98-46154D03A20F}"/>
                </a:ext>
              </a:extLst>
            </p:cNvPr>
            <p:cNvSpPr/>
            <p:nvPr/>
          </p:nvSpPr>
          <p:spPr>
            <a:xfrm>
              <a:off x="1042026" y="697920"/>
              <a:ext cx="4781214" cy="110609"/>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4" name="グループ化 23">
            <a:extLst>
              <a:ext uri="{FF2B5EF4-FFF2-40B4-BE49-F238E27FC236}">
                <a16:creationId xmlns:a16="http://schemas.microsoft.com/office/drawing/2014/main" id="{1E64D689-16FA-4459-27D6-5C841CAA4722}"/>
              </a:ext>
            </a:extLst>
          </p:cNvPr>
          <p:cNvGrpSpPr/>
          <p:nvPr/>
        </p:nvGrpSpPr>
        <p:grpSpPr>
          <a:xfrm rot="10800000">
            <a:off x="750108" y="2224673"/>
            <a:ext cx="5365048" cy="377792"/>
            <a:chOff x="1042026" y="430737"/>
            <a:chExt cx="4781214" cy="377792"/>
          </a:xfrm>
        </p:grpSpPr>
        <p:sp>
          <p:nvSpPr>
            <p:cNvPr id="28" name="四角形: 上の 2 つの角を丸める 27">
              <a:extLst>
                <a:ext uri="{FF2B5EF4-FFF2-40B4-BE49-F238E27FC236}">
                  <a16:creationId xmlns:a16="http://schemas.microsoft.com/office/drawing/2014/main" id="{F8DF8492-C361-427B-2DE1-AE4499E917C5}"/>
                </a:ext>
              </a:extLst>
            </p:cNvPr>
            <p:cNvSpPr/>
            <p:nvPr/>
          </p:nvSpPr>
          <p:spPr>
            <a:xfrm>
              <a:off x="1042026" y="430737"/>
              <a:ext cx="4781214" cy="377792"/>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四角形: 上の 2 つの角を丸める 29">
              <a:extLst>
                <a:ext uri="{FF2B5EF4-FFF2-40B4-BE49-F238E27FC236}">
                  <a16:creationId xmlns:a16="http://schemas.microsoft.com/office/drawing/2014/main" id="{B525C316-F63D-33F0-D18C-D441893CBA9D}"/>
                </a:ext>
              </a:extLst>
            </p:cNvPr>
            <p:cNvSpPr/>
            <p:nvPr/>
          </p:nvSpPr>
          <p:spPr>
            <a:xfrm>
              <a:off x="1042026" y="697920"/>
              <a:ext cx="4781214" cy="110609"/>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1" name="テキスト ボックス 30">
            <a:extLst>
              <a:ext uri="{FF2B5EF4-FFF2-40B4-BE49-F238E27FC236}">
                <a16:creationId xmlns:a16="http://schemas.microsoft.com/office/drawing/2014/main" id="{15D7F160-5868-F96D-EF8B-282D37A34400}"/>
              </a:ext>
            </a:extLst>
          </p:cNvPr>
          <p:cNvSpPr txBox="1"/>
          <p:nvPr/>
        </p:nvSpPr>
        <p:spPr>
          <a:xfrm>
            <a:off x="1685572" y="1424613"/>
            <a:ext cx="3486852" cy="338554"/>
          </a:xfrm>
          <a:prstGeom prst="rect">
            <a:avLst/>
          </a:prstGeom>
          <a:noFill/>
        </p:spPr>
        <p:txBody>
          <a:bodyPr wrap="none" rtlCol="0">
            <a:spAutoFit/>
          </a:bodyPr>
          <a:lstStyle/>
          <a:p>
            <a:r>
              <a:rPr lang="en-US" altLang="ja-JP" sz="1600" dirty="0">
                <a:latin typeface="IBM Plex Sans JP" panose="020B0503050203000203" pitchFamily="50" charset="-128"/>
                <a:ea typeface="IBM Plex Sans JP" panose="020B0503050203000203" pitchFamily="50" charset="-128"/>
              </a:rPr>
              <a:t>- </a:t>
            </a:r>
            <a:r>
              <a:rPr lang="ja-JP" altLang="en-US" sz="1600" dirty="0">
                <a:latin typeface="IBM Plex Sans JP" panose="020B0503050203000203" pitchFamily="50" charset="-128"/>
                <a:ea typeface="IBM Plex Sans JP" panose="020B0503050203000203" pitchFamily="50" charset="-128"/>
              </a:rPr>
              <a:t>好みの色のフィラメントを作ろう</a:t>
            </a:r>
            <a:r>
              <a:rPr lang="en-US" altLang="ja-JP" sz="1600" dirty="0">
                <a:latin typeface="IBM Plex Sans JP" panose="020B0503050203000203" pitchFamily="50" charset="-128"/>
                <a:ea typeface="IBM Plex Sans JP" panose="020B0503050203000203" pitchFamily="50" charset="-128"/>
              </a:rPr>
              <a:t>-</a:t>
            </a:r>
            <a:endParaRPr kumimoji="1" lang="ja-JP" altLang="en-US" sz="1600" dirty="0">
              <a:latin typeface="IBM Plex Sans JP" panose="020B0503050203000203" pitchFamily="50" charset="-128"/>
              <a:ea typeface="IBM Plex Sans JP" panose="020B0503050203000203" pitchFamily="50" charset="-128"/>
            </a:endParaRPr>
          </a:p>
        </p:txBody>
      </p:sp>
      <p:sp>
        <p:nvSpPr>
          <p:cNvPr id="34" name="テキスト ボックス 33">
            <a:extLst>
              <a:ext uri="{FF2B5EF4-FFF2-40B4-BE49-F238E27FC236}">
                <a16:creationId xmlns:a16="http://schemas.microsoft.com/office/drawing/2014/main" id="{CCF6AA1D-A904-DA76-F915-872BDAEB9106}"/>
              </a:ext>
            </a:extLst>
          </p:cNvPr>
          <p:cNvSpPr txBox="1"/>
          <p:nvPr/>
        </p:nvSpPr>
        <p:spPr>
          <a:xfrm>
            <a:off x="2381276" y="1883364"/>
            <a:ext cx="1970411" cy="307777"/>
          </a:xfrm>
          <a:prstGeom prst="rect">
            <a:avLst/>
          </a:prstGeom>
          <a:noFill/>
        </p:spPr>
        <p:txBody>
          <a:bodyPr wrap="none" rtlCol="0">
            <a:spAutoFit/>
          </a:bodyPr>
          <a:lstStyle/>
          <a:p>
            <a:r>
              <a:rPr lang="en-US" altLang="ja-JP" sz="1400" dirty="0">
                <a:latin typeface="IBM Plex Sans JP" panose="020B0503050203000203" pitchFamily="50" charset="-128"/>
                <a:ea typeface="IBM Plex Sans JP" panose="020B0503050203000203" pitchFamily="50" charset="-128"/>
              </a:rPr>
              <a:t>Ver.2.10  2026.7.24</a:t>
            </a:r>
            <a:endParaRPr kumimoji="1" lang="ja-JP" altLang="en-US" sz="1400" dirty="0">
              <a:latin typeface="IBM Plex Sans JP" panose="020B0503050203000203" pitchFamily="50" charset="-128"/>
              <a:ea typeface="IBM Plex Sans JP" panose="020B0503050203000203" pitchFamily="50" charset="-128"/>
            </a:endParaRPr>
          </a:p>
        </p:txBody>
      </p:sp>
      <p:sp>
        <p:nvSpPr>
          <p:cNvPr id="12" name="楕円 11">
            <a:extLst>
              <a:ext uri="{FF2B5EF4-FFF2-40B4-BE49-F238E27FC236}">
                <a16:creationId xmlns:a16="http://schemas.microsoft.com/office/drawing/2014/main" id="{DC7AD387-195B-3AEE-4170-3AAAAA4FCDE1}"/>
              </a:ext>
            </a:extLst>
          </p:cNvPr>
          <p:cNvSpPr/>
          <p:nvPr/>
        </p:nvSpPr>
        <p:spPr>
          <a:xfrm>
            <a:off x="591768" y="7676931"/>
            <a:ext cx="153771" cy="153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6F37168B-6F6B-F3E5-D6D9-41C2E265E305}"/>
              </a:ext>
            </a:extLst>
          </p:cNvPr>
          <p:cNvSpPr txBox="1"/>
          <p:nvPr/>
        </p:nvSpPr>
        <p:spPr>
          <a:xfrm>
            <a:off x="668507" y="7628930"/>
            <a:ext cx="5649492" cy="884858"/>
          </a:xfrm>
          <a:prstGeom prst="rect">
            <a:avLst/>
          </a:prstGeom>
          <a:noFill/>
        </p:spPr>
        <p:txBody>
          <a:bodyPr wrap="square" rtlCol="0">
            <a:spAutoFit/>
          </a:bodyPr>
          <a:lstStyle/>
          <a:p>
            <a:r>
              <a:rPr lang="en-US" altLang="ja-JP" sz="1400" b="1" dirty="0"/>
              <a:t> </a:t>
            </a:r>
            <a:r>
              <a:rPr lang="ja-JP" altLang="ja-JP" sz="1400" b="1" dirty="0"/>
              <a:t>文字の意味</a:t>
            </a:r>
            <a:endParaRPr lang="en-US" altLang="ja-JP" sz="1400" b="1" dirty="0"/>
          </a:p>
          <a:p>
            <a:endParaRPr lang="ja-JP" altLang="ja-JP" sz="600" dirty="0"/>
          </a:p>
          <a:p>
            <a:r>
              <a:rPr lang="ja-JP" altLang="ja-JP" sz="1050" dirty="0"/>
              <a:t>内側のブリムにはどのシリーズの、どのサイズのフィラメントなのか？を記載します。</a:t>
            </a:r>
          </a:p>
          <a:p>
            <a:r>
              <a:rPr lang="ja-JP" altLang="ja-JP" sz="1050" dirty="0"/>
              <a:t>外側のブリムには各シリーズごとに選択した仕様を記載します。</a:t>
            </a:r>
            <a:endParaRPr lang="ja-JP" altLang="ja-JP" sz="1050" dirty="0">
              <a:latin typeface="IBM Plex Sans JP" panose="020B0503050203000203" pitchFamily="50" charset="-128"/>
              <a:ea typeface="IBM Plex Sans JP" panose="020B0503050203000203" pitchFamily="50" charset="-128"/>
            </a:endParaRPr>
          </a:p>
          <a:p>
            <a:endParaRPr lang="ja-JP" altLang="ja-JP" sz="1050" dirty="0">
              <a:latin typeface="IBM Plex Sans JP" panose="020B0503050203000203" pitchFamily="50" charset="-128"/>
              <a:ea typeface="IBM Plex Sans JP" panose="020B0503050203000203" pitchFamily="50" charset="-128"/>
            </a:endParaRPr>
          </a:p>
        </p:txBody>
      </p:sp>
      <p:sp>
        <p:nvSpPr>
          <p:cNvPr id="13" name="楕円 12">
            <a:extLst>
              <a:ext uri="{FF2B5EF4-FFF2-40B4-BE49-F238E27FC236}">
                <a16:creationId xmlns:a16="http://schemas.microsoft.com/office/drawing/2014/main" id="{6389974F-6083-891E-4150-F8723A55B363}"/>
              </a:ext>
            </a:extLst>
          </p:cNvPr>
          <p:cNvSpPr/>
          <p:nvPr/>
        </p:nvSpPr>
        <p:spPr>
          <a:xfrm>
            <a:off x="591624" y="5252838"/>
            <a:ext cx="153771" cy="153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B1F692E1-4C81-05DA-256B-E2314ACF5B69}"/>
              </a:ext>
            </a:extLst>
          </p:cNvPr>
          <p:cNvSpPr txBox="1"/>
          <p:nvPr/>
        </p:nvSpPr>
        <p:spPr>
          <a:xfrm>
            <a:off x="770844" y="5201068"/>
            <a:ext cx="1561646" cy="292388"/>
          </a:xfrm>
          <a:prstGeom prst="rect">
            <a:avLst/>
          </a:prstGeom>
          <a:noFill/>
        </p:spPr>
        <p:txBody>
          <a:bodyPr wrap="none" rtlCol="0">
            <a:spAutoFit/>
          </a:bodyPr>
          <a:lstStyle/>
          <a:p>
            <a:r>
              <a:rPr lang="en-US" altLang="ja-JP" sz="1300" dirty="0">
                <a:latin typeface="IBM Plex Sans JP SemiBold" panose="020B0703050203000203" pitchFamily="50" charset="-128"/>
                <a:ea typeface="IBM Plex Sans JP SemiBold" panose="020B0703050203000203" pitchFamily="50" charset="-128"/>
              </a:rPr>
              <a:t>1-2. </a:t>
            </a:r>
            <a:r>
              <a:rPr lang="ja-JP" altLang="en-US" sz="1300" dirty="0">
                <a:latin typeface="IBM Plex Sans JP SemiBold" panose="020B0703050203000203" pitchFamily="50" charset="-128"/>
                <a:ea typeface="IBM Plex Sans JP SemiBold" panose="020B0703050203000203" pitchFamily="50" charset="-128"/>
              </a:rPr>
              <a:t>シリーズ概要</a:t>
            </a:r>
            <a:endParaRPr kumimoji="1" lang="ja-JP" altLang="en-US" sz="1300" b="1" dirty="0">
              <a:latin typeface="IBM Plex Sans JP SemiBold" panose="020B0703050203000203" pitchFamily="50" charset="-128"/>
              <a:ea typeface="IBM Plex Sans JP SemiBold" panose="020B0703050203000203" pitchFamily="50" charset="-128"/>
            </a:endParaRPr>
          </a:p>
        </p:txBody>
      </p:sp>
      <p:sp>
        <p:nvSpPr>
          <p:cNvPr id="26" name="テキスト ボックス 25">
            <a:extLst>
              <a:ext uri="{FF2B5EF4-FFF2-40B4-BE49-F238E27FC236}">
                <a16:creationId xmlns:a16="http://schemas.microsoft.com/office/drawing/2014/main" id="{213C708E-688B-E22D-3AE8-A5E269C11B82}"/>
              </a:ext>
            </a:extLst>
          </p:cNvPr>
          <p:cNvSpPr txBox="1"/>
          <p:nvPr/>
        </p:nvSpPr>
        <p:spPr>
          <a:xfrm>
            <a:off x="661239" y="5510841"/>
            <a:ext cx="5649492" cy="738664"/>
          </a:xfrm>
          <a:prstGeom prst="rect">
            <a:avLst/>
          </a:prstGeom>
          <a:noFill/>
        </p:spPr>
        <p:txBody>
          <a:bodyPr wrap="square" rtlCol="0">
            <a:spAutoFit/>
          </a:bodyPr>
          <a:lstStyle/>
          <a:p>
            <a:r>
              <a:rPr lang="en-US" altLang="ja-JP" sz="1050" dirty="0"/>
              <a:t>Blend Filament</a:t>
            </a:r>
            <a:r>
              <a:rPr lang="ja-JP" altLang="ja-JP" sz="1050" dirty="0"/>
              <a:t>シリーズは</a:t>
            </a:r>
            <a:r>
              <a:rPr lang="en-US" altLang="ja-JP" sz="1050" dirty="0"/>
              <a:t>FlexChroma</a:t>
            </a:r>
            <a:r>
              <a:rPr lang="ja-JP" altLang="ja-JP" sz="1050" dirty="0"/>
              <a:t>の最も基礎的なシリーズです。</a:t>
            </a:r>
            <a:r>
              <a:rPr lang="en-US" altLang="ja-JP" sz="1050" dirty="0"/>
              <a:t>2</a:t>
            </a:r>
            <a:r>
              <a:rPr lang="ja-JP" altLang="ja-JP" sz="1050" dirty="0"/>
              <a:t>つのフィラメントを様々な混合比で混ぜ合わせ、あなただけの新しい色を作ることが出来ます。</a:t>
            </a:r>
          </a:p>
          <a:p>
            <a:r>
              <a:rPr lang="ja-JP" altLang="ja-JP" sz="1050" dirty="0"/>
              <a:t>また、更なるこだわりや明暗差の大きい色の混合のために</a:t>
            </a:r>
            <a:r>
              <a:rPr lang="en-US" altLang="ja-JP" sz="1050" dirty="0"/>
              <a:t>Detail</a:t>
            </a:r>
            <a:r>
              <a:rPr lang="ja-JP" altLang="ja-JP" sz="1050" dirty="0"/>
              <a:t>モデルも用意してしており、</a:t>
            </a:r>
            <a:r>
              <a:rPr lang="en-US" altLang="ja-JP" sz="1050" dirty="0"/>
              <a:t>Standard</a:t>
            </a:r>
            <a:r>
              <a:rPr lang="ja-JP" altLang="ja-JP" sz="1050" dirty="0"/>
              <a:t>モデルでは扱いきれない細かい調整を行えます。</a:t>
            </a:r>
          </a:p>
        </p:txBody>
      </p:sp>
    </p:spTree>
    <p:extLst>
      <p:ext uri="{BB962C8B-B14F-4D97-AF65-F5344CB8AC3E}">
        <p14:creationId xmlns:p14="http://schemas.microsoft.com/office/powerpoint/2010/main" val="3355273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0173C-59A2-2037-D73D-0E215B3139A4}"/>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10A76A69-7EBA-24AD-3805-2A372CFEEAE8}"/>
              </a:ext>
            </a:extLst>
          </p:cNvPr>
          <p:cNvSpPr/>
          <p:nvPr/>
        </p:nvSpPr>
        <p:spPr>
          <a:xfrm>
            <a:off x="33951" y="45268"/>
            <a:ext cx="6790099" cy="9053465"/>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5B787233-FA7E-25C9-AFC8-77DD3B8699E6}"/>
              </a:ext>
            </a:extLst>
          </p:cNvPr>
          <p:cNvSpPr/>
          <p:nvPr/>
        </p:nvSpPr>
        <p:spPr>
          <a:xfrm>
            <a:off x="14539" y="0"/>
            <a:ext cx="6858000" cy="9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5EE023F3-4FCC-103D-2599-E4E8CA7BF60A}"/>
              </a:ext>
            </a:extLst>
          </p:cNvPr>
          <p:cNvGrpSpPr/>
          <p:nvPr/>
        </p:nvGrpSpPr>
        <p:grpSpPr>
          <a:xfrm>
            <a:off x="0" y="0"/>
            <a:ext cx="6865269" cy="9144001"/>
            <a:chOff x="0" y="0"/>
            <a:chExt cx="6865269" cy="9144001"/>
          </a:xfrm>
        </p:grpSpPr>
        <p:sp>
          <p:nvSpPr>
            <p:cNvPr id="6" name="正方形/長方形 5">
              <a:extLst>
                <a:ext uri="{FF2B5EF4-FFF2-40B4-BE49-F238E27FC236}">
                  <a16:creationId xmlns:a16="http://schemas.microsoft.com/office/drawing/2014/main" id="{824B2131-6CC4-0BFA-B748-D810A3423268}"/>
                </a:ext>
              </a:extLst>
            </p:cNvPr>
            <p:cNvSpPr/>
            <p:nvPr/>
          </p:nvSpPr>
          <p:spPr>
            <a:xfrm>
              <a:off x="0" y="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A4011FAB-63C2-178C-29DE-33DA96F47618}"/>
                </a:ext>
              </a:extLst>
            </p:cNvPr>
            <p:cNvSpPr/>
            <p:nvPr/>
          </p:nvSpPr>
          <p:spPr>
            <a:xfrm>
              <a:off x="0" y="871200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42F3C5EA-2AFD-33E4-549C-0F84BFE77136}"/>
                </a:ext>
              </a:extLst>
            </p:cNvPr>
            <p:cNvSpPr/>
            <p:nvPr/>
          </p:nvSpPr>
          <p:spPr>
            <a:xfrm>
              <a:off x="0" y="1"/>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正方形/長方形 8">
              <a:extLst>
                <a:ext uri="{FF2B5EF4-FFF2-40B4-BE49-F238E27FC236}">
                  <a16:creationId xmlns:a16="http://schemas.microsoft.com/office/drawing/2014/main" id="{F3FA60BD-81FF-4E70-C88D-182A05D73C49}"/>
                </a:ext>
              </a:extLst>
            </p:cNvPr>
            <p:cNvSpPr/>
            <p:nvPr/>
          </p:nvSpPr>
          <p:spPr>
            <a:xfrm>
              <a:off x="6325269" y="0"/>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3" name="正方形/長方形 12">
            <a:extLst>
              <a:ext uri="{FF2B5EF4-FFF2-40B4-BE49-F238E27FC236}">
                <a16:creationId xmlns:a16="http://schemas.microsoft.com/office/drawing/2014/main" id="{0F94DBC3-EEDB-BBD1-A314-ABB30EC10D4A}"/>
              </a:ext>
            </a:extLst>
          </p:cNvPr>
          <p:cNvSpPr/>
          <p:nvPr/>
        </p:nvSpPr>
        <p:spPr>
          <a:xfrm>
            <a:off x="554537" y="423893"/>
            <a:ext cx="5756193"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F47E6663-8146-0675-09E7-BA77AF348350}"/>
              </a:ext>
            </a:extLst>
          </p:cNvPr>
          <p:cNvSpPr/>
          <p:nvPr/>
        </p:nvSpPr>
        <p:spPr>
          <a:xfrm>
            <a:off x="554538"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C95B28A9-13D1-5C87-BC7B-361DB6DEDF54}"/>
              </a:ext>
            </a:extLst>
          </p:cNvPr>
          <p:cNvSpPr/>
          <p:nvPr/>
        </p:nvSpPr>
        <p:spPr>
          <a:xfrm>
            <a:off x="3734844"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465E0D04-137D-61B6-CDB3-C9B389BF921F}"/>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2</a:t>
            </a:r>
            <a:endParaRPr kumimoji="1" lang="ja-JP" altLang="en-US" dirty="0"/>
          </a:p>
        </p:txBody>
      </p:sp>
      <p:sp>
        <p:nvSpPr>
          <p:cNvPr id="14" name="楕円 13">
            <a:extLst>
              <a:ext uri="{FF2B5EF4-FFF2-40B4-BE49-F238E27FC236}">
                <a16:creationId xmlns:a16="http://schemas.microsoft.com/office/drawing/2014/main" id="{598BECD0-FE21-7197-76A9-A35DBF75C26D}"/>
              </a:ext>
            </a:extLst>
          </p:cNvPr>
          <p:cNvSpPr/>
          <p:nvPr/>
        </p:nvSpPr>
        <p:spPr>
          <a:xfrm>
            <a:off x="566175" y="2527150"/>
            <a:ext cx="204669" cy="2046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1228AC35-8F16-7C9A-87A7-5D5AF44B4A45}"/>
              </a:ext>
            </a:extLst>
          </p:cNvPr>
          <p:cNvSpPr/>
          <p:nvPr/>
        </p:nvSpPr>
        <p:spPr>
          <a:xfrm>
            <a:off x="566175" y="5989159"/>
            <a:ext cx="204669" cy="2046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BE721B25-AF01-358E-3AF5-DD53E680BEA4}"/>
              </a:ext>
            </a:extLst>
          </p:cNvPr>
          <p:cNvSpPr txBox="1"/>
          <p:nvPr/>
        </p:nvSpPr>
        <p:spPr>
          <a:xfrm>
            <a:off x="770844" y="2461623"/>
            <a:ext cx="3052439" cy="769441"/>
          </a:xfrm>
          <a:prstGeom prst="rect">
            <a:avLst/>
          </a:prstGeom>
          <a:noFill/>
        </p:spPr>
        <p:txBody>
          <a:bodyPr wrap="none" rtlCol="0">
            <a:spAutoFit/>
          </a:bodyPr>
          <a:lstStyle/>
          <a:p>
            <a:r>
              <a:rPr lang="en-US" altLang="ja-JP" sz="2000" dirty="0">
                <a:latin typeface="IBM Plex Sans JP Medium" panose="020B0603050203000203" pitchFamily="50" charset="-128"/>
                <a:ea typeface="IBM Plex Sans JP Medium" panose="020B0603050203000203" pitchFamily="50" charset="-128"/>
              </a:rPr>
              <a:t>3. </a:t>
            </a:r>
            <a:r>
              <a:rPr lang="ja-JP" altLang="en-US" sz="2000" dirty="0">
                <a:latin typeface="IBM Plex Sans JP Medium" panose="020B0603050203000203" pitchFamily="50" charset="-128"/>
                <a:ea typeface="IBM Plex Sans JP Medium" panose="020B0603050203000203" pitchFamily="50" charset="-128"/>
              </a:rPr>
              <a:t>各シリーズごとの情報</a:t>
            </a:r>
            <a:endParaRPr lang="ja-JP" altLang="ja-JP" b="1" dirty="0">
              <a:latin typeface="IBM Plex Sans JP Medium" panose="020B0603050203000203" pitchFamily="50" charset="-128"/>
              <a:ea typeface="IBM Plex Sans JP Medium" panose="020B0603050203000203" pitchFamily="50" charset="-128"/>
            </a:endParaRPr>
          </a:p>
          <a:p>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11" name="テキスト ボックス 10">
            <a:extLst>
              <a:ext uri="{FF2B5EF4-FFF2-40B4-BE49-F238E27FC236}">
                <a16:creationId xmlns:a16="http://schemas.microsoft.com/office/drawing/2014/main" id="{A4E1C011-7C36-5F21-4954-43ED394E75BA}"/>
              </a:ext>
            </a:extLst>
          </p:cNvPr>
          <p:cNvSpPr txBox="1"/>
          <p:nvPr/>
        </p:nvSpPr>
        <p:spPr>
          <a:xfrm>
            <a:off x="668508" y="2838257"/>
            <a:ext cx="5649491" cy="415498"/>
          </a:xfrm>
          <a:prstGeom prst="rect">
            <a:avLst/>
          </a:prstGeom>
          <a:noFill/>
        </p:spPr>
        <p:txBody>
          <a:bodyPr wrap="square" rtlCol="0">
            <a:spAutoFit/>
          </a:bodyPr>
          <a:lstStyle/>
          <a:p>
            <a:r>
              <a:rPr lang="ja-JP" altLang="ja-JP" sz="1050" dirty="0">
                <a:latin typeface="IBM Plex Sans JP" panose="020B0503050203000203" pitchFamily="50" charset="-128"/>
                <a:ea typeface="IBM Plex Sans JP" panose="020B0503050203000203" pitchFamily="50" charset="-128"/>
              </a:rPr>
              <a:t>前項では基本的な情報の考えかたを書きましたが、各</a:t>
            </a:r>
            <a:r>
              <a:rPr lang="en-US" altLang="ja-JP" sz="1050" dirty="0">
                <a:latin typeface="IBM Plex Sans JP" panose="020B0503050203000203" pitchFamily="50" charset="-128"/>
                <a:ea typeface="IBM Plex Sans JP" panose="020B0503050203000203" pitchFamily="50" charset="-128"/>
              </a:rPr>
              <a:t>Text</a:t>
            </a:r>
            <a:r>
              <a:rPr lang="ja-JP" altLang="ja-JP" sz="1050" dirty="0">
                <a:latin typeface="IBM Plex Sans JP" panose="020B0503050203000203" pitchFamily="50" charset="-128"/>
                <a:ea typeface="IBM Plex Sans JP" panose="020B0503050203000203" pitchFamily="50" charset="-128"/>
              </a:rPr>
              <a:t>情報はシリーズによって異なります。このシリーズごとの情報一覧を下記に示します。</a:t>
            </a:r>
          </a:p>
        </p:txBody>
      </p:sp>
      <p:sp>
        <p:nvSpPr>
          <p:cNvPr id="12" name="テキスト ボックス 11">
            <a:extLst>
              <a:ext uri="{FF2B5EF4-FFF2-40B4-BE49-F238E27FC236}">
                <a16:creationId xmlns:a16="http://schemas.microsoft.com/office/drawing/2014/main" id="{C2FB48DC-10F4-2185-6930-78B6977A0BD2}"/>
              </a:ext>
            </a:extLst>
          </p:cNvPr>
          <p:cNvSpPr txBox="1"/>
          <p:nvPr/>
        </p:nvSpPr>
        <p:spPr>
          <a:xfrm>
            <a:off x="770844" y="5937603"/>
            <a:ext cx="2379177"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4. Blend Filament</a:t>
            </a:r>
            <a:endParaRPr kumimoji="1" lang="ja-JP" altLang="en-US" sz="2800" b="1" dirty="0">
              <a:latin typeface="IBM Plex Sans JP SemiBold" panose="020B0703050203000203" pitchFamily="50" charset="-128"/>
              <a:ea typeface="IBM Plex Sans JP SemiBold" panose="020B0703050203000203" pitchFamily="50" charset="-128"/>
            </a:endParaRPr>
          </a:p>
        </p:txBody>
      </p:sp>
      <p:sp>
        <p:nvSpPr>
          <p:cNvPr id="23" name="テキスト ボックス 22">
            <a:extLst>
              <a:ext uri="{FF2B5EF4-FFF2-40B4-BE49-F238E27FC236}">
                <a16:creationId xmlns:a16="http://schemas.microsoft.com/office/drawing/2014/main" id="{83844719-2CDC-AB32-6FBF-9DC0B5690794}"/>
              </a:ext>
            </a:extLst>
          </p:cNvPr>
          <p:cNvSpPr txBox="1"/>
          <p:nvPr/>
        </p:nvSpPr>
        <p:spPr>
          <a:xfrm>
            <a:off x="668509" y="6317254"/>
            <a:ext cx="5642222" cy="1708160"/>
          </a:xfrm>
          <a:prstGeom prst="rect">
            <a:avLst/>
          </a:prstGeom>
          <a:noFill/>
        </p:spPr>
        <p:txBody>
          <a:bodyPr wrap="square" rtlCol="0">
            <a:spAutoFit/>
          </a:bodyPr>
          <a:lstStyle/>
          <a:p>
            <a:r>
              <a:rPr lang="en-US" altLang="ja-JP" sz="1050" dirty="0"/>
              <a:t>Blend Filament</a:t>
            </a:r>
            <a:r>
              <a:rPr lang="ja-JP" altLang="ja-JP" sz="1050" dirty="0"/>
              <a:t>は</a:t>
            </a:r>
            <a:r>
              <a:rPr lang="en-US" altLang="ja-JP" sz="1050" dirty="0"/>
              <a:t>2</a:t>
            </a:r>
            <a:r>
              <a:rPr lang="ja-JP" altLang="ja-JP" sz="1050" dirty="0"/>
              <a:t>つのフィラメントを様々な混合比で混ぜ合わせ、新しい色を作ることが出来るシリーズです。</a:t>
            </a:r>
          </a:p>
          <a:p>
            <a:r>
              <a:rPr lang="ja-JP" altLang="ja-JP" sz="1050" dirty="0"/>
              <a:t>シンプルな構造のため他のシリーズと比べ情報が少なく、外側ブリムの</a:t>
            </a:r>
            <a:r>
              <a:rPr lang="en-US" altLang="ja-JP" sz="1050" dirty="0"/>
              <a:t>Text</a:t>
            </a:r>
            <a:r>
              <a:rPr lang="ja-JP" altLang="ja-JP" sz="1050" dirty="0"/>
              <a:t>は１段のみとなります。</a:t>
            </a:r>
          </a:p>
          <a:p>
            <a:r>
              <a:rPr lang="en-US" altLang="ja-JP" sz="1050" dirty="0"/>
              <a:t> </a:t>
            </a:r>
            <a:endParaRPr lang="ja-JP" altLang="ja-JP" sz="1050" dirty="0"/>
          </a:p>
          <a:p>
            <a:r>
              <a:rPr lang="ja-JP" altLang="ja-JP" sz="1050" b="1" dirty="0"/>
              <a:t>【内側ブリム】</a:t>
            </a:r>
            <a:endParaRPr lang="ja-JP" altLang="ja-JP" sz="1050" dirty="0"/>
          </a:p>
          <a:p>
            <a:r>
              <a:rPr lang="ja-JP" altLang="ja-JP" sz="1050" dirty="0"/>
              <a:t>シリーズ略称「</a:t>
            </a:r>
            <a:r>
              <a:rPr lang="en-US" altLang="ja-JP" sz="1050" dirty="0"/>
              <a:t>BL</a:t>
            </a:r>
            <a:r>
              <a:rPr lang="ja-JP" altLang="ja-JP" sz="1050" dirty="0"/>
              <a:t>」の後に「</a:t>
            </a:r>
            <a:r>
              <a:rPr lang="en-US" altLang="ja-JP" sz="1050" dirty="0"/>
              <a:t>/</a:t>
            </a:r>
            <a:r>
              <a:rPr lang="ja-JP" altLang="ja-JP" sz="1050" dirty="0"/>
              <a:t>」、その後にサイズ名をつなげて記載します。初期のモデルではシリーズ名称と「</a:t>
            </a:r>
            <a:r>
              <a:rPr lang="en-US" altLang="ja-JP" sz="1050" dirty="0"/>
              <a:t>/</a:t>
            </a:r>
            <a:r>
              <a:rPr lang="ja-JP" altLang="ja-JP" sz="1050" dirty="0"/>
              <a:t>」が省略されています。</a:t>
            </a:r>
            <a:endParaRPr lang="en-US" altLang="ja-JP" sz="1050" dirty="0"/>
          </a:p>
          <a:p>
            <a:endParaRPr lang="ja-JP" altLang="ja-JP" sz="1050" dirty="0"/>
          </a:p>
          <a:p>
            <a:r>
              <a:rPr lang="ja-JP" altLang="ja-JP" sz="1050" dirty="0"/>
              <a:t>例：</a:t>
            </a:r>
            <a:r>
              <a:rPr lang="ja-JP" altLang="en-US" sz="1050" dirty="0"/>
              <a:t>    </a:t>
            </a:r>
            <a:r>
              <a:rPr lang="en-US" altLang="ja-JP" sz="1050" dirty="0"/>
              <a:t>BL/M4</a:t>
            </a:r>
            <a:r>
              <a:rPr lang="ja-JP" altLang="ja-JP" sz="1050" dirty="0"/>
              <a:t>　</a:t>
            </a:r>
            <a:r>
              <a:rPr lang="en-US" altLang="ja-JP" sz="1050" dirty="0"/>
              <a:t> (Blend Filament M4 model</a:t>
            </a:r>
            <a:r>
              <a:rPr lang="ja-JP" altLang="ja-JP" sz="1050" dirty="0"/>
              <a:t>を示す</a:t>
            </a:r>
            <a:r>
              <a:rPr lang="en-US" altLang="ja-JP" sz="1050" dirty="0"/>
              <a:t>)</a:t>
            </a:r>
            <a:endParaRPr lang="ja-JP" altLang="ja-JP" sz="1050" dirty="0"/>
          </a:p>
        </p:txBody>
      </p:sp>
      <p:sp>
        <p:nvSpPr>
          <p:cNvPr id="4" name="テキスト ボックス 3">
            <a:extLst>
              <a:ext uri="{FF2B5EF4-FFF2-40B4-BE49-F238E27FC236}">
                <a16:creationId xmlns:a16="http://schemas.microsoft.com/office/drawing/2014/main" id="{F8EF00DE-7394-584D-9FEA-22CAB1D32E20}"/>
              </a:ext>
            </a:extLst>
          </p:cNvPr>
          <p:cNvSpPr txBox="1"/>
          <p:nvPr/>
        </p:nvSpPr>
        <p:spPr>
          <a:xfrm>
            <a:off x="675777" y="724558"/>
            <a:ext cx="5649492" cy="1515800"/>
          </a:xfrm>
          <a:prstGeom prst="rect">
            <a:avLst/>
          </a:prstGeom>
          <a:noFill/>
        </p:spPr>
        <p:txBody>
          <a:bodyPr wrap="square" rtlCol="0">
            <a:spAutoFit/>
          </a:bodyPr>
          <a:lstStyle/>
          <a:p>
            <a:r>
              <a:rPr lang="en-US" altLang="ja-JP" sz="1300" dirty="0">
                <a:latin typeface="IBM Plex Sans JP Medium" panose="020B0603050203000203" pitchFamily="50" charset="-128"/>
                <a:ea typeface="IBM Plex Sans JP Medium" panose="020B0603050203000203" pitchFamily="50" charset="-128"/>
              </a:rPr>
              <a:t> </a:t>
            </a:r>
            <a:r>
              <a:rPr lang="ja-JP" altLang="ja-JP" sz="1300" b="1" dirty="0"/>
              <a:t>色の意味</a:t>
            </a:r>
            <a:endParaRPr lang="ja-JP" altLang="ja-JP" sz="1300" dirty="0"/>
          </a:p>
          <a:p>
            <a:br>
              <a:rPr lang="en-US" altLang="ja-JP" sz="600" dirty="0"/>
            </a:br>
            <a:r>
              <a:rPr lang="ja-JP" altLang="ja-JP" sz="1050" dirty="0"/>
              <a:t>外側のブリムの色はベースカラーを示します。</a:t>
            </a:r>
          </a:p>
          <a:p>
            <a:r>
              <a:rPr lang="ja-JP" altLang="ja-JP" sz="1050" dirty="0"/>
              <a:t>内側のブリムの色は特段の意味を持ちません。</a:t>
            </a:r>
            <a:br>
              <a:rPr lang="en-US" altLang="ja-JP" sz="1050" dirty="0"/>
            </a:br>
            <a:r>
              <a:rPr lang="ja-JP" altLang="ja-JP" sz="1050" dirty="0"/>
              <a:t>外側のブリムの上段に記載する文字は２番目の色を示します。</a:t>
            </a:r>
          </a:p>
          <a:p>
            <a:r>
              <a:rPr lang="ja-JP" altLang="ja-JP" sz="1050" dirty="0"/>
              <a:t>下段に記載する文字の色は存在する場合は３番目の色をを示し、そうでない場合は２番目の色を示します。</a:t>
            </a:r>
          </a:p>
          <a:p>
            <a:r>
              <a:rPr lang="ja-JP" altLang="ja-JP" sz="1050" dirty="0"/>
              <a:t>内側のブリムに記載する文字の色は存在する場合は４番目の色をを示し、そうでない場合は２番目の色を示します。</a:t>
            </a:r>
          </a:p>
        </p:txBody>
      </p:sp>
      <p:sp>
        <p:nvSpPr>
          <p:cNvPr id="18" name="楕円 17">
            <a:extLst>
              <a:ext uri="{FF2B5EF4-FFF2-40B4-BE49-F238E27FC236}">
                <a16:creationId xmlns:a16="http://schemas.microsoft.com/office/drawing/2014/main" id="{8A5206C3-D090-B866-2D1B-476D535F0B22}"/>
              </a:ext>
            </a:extLst>
          </p:cNvPr>
          <p:cNvSpPr/>
          <p:nvPr/>
        </p:nvSpPr>
        <p:spPr>
          <a:xfrm>
            <a:off x="591768" y="758160"/>
            <a:ext cx="153771" cy="153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9" name="図 18">
            <a:extLst>
              <a:ext uri="{FF2B5EF4-FFF2-40B4-BE49-F238E27FC236}">
                <a16:creationId xmlns:a16="http://schemas.microsoft.com/office/drawing/2014/main" id="{98190741-6416-98A0-5F7E-FDFF83069F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897" y="3322374"/>
            <a:ext cx="5649492" cy="2178222"/>
          </a:xfrm>
          <a:prstGeom prst="rect">
            <a:avLst/>
          </a:prstGeom>
          <a:noFill/>
          <a:extLst>
            <a:ext uri="{909E8E84-426E-40DD-AFC4-6F175D3DCCD1}">
              <a14:hiddenFill xmlns:a14="http://schemas.microsoft.com/office/drawing/2010/main">
                <a:solidFill>
                  <a:srgbClr val="FFFFFF"/>
                </a:solidFill>
              </a14:hiddenFill>
            </a:ext>
          </a:extLst>
        </p:spPr>
      </p:pic>
      <p:sp>
        <p:nvSpPr>
          <p:cNvPr id="30" name="四角形: 角を丸くする 29">
            <a:extLst>
              <a:ext uri="{FF2B5EF4-FFF2-40B4-BE49-F238E27FC236}">
                <a16:creationId xmlns:a16="http://schemas.microsoft.com/office/drawing/2014/main" id="{2AD8FF02-996C-B50C-878E-A8A026ECC40A}"/>
              </a:ext>
            </a:extLst>
          </p:cNvPr>
          <p:cNvSpPr/>
          <p:nvPr/>
        </p:nvSpPr>
        <p:spPr>
          <a:xfrm>
            <a:off x="1043874" y="7734048"/>
            <a:ext cx="629752" cy="262791"/>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78978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23065-C738-1975-C61A-347A71E91131}"/>
            </a:ext>
          </a:extLst>
        </p:cNvPr>
        <p:cNvGrpSpPr/>
        <p:nvPr/>
      </p:nvGrpSpPr>
      <p:grpSpPr>
        <a:xfrm>
          <a:off x="0" y="0"/>
          <a:ext cx="0" cy="0"/>
          <a:chOff x="0" y="0"/>
          <a:chExt cx="0" cy="0"/>
        </a:xfrm>
      </p:grpSpPr>
      <p:sp>
        <p:nvSpPr>
          <p:cNvPr id="30" name="正方形/長方形 29">
            <a:extLst>
              <a:ext uri="{FF2B5EF4-FFF2-40B4-BE49-F238E27FC236}">
                <a16:creationId xmlns:a16="http://schemas.microsoft.com/office/drawing/2014/main" id="{76991F79-EF9D-214D-22CC-3EE4375C1316}"/>
              </a:ext>
            </a:extLst>
          </p:cNvPr>
          <p:cNvSpPr/>
          <p:nvPr/>
        </p:nvSpPr>
        <p:spPr>
          <a:xfrm>
            <a:off x="56125" y="51987"/>
            <a:ext cx="6722870" cy="8963827"/>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ADCDB3DB-81C6-2500-386E-779A7602240D}"/>
              </a:ext>
            </a:extLst>
          </p:cNvPr>
          <p:cNvSpPr/>
          <p:nvPr/>
        </p:nvSpPr>
        <p:spPr>
          <a:xfrm>
            <a:off x="9525" y="5531"/>
            <a:ext cx="6858000" cy="9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6809260A-E3A9-A10F-64B4-276376DBA937}"/>
              </a:ext>
            </a:extLst>
          </p:cNvPr>
          <p:cNvGrpSpPr/>
          <p:nvPr/>
        </p:nvGrpSpPr>
        <p:grpSpPr>
          <a:xfrm>
            <a:off x="9525" y="0"/>
            <a:ext cx="6865269" cy="9144001"/>
            <a:chOff x="0" y="0"/>
            <a:chExt cx="6865269" cy="9144001"/>
          </a:xfrm>
        </p:grpSpPr>
        <p:sp>
          <p:nvSpPr>
            <p:cNvPr id="6" name="正方形/長方形 5">
              <a:extLst>
                <a:ext uri="{FF2B5EF4-FFF2-40B4-BE49-F238E27FC236}">
                  <a16:creationId xmlns:a16="http://schemas.microsoft.com/office/drawing/2014/main" id="{1013BF5E-61A6-7F01-BF6F-0C6BB497C24C}"/>
                </a:ext>
              </a:extLst>
            </p:cNvPr>
            <p:cNvSpPr/>
            <p:nvPr/>
          </p:nvSpPr>
          <p:spPr>
            <a:xfrm>
              <a:off x="0" y="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981A98E8-4943-C462-95B6-FEF1CE8411FB}"/>
                </a:ext>
              </a:extLst>
            </p:cNvPr>
            <p:cNvSpPr/>
            <p:nvPr/>
          </p:nvSpPr>
          <p:spPr>
            <a:xfrm>
              <a:off x="0" y="871200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7634534E-96BD-2796-50AA-D46B14258839}"/>
                </a:ext>
              </a:extLst>
            </p:cNvPr>
            <p:cNvSpPr/>
            <p:nvPr/>
          </p:nvSpPr>
          <p:spPr>
            <a:xfrm>
              <a:off x="0" y="1"/>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正方形/長方形 8">
              <a:extLst>
                <a:ext uri="{FF2B5EF4-FFF2-40B4-BE49-F238E27FC236}">
                  <a16:creationId xmlns:a16="http://schemas.microsoft.com/office/drawing/2014/main" id="{98BDDABE-AF21-FAFC-C17E-390C8B630108}"/>
                </a:ext>
              </a:extLst>
            </p:cNvPr>
            <p:cNvSpPr/>
            <p:nvPr/>
          </p:nvSpPr>
          <p:spPr>
            <a:xfrm>
              <a:off x="6325269" y="0"/>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3" name="正方形/長方形 12">
            <a:extLst>
              <a:ext uri="{FF2B5EF4-FFF2-40B4-BE49-F238E27FC236}">
                <a16:creationId xmlns:a16="http://schemas.microsoft.com/office/drawing/2014/main" id="{C31BB991-A1A7-FAE2-CB87-73D2777505EE}"/>
              </a:ext>
            </a:extLst>
          </p:cNvPr>
          <p:cNvSpPr/>
          <p:nvPr/>
        </p:nvSpPr>
        <p:spPr>
          <a:xfrm>
            <a:off x="554537" y="423893"/>
            <a:ext cx="5756193"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33AFA6C5-4BF2-A033-32A4-BECDD4F86FD4}"/>
              </a:ext>
            </a:extLst>
          </p:cNvPr>
          <p:cNvSpPr/>
          <p:nvPr/>
        </p:nvSpPr>
        <p:spPr>
          <a:xfrm>
            <a:off x="554538"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0B6597B8-6C80-13D9-C7AF-67EB68F224A8}"/>
              </a:ext>
            </a:extLst>
          </p:cNvPr>
          <p:cNvSpPr/>
          <p:nvPr/>
        </p:nvSpPr>
        <p:spPr>
          <a:xfrm>
            <a:off x="3734844"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AF623625-2DCF-7634-93D4-9344D0B367F8}"/>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3</a:t>
            </a:r>
            <a:endParaRPr kumimoji="1" lang="ja-JP" altLang="en-US" dirty="0"/>
          </a:p>
        </p:txBody>
      </p:sp>
      <p:sp>
        <p:nvSpPr>
          <p:cNvPr id="14" name="楕円 13">
            <a:extLst>
              <a:ext uri="{FF2B5EF4-FFF2-40B4-BE49-F238E27FC236}">
                <a16:creationId xmlns:a16="http://schemas.microsoft.com/office/drawing/2014/main" id="{7D25B49B-E1C7-7FE3-F262-C6D12AEF1C2E}"/>
              </a:ext>
            </a:extLst>
          </p:cNvPr>
          <p:cNvSpPr/>
          <p:nvPr/>
        </p:nvSpPr>
        <p:spPr>
          <a:xfrm>
            <a:off x="591624" y="3479067"/>
            <a:ext cx="153771" cy="1537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48078D51-1E2C-A979-AB68-98E18890C6F1}"/>
              </a:ext>
            </a:extLst>
          </p:cNvPr>
          <p:cNvSpPr txBox="1"/>
          <p:nvPr/>
        </p:nvSpPr>
        <p:spPr>
          <a:xfrm>
            <a:off x="770844" y="3414308"/>
            <a:ext cx="2675732" cy="338554"/>
          </a:xfrm>
          <a:prstGeom prst="rect">
            <a:avLst/>
          </a:prstGeom>
          <a:noFill/>
        </p:spPr>
        <p:txBody>
          <a:bodyPr wrap="none" rtlCol="0">
            <a:spAutoFit/>
          </a:bodyPr>
          <a:lstStyle/>
          <a:p>
            <a:r>
              <a:rPr lang="en-US" altLang="ja-JP" sz="1600" dirty="0">
                <a:latin typeface="IBM Plex Sans JP SemiBold" panose="020B0703050203000203" pitchFamily="50" charset="-128"/>
                <a:ea typeface="IBM Plex Sans JP SemiBold" panose="020B0703050203000203" pitchFamily="50" charset="-128"/>
              </a:rPr>
              <a:t>4-1. Blend Color Checker</a:t>
            </a:r>
            <a:endParaRPr kumimoji="1" lang="ja-JP" altLang="en-US" sz="1600" b="1" dirty="0">
              <a:latin typeface="IBM Plex Sans JP SemiBold" panose="020B0703050203000203" pitchFamily="50" charset="-128"/>
              <a:ea typeface="IBM Plex Sans JP SemiBold" panose="020B0703050203000203" pitchFamily="50" charset="-128"/>
            </a:endParaRPr>
          </a:p>
        </p:txBody>
      </p:sp>
      <p:sp>
        <p:nvSpPr>
          <p:cNvPr id="32" name="テキスト ボックス 31">
            <a:extLst>
              <a:ext uri="{FF2B5EF4-FFF2-40B4-BE49-F238E27FC236}">
                <a16:creationId xmlns:a16="http://schemas.microsoft.com/office/drawing/2014/main" id="{F974243A-BE39-3111-BDC0-1688AF9439B9}"/>
              </a:ext>
            </a:extLst>
          </p:cNvPr>
          <p:cNvSpPr txBox="1"/>
          <p:nvPr/>
        </p:nvSpPr>
        <p:spPr>
          <a:xfrm>
            <a:off x="668508" y="3803395"/>
            <a:ext cx="5649491" cy="1384995"/>
          </a:xfrm>
          <a:prstGeom prst="rect">
            <a:avLst/>
          </a:prstGeom>
          <a:noFill/>
        </p:spPr>
        <p:txBody>
          <a:bodyPr wrap="square" rtlCol="0">
            <a:spAutoFit/>
          </a:bodyPr>
          <a:lstStyle/>
          <a:p>
            <a:r>
              <a:rPr lang="en-US" altLang="ja-JP" sz="1050" b="1" dirty="0">
                <a:latin typeface="IBM Plex Sans JP" panose="020B0503050203000203" pitchFamily="50" charset="-128"/>
                <a:ea typeface="IBM Plex Sans JP" panose="020B0503050203000203" pitchFamily="50" charset="-128"/>
              </a:rPr>
              <a:t>【</a:t>
            </a:r>
            <a:r>
              <a:rPr lang="ja-JP" altLang="en-US" sz="1050" b="1" dirty="0">
                <a:latin typeface="IBM Plex Sans JP" panose="020B0503050203000203" pitchFamily="50" charset="-128"/>
                <a:ea typeface="IBM Plex Sans JP" panose="020B0503050203000203" pitchFamily="50" charset="-128"/>
              </a:rPr>
              <a:t>ブリム内側</a:t>
            </a:r>
            <a:r>
              <a:rPr lang="en-US" altLang="ja-JP" sz="1050" b="1" dirty="0">
                <a:latin typeface="IBM Plex Sans JP" panose="020B0503050203000203" pitchFamily="50" charset="-128"/>
                <a:ea typeface="IBM Plex Sans JP" panose="020B0503050203000203" pitchFamily="50" charset="-128"/>
              </a:rPr>
              <a:t>】</a:t>
            </a:r>
          </a:p>
          <a:p>
            <a:r>
              <a:rPr lang="ja-JP" altLang="en-US" sz="1050" dirty="0">
                <a:latin typeface="IBM Plex Sans JP" panose="020B0503050203000203" pitchFamily="50" charset="-128"/>
                <a:ea typeface="IBM Plex Sans JP" panose="020B0503050203000203" pitchFamily="50" charset="-128"/>
              </a:rPr>
              <a:t>シリーズ略称「</a:t>
            </a:r>
            <a:r>
              <a:rPr lang="en-US" altLang="ja-JP" sz="1050" dirty="0">
                <a:latin typeface="IBM Plex Sans JP" panose="020B0503050203000203" pitchFamily="50" charset="-128"/>
                <a:ea typeface="IBM Plex Sans JP" panose="020B0503050203000203" pitchFamily="50" charset="-128"/>
              </a:rPr>
              <a:t>BL</a:t>
            </a:r>
            <a:r>
              <a:rPr lang="ja-JP" altLang="en-US" sz="1050" dirty="0">
                <a:latin typeface="IBM Plex Sans JP" panose="020B0503050203000203" pitchFamily="50" charset="-128"/>
                <a:ea typeface="IBM Plex Sans JP" panose="020B0503050203000203" pitchFamily="50" charset="-128"/>
              </a:rPr>
              <a:t>」の後に「</a:t>
            </a:r>
            <a:r>
              <a:rPr lang="en-US" altLang="ja-JP" sz="1050" dirty="0">
                <a:latin typeface="IBM Plex Sans JP" panose="020B0503050203000203" pitchFamily="50" charset="-128"/>
                <a:ea typeface="IBM Plex Sans JP" panose="020B0503050203000203" pitchFamily="50" charset="-128"/>
              </a:rPr>
              <a:t>/</a:t>
            </a:r>
            <a:r>
              <a:rPr lang="ja-JP" altLang="en-US" sz="1050" dirty="0">
                <a:latin typeface="IBM Plex Sans JP" panose="020B0503050203000203" pitchFamily="50" charset="-128"/>
                <a:ea typeface="IBM Plex Sans JP" panose="020B0503050203000203" pitchFamily="50" charset="-128"/>
              </a:rPr>
              <a:t>」と、ツールの略称「</a:t>
            </a:r>
            <a:r>
              <a:rPr lang="en-US" altLang="ja-JP" sz="1050" dirty="0">
                <a:latin typeface="IBM Plex Sans JP" panose="020B0503050203000203" pitchFamily="50" charset="-128"/>
                <a:ea typeface="IBM Plex Sans JP" panose="020B0503050203000203" pitchFamily="50" charset="-128"/>
              </a:rPr>
              <a:t>T1</a:t>
            </a:r>
            <a:r>
              <a:rPr lang="ja-JP" altLang="en-US" sz="1050" dirty="0">
                <a:latin typeface="IBM Plex Sans JP" panose="020B0503050203000203" pitchFamily="50" charset="-128"/>
                <a:ea typeface="IBM Plex Sans JP" panose="020B0503050203000203" pitchFamily="50" charset="-128"/>
              </a:rPr>
              <a:t>」が続きます。 </a:t>
            </a:r>
            <a:endParaRPr lang="en-US" altLang="ja-JP" sz="1050" dirty="0">
              <a:latin typeface="IBM Plex Sans JP" panose="020B0503050203000203" pitchFamily="50" charset="-128"/>
              <a:ea typeface="IBM Plex Sans JP" panose="020B0503050203000203" pitchFamily="50" charset="-128"/>
            </a:endParaRPr>
          </a:p>
          <a:p>
            <a:endParaRPr lang="en-US" altLang="ja-JP" sz="1050" dirty="0">
              <a:latin typeface="IBM Plex Sans JP" panose="020B0503050203000203" pitchFamily="50" charset="-128"/>
              <a:ea typeface="IBM Plex Sans JP" panose="020B0503050203000203" pitchFamily="50" charset="-128"/>
            </a:endParaRPr>
          </a:p>
          <a:p>
            <a:r>
              <a:rPr lang="ja-JP" altLang="en-US" sz="1050" dirty="0">
                <a:latin typeface="IBM Plex Sans JP" panose="020B0503050203000203" pitchFamily="50" charset="-128"/>
                <a:ea typeface="IBM Plex Sans JP" panose="020B0503050203000203" pitchFamily="50" charset="-128"/>
              </a:rPr>
              <a:t>例：   </a:t>
            </a:r>
            <a:r>
              <a:rPr lang="en-US" altLang="ja-JP" sz="1050" dirty="0">
                <a:latin typeface="IBM Plex Sans JP" panose="020B0503050203000203" pitchFamily="50" charset="-128"/>
                <a:ea typeface="IBM Plex Sans JP" panose="020B0503050203000203" pitchFamily="50" charset="-128"/>
              </a:rPr>
              <a:t>BL/T1    </a:t>
            </a:r>
            <a:r>
              <a:rPr lang="ja-JP" altLang="en-US" sz="1050" dirty="0">
                <a:latin typeface="IBM Plex Sans JP" panose="020B0503050203000203" pitchFamily="50" charset="-128"/>
                <a:ea typeface="IBM Plex Sans JP" panose="020B0503050203000203" pitchFamily="50" charset="-128"/>
              </a:rPr>
              <a:t>は、ブレンドカラーチェッカーを示します </a:t>
            </a:r>
            <a:endParaRPr lang="en-US" altLang="ja-JP" sz="1050" dirty="0">
              <a:latin typeface="IBM Plex Sans JP" panose="020B0503050203000203" pitchFamily="50" charset="-128"/>
              <a:ea typeface="IBM Plex Sans JP" panose="020B0503050203000203" pitchFamily="50" charset="-128"/>
            </a:endParaRPr>
          </a:p>
          <a:p>
            <a:endParaRPr lang="en-US" altLang="ja-JP" sz="1050" dirty="0">
              <a:latin typeface="IBM Plex Sans JP" panose="020B0503050203000203" pitchFamily="50" charset="-128"/>
              <a:ea typeface="IBM Plex Sans JP" panose="020B0503050203000203" pitchFamily="50" charset="-128"/>
            </a:endParaRPr>
          </a:p>
          <a:p>
            <a:r>
              <a:rPr lang="en-US" altLang="ja-JP" sz="1050" b="1" dirty="0">
                <a:latin typeface="IBM Plex Sans JP" panose="020B0503050203000203" pitchFamily="50" charset="-128"/>
                <a:ea typeface="IBM Plex Sans JP" panose="020B0503050203000203" pitchFamily="50" charset="-128"/>
              </a:rPr>
              <a:t>【</a:t>
            </a:r>
            <a:r>
              <a:rPr lang="ja-JP" altLang="en-US" sz="1050" b="1" dirty="0">
                <a:latin typeface="IBM Plex Sans JP" panose="020B0503050203000203" pitchFamily="50" charset="-128"/>
                <a:ea typeface="IBM Plex Sans JP" panose="020B0503050203000203" pitchFamily="50" charset="-128"/>
              </a:rPr>
              <a:t>ブリム外側</a:t>
            </a:r>
            <a:r>
              <a:rPr lang="en-US" altLang="ja-JP" sz="1050" b="1" dirty="0">
                <a:latin typeface="IBM Plex Sans JP" panose="020B0503050203000203" pitchFamily="50" charset="-128"/>
                <a:ea typeface="IBM Plex Sans JP" panose="020B0503050203000203" pitchFamily="50" charset="-128"/>
              </a:rPr>
              <a:t>】</a:t>
            </a:r>
          </a:p>
          <a:p>
            <a:r>
              <a:rPr lang="ja-JP" altLang="en-US" sz="1050" dirty="0">
                <a:latin typeface="IBM Plex Sans JP" panose="020B0503050203000203" pitchFamily="50" charset="-128"/>
                <a:ea typeface="IBM Plex Sans JP" panose="020B0503050203000203" pitchFamily="50" charset="-128"/>
              </a:rPr>
              <a:t>ブレンドフィラメントモデルには、「</a:t>
            </a:r>
            <a:r>
              <a:rPr lang="en-US" altLang="ja-JP" sz="1050" dirty="0">
                <a:latin typeface="IBM Plex Sans JP" panose="020B0503050203000203" pitchFamily="50" charset="-128"/>
                <a:ea typeface="IBM Plex Sans JP" panose="020B0503050203000203" pitchFamily="50" charset="-128"/>
              </a:rPr>
              <a:t>Standard</a:t>
            </a:r>
            <a:r>
              <a:rPr lang="ja-JP" altLang="en-US" sz="1050" dirty="0">
                <a:latin typeface="IBM Plex Sans JP" panose="020B0503050203000203" pitchFamily="50" charset="-128"/>
                <a:ea typeface="IBM Plex Sans JP" panose="020B0503050203000203" pitchFamily="50" charset="-128"/>
              </a:rPr>
              <a:t>」と「</a:t>
            </a:r>
            <a:r>
              <a:rPr lang="en-US" altLang="ja-JP" sz="1050" dirty="0">
                <a:latin typeface="IBM Plex Sans JP" panose="020B0503050203000203" pitchFamily="50" charset="-128"/>
                <a:ea typeface="IBM Plex Sans JP" panose="020B0503050203000203" pitchFamily="50" charset="-128"/>
              </a:rPr>
              <a:t>Detail</a:t>
            </a:r>
            <a:r>
              <a:rPr lang="ja-JP" altLang="en-US" sz="1050" dirty="0">
                <a:latin typeface="IBM Plex Sans JP" panose="020B0503050203000203" pitchFamily="50" charset="-128"/>
                <a:ea typeface="IBM Plex Sans JP" panose="020B0503050203000203" pitchFamily="50" charset="-128"/>
              </a:rPr>
              <a:t>」の</a:t>
            </a:r>
            <a:r>
              <a:rPr lang="en-US" altLang="ja-JP" sz="1050" dirty="0">
                <a:latin typeface="IBM Plex Sans JP" panose="020B0503050203000203" pitchFamily="50" charset="-128"/>
                <a:ea typeface="IBM Plex Sans JP" panose="020B0503050203000203" pitchFamily="50" charset="-128"/>
              </a:rPr>
              <a:t>2</a:t>
            </a:r>
            <a:r>
              <a:rPr lang="ja-JP" altLang="en-US" sz="1050" dirty="0">
                <a:latin typeface="IBM Plex Sans JP" panose="020B0503050203000203" pitchFamily="50" charset="-128"/>
                <a:ea typeface="IBM Plex Sans JP" panose="020B0503050203000203" pitchFamily="50" charset="-128"/>
              </a:rPr>
              <a:t>種類があります。それぞれの識別情報は、以下の表に示されています。</a:t>
            </a:r>
            <a:endParaRPr lang="ja-JP" altLang="ja-JP" sz="1050" dirty="0">
              <a:latin typeface="IBM Plex Sans JP" panose="020B0503050203000203" pitchFamily="50" charset="-128"/>
              <a:ea typeface="IBM Plex Sans JP" panose="020B0503050203000203" pitchFamily="50" charset="-128"/>
            </a:endParaRPr>
          </a:p>
        </p:txBody>
      </p:sp>
      <p:grpSp>
        <p:nvGrpSpPr>
          <p:cNvPr id="21" name="グループ化 20">
            <a:extLst>
              <a:ext uri="{FF2B5EF4-FFF2-40B4-BE49-F238E27FC236}">
                <a16:creationId xmlns:a16="http://schemas.microsoft.com/office/drawing/2014/main" id="{08F1D8EF-7938-6929-7B79-B67CAE3FD6D5}"/>
              </a:ext>
            </a:extLst>
          </p:cNvPr>
          <p:cNvGrpSpPr/>
          <p:nvPr/>
        </p:nvGrpSpPr>
        <p:grpSpPr>
          <a:xfrm>
            <a:off x="880208" y="525495"/>
            <a:ext cx="5307282" cy="2485553"/>
            <a:chOff x="-167676" y="0"/>
            <a:chExt cx="5796409" cy="2714625"/>
          </a:xfrm>
        </p:grpSpPr>
        <p:pic>
          <p:nvPicPr>
            <p:cNvPr id="22" name="図 21">
              <a:extLst>
                <a:ext uri="{FF2B5EF4-FFF2-40B4-BE49-F238E27FC236}">
                  <a16:creationId xmlns:a16="http://schemas.microsoft.com/office/drawing/2014/main" id="{5B42B7EC-D2A1-2C5D-3C9F-1ED69DAAF0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76" y="1589453"/>
              <a:ext cx="2809875" cy="1114425"/>
            </a:xfrm>
            <a:prstGeom prst="rect">
              <a:avLst/>
            </a:prstGeom>
            <a:noFill/>
            <a:extLst>
              <a:ext uri="{909E8E84-426E-40DD-AFC4-6F175D3DCCD1}">
                <a14:hiddenFill xmlns:a14="http://schemas.microsoft.com/office/drawing/2010/main">
                  <a:solidFill>
                    <a:srgbClr val="FFFFFF"/>
                  </a:solidFill>
                </a14:hiddenFill>
              </a:ext>
            </a:extLst>
          </p:spPr>
        </p:pic>
        <p:pic>
          <p:nvPicPr>
            <p:cNvPr id="25" name="図 24">
              <a:extLst>
                <a:ext uri="{FF2B5EF4-FFF2-40B4-BE49-F238E27FC236}">
                  <a16:creationId xmlns:a16="http://schemas.microsoft.com/office/drawing/2014/main" id="{859C7347-1EE1-EBE5-EC69-B335431D44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8857" y="0"/>
              <a:ext cx="2809876" cy="2714625"/>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テキスト ボックス 2">
            <a:extLst>
              <a:ext uri="{FF2B5EF4-FFF2-40B4-BE49-F238E27FC236}">
                <a16:creationId xmlns:a16="http://schemas.microsoft.com/office/drawing/2014/main" id="{2EBE1B42-ADB0-F4B8-0908-8E1538B5FF87}"/>
              </a:ext>
            </a:extLst>
          </p:cNvPr>
          <p:cNvSpPr txBox="1"/>
          <p:nvPr/>
        </p:nvSpPr>
        <p:spPr>
          <a:xfrm>
            <a:off x="604254" y="675403"/>
            <a:ext cx="3053345" cy="977191"/>
          </a:xfrm>
          <a:prstGeom prst="rect">
            <a:avLst/>
          </a:prstGeom>
          <a:noFill/>
        </p:spPr>
        <p:txBody>
          <a:bodyPr wrap="square" rtlCol="0">
            <a:spAutoFit/>
          </a:bodyPr>
          <a:lstStyle/>
          <a:p>
            <a:r>
              <a:rPr lang="ja-JP" altLang="ja-JP" sz="1050" b="1" dirty="0"/>
              <a:t>【外側ブリム】</a:t>
            </a:r>
            <a:endParaRPr lang="ja-JP" altLang="ja-JP" sz="1050" dirty="0"/>
          </a:p>
          <a:p>
            <a:r>
              <a:rPr lang="ja-JP" altLang="ja-JP" sz="1050" dirty="0"/>
              <a:t>基本色の割合を％で表示します。</a:t>
            </a:r>
            <a:endParaRPr lang="en-US" altLang="ja-JP" sz="1050" dirty="0"/>
          </a:p>
          <a:p>
            <a:endParaRPr lang="ja-JP" altLang="ja-JP" sz="1050" dirty="0"/>
          </a:p>
          <a:p>
            <a:r>
              <a:rPr lang="ja-JP" altLang="ja-JP" sz="1050" dirty="0"/>
              <a:t>例：黄色いブリムの上に青字の</a:t>
            </a:r>
            <a:r>
              <a:rPr lang="en-US" altLang="ja-JP" sz="1050" dirty="0"/>
              <a:t>     75%</a:t>
            </a:r>
            <a:endParaRPr lang="ja-JP" altLang="ja-JP" sz="1050" dirty="0"/>
          </a:p>
          <a:p>
            <a:endParaRPr lang="en-US" altLang="ja-JP" sz="500" dirty="0"/>
          </a:p>
          <a:p>
            <a:r>
              <a:rPr lang="en-US" altLang="ja-JP" sz="1050" dirty="0"/>
              <a:t> (</a:t>
            </a:r>
            <a:r>
              <a:rPr lang="ja-JP" altLang="ja-JP" sz="1050" dirty="0"/>
              <a:t>黄色</a:t>
            </a:r>
            <a:r>
              <a:rPr lang="en-US" altLang="ja-JP" sz="1050" dirty="0"/>
              <a:t>75%</a:t>
            </a:r>
            <a:r>
              <a:rPr lang="ja-JP" altLang="ja-JP" sz="1050" dirty="0"/>
              <a:t>、青</a:t>
            </a:r>
            <a:r>
              <a:rPr lang="en-US" altLang="ja-JP" sz="1050" dirty="0"/>
              <a:t>25%</a:t>
            </a:r>
            <a:r>
              <a:rPr lang="ja-JP" altLang="ja-JP" sz="1050" dirty="0"/>
              <a:t>となる混色比を示す</a:t>
            </a:r>
            <a:r>
              <a:rPr lang="en-US" altLang="ja-JP" sz="1050" dirty="0"/>
              <a:t>)</a:t>
            </a:r>
            <a:endParaRPr lang="ja-JP" altLang="ja-JP" sz="1050" dirty="0"/>
          </a:p>
        </p:txBody>
      </p:sp>
      <p:sp>
        <p:nvSpPr>
          <p:cNvPr id="4" name="楕円 3">
            <a:extLst>
              <a:ext uri="{FF2B5EF4-FFF2-40B4-BE49-F238E27FC236}">
                <a16:creationId xmlns:a16="http://schemas.microsoft.com/office/drawing/2014/main" id="{13796715-1B76-A927-685B-71090FA7B0B1}"/>
              </a:ext>
            </a:extLst>
          </p:cNvPr>
          <p:cNvSpPr/>
          <p:nvPr/>
        </p:nvSpPr>
        <p:spPr>
          <a:xfrm>
            <a:off x="564568" y="6179296"/>
            <a:ext cx="204669" cy="1860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5197E7E8-B266-9144-C532-CC79E1F60388}"/>
              </a:ext>
            </a:extLst>
          </p:cNvPr>
          <p:cNvSpPr txBox="1"/>
          <p:nvPr/>
        </p:nvSpPr>
        <p:spPr>
          <a:xfrm>
            <a:off x="769237" y="6101245"/>
            <a:ext cx="2739853" cy="363736"/>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5. Gradient Filament</a:t>
            </a:r>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12" name="テキスト ボックス 11">
            <a:extLst>
              <a:ext uri="{FF2B5EF4-FFF2-40B4-BE49-F238E27FC236}">
                <a16:creationId xmlns:a16="http://schemas.microsoft.com/office/drawing/2014/main" id="{A74743F2-CCD5-7CE7-CED9-214B4C0C9DB6}"/>
              </a:ext>
            </a:extLst>
          </p:cNvPr>
          <p:cNvSpPr txBox="1"/>
          <p:nvPr/>
        </p:nvSpPr>
        <p:spPr>
          <a:xfrm>
            <a:off x="666901" y="6545170"/>
            <a:ext cx="5649491" cy="1708160"/>
          </a:xfrm>
          <a:prstGeom prst="rect">
            <a:avLst/>
          </a:prstGeom>
          <a:noFill/>
        </p:spPr>
        <p:txBody>
          <a:bodyPr wrap="square" rtlCol="0">
            <a:spAutoFit/>
          </a:bodyPr>
          <a:lstStyle/>
          <a:p>
            <a:r>
              <a:rPr lang="en-US" altLang="ja-JP" sz="1050" dirty="0"/>
              <a:t>Gradient Filament</a:t>
            </a:r>
            <a:r>
              <a:rPr lang="ja-JP" altLang="ja-JP" sz="1050" dirty="0"/>
              <a:t>は色の組み合わせに合わせた複数のカラーカーブとサイクル数が異なるモデルがあり、推奨される印刷方向を持つモデルです。</a:t>
            </a:r>
          </a:p>
          <a:p>
            <a:r>
              <a:rPr lang="ja-JP" altLang="ja-JP" sz="1050" dirty="0"/>
              <a:t>情報が多いため外側ブリムは上下２段の</a:t>
            </a:r>
            <a:r>
              <a:rPr lang="en-US" altLang="ja-JP" sz="1050" dirty="0"/>
              <a:t>Text</a:t>
            </a:r>
            <a:r>
              <a:rPr lang="ja-JP" altLang="ja-JP" sz="1050" dirty="0"/>
              <a:t>情報を持ちます。</a:t>
            </a:r>
          </a:p>
          <a:p>
            <a:r>
              <a:rPr lang="en-US" altLang="ja-JP" sz="1050" dirty="0"/>
              <a:t> </a:t>
            </a:r>
            <a:endParaRPr lang="ja-JP" altLang="ja-JP" sz="1050" dirty="0"/>
          </a:p>
          <a:p>
            <a:r>
              <a:rPr lang="ja-JP" altLang="ja-JP" sz="1050" b="1" dirty="0"/>
              <a:t>【内側ブリム】</a:t>
            </a:r>
            <a:endParaRPr lang="ja-JP" altLang="ja-JP" sz="1050" dirty="0"/>
          </a:p>
          <a:p>
            <a:r>
              <a:rPr lang="ja-JP" altLang="ja-JP" sz="1050" dirty="0"/>
              <a:t>シリーズ略称「</a:t>
            </a:r>
            <a:r>
              <a:rPr lang="en-US" altLang="ja-JP" sz="1050" dirty="0"/>
              <a:t>GR</a:t>
            </a:r>
            <a:r>
              <a:rPr lang="ja-JP" altLang="ja-JP" sz="1050" dirty="0"/>
              <a:t>」の後に「</a:t>
            </a:r>
            <a:r>
              <a:rPr lang="en-US" altLang="ja-JP" sz="1050" dirty="0"/>
              <a:t>/</a:t>
            </a:r>
            <a:r>
              <a:rPr lang="ja-JP" altLang="ja-JP" sz="1050" dirty="0"/>
              <a:t>」、その後にサイズ名をつなげて記載します。初期のモデルではシリーズ名称と「</a:t>
            </a:r>
            <a:r>
              <a:rPr lang="en-US" altLang="ja-JP" sz="1050" dirty="0"/>
              <a:t>/</a:t>
            </a:r>
            <a:r>
              <a:rPr lang="ja-JP" altLang="ja-JP" sz="1050" dirty="0"/>
              <a:t>」が省略されています。</a:t>
            </a:r>
          </a:p>
          <a:p>
            <a:r>
              <a:rPr lang="ja-JP" altLang="ja-JP" sz="1050" dirty="0"/>
              <a:t>凡例は</a:t>
            </a:r>
            <a:r>
              <a:rPr lang="en-US" altLang="ja-JP" sz="1050" dirty="0"/>
              <a:t>Blend Filament</a:t>
            </a:r>
            <a:r>
              <a:rPr lang="ja-JP" altLang="ja-JP" sz="1050" dirty="0"/>
              <a:t>に準じます。</a:t>
            </a:r>
            <a:endParaRPr lang="en-US" altLang="ja-JP" sz="1050" dirty="0"/>
          </a:p>
          <a:p>
            <a:endParaRPr lang="ja-JP" altLang="ja-JP" sz="1050" dirty="0"/>
          </a:p>
          <a:p>
            <a:r>
              <a:rPr lang="ja-JP" altLang="ja-JP" sz="1050" dirty="0"/>
              <a:t>例：</a:t>
            </a:r>
            <a:r>
              <a:rPr lang="ja-JP" altLang="en-US" sz="1050" dirty="0"/>
              <a:t>　</a:t>
            </a:r>
            <a:r>
              <a:rPr lang="en-US" altLang="ja-JP" sz="1050" dirty="0"/>
              <a:t>GR/S4b</a:t>
            </a:r>
            <a:r>
              <a:rPr lang="ja-JP" altLang="ja-JP" sz="1050" dirty="0"/>
              <a:t>　</a:t>
            </a:r>
            <a:r>
              <a:rPr lang="ja-JP" altLang="en-US" sz="1050" dirty="0"/>
              <a:t>　</a:t>
            </a:r>
            <a:r>
              <a:rPr lang="en-US" altLang="ja-JP" sz="1050" dirty="0"/>
              <a:t>(Gradient Filament M4 Beta model</a:t>
            </a:r>
            <a:r>
              <a:rPr lang="ja-JP" altLang="ja-JP" sz="1050" dirty="0"/>
              <a:t>を示す</a:t>
            </a:r>
            <a:r>
              <a:rPr lang="en-US" altLang="ja-JP" sz="1050" dirty="0"/>
              <a:t>)</a:t>
            </a:r>
            <a:endParaRPr lang="ja-JP" altLang="ja-JP" sz="1050" dirty="0"/>
          </a:p>
        </p:txBody>
      </p:sp>
      <p:pic>
        <p:nvPicPr>
          <p:cNvPr id="18" name="図 17">
            <a:extLst>
              <a:ext uri="{FF2B5EF4-FFF2-40B4-BE49-F238E27FC236}">
                <a16:creationId xmlns:a16="http://schemas.microsoft.com/office/drawing/2014/main" id="{392BA458-994B-8B86-08BE-A2A16E1FB13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06240" y="5211453"/>
            <a:ext cx="2529840" cy="693420"/>
          </a:xfrm>
          <a:prstGeom prst="rect">
            <a:avLst/>
          </a:prstGeom>
          <a:noFill/>
          <a:extLst>
            <a:ext uri="{909E8E84-426E-40DD-AFC4-6F175D3DCCD1}">
              <a14:hiddenFill xmlns:a14="http://schemas.microsoft.com/office/drawing/2010/main">
                <a:solidFill>
                  <a:srgbClr val="FFFFFF"/>
                </a:solidFill>
              </a14:hiddenFill>
            </a:ext>
          </a:extLst>
        </p:spPr>
      </p:pic>
      <p:sp>
        <p:nvSpPr>
          <p:cNvPr id="19" name="四角形: 角を丸くする 18">
            <a:extLst>
              <a:ext uri="{FF2B5EF4-FFF2-40B4-BE49-F238E27FC236}">
                <a16:creationId xmlns:a16="http://schemas.microsoft.com/office/drawing/2014/main" id="{C23C394D-165C-151B-F41A-2D271E15F6FA}"/>
              </a:ext>
            </a:extLst>
          </p:cNvPr>
          <p:cNvSpPr/>
          <p:nvPr/>
        </p:nvSpPr>
        <p:spPr>
          <a:xfrm>
            <a:off x="2634389" y="1163998"/>
            <a:ext cx="474802" cy="204964"/>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D234B248-4D2B-198F-57CB-70FA28EDD745}"/>
              </a:ext>
            </a:extLst>
          </p:cNvPr>
          <p:cNvSpPr/>
          <p:nvPr/>
        </p:nvSpPr>
        <p:spPr>
          <a:xfrm>
            <a:off x="1082560" y="4280429"/>
            <a:ext cx="474802" cy="225460"/>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四角形: 角を丸くする 22">
            <a:extLst>
              <a:ext uri="{FF2B5EF4-FFF2-40B4-BE49-F238E27FC236}">
                <a16:creationId xmlns:a16="http://schemas.microsoft.com/office/drawing/2014/main" id="{8F2FA860-6F66-CA61-94C3-080A2C182AAA}"/>
              </a:ext>
            </a:extLst>
          </p:cNvPr>
          <p:cNvSpPr/>
          <p:nvPr/>
        </p:nvSpPr>
        <p:spPr>
          <a:xfrm>
            <a:off x="1072885" y="7971852"/>
            <a:ext cx="631961" cy="225460"/>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50189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D08E2-64BB-0F2E-8F93-F06B97F2B215}"/>
            </a:ext>
          </a:extLst>
        </p:cNvPr>
        <p:cNvGrpSpPr/>
        <p:nvPr/>
      </p:nvGrpSpPr>
      <p:grpSpPr>
        <a:xfrm>
          <a:off x="0" y="0"/>
          <a:ext cx="0" cy="0"/>
          <a:chOff x="0" y="0"/>
          <a:chExt cx="0" cy="0"/>
        </a:xfrm>
      </p:grpSpPr>
      <p:sp>
        <p:nvSpPr>
          <p:cNvPr id="30" name="正方形/長方形 29">
            <a:extLst>
              <a:ext uri="{FF2B5EF4-FFF2-40B4-BE49-F238E27FC236}">
                <a16:creationId xmlns:a16="http://schemas.microsoft.com/office/drawing/2014/main" id="{511BB0BA-82B8-3D38-7943-239D5BA1C861}"/>
              </a:ext>
            </a:extLst>
          </p:cNvPr>
          <p:cNvSpPr/>
          <p:nvPr/>
        </p:nvSpPr>
        <p:spPr>
          <a:xfrm>
            <a:off x="51086" y="45268"/>
            <a:ext cx="6790099" cy="9053465"/>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B93CCC98-4B36-D84B-868C-F64023CB9B24}"/>
              </a:ext>
            </a:extLst>
          </p:cNvPr>
          <p:cNvSpPr/>
          <p:nvPr/>
        </p:nvSpPr>
        <p:spPr>
          <a:xfrm>
            <a:off x="6064" y="-3583"/>
            <a:ext cx="6858000" cy="9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9F925CF9-96D9-1901-FFFF-ECF59D5ABDFB}"/>
              </a:ext>
            </a:extLst>
          </p:cNvPr>
          <p:cNvGrpSpPr/>
          <p:nvPr/>
        </p:nvGrpSpPr>
        <p:grpSpPr>
          <a:xfrm>
            <a:off x="0" y="0"/>
            <a:ext cx="6865269" cy="9144001"/>
            <a:chOff x="0" y="0"/>
            <a:chExt cx="6865269" cy="9144001"/>
          </a:xfrm>
        </p:grpSpPr>
        <p:sp>
          <p:nvSpPr>
            <p:cNvPr id="6" name="正方形/長方形 5">
              <a:extLst>
                <a:ext uri="{FF2B5EF4-FFF2-40B4-BE49-F238E27FC236}">
                  <a16:creationId xmlns:a16="http://schemas.microsoft.com/office/drawing/2014/main" id="{52FE3E8C-32C8-904C-A13C-3522386A913E}"/>
                </a:ext>
              </a:extLst>
            </p:cNvPr>
            <p:cNvSpPr/>
            <p:nvPr/>
          </p:nvSpPr>
          <p:spPr>
            <a:xfrm>
              <a:off x="0" y="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723AB99B-BC12-4B42-20A9-F13C262D05AB}"/>
                </a:ext>
              </a:extLst>
            </p:cNvPr>
            <p:cNvSpPr/>
            <p:nvPr/>
          </p:nvSpPr>
          <p:spPr>
            <a:xfrm>
              <a:off x="0" y="871200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F27D234E-E329-F759-3CA4-84653942F012}"/>
                </a:ext>
              </a:extLst>
            </p:cNvPr>
            <p:cNvSpPr/>
            <p:nvPr/>
          </p:nvSpPr>
          <p:spPr>
            <a:xfrm>
              <a:off x="0" y="1"/>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正方形/長方形 8">
              <a:extLst>
                <a:ext uri="{FF2B5EF4-FFF2-40B4-BE49-F238E27FC236}">
                  <a16:creationId xmlns:a16="http://schemas.microsoft.com/office/drawing/2014/main" id="{3CD25F55-676E-8F0B-F269-7F58D622752B}"/>
                </a:ext>
              </a:extLst>
            </p:cNvPr>
            <p:cNvSpPr/>
            <p:nvPr/>
          </p:nvSpPr>
          <p:spPr>
            <a:xfrm>
              <a:off x="6325269" y="0"/>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3" name="正方形/長方形 12">
            <a:extLst>
              <a:ext uri="{FF2B5EF4-FFF2-40B4-BE49-F238E27FC236}">
                <a16:creationId xmlns:a16="http://schemas.microsoft.com/office/drawing/2014/main" id="{2D1A7C2A-60A4-049E-218E-8AC600A50DB5}"/>
              </a:ext>
            </a:extLst>
          </p:cNvPr>
          <p:cNvSpPr/>
          <p:nvPr/>
        </p:nvSpPr>
        <p:spPr>
          <a:xfrm>
            <a:off x="554537" y="423893"/>
            <a:ext cx="5756193"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2F99E805-CCC7-FC66-82FB-C65C90C5E96C}"/>
              </a:ext>
            </a:extLst>
          </p:cNvPr>
          <p:cNvSpPr/>
          <p:nvPr/>
        </p:nvSpPr>
        <p:spPr>
          <a:xfrm>
            <a:off x="554538"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BDE3B256-DF81-3DBB-FD1A-0CC45C9B93E6}"/>
              </a:ext>
            </a:extLst>
          </p:cNvPr>
          <p:cNvSpPr/>
          <p:nvPr/>
        </p:nvSpPr>
        <p:spPr>
          <a:xfrm>
            <a:off x="3734844"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E3C15218-C8E3-59EF-E09F-F81D558EA473}"/>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4</a:t>
            </a:r>
            <a:endParaRPr kumimoji="1" lang="ja-JP" altLang="en-US" dirty="0"/>
          </a:p>
        </p:txBody>
      </p:sp>
      <p:sp>
        <p:nvSpPr>
          <p:cNvPr id="2" name="楕円 1">
            <a:extLst>
              <a:ext uri="{FF2B5EF4-FFF2-40B4-BE49-F238E27FC236}">
                <a16:creationId xmlns:a16="http://schemas.microsoft.com/office/drawing/2014/main" id="{2FE2702E-8683-69CA-EF72-20137A496C1E}"/>
              </a:ext>
            </a:extLst>
          </p:cNvPr>
          <p:cNvSpPr/>
          <p:nvPr/>
        </p:nvSpPr>
        <p:spPr>
          <a:xfrm>
            <a:off x="546348" y="7301051"/>
            <a:ext cx="204669" cy="2046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910BDA97-80A1-59F8-7B84-C8DEA06E919B}"/>
              </a:ext>
            </a:extLst>
          </p:cNvPr>
          <p:cNvSpPr txBox="1"/>
          <p:nvPr/>
        </p:nvSpPr>
        <p:spPr>
          <a:xfrm>
            <a:off x="778114" y="7219472"/>
            <a:ext cx="3568606"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7. </a:t>
            </a:r>
            <a:r>
              <a:rPr lang="ja-JP" altLang="en-US" sz="2000" dirty="0">
                <a:latin typeface="IBM Plex Sans JP SemiBold" panose="020B0703050203000203" pitchFamily="50" charset="-128"/>
                <a:ea typeface="IBM Plex Sans JP SemiBold" panose="020B0703050203000203" pitchFamily="50" charset="-128"/>
              </a:rPr>
              <a:t>ブリムの取り扱いについて</a:t>
            </a:r>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35" name="テキスト ボックス 34">
            <a:extLst>
              <a:ext uri="{FF2B5EF4-FFF2-40B4-BE49-F238E27FC236}">
                <a16:creationId xmlns:a16="http://schemas.microsoft.com/office/drawing/2014/main" id="{F12F0039-3435-1D7B-0532-CC97331F8630}"/>
              </a:ext>
            </a:extLst>
          </p:cNvPr>
          <p:cNvSpPr txBox="1"/>
          <p:nvPr/>
        </p:nvSpPr>
        <p:spPr>
          <a:xfrm>
            <a:off x="676426" y="7599215"/>
            <a:ext cx="5649491" cy="684803"/>
          </a:xfrm>
          <a:prstGeom prst="rect">
            <a:avLst/>
          </a:prstGeom>
          <a:noFill/>
        </p:spPr>
        <p:txBody>
          <a:bodyPr wrap="square" rtlCol="0">
            <a:spAutoFit/>
          </a:bodyPr>
          <a:lstStyle/>
          <a:p>
            <a:r>
              <a:rPr lang="ja-JP" altLang="ja-JP" sz="1050" dirty="0"/>
              <a:t>ブリムはフィラメント使用時には不要なものであるため、除去してから使って下さい。</a:t>
            </a:r>
          </a:p>
          <a:p>
            <a:r>
              <a:rPr lang="ja-JP" altLang="ja-JP" sz="1050" dirty="0"/>
              <a:t>どの様な仕様のフィラメントとして印刷されたかを読み解くことが出来るものであるため、すぐに使わない場合はすぐに外さずブリムがついたまま保管することを推奨いたします。</a:t>
            </a:r>
          </a:p>
          <a:p>
            <a:endParaRPr kumimoji="1" lang="ja-JP" altLang="en-US" sz="600" b="1" dirty="0">
              <a:latin typeface="IBM Plex Sans JP" panose="020B0503050203000203" pitchFamily="50" charset="-128"/>
              <a:ea typeface="IBM Plex Sans JP" panose="020B0503050203000203" pitchFamily="50" charset="-128"/>
            </a:endParaRPr>
          </a:p>
        </p:txBody>
      </p:sp>
      <p:sp>
        <p:nvSpPr>
          <p:cNvPr id="4" name="楕円 3">
            <a:extLst>
              <a:ext uri="{FF2B5EF4-FFF2-40B4-BE49-F238E27FC236}">
                <a16:creationId xmlns:a16="http://schemas.microsoft.com/office/drawing/2014/main" id="{A42F8189-ED86-2F61-850D-01F13BCB47C8}"/>
              </a:ext>
            </a:extLst>
          </p:cNvPr>
          <p:cNvSpPr/>
          <p:nvPr/>
        </p:nvSpPr>
        <p:spPr>
          <a:xfrm>
            <a:off x="564568" y="4135478"/>
            <a:ext cx="204669" cy="1860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0F82A7D5-B446-9FEA-6FE0-2A5661670739}"/>
              </a:ext>
            </a:extLst>
          </p:cNvPr>
          <p:cNvSpPr txBox="1"/>
          <p:nvPr/>
        </p:nvSpPr>
        <p:spPr>
          <a:xfrm>
            <a:off x="769237" y="4066952"/>
            <a:ext cx="3060453"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6. New Series Preview</a:t>
            </a:r>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12" name="テキスト ボックス 11">
            <a:extLst>
              <a:ext uri="{FF2B5EF4-FFF2-40B4-BE49-F238E27FC236}">
                <a16:creationId xmlns:a16="http://schemas.microsoft.com/office/drawing/2014/main" id="{2351E00A-C52B-AB6C-E169-0681CBCBBB41}"/>
              </a:ext>
            </a:extLst>
          </p:cNvPr>
          <p:cNvSpPr txBox="1"/>
          <p:nvPr/>
        </p:nvSpPr>
        <p:spPr>
          <a:xfrm>
            <a:off x="666901" y="4520402"/>
            <a:ext cx="5649491" cy="2192908"/>
          </a:xfrm>
          <a:prstGeom prst="rect">
            <a:avLst/>
          </a:prstGeom>
          <a:noFill/>
        </p:spPr>
        <p:txBody>
          <a:bodyPr wrap="square" rtlCol="0">
            <a:spAutoFit/>
          </a:bodyPr>
          <a:lstStyle/>
          <a:p>
            <a:r>
              <a:rPr lang="en-US" altLang="ja-JP" sz="1050" dirty="0"/>
              <a:t>New Series Preview</a:t>
            </a:r>
            <a:r>
              <a:rPr lang="ja-JP" altLang="ja-JP" sz="1050" dirty="0"/>
              <a:t>は次に来るシリーズを示唆するプレビューモデルです。</a:t>
            </a:r>
          </a:p>
          <a:p>
            <a:r>
              <a:rPr lang="en-US" altLang="ja-JP" sz="1050" dirty="0"/>
              <a:t> </a:t>
            </a:r>
            <a:endParaRPr lang="ja-JP" altLang="ja-JP" sz="1050" dirty="0"/>
          </a:p>
          <a:p>
            <a:r>
              <a:rPr lang="ja-JP" altLang="ja-JP" sz="1050" b="1" dirty="0"/>
              <a:t>【内側ブリム】</a:t>
            </a:r>
            <a:endParaRPr lang="ja-JP" altLang="ja-JP" sz="1050" dirty="0"/>
          </a:p>
          <a:p>
            <a:r>
              <a:rPr lang="ja-JP" altLang="ja-JP" sz="1050" dirty="0"/>
              <a:t>シリーズ略称「</a:t>
            </a:r>
            <a:r>
              <a:rPr lang="en-US" altLang="ja-JP" sz="1050" dirty="0"/>
              <a:t>Prev</a:t>
            </a:r>
            <a:r>
              <a:rPr lang="ja-JP" altLang="ja-JP" sz="1050" dirty="0"/>
              <a:t>」のみを記載します。</a:t>
            </a:r>
          </a:p>
          <a:p>
            <a:r>
              <a:rPr lang="ja-JP" altLang="ja-JP" sz="1050" dirty="0"/>
              <a:t>凡例は</a:t>
            </a:r>
            <a:r>
              <a:rPr lang="en-US" altLang="ja-JP" sz="1050" dirty="0"/>
              <a:t>Blend Filament</a:t>
            </a:r>
            <a:r>
              <a:rPr lang="ja-JP" altLang="ja-JP" sz="1050" dirty="0"/>
              <a:t>に準じます。</a:t>
            </a:r>
            <a:endParaRPr lang="en-US" altLang="ja-JP" sz="1050" dirty="0"/>
          </a:p>
          <a:p>
            <a:endParaRPr lang="ja-JP" altLang="ja-JP" sz="1050" dirty="0"/>
          </a:p>
          <a:p>
            <a:r>
              <a:rPr lang="ja-JP" altLang="ja-JP" sz="1050" dirty="0"/>
              <a:t>例：</a:t>
            </a:r>
            <a:r>
              <a:rPr lang="ja-JP" altLang="en-US" sz="1050" dirty="0"/>
              <a:t>　</a:t>
            </a:r>
            <a:r>
              <a:rPr lang="en-US" altLang="ja-JP" sz="1050" dirty="0"/>
              <a:t>Prev</a:t>
            </a:r>
            <a:r>
              <a:rPr lang="ja-JP" altLang="en-US" sz="1050" dirty="0"/>
              <a:t>　</a:t>
            </a:r>
            <a:r>
              <a:rPr lang="ja-JP" altLang="ja-JP" sz="1050" dirty="0"/>
              <a:t>　</a:t>
            </a:r>
            <a:r>
              <a:rPr lang="en-US" altLang="ja-JP" sz="1050" dirty="0"/>
              <a:t>(Gradient Filament M4 Beta model</a:t>
            </a:r>
            <a:r>
              <a:rPr lang="ja-JP" altLang="ja-JP" sz="1050" dirty="0"/>
              <a:t>を示す</a:t>
            </a:r>
            <a:r>
              <a:rPr lang="en-US" altLang="ja-JP" sz="1050" dirty="0"/>
              <a:t>)</a:t>
            </a:r>
            <a:endParaRPr lang="ja-JP" altLang="ja-JP" sz="1050" dirty="0"/>
          </a:p>
          <a:p>
            <a:r>
              <a:rPr lang="en-US" altLang="ja-JP" sz="1050" dirty="0"/>
              <a:t> </a:t>
            </a:r>
            <a:endParaRPr lang="ja-JP" altLang="ja-JP" sz="1050" dirty="0"/>
          </a:p>
          <a:p>
            <a:r>
              <a:rPr lang="en-US" altLang="ja-JP" sz="1050" b="1" dirty="0"/>
              <a:t>【</a:t>
            </a:r>
            <a:r>
              <a:rPr lang="ja-JP" altLang="en-US" sz="1050" b="1" dirty="0"/>
              <a:t>外側ブリム</a:t>
            </a:r>
            <a:r>
              <a:rPr lang="en-US" altLang="ja-JP" sz="1050" b="1" dirty="0"/>
              <a:t>】</a:t>
            </a:r>
            <a:endParaRPr lang="ja-JP" altLang="ja-JP" sz="1050" dirty="0"/>
          </a:p>
          <a:p>
            <a:r>
              <a:rPr lang="ja-JP" altLang="en-US" sz="1050" dirty="0"/>
              <a:t>決まった表記方法はありません。「新シリーズ」への期待感を高めるため、新しいシリーズ予告モデルが作成されます。その結果、外側の縁にヒントが表示されます。</a:t>
            </a:r>
            <a:endParaRPr lang="en-US" altLang="ja-JP" sz="1050" dirty="0"/>
          </a:p>
          <a:p>
            <a:endParaRPr lang="en-US" altLang="ja-JP" sz="1050" dirty="0"/>
          </a:p>
          <a:p>
            <a:r>
              <a:rPr lang="ja-JP" altLang="en-US" sz="1050" dirty="0"/>
              <a:t>例：    </a:t>
            </a:r>
            <a:r>
              <a:rPr lang="en-US" altLang="ja-JP" sz="1050" dirty="0"/>
              <a:t>GRD     </a:t>
            </a:r>
            <a:r>
              <a:rPr lang="ja-JP" altLang="en-US" sz="1050" dirty="0"/>
              <a:t> は、「グラデーションフィラメント」という答えへのヒントです。</a:t>
            </a:r>
            <a:endParaRPr kumimoji="1" lang="ja-JP" altLang="en-US" sz="1050" b="1" dirty="0">
              <a:latin typeface="IBM Plex Sans JP" panose="020B0503050203000203" pitchFamily="50" charset="-128"/>
              <a:ea typeface="IBM Plex Sans JP" panose="020B0503050203000203" pitchFamily="50" charset="-128"/>
            </a:endParaRPr>
          </a:p>
        </p:txBody>
      </p:sp>
      <p:sp>
        <p:nvSpPr>
          <p:cNvPr id="19" name="テキスト ボックス 18">
            <a:extLst>
              <a:ext uri="{FF2B5EF4-FFF2-40B4-BE49-F238E27FC236}">
                <a16:creationId xmlns:a16="http://schemas.microsoft.com/office/drawing/2014/main" id="{D97B7001-C1C5-9B03-4CF4-E055D2FCB7EA}"/>
              </a:ext>
            </a:extLst>
          </p:cNvPr>
          <p:cNvSpPr txBox="1"/>
          <p:nvPr/>
        </p:nvSpPr>
        <p:spPr>
          <a:xfrm>
            <a:off x="666901" y="638958"/>
            <a:ext cx="5649491" cy="1477328"/>
          </a:xfrm>
          <a:prstGeom prst="rect">
            <a:avLst/>
          </a:prstGeom>
          <a:noFill/>
        </p:spPr>
        <p:txBody>
          <a:bodyPr wrap="square" rtlCol="0">
            <a:spAutoFit/>
          </a:bodyPr>
          <a:lstStyle/>
          <a:p>
            <a:r>
              <a:rPr lang="ja-JP" altLang="ja-JP" sz="1050" b="1" dirty="0"/>
              <a:t>【外側ブリム】</a:t>
            </a:r>
            <a:endParaRPr lang="ja-JP" altLang="ja-JP" sz="1050" dirty="0"/>
          </a:p>
          <a:p>
            <a:r>
              <a:rPr lang="ja-JP" altLang="ja-JP" sz="1050" dirty="0"/>
              <a:t>上段に推奨される挿入方向を示す「</a:t>
            </a:r>
            <a:r>
              <a:rPr lang="en-US" altLang="ja-JP" sz="1050" dirty="0"/>
              <a:t>IN</a:t>
            </a:r>
            <a:r>
              <a:rPr lang="ja-JP" altLang="ja-JP" sz="1050" dirty="0"/>
              <a:t>→」を記載し、下段にカラーカーブの略号の後に「</a:t>
            </a:r>
            <a:r>
              <a:rPr lang="en-US" altLang="ja-JP" sz="1050" dirty="0"/>
              <a:t>-</a:t>
            </a:r>
            <a:r>
              <a:rPr lang="ja-JP" altLang="ja-JP" sz="1050" dirty="0"/>
              <a:t>」、その後にサイクル数をつなげて記載します。</a:t>
            </a:r>
          </a:p>
          <a:p>
            <a:endParaRPr lang="en-US" altLang="ja-JP" sz="1050" dirty="0"/>
          </a:p>
          <a:p>
            <a:r>
              <a:rPr lang="ja-JP" altLang="en-US" sz="1050" dirty="0"/>
              <a:t>　　　　</a:t>
            </a:r>
            <a:r>
              <a:rPr lang="en-US" altLang="ja-JP" sz="1050" dirty="0"/>
              <a:t>IN</a:t>
            </a:r>
            <a:r>
              <a:rPr lang="ja-JP" altLang="ja-JP" sz="1050" dirty="0"/>
              <a:t>→</a:t>
            </a:r>
          </a:p>
          <a:p>
            <a:r>
              <a:rPr lang="ja-JP" altLang="en-US" sz="1050" dirty="0"/>
              <a:t>　　　　</a:t>
            </a:r>
            <a:r>
              <a:rPr lang="en-US" altLang="ja-JP" sz="1050" dirty="0"/>
              <a:t>Vvd-.5cyc</a:t>
            </a:r>
          </a:p>
          <a:p>
            <a:r>
              <a:rPr lang="ja-JP" altLang="ja-JP" sz="600" dirty="0"/>
              <a:t>　</a:t>
            </a:r>
            <a:endParaRPr lang="en-US" altLang="ja-JP" sz="600" dirty="0"/>
          </a:p>
          <a:p>
            <a:r>
              <a:rPr lang="ja-JP" altLang="ja-JP" sz="1050" dirty="0"/>
              <a:t>矢印が挿入方向を示し、</a:t>
            </a:r>
            <a:r>
              <a:rPr lang="en-US" altLang="ja-JP" sz="1050" dirty="0"/>
              <a:t>Vivid</a:t>
            </a:r>
            <a:r>
              <a:rPr lang="ja-JP" altLang="ja-JP" sz="1050" dirty="0"/>
              <a:t>カラーカーブの</a:t>
            </a:r>
            <a:r>
              <a:rPr lang="en-US" altLang="ja-JP" sz="1050" dirty="0"/>
              <a:t>0.5</a:t>
            </a:r>
            <a:r>
              <a:rPr lang="ja-JP" altLang="ja-JP" sz="1050" dirty="0"/>
              <a:t>サイクル数のグラデーションであることを示す</a:t>
            </a:r>
          </a:p>
        </p:txBody>
      </p:sp>
      <p:sp>
        <p:nvSpPr>
          <p:cNvPr id="20" name="テキスト ボックス 19">
            <a:extLst>
              <a:ext uri="{FF2B5EF4-FFF2-40B4-BE49-F238E27FC236}">
                <a16:creationId xmlns:a16="http://schemas.microsoft.com/office/drawing/2014/main" id="{27564FEE-0A96-8F23-9C16-9CDDA7A3A223}"/>
              </a:ext>
            </a:extLst>
          </p:cNvPr>
          <p:cNvSpPr txBox="1"/>
          <p:nvPr/>
        </p:nvSpPr>
        <p:spPr>
          <a:xfrm>
            <a:off x="769237" y="1351707"/>
            <a:ext cx="803035" cy="253916"/>
          </a:xfrm>
          <a:prstGeom prst="rect">
            <a:avLst/>
          </a:prstGeom>
          <a:noFill/>
        </p:spPr>
        <p:txBody>
          <a:bodyPr wrap="square" rtlCol="0">
            <a:spAutoFit/>
          </a:bodyPr>
          <a:lstStyle/>
          <a:p>
            <a:r>
              <a:rPr lang="ja-JP" altLang="en-US" sz="1050" dirty="0"/>
              <a:t>例：</a:t>
            </a:r>
            <a:endParaRPr lang="en-US" altLang="ja-JP" sz="1050" dirty="0"/>
          </a:p>
        </p:txBody>
      </p:sp>
      <p:sp>
        <p:nvSpPr>
          <p:cNvPr id="23" name="四角形: 角を丸くする 22">
            <a:extLst>
              <a:ext uri="{FF2B5EF4-FFF2-40B4-BE49-F238E27FC236}">
                <a16:creationId xmlns:a16="http://schemas.microsoft.com/office/drawing/2014/main" id="{6BC1B064-2468-A774-21BE-F451B9B8697F}"/>
              </a:ext>
            </a:extLst>
          </p:cNvPr>
          <p:cNvSpPr/>
          <p:nvPr/>
        </p:nvSpPr>
        <p:spPr>
          <a:xfrm>
            <a:off x="1162049" y="1256996"/>
            <a:ext cx="838200" cy="423228"/>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4" name="グループ化 23">
            <a:extLst>
              <a:ext uri="{FF2B5EF4-FFF2-40B4-BE49-F238E27FC236}">
                <a16:creationId xmlns:a16="http://schemas.microsoft.com/office/drawing/2014/main" id="{1AAF058C-FD3E-6BBC-B2DF-73A789326596}"/>
              </a:ext>
            </a:extLst>
          </p:cNvPr>
          <p:cNvGrpSpPr/>
          <p:nvPr/>
        </p:nvGrpSpPr>
        <p:grpSpPr>
          <a:xfrm>
            <a:off x="560196" y="2159462"/>
            <a:ext cx="5756193" cy="1642545"/>
            <a:chOff x="0" y="0"/>
            <a:chExt cx="6069081" cy="1818034"/>
          </a:xfrm>
        </p:grpSpPr>
        <p:pic>
          <p:nvPicPr>
            <p:cNvPr id="26" name="図 25">
              <a:extLst>
                <a:ext uri="{FF2B5EF4-FFF2-40B4-BE49-F238E27FC236}">
                  <a16:creationId xmlns:a16="http://schemas.microsoft.com/office/drawing/2014/main" id="{308CA542-1A94-C336-03A2-2D6BCFB3A0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2673" y="1"/>
              <a:ext cx="1994038" cy="1818033"/>
            </a:xfrm>
            <a:prstGeom prst="rect">
              <a:avLst/>
            </a:prstGeom>
            <a:noFill/>
            <a:extLst>
              <a:ext uri="{909E8E84-426E-40DD-AFC4-6F175D3DCCD1}">
                <a14:hiddenFill xmlns:a14="http://schemas.microsoft.com/office/drawing/2010/main">
                  <a:solidFill>
                    <a:srgbClr val="FFFFFF"/>
                  </a:solidFill>
                </a14:hiddenFill>
              </a:ext>
            </a:extLst>
          </p:spPr>
        </p:pic>
        <p:pic>
          <p:nvPicPr>
            <p:cNvPr id="27" name="図 26">
              <a:extLst>
                <a:ext uri="{FF2B5EF4-FFF2-40B4-BE49-F238E27FC236}">
                  <a16:creationId xmlns:a16="http://schemas.microsoft.com/office/drawing/2014/main" id="{11EB9214-9DC5-EC7E-2212-0B183590A8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567"/>
              <a:ext cx="1955938" cy="665508"/>
            </a:xfrm>
            <a:prstGeom prst="rect">
              <a:avLst/>
            </a:prstGeom>
            <a:noFill/>
            <a:extLst>
              <a:ext uri="{909E8E84-426E-40DD-AFC4-6F175D3DCCD1}">
                <a14:hiddenFill xmlns:a14="http://schemas.microsoft.com/office/drawing/2010/main">
                  <a:solidFill>
                    <a:srgbClr val="FFFFFF"/>
                  </a:solidFill>
                </a14:hiddenFill>
              </a:ext>
            </a:extLst>
          </p:spPr>
        </p:pic>
        <p:pic>
          <p:nvPicPr>
            <p:cNvPr id="28" name="図 27">
              <a:extLst>
                <a:ext uri="{FF2B5EF4-FFF2-40B4-BE49-F238E27FC236}">
                  <a16:creationId xmlns:a16="http://schemas.microsoft.com/office/drawing/2014/main" id="{B43E992A-A261-9D9E-48B7-5D91836D03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5043" y="0"/>
              <a:ext cx="1994038" cy="1367873"/>
            </a:xfrm>
            <a:prstGeom prst="rect">
              <a:avLst/>
            </a:prstGeom>
            <a:noFill/>
            <a:extLst>
              <a:ext uri="{909E8E84-426E-40DD-AFC4-6F175D3DCCD1}">
                <a14:hiddenFill xmlns:a14="http://schemas.microsoft.com/office/drawing/2010/main">
                  <a:solidFill>
                    <a:srgbClr val="FFFFFF"/>
                  </a:solidFill>
                </a14:hiddenFill>
              </a:ext>
            </a:extLst>
          </p:spPr>
        </p:pic>
      </p:grpSp>
      <p:sp>
        <p:nvSpPr>
          <p:cNvPr id="29" name="四角形: 角を丸くする 28">
            <a:extLst>
              <a:ext uri="{FF2B5EF4-FFF2-40B4-BE49-F238E27FC236}">
                <a16:creationId xmlns:a16="http://schemas.microsoft.com/office/drawing/2014/main" id="{0CF2F5BD-BB35-99E9-D810-F107F64A22FA}"/>
              </a:ext>
            </a:extLst>
          </p:cNvPr>
          <p:cNvSpPr/>
          <p:nvPr/>
        </p:nvSpPr>
        <p:spPr>
          <a:xfrm>
            <a:off x="1058750" y="5474048"/>
            <a:ext cx="492354" cy="217183"/>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四角形: 角を丸くする 32">
            <a:extLst>
              <a:ext uri="{FF2B5EF4-FFF2-40B4-BE49-F238E27FC236}">
                <a16:creationId xmlns:a16="http://schemas.microsoft.com/office/drawing/2014/main" id="{D2F248C6-732E-F246-9789-16BA4A36409C}"/>
              </a:ext>
            </a:extLst>
          </p:cNvPr>
          <p:cNvSpPr/>
          <p:nvPr/>
        </p:nvSpPr>
        <p:spPr>
          <a:xfrm>
            <a:off x="1049306" y="6428862"/>
            <a:ext cx="473142" cy="217183"/>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21425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4435A-1DB2-0A5F-2908-99E2008EBF66}"/>
            </a:ext>
          </a:extLst>
        </p:cNvPr>
        <p:cNvGrpSpPr/>
        <p:nvPr/>
      </p:nvGrpSpPr>
      <p:grpSpPr>
        <a:xfrm>
          <a:off x="0" y="0"/>
          <a:ext cx="0" cy="0"/>
          <a:chOff x="0" y="0"/>
          <a:chExt cx="0" cy="0"/>
        </a:xfrm>
      </p:grpSpPr>
      <p:sp>
        <p:nvSpPr>
          <p:cNvPr id="30" name="正方形/長方形 29">
            <a:extLst>
              <a:ext uri="{FF2B5EF4-FFF2-40B4-BE49-F238E27FC236}">
                <a16:creationId xmlns:a16="http://schemas.microsoft.com/office/drawing/2014/main" id="{3FE1337C-5CB0-6BC8-1ACF-A4B40149AA68}"/>
              </a:ext>
            </a:extLst>
          </p:cNvPr>
          <p:cNvSpPr/>
          <p:nvPr/>
        </p:nvSpPr>
        <p:spPr>
          <a:xfrm>
            <a:off x="51086" y="45268"/>
            <a:ext cx="6790099" cy="9053465"/>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A47951DD-9DAC-4D69-9240-B3C3E1020ABA}"/>
              </a:ext>
            </a:extLst>
          </p:cNvPr>
          <p:cNvSpPr/>
          <p:nvPr/>
        </p:nvSpPr>
        <p:spPr>
          <a:xfrm>
            <a:off x="6064" y="-3583"/>
            <a:ext cx="6858000" cy="9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E7EF55BD-89D6-366B-8A96-4C5F63AF9003}"/>
              </a:ext>
            </a:extLst>
          </p:cNvPr>
          <p:cNvGrpSpPr/>
          <p:nvPr/>
        </p:nvGrpSpPr>
        <p:grpSpPr>
          <a:xfrm>
            <a:off x="0" y="0"/>
            <a:ext cx="6865269" cy="9144001"/>
            <a:chOff x="0" y="0"/>
            <a:chExt cx="6865269" cy="9144001"/>
          </a:xfrm>
        </p:grpSpPr>
        <p:sp>
          <p:nvSpPr>
            <p:cNvPr id="6" name="正方形/長方形 5">
              <a:extLst>
                <a:ext uri="{FF2B5EF4-FFF2-40B4-BE49-F238E27FC236}">
                  <a16:creationId xmlns:a16="http://schemas.microsoft.com/office/drawing/2014/main" id="{87C00CF0-7984-589D-506A-F1D0C0BEBCE8}"/>
                </a:ext>
              </a:extLst>
            </p:cNvPr>
            <p:cNvSpPr/>
            <p:nvPr/>
          </p:nvSpPr>
          <p:spPr>
            <a:xfrm>
              <a:off x="0" y="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E4229915-0650-459F-3496-BAC6A10BEADF}"/>
                </a:ext>
              </a:extLst>
            </p:cNvPr>
            <p:cNvSpPr/>
            <p:nvPr/>
          </p:nvSpPr>
          <p:spPr>
            <a:xfrm>
              <a:off x="0" y="871200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492C7A15-DF9A-61BB-9D21-04C1328B807A}"/>
                </a:ext>
              </a:extLst>
            </p:cNvPr>
            <p:cNvSpPr/>
            <p:nvPr/>
          </p:nvSpPr>
          <p:spPr>
            <a:xfrm>
              <a:off x="0" y="1"/>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正方形/長方形 8">
              <a:extLst>
                <a:ext uri="{FF2B5EF4-FFF2-40B4-BE49-F238E27FC236}">
                  <a16:creationId xmlns:a16="http://schemas.microsoft.com/office/drawing/2014/main" id="{F693BE04-B0B0-4816-FECD-63D586AD4D20}"/>
                </a:ext>
              </a:extLst>
            </p:cNvPr>
            <p:cNvSpPr/>
            <p:nvPr/>
          </p:nvSpPr>
          <p:spPr>
            <a:xfrm>
              <a:off x="6325269" y="0"/>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3" name="正方形/長方形 12">
            <a:extLst>
              <a:ext uri="{FF2B5EF4-FFF2-40B4-BE49-F238E27FC236}">
                <a16:creationId xmlns:a16="http://schemas.microsoft.com/office/drawing/2014/main" id="{8C5D7C16-827F-D094-CC54-3B0A7A1139DC}"/>
              </a:ext>
            </a:extLst>
          </p:cNvPr>
          <p:cNvSpPr/>
          <p:nvPr/>
        </p:nvSpPr>
        <p:spPr>
          <a:xfrm>
            <a:off x="554537" y="423893"/>
            <a:ext cx="5756193"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BFEA0324-1190-D193-5F51-6411C010485F}"/>
              </a:ext>
            </a:extLst>
          </p:cNvPr>
          <p:cNvSpPr/>
          <p:nvPr/>
        </p:nvSpPr>
        <p:spPr>
          <a:xfrm>
            <a:off x="554538"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8A6C373B-32B4-859D-09F3-24920C3955FF}"/>
              </a:ext>
            </a:extLst>
          </p:cNvPr>
          <p:cNvSpPr/>
          <p:nvPr/>
        </p:nvSpPr>
        <p:spPr>
          <a:xfrm>
            <a:off x="3734844"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2CE8A7B1-E418-280D-D81D-735F8288BDFC}"/>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5</a:t>
            </a:r>
            <a:endParaRPr kumimoji="1" lang="ja-JP" altLang="en-US" dirty="0"/>
          </a:p>
        </p:txBody>
      </p:sp>
      <p:sp>
        <p:nvSpPr>
          <p:cNvPr id="2" name="楕円 1">
            <a:extLst>
              <a:ext uri="{FF2B5EF4-FFF2-40B4-BE49-F238E27FC236}">
                <a16:creationId xmlns:a16="http://schemas.microsoft.com/office/drawing/2014/main" id="{B1A42344-6D13-74F0-C5D9-0938D6B4117A}"/>
              </a:ext>
            </a:extLst>
          </p:cNvPr>
          <p:cNvSpPr/>
          <p:nvPr/>
        </p:nvSpPr>
        <p:spPr>
          <a:xfrm>
            <a:off x="546348" y="881507"/>
            <a:ext cx="204669" cy="2046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58E81EC9-78A2-F271-80C9-0ACA26B50828}"/>
              </a:ext>
            </a:extLst>
          </p:cNvPr>
          <p:cNvSpPr txBox="1"/>
          <p:nvPr/>
        </p:nvSpPr>
        <p:spPr>
          <a:xfrm>
            <a:off x="778114" y="810625"/>
            <a:ext cx="1516762"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8. </a:t>
            </a:r>
            <a:r>
              <a:rPr lang="ja-JP" altLang="en-US" sz="2000" dirty="0">
                <a:latin typeface="IBM Plex Sans JP SemiBold" panose="020B0703050203000203" pitchFamily="50" charset="-128"/>
                <a:ea typeface="IBM Plex Sans JP SemiBold" panose="020B0703050203000203" pitchFamily="50" charset="-128"/>
              </a:rPr>
              <a:t>更新履歴</a:t>
            </a:r>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35" name="テキスト ボックス 34">
            <a:extLst>
              <a:ext uri="{FF2B5EF4-FFF2-40B4-BE49-F238E27FC236}">
                <a16:creationId xmlns:a16="http://schemas.microsoft.com/office/drawing/2014/main" id="{D52D00B5-32D2-7FDF-0C0B-D046C2053A4E}"/>
              </a:ext>
            </a:extLst>
          </p:cNvPr>
          <p:cNvSpPr txBox="1"/>
          <p:nvPr/>
        </p:nvSpPr>
        <p:spPr>
          <a:xfrm>
            <a:off x="638323" y="1179671"/>
            <a:ext cx="5649491" cy="507831"/>
          </a:xfrm>
          <a:prstGeom prst="rect">
            <a:avLst/>
          </a:prstGeom>
          <a:noFill/>
        </p:spPr>
        <p:txBody>
          <a:bodyPr wrap="square" rtlCol="0">
            <a:spAutoFit/>
          </a:bodyPr>
          <a:lstStyle/>
          <a:p>
            <a:r>
              <a:rPr lang="en-US" altLang="ja-JP" sz="900" dirty="0">
                <a:latin typeface="IBM Plex Sans JP" panose="020B0503050203000203" pitchFamily="50" charset="-128"/>
                <a:ea typeface="IBM Plex Sans JP" panose="020B0503050203000203" pitchFamily="50" charset="-128"/>
              </a:rPr>
              <a:t>Ver.1.00  2026-07-21  First Edition Published</a:t>
            </a:r>
          </a:p>
          <a:p>
            <a:r>
              <a:rPr lang="en-US" altLang="ja-JP" sz="900" dirty="0">
                <a:latin typeface="IBM Plex Sans JP" panose="020B0503050203000203" pitchFamily="50" charset="-128"/>
                <a:ea typeface="IBM Plex Sans JP" panose="020B0503050203000203" pitchFamily="50" charset="-128"/>
              </a:rPr>
              <a:t>Ver.1.10  2026-07-24  Revisions for Integrated Design</a:t>
            </a:r>
          </a:p>
          <a:p>
            <a:endParaRPr kumimoji="1" lang="ja-JP" altLang="en-US" sz="900" b="1" dirty="0">
              <a:latin typeface="IBM Plex Sans JP" panose="020B0503050203000203" pitchFamily="50" charset="-128"/>
              <a:ea typeface="IBM Plex Sans JP" panose="020B0503050203000203" pitchFamily="50" charset="-128"/>
            </a:endParaRPr>
          </a:p>
        </p:txBody>
      </p:sp>
    </p:spTree>
    <p:extLst>
      <p:ext uri="{BB962C8B-B14F-4D97-AF65-F5344CB8AC3E}">
        <p14:creationId xmlns:p14="http://schemas.microsoft.com/office/powerpoint/2010/main" val="1606081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CAB9C-C821-256D-D755-031FAC72E570}"/>
            </a:ext>
          </a:extLst>
        </p:cNvPr>
        <p:cNvGrpSpPr/>
        <p:nvPr/>
      </p:nvGrpSpPr>
      <p:grpSpPr>
        <a:xfrm>
          <a:off x="0" y="0"/>
          <a:ext cx="0" cy="0"/>
          <a:chOff x="0" y="0"/>
          <a:chExt cx="0" cy="0"/>
        </a:xfrm>
      </p:grpSpPr>
      <p:sp>
        <p:nvSpPr>
          <p:cNvPr id="32" name="正方形/長方形 31">
            <a:extLst>
              <a:ext uri="{FF2B5EF4-FFF2-40B4-BE49-F238E27FC236}">
                <a16:creationId xmlns:a16="http://schemas.microsoft.com/office/drawing/2014/main" id="{7C1F6A9D-6AE2-5F1C-55A1-AE7D065BD78E}"/>
              </a:ext>
            </a:extLst>
          </p:cNvPr>
          <p:cNvSpPr/>
          <p:nvPr/>
        </p:nvSpPr>
        <p:spPr>
          <a:xfrm>
            <a:off x="33951" y="45268"/>
            <a:ext cx="6790099" cy="9053465"/>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8" name="フリーフォーム: 図形 37">
            <a:extLst>
              <a:ext uri="{FF2B5EF4-FFF2-40B4-BE49-F238E27FC236}">
                <a16:creationId xmlns:a16="http://schemas.microsoft.com/office/drawing/2014/main" id="{17BBFAA1-2441-1DB5-6495-CBFA60AEEF3C}"/>
              </a:ext>
            </a:extLst>
          </p:cNvPr>
          <p:cNvSpPr/>
          <p:nvPr/>
        </p:nvSpPr>
        <p:spPr>
          <a:xfrm>
            <a:off x="7269" y="0"/>
            <a:ext cx="6858000" cy="9144000"/>
          </a:xfrm>
          <a:custGeom>
            <a:avLst/>
            <a:gdLst>
              <a:gd name="connsiteX0" fmla="*/ 3727575 w 6858000"/>
              <a:gd name="connsiteY0" fmla="*/ 8661917 h 9144000"/>
              <a:gd name="connsiteX1" fmla="*/ 3727575 w 6858000"/>
              <a:gd name="connsiteY1" fmla="*/ 8715917 h 9144000"/>
              <a:gd name="connsiteX2" fmla="*/ 6319575 w 6858000"/>
              <a:gd name="connsiteY2" fmla="*/ 8715917 h 9144000"/>
              <a:gd name="connsiteX3" fmla="*/ 6319575 w 6858000"/>
              <a:gd name="connsiteY3" fmla="*/ 8661917 h 9144000"/>
              <a:gd name="connsiteX4" fmla="*/ 547269 w 6858000"/>
              <a:gd name="connsiteY4" fmla="*/ 8661917 h 9144000"/>
              <a:gd name="connsiteX5" fmla="*/ 547269 w 6858000"/>
              <a:gd name="connsiteY5" fmla="*/ 8715917 h 9144000"/>
              <a:gd name="connsiteX6" fmla="*/ 3139269 w 6858000"/>
              <a:gd name="connsiteY6" fmla="*/ 8715917 h 9144000"/>
              <a:gd name="connsiteX7" fmla="*/ 3139269 w 6858000"/>
              <a:gd name="connsiteY7" fmla="*/ 8661917 h 9144000"/>
              <a:gd name="connsiteX8" fmla="*/ 661385 w 6858000"/>
              <a:gd name="connsiteY8" fmla="*/ 7676931 h 9144000"/>
              <a:gd name="connsiteX9" fmla="*/ 584499 w 6858000"/>
              <a:gd name="connsiteY9" fmla="*/ 7753817 h 9144000"/>
              <a:gd name="connsiteX10" fmla="*/ 661385 w 6858000"/>
              <a:gd name="connsiteY10" fmla="*/ 7830703 h 9144000"/>
              <a:gd name="connsiteX11" fmla="*/ 738271 w 6858000"/>
              <a:gd name="connsiteY11" fmla="*/ 7753817 h 9144000"/>
              <a:gd name="connsiteX12" fmla="*/ 661385 w 6858000"/>
              <a:gd name="connsiteY12" fmla="*/ 7676931 h 9144000"/>
              <a:gd name="connsiteX13" fmla="*/ 661241 w 6858000"/>
              <a:gd name="connsiteY13" fmla="*/ 4679629 h 9144000"/>
              <a:gd name="connsiteX14" fmla="*/ 558906 w 6858000"/>
              <a:gd name="connsiteY14" fmla="*/ 4781964 h 9144000"/>
              <a:gd name="connsiteX15" fmla="*/ 661241 w 6858000"/>
              <a:gd name="connsiteY15" fmla="*/ 4884299 h 9144000"/>
              <a:gd name="connsiteX16" fmla="*/ 763576 w 6858000"/>
              <a:gd name="connsiteY16" fmla="*/ 4781964 h 9144000"/>
              <a:gd name="connsiteX17" fmla="*/ 661241 w 6858000"/>
              <a:gd name="connsiteY17" fmla="*/ 4679629 h 9144000"/>
              <a:gd name="connsiteX18" fmla="*/ 661241 w 6858000"/>
              <a:gd name="connsiteY18" fmla="*/ 3069491 h 9144000"/>
              <a:gd name="connsiteX19" fmla="*/ 558906 w 6858000"/>
              <a:gd name="connsiteY19" fmla="*/ 3171826 h 9144000"/>
              <a:gd name="connsiteX20" fmla="*/ 661241 w 6858000"/>
              <a:gd name="connsiteY20" fmla="*/ 3274161 h 9144000"/>
              <a:gd name="connsiteX21" fmla="*/ 763576 w 6858000"/>
              <a:gd name="connsiteY21" fmla="*/ 3171826 h 9144000"/>
              <a:gd name="connsiteX22" fmla="*/ 661241 w 6858000"/>
              <a:gd name="connsiteY22" fmla="*/ 3069491 h 9144000"/>
              <a:gd name="connsiteX23" fmla="*/ 6107887 w 6858000"/>
              <a:gd name="connsiteY23" fmla="*/ 2279977 h 9144000"/>
              <a:gd name="connsiteX24" fmla="*/ 6052582 w 6858000"/>
              <a:gd name="connsiteY24" fmla="*/ 2335282 h 9144000"/>
              <a:gd name="connsiteX25" fmla="*/ 798143 w 6858000"/>
              <a:gd name="connsiteY25" fmla="*/ 2335282 h 9144000"/>
              <a:gd name="connsiteX26" fmla="*/ 759037 w 6858000"/>
              <a:gd name="connsiteY26" fmla="*/ 2319083 h 9144000"/>
              <a:gd name="connsiteX27" fmla="*/ 742839 w 6858000"/>
              <a:gd name="connsiteY27" fmla="*/ 2279979 h 9144000"/>
              <a:gd name="connsiteX28" fmla="*/ 742839 w 6858000"/>
              <a:gd name="connsiteY28" fmla="*/ 2413569 h 9144000"/>
              <a:gd name="connsiteX29" fmla="*/ 931735 w 6858000"/>
              <a:gd name="connsiteY29" fmla="*/ 2602465 h 9144000"/>
              <a:gd name="connsiteX30" fmla="*/ 5918991 w 6858000"/>
              <a:gd name="connsiteY30" fmla="*/ 2602465 h 9144000"/>
              <a:gd name="connsiteX31" fmla="*/ 6107887 w 6858000"/>
              <a:gd name="connsiteY31" fmla="*/ 2413569 h 9144000"/>
              <a:gd name="connsiteX32" fmla="*/ 931737 w 6858000"/>
              <a:gd name="connsiteY32" fmla="*/ 431920 h 9144000"/>
              <a:gd name="connsiteX33" fmla="*/ 742841 w 6858000"/>
              <a:gd name="connsiteY33" fmla="*/ 620816 h 9144000"/>
              <a:gd name="connsiteX34" fmla="*/ 742841 w 6858000"/>
              <a:gd name="connsiteY34" fmla="*/ 754408 h 9144000"/>
              <a:gd name="connsiteX35" fmla="*/ 798146 w 6858000"/>
              <a:gd name="connsiteY35" fmla="*/ 699103 h 9144000"/>
              <a:gd name="connsiteX36" fmla="*/ 6052584 w 6858000"/>
              <a:gd name="connsiteY36" fmla="*/ 699103 h 9144000"/>
              <a:gd name="connsiteX37" fmla="*/ 6091691 w 6858000"/>
              <a:gd name="connsiteY37" fmla="*/ 715302 h 9144000"/>
              <a:gd name="connsiteX38" fmla="*/ 6107888 w 6858000"/>
              <a:gd name="connsiteY38" fmla="*/ 754406 h 9144000"/>
              <a:gd name="connsiteX39" fmla="*/ 6107888 w 6858000"/>
              <a:gd name="connsiteY39" fmla="*/ 620816 h 9144000"/>
              <a:gd name="connsiteX40" fmla="*/ 5918992 w 6858000"/>
              <a:gd name="connsiteY40" fmla="*/ 431920 h 9144000"/>
              <a:gd name="connsiteX41" fmla="*/ 0 w 6858000"/>
              <a:gd name="connsiteY41" fmla="*/ 0 h 9144000"/>
              <a:gd name="connsiteX42" fmla="*/ 6858000 w 6858000"/>
              <a:gd name="connsiteY42" fmla="*/ 0 h 9144000"/>
              <a:gd name="connsiteX43" fmla="*/ 6858000 w 6858000"/>
              <a:gd name="connsiteY43" fmla="*/ 9144000 h 9144000"/>
              <a:gd name="connsiteX44" fmla="*/ 0 w 6858000"/>
              <a:gd name="connsiteY44" fmla="*/ 9144000 h 91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858000" h="9144000">
                <a:moveTo>
                  <a:pt x="3727575" y="8661917"/>
                </a:moveTo>
                <a:lnTo>
                  <a:pt x="3727575" y="8715917"/>
                </a:lnTo>
                <a:lnTo>
                  <a:pt x="6319575" y="8715917"/>
                </a:lnTo>
                <a:lnTo>
                  <a:pt x="6319575" y="8661917"/>
                </a:lnTo>
                <a:close/>
                <a:moveTo>
                  <a:pt x="547269" y="8661917"/>
                </a:moveTo>
                <a:lnTo>
                  <a:pt x="547269" y="8715917"/>
                </a:lnTo>
                <a:lnTo>
                  <a:pt x="3139269" y="8715917"/>
                </a:lnTo>
                <a:lnTo>
                  <a:pt x="3139269" y="8661917"/>
                </a:lnTo>
                <a:close/>
                <a:moveTo>
                  <a:pt x="661385" y="7676931"/>
                </a:moveTo>
                <a:cubicBezTo>
                  <a:pt x="618922" y="7676931"/>
                  <a:pt x="584499" y="7711354"/>
                  <a:pt x="584499" y="7753817"/>
                </a:cubicBezTo>
                <a:cubicBezTo>
                  <a:pt x="584499" y="7796280"/>
                  <a:pt x="618922" y="7830703"/>
                  <a:pt x="661385" y="7830703"/>
                </a:cubicBezTo>
                <a:cubicBezTo>
                  <a:pt x="703848" y="7830703"/>
                  <a:pt x="738271" y="7796280"/>
                  <a:pt x="738271" y="7753817"/>
                </a:cubicBezTo>
                <a:cubicBezTo>
                  <a:pt x="738271" y="7711354"/>
                  <a:pt x="703848" y="7676931"/>
                  <a:pt x="661385" y="7676931"/>
                </a:cubicBezTo>
                <a:close/>
                <a:moveTo>
                  <a:pt x="661241" y="4679629"/>
                </a:moveTo>
                <a:cubicBezTo>
                  <a:pt x="604723" y="4679629"/>
                  <a:pt x="558906" y="4725446"/>
                  <a:pt x="558906" y="4781964"/>
                </a:cubicBezTo>
                <a:cubicBezTo>
                  <a:pt x="558906" y="4838482"/>
                  <a:pt x="604723" y="4884299"/>
                  <a:pt x="661241" y="4884299"/>
                </a:cubicBezTo>
                <a:cubicBezTo>
                  <a:pt x="717759" y="4884299"/>
                  <a:pt x="763576" y="4838482"/>
                  <a:pt x="763576" y="4781964"/>
                </a:cubicBezTo>
                <a:cubicBezTo>
                  <a:pt x="763576" y="4725446"/>
                  <a:pt x="717759" y="4679629"/>
                  <a:pt x="661241" y="4679629"/>
                </a:cubicBezTo>
                <a:close/>
                <a:moveTo>
                  <a:pt x="661241" y="3069491"/>
                </a:moveTo>
                <a:cubicBezTo>
                  <a:pt x="604723" y="3069491"/>
                  <a:pt x="558906" y="3115308"/>
                  <a:pt x="558906" y="3171826"/>
                </a:cubicBezTo>
                <a:cubicBezTo>
                  <a:pt x="558906" y="3228344"/>
                  <a:pt x="604723" y="3274161"/>
                  <a:pt x="661241" y="3274161"/>
                </a:cubicBezTo>
                <a:cubicBezTo>
                  <a:pt x="717759" y="3274161"/>
                  <a:pt x="763576" y="3228344"/>
                  <a:pt x="763576" y="3171826"/>
                </a:cubicBezTo>
                <a:cubicBezTo>
                  <a:pt x="763576" y="3115308"/>
                  <a:pt x="717759" y="3069491"/>
                  <a:pt x="661241" y="3069491"/>
                </a:cubicBezTo>
                <a:close/>
                <a:moveTo>
                  <a:pt x="6107887" y="2279977"/>
                </a:moveTo>
                <a:cubicBezTo>
                  <a:pt x="6107887" y="2310521"/>
                  <a:pt x="6083126" y="2335282"/>
                  <a:pt x="6052582" y="2335282"/>
                </a:cubicBezTo>
                <a:lnTo>
                  <a:pt x="798143" y="2335282"/>
                </a:lnTo>
                <a:cubicBezTo>
                  <a:pt x="782871" y="2335282"/>
                  <a:pt x="769045" y="2329092"/>
                  <a:pt x="759037" y="2319083"/>
                </a:cubicBezTo>
                <a:lnTo>
                  <a:pt x="742839" y="2279979"/>
                </a:lnTo>
                <a:lnTo>
                  <a:pt x="742839" y="2413569"/>
                </a:lnTo>
                <a:cubicBezTo>
                  <a:pt x="742839" y="2517893"/>
                  <a:pt x="827411" y="2602465"/>
                  <a:pt x="931735" y="2602465"/>
                </a:cubicBezTo>
                <a:lnTo>
                  <a:pt x="5918991" y="2602465"/>
                </a:lnTo>
                <a:cubicBezTo>
                  <a:pt x="6023315" y="2602465"/>
                  <a:pt x="6107887" y="2517893"/>
                  <a:pt x="6107887" y="2413569"/>
                </a:cubicBezTo>
                <a:close/>
                <a:moveTo>
                  <a:pt x="931737" y="431920"/>
                </a:moveTo>
                <a:cubicBezTo>
                  <a:pt x="827413" y="431920"/>
                  <a:pt x="742841" y="516492"/>
                  <a:pt x="742841" y="620816"/>
                </a:cubicBezTo>
                <a:lnTo>
                  <a:pt x="742841" y="754408"/>
                </a:lnTo>
                <a:cubicBezTo>
                  <a:pt x="742841" y="723864"/>
                  <a:pt x="767602" y="699103"/>
                  <a:pt x="798146" y="699103"/>
                </a:cubicBezTo>
                <a:lnTo>
                  <a:pt x="6052584" y="699103"/>
                </a:lnTo>
                <a:cubicBezTo>
                  <a:pt x="6067856" y="699103"/>
                  <a:pt x="6081682" y="705293"/>
                  <a:pt x="6091691" y="715302"/>
                </a:cubicBezTo>
                <a:lnTo>
                  <a:pt x="6107888" y="754406"/>
                </a:lnTo>
                <a:lnTo>
                  <a:pt x="6107888" y="620816"/>
                </a:lnTo>
                <a:cubicBezTo>
                  <a:pt x="6107888" y="516492"/>
                  <a:pt x="6023316" y="431920"/>
                  <a:pt x="5918992" y="431920"/>
                </a:cubicBezTo>
                <a:close/>
                <a:moveTo>
                  <a:pt x="0" y="0"/>
                </a:moveTo>
                <a:lnTo>
                  <a:pt x="6858000" y="0"/>
                </a:lnTo>
                <a:lnTo>
                  <a:pt x="6858000" y="9144000"/>
                </a:lnTo>
                <a:lnTo>
                  <a:pt x="0" y="914400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b="1"/>
          </a:p>
        </p:txBody>
      </p:sp>
      <p:sp>
        <p:nvSpPr>
          <p:cNvPr id="17" name="テキスト ボックス 16">
            <a:extLst>
              <a:ext uri="{FF2B5EF4-FFF2-40B4-BE49-F238E27FC236}">
                <a16:creationId xmlns:a16="http://schemas.microsoft.com/office/drawing/2014/main" id="{B289B8F9-969B-4FC9-6290-9EBE4023C073}"/>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1</a:t>
            </a:r>
            <a:endParaRPr kumimoji="1" lang="ja-JP" altLang="en-US" dirty="0"/>
          </a:p>
        </p:txBody>
      </p:sp>
      <p:sp>
        <p:nvSpPr>
          <p:cNvPr id="2" name="テキスト ボックス 1">
            <a:extLst>
              <a:ext uri="{FF2B5EF4-FFF2-40B4-BE49-F238E27FC236}">
                <a16:creationId xmlns:a16="http://schemas.microsoft.com/office/drawing/2014/main" id="{309D5A08-B487-407E-803B-60D2A557F176}"/>
              </a:ext>
            </a:extLst>
          </p:cNvPr>
          <p:cNvSpPr txBox="1"/>
          <p:nvPr/>
        </p:nvSpPr>
        <p:spPr>
          <a:xfrm>
            <a:off x="646571" y="840586"/>
            <a:ext cx="5729069" cy="1077218"/>
          </a:xfrm>
          <a:prstGeom prst="rect">
            <a:avLst/>
          </a:prstGeom>
          <a:noFill/>
        </p:spPr>
        <p:txBody>
          <a:bodyPr wrap="none" rtlCol="0">
            <a:spAutoFit/>
          </a:bodyPr>
          <a:lstStyle/>
          <a:p>
            <a:r>
              <a:rPr lang="en-US" altLang="ja-JP" sz="3200" b="1" dirty="0">
                <a:latin typeface="Segoe UI Semibold" panose="020B0702040204020203" pitchFamily="34" charset="0"/>
                <a:ea typeface="IBM Plex Sans JP" panose="020B0503050203000203" pitchFamily="50" charset="-128"/>
                <a:cs typeface="Segoe UI Semibold" panose="020B0702040204020203" pitchFamily="34" charset="0"/>
              </a:rPr>
              <a:t>FlexChroma™</a:t>
            </a:r>
            <a:r>
              <a:rPr lang="en-US" altLang="ja-JP" sz="3200" b="1" dirty="0">
                <a:latin typeface="IBM Plex Sans JP" panose="020B0503050203000203" pitchFamily="50" charset="-128"/>
                <a:ea typeface="IBM Plex Sans JP" panose="020B0503050203000203" pitchFamily="50" charset="-128"/>
              </a:rPr>
              <a:t> </a:t>
            </a:r>
            <a:r>
              <a:rPr lang="ja-JP" altLang="en-US" sz="2800" b="1" dirty="0">
                <a:latin typeface="+mj-ea"/>
                <a:ea typeface="+mj-ea"/>
              </a:rPr>
              <a:t>ブリム情報ガイド</a:t>
            </a:r>
            <a:endParaRPr lang="ja-JP" altLang="ja-JP" sz="2900" dirty="0">
              <a:latin typeface="+mj-ea"/>
              <a:ea typeface="+mj-ea"/>
            </a:endParaRPr>
          </a:p>
          <a:p>
            <a:endParaRPr kumimoji="1" lang="ja-JP" altLang="en-US" sz="3200" b="1" dirty="0">
              <a:latin typeface="IBM Plex Sans JP" panose="020B0503050203000203" pitchFamily="50" charset="-128"/>
              <a:ea typeface="IBM Plex Sans JP" panose="020B0503050203000203" pitchFamily="50" charset="-128"/>
            </a:endParaRPr>
          </a:p>
        </p:txBody>
      </p:sp>
      <p:sp>
        <p:nvSpPr>
          <p:cNvPr id="18" name="テキスト ボックス 17">
            <a:extLst>
              <a:ext uri="{FF2B5EF4-FFF2-40B4-BE49-F238E27FC236}">
                <a16:creationId xmlns:a16="http://schemas.microsoft.com/office/drawing/2014/main" id="{365EA251-33BA-866F-CE99-3A7F65CA802B}"/>
              </a:ext>
            </a:extLst>
          </p:cNvPr>
          <p:cNvSpPr txBox="1"/>
          <p:nvPr/>
        </p:nvSpPr>
        <p:spPr>
          <a:xfrm>
            <a:off x="770844" y="3001606"/>
            <a:ext cx="1516762"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1. </a:t>
            </a:r>
            <a:r>
              <a:rPr lang="ja-JP" altLang="en-US" sz="2000" dirty="0">
                <a:latin typeface="IBM Plex Sans JP SemiBold" panose="020B0703050203000203" pitchFamily="50" charset="-128"/>
                <a:ea typeface="IBM Plex Sans JP SemiBold" panose="020B0703050203000203" pitchFamily="50" charset="-128"/>
              </a:rPr>
              <a:t>はじめに</a:t>
            </a:r>
            <a:endParaRPr kumimoji="1" lang="ja-JP" altLang="en-US" sz="2000" b="1" dirty="0">
              <a:latin typeface="IBM Plex Sans JP SemiBold" panose="020B0703050203000203" pitchFamily="50" charset="-128"/>
              <a:ea typeface="IBM Plex Sans JP SemiBold" panose="020B0703050203000203" pitchFamily="50" charset="-128"/>
            </a:endParaRPr>
          </a:p>
        </p:txBody>
      </p:sp>
      <p:sp>
        <p:nvSpPr>
          <p:cNvPr id="19" name="テキスト ボックス 18">
            <a:extLst>
              <a:ext uri="{FF2B5EF4-FFF2-40B4-BE49-F238E27FC236}">
                <a16:creationId xmlns:a16="http://schemas.microsoft.com/office/drawing/2014/main" id="{BF3A64B0-DDA6-4BAF-E201-008A113021F8}"/>
              </a:ext>
            </a:extLst>
          </p:cNvPr>
          <p:cNvSpPr txBox="1"/>
          <p:nvPr/>
        </p:nvSpPr>
        <p:spPr>
          <a:xfrm>
            <a:off x="668508" y="3424546"/>
            <a:ext cx="5649491" cy="992579"/>
          </a:xfrm>
          <a:prstGeom prst="rect">
            <a:avLst/>
          </a:prstGeom>
          <a:noFill/>
        </p:spPr>
        <p:txBody>
          <a:bodyPr wrap="square" rtlCol="0">
            <a:spAutoFit/>
          </a:bodyPr>
          <a:lstStyle/>
          <a:p>
            <a:r>
              <a:rPr lang="en-US" altLang="ja-JP" sz="1050" dirty="0">
                <a:latin typeface="Segoe UI Semibold" panose="020B0702040204020203" pitchFamily="34" charset="0"/>
                <a:cs typeface="Segoe UI Semibold" panose="020B0702040204020203" pitchFamily="34" charset="0"/>
              </a:rPr>
              <a:t>FlexChroma™</a:t>
            </a:r>
            <a:r>
              <a:rPr lang="ja-JP" altLang="ja-JP" sz="1050" dirty="0"/>
              <a:t>は、市販のフィラメントを組み合わせて「フィラメントそのもの」を生み出すためのモデルです。</a:t>
            </a:r>
          </a:p>
          <a:p>
            <a:r>
              <a:rPr lang="ja-JP" altLang="en-US" sz="1050" dirty="0"/>
              <a:t>印刷されたフィラメントには</a:t>
            </a:r>
            <a:r>
              <a:rPr lang="ja-JP" altLang="ja-JP" sz="1050" dirty="0"/>
              <a:t>どの様な仕様のフィラメントであるかを判別しやすいようにブリムに情報を記載しています。</a:t>
            </a:r>
          </a:p>
          <a:p>
            <a:r>
              <a:rPr lang="ja-JP" altLang="ja-JP" sz="1050" dirty="0"/>
              <a:t>本ガイドではこの情報の読み解き方を説明します。</a:t>
            </a:r>
          </a:p>
          <a:p>
            <a:endParaRPr lang="ja-JP" altLang="ja-JP" sz="600" dirty="0"/>
          </a:p>
        </p:txBody>
      </p:sp>
      <p:sp>
        <p:nvSpPr>
          <p:cNvPr id="21" name="テキスト ボックス 20">
            <a:extLst>
              <a:ext uri="{FF2B5EF4-FFF2-40B4-BE49-F238E27FC236}">
                <a16:creationId xmlns:a16="http://schemas.microsoft.com/office/drawing/2014/main" id="{8FF3FBDF-4091-E9A1-8613-F22F37C40318}"/>
              </a:ext>
            </a:extLst>
          </p:cNvPr>
          <p:cNvSpPr txBox="1"/>
          <p:nvPr/>
        </p:nvSpPr>
        <p:spPr>
          <a:xfrm>
            <a:off x="770844" y="4611744"/>
            <a:ext cx="2106667"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2. </a:t>
            </a:r>
            <a:r>
              <a:rPr lang="ja-JP" altLang="en-US" dirty="0">
                <a:latin typeface="IBM Plex Sans JP SemiBold" panose="020B0703050203000203" pitchFamily="50" charset="-128"/>
                <a:ea typeface="IBM Plex Sans JP SemiBold" panose="020B0703050203000203" pitchFamily="50" charset="-128"/>
              </a:rPr>
              <a:t>ブリムの役割り</a:t>
            </a:r>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22" name="テキスト ボックス 21">
            <a:extLst>
              <a:ext uri="{FF2B5EF4-FFF2-40B4-BE49-F238E27FC236}">
                <a16:creationId xmlns:a16="http://schemas.microsoft.com/office/drawing/2014/main" id="{D8AA334E-1E29-97E3-CC51-74A9D80DD7B6}"/>
              </a:ext>
            </a:extLst>
          </p:cNvPr>
          <p:cNvSpPr txBox="1"/>
          <p:nvPr/>
        </p:nvSpPr>
        <p:spPr>
          <a:xfrm>
            <a:off x="661239" y="5034684"/>
            <a:ext cx="5649492" cy="577081"/>
          </a:xfrm>
          <a:prstGeom prst="rect">
            <a:avLst/>
          </a:prstGeom>
          <a:noFill/>
        </p:spPr>
        <p:txBody>
          <a:bodyPr wrap="square" rtlCol="0">
            <a:spAutoFit/>
          </a:bodyPr>
          <a:lstStyle/>
          <a:p>
            <a:r>
              <a:rPr lang="ja-JP" altLang="ja-JP" sz="1050" dirty="0"/>
              <a:t>ブリムには</a:t>
            </a:r>
            <a:r>
              <a:rPr lang="en-US" altLang="ja-JP" sz="1050" dirty="0"/>
              <a:t>2</a:t>
            </a:r>
            <a:r>
              <a:rPr lang="ja-JP" altLang="ja-JP" sz="1050" dirty="0"/>
              <a:t>つの役割を持たせています。１つは定着性の改善であり、２つ目はフィラメント情報の記載です。</a:t>
            </a:r>
          </a:p>
          <a:p>
            <a:r>
              <a:rPr lang="ja-JP" altLang="ja-JP" sz="1050" dirty="0"/>
              <a:t>狭いブリム内にフィラメント情報を記載するため、情報は略語による記載となります。</a:t>
            </a:r>
          </a:p>
        </p:txBody>
      </p:sp>
      <p:sp>
        <p:nvSpPr>
          <p:cNvPr id="31" name="テキスト ボックス 30">
            <a:extLst>
              <a:ext uri="{FF2B5EF4-FFF2-40B4-BE49-F238E27FC236}">
                <a16:creationId xmlns:a16="http://schemas.microsoft.com/office/drawing/2014/main" id="{50A37D53-4BD9-B3E5-B65A-EE0A4F0F19C5}"/>
              </a:ext>
            </a:extLst>
          </p:cNvPr>
          <p:cNvSpPr txBox="1"/>
          <p:nvPr/>
        </p:nvSpPr>
        <p:spPr>
          <a:xfrm>
            <a:off x="1890756" y="1424613"/>
            <a:ext cx="3076483" cy="338554"/>
          </a:xfrm>
          <a:prstGeom prst="rect">
            <a:avLst/>
          </a:prstGeom>
          <a:noFill/>
        </p:spPr>
        <p:txBody>
          <a:bodyPr wrap="none" rtlCol="0">
            <a:spAutoFit/>
          </a:bodyPr>
          <a:lstStyle/>
          <a:p>
            <a:r>
              <a:rPr lang="en-US" altLang="ja-JP" sz="1600" dirty="0">
                <a:latin typeface="IBM Plex Sans JP" panose="020B0503050203000203" pitchFamily="50" charset="-128"/>
                <a:ea typeface="IBM Plex Sans JP" panose="020B0503050203000203" pitchFamily="50" charset="-128"/>
              </a:rPr>
              <a:t>- </a:t>
            </a:r>
            <a:r>
              <a:rPr lang="ja-JP" altLang="en-US" sz="1600" dirty="0">
                <a:latin typeface="IBM Plex Sans JP" panose="020B0503050203000203" pitchFamily="50" charset="-128"/>
                <a:ea typeface="IBM Plex Sans JP" panose="020B0503050203000203" pitchFamily="50" charset="-128"/>
              </a:rPr>
              <a:t>ブリムから情報を読み解こう</a:t>
            </a:r>
            <a:r>
              <a:rPr lang="en-US" altLang="ja-JP" sz="1600" dirty="0">
                <a:latin typeface="IBM Plex Sans JP" panose="020B0503050203000203" pitchFamily="50" charset="-128"/>
                <a:ea typeface="IBM Plex Sans JP" panose="020B0503050203000203" pitchFamily="50" charset="-128"/>
              </a:rPr>
              <a:t>-</a:t>
            </a:r>
            <a:endParaRPr kumimoji="1" lang="ja-JP" altLang="en-US" sz="1600" dirty="0">
              <a:latin typeface="IBM Plex Sans JP" panose="020B0503050203000203" pitchFamily="50" charset="-128"/>
              <a:ea typeface="IBM Plex Sans JP" panose="020B0503050203000203" pitchFamily="50" charset="-128"/>
            </a:endParaRPr>
          </a:p>
        </p:txBody>
      </p:sp>
      <p:sp>
        <p:nvSpPr>
          <p:cNvPr id="34" name="テキスト ボックス 33">
            <a:extLst>
              <a:ext uri="{FF2B5EF4-FFF2-40B4-BE49-F238E27FC236}">
                <a16:creationId xmlns:a16="http://schemas.microsoft.com/office/drawing/2014/main" id="{ED5B19A4-83F3-672F-E441-936192226A0A}"/>
              </a:ext>
            </a:extLst>
          </p:cNvPr>
          <p:cNvSpPr txBox="1"/>
          <p:nvPr/>
        </p:nvSpPr>
        <p:spPr>
          <a:xfrm>
            <a:off x="2381276" y="1883364"/>
            <a:ext cx="1904689" cy="307777"/>
          </a:xfrm>
          <a:prstGeom prst="rect">
            <a:avLst/>
          </a:prstGeom>
          <a:noFill/>
        </p:spPr>
        <p:txBody>
          <a:bodyPr wrap="none" rtlCol="0">
            <a:spAutoFit/>
          </a:bodyPr>
          <a:lstStyle/>
          <a:p>
            <a:r>
              <a:rPr lang="en-US" altLang="ja-JP" sz="1400" dirty="0">
                <a:latin typeface="IBM Plex Sans JP" panose="020B0503050203000203" pitchFamily="50" charset="-128"/>
                <a:ea typeface="IBM Plex Sans JP" panose="020B0503050203000203" pitchFamily="50" charset="-128"/>
              </a:rPr>
              <a:t>Ver.1.10  2026.7.24</a:t>
            </a:r>
            <a:endParaRPr kumimoji="1" lang="ja-JP" altLang="en-US" sz="1400" dirty="0">
              <a:latin typeface="IBM Plex Sans JP" panose="020B0503050203000203" pitchFamily="50" charset="-128"/>
              <a:ea typeface="IBM Plex Sans JP" panose="020B0503050203000203" pitchFamily="50" charset="-128"/>
            </a:endParaRPr>
          </a:p>
        </p:txBody>
      </p:sp>
      <p:pic>
        <p:nvPicPr>
          <p:cNvPr id="11" name="図 10" descr="ダイアグラム&#10;&#10;AI 生成コンテンツは誤りを含む可能性があります。">
            <a:extLst>
              <a:ext uri="{FF2B5EF4-FFF2-40B4-BE49-F238E27FC236}">
                <a16:creationId xmlns:a16="http://schemas.microsoft.com/office/drawing/2014/main" id="{EFD5ED9E-2623-8FB1-AC19-7403AD9F01D6}"/>
              </a:ext>
            </a:extLst>
          </p:cNvPr>
          <p:cNvPicPr>
            <a:picLocks noChangeAspect="1"/>
          </p:cNvPicPr>
          <p:nvPr/>
        </p:nvPicPr>
        <p:blipFill>
          <a:blip r:embed="rId2"/>
          <a:stretch>
            <a:fillRect/>
          </a:stretch>
        </p:blipFill>
        <p:spPr>
          <a:xfrm>
            <a:off x="910951" y="5860779"/>
            <a:ext cx="5036095" cy="1716479"/>
          </a:xfrm>
          <a:prstGeom prst="rect">
            <a:avLst/>
          </a:prstGeom>
        </p:spPr>
      </p:pic>
      <p:sp>
        <p:nvSpPr>
          <p:cNvPr id="29" name="テキスト ボックス 28">
            <a:extLst>
              <a:ext uri="{FF2B5EF4-FFF2-40B4-BE49-F238E27FC236}">
                <a16:creationId xmlns:a16="http://schemas.microsoft.com/office/drawing/2014/main" id="{FD05C388-EF2F-7366-6FC1-A7C44CC5F185}"/>
              </a:ext>
            </a:extLst>
          </p:cNvPr>
          <p:cNvSpPr txBox="1"/>
          <p:nvPr/>
        </p:nvSpPr>
        <p:spPr>
          <a:xfrm>
            <a:off x="668507" y="7628930"/>
            <a:ext cx="5649492" cy="884858"/>
          </a:xfrm>
          <a:prstGeom prst="rect">
            <a:avLst/>
          </a:prstGeom>
          <a:noFill/>
        </p:spPr>
        <p:txBody>
          <a:bodyPr wrap="square" rtlCol="0">
            <a:spAutoFit/>
          </a:bodyPr>
          <a:lstStyle/>
          <a:p>
            <a:r>
              <a:rPr lang="en-US" altLang="ja-JP" sz="1400" b="1" dirty="0"/>
              <a:t> </a:t>
            </a:r>
            <a:r>
              <a:rPr lang="ja-JP" altLang="ja-JP" sz="1400" b="1" dirty="0"/>
              <a:t>文字の意味</a:t>
            </a:r>
            <a:endParaRPr lang="en-US" altLang="ja-JP" sz="1400" b="1" dirty="0"/>
          </a:p>
          <a:p>
            <a:endParaRPr lang="ja-JP" altLang="ja-JP" sz="600" dirty="0"/>
          </a:p>
          <a:p>
            <a:r>
              <a:rPr lang="ja-JP" altLang="ja-JP" sz="1050" dirty="0"/>
              <a:t>内側のブリムにはどのシリーズの、どのサイズのフィラメントなのか？を記載します。</a:t>
            </a:r>
          </a:p>
          <a:p>
            <a:r>
              <a:rPr lang="ja-JP" altLang="ja-JP" sz="1050" dirty="0"/>
              <a:t>外側のブリムには各シリーズごとに選択した仕様を記載します。</a:t>
            </a:r>
            <a:endParaRPr lang="ja-JP" altLang="ja-JP" sz="1050" dirty="0">
              <a:latin typeface="IBM Plex Sans JP" panose="020B0503050203000203" pitchFamily="50" charset="-128"/>
              <a:ea typeface="IBM Plex Sans JP" panose="020B0503050203000203" pitchFamily="50" charset="-128"/>
            </a:endParaRPr>
          </a:p>
          <a:p>
            <a:endParaRPr lang="ja-JP" altLang="ja-JP" sz="1050" dirty="0">
              <a:latin typeface="IBM Plex Sans JP" panose="020B0503050203000203" pitchFamily="50" charset="-128"/>
              <a:ea typeface="IBM Plex Sans JP" panose="020B0503050203000203" pitchFamily="50" charset="-128"/>
            </a:endParaRPr>
          </a:p>
        </p:txBody>
      </p:sp>
    </p:spTree>
    <p:extLst>
      <p:ext uri="{BB962C8B-B14F-4D97-AF65-F5344CB8AC3E}">
        <p14:creationId xmlns:p14="http://schemas.microsoft.com/office/powerpoint/2010/main" val="2890557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7C190-55E6-EFD4-491B-681DC93889D9}"/>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ED88E103-FF66-8FA3-7DB0-D973C2F0C7A3}"/>
              </a:ext>
            </a:extLst>
          </p:cNvPr>
          <p:cNvSpPr/>
          <p:nvPr/>
        </p:nvSpPr>
        <p:spPr>
          <a:xfrm>
            <a:off x="33951" y="45268"/>
            <a:ext cx="6790099" cy="9053465"/>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フリーフォーム: 図形 26">
            <a:extLst>
              <a:ext uri="{FF2B5EF4-FFF2-40B4-BE49-F238E27FC236}">
                <a16:creationId xmlns:a16="http://schemas.microsoft.com/office/drawing/2014/main" id="{5EA5D42A-9750-E2CD-9F84-49C8D25CECE9}"/>
              </a:ext>
            </a:extLst>
          </p:cNvPr>
          <p:cNvSpPr/>
          <p:nvPr/>
        </p:nvSpPr>
        <p:spPr>
          <a:xfrm>
            <a:off x="14539" y="0"/>
            <a:ext cx="6858000" cy="9144000"/>
          </a:xfrm>
          <a:custGeom>
            <a:avLst/>
            <a:gdLst>
              <a:gd name="connsiteX0" fmla="*/ 3720305 w 6858000"/>
              <a:gd name="connsiteY0" fmla="*/ 8661917 h 9144000"/>
              <a:gd name="connsiteX1" fmla="*/ 3720305 w 6858000"/>
              <a:gd name="connsiteY1" fmla="*/ 8715917 h 9144000"/>
              <a:gd name="connsiteX2" fmla="*/ 6312305 w 6858000"/>
              <a:gd name="connsiteY2" fmla="*/ 8715917 h 9144000"/>
              <a:gd name="connsiteX3" fmla="*/ 6312305 w 6858000"/>
              <a:gd name="connsiteY3" fmla="*/ 8661917 h 9144000"/>
              <a:gd name="connsiteX4" fmla="*/ 539999 w 6858000"/>
              <a:gd name="connsiteY4" fmla="*/ 8661917 h 9144000"/>
              <a:gd name="connsiteX5" fmla="*/ 539999 w 6858000"/>
              <a:gd name="connsiteY5" fmla="*/ 8715917 h 9144000"/>
              <a:gd name="connsiteX6" fmla="*/ 3131999 w 6858000"/>
              <a:gd name="connsiteY6" fmla="*/ 8715917 h 9144000"/>
              <a:gd name="connsiteX7" fmla="*/ 3131999 w 6858000"/>
              <a:gd name="connsiteY7" fmla="*/ 8661917 h 9144000"/>
              <a:gd name="connsiteX8" fmla="*/ 653971 w 6858000"/>
              <a:gd name="connsiteY8" fmla="*/ 5989159 h 9144000"/>
              <a:gd name="connsiteX9" fmla="*/ 551636 w 6858000"/>
              <a:gd name="connsiteY9" fmla="*/ 6091494 h 9144000"/>
              <a:gd name="connsiteX10" fmla="*/ 653971 w 6858000"/>
              <a:gd name="connsiteY10" fmla="*/ 6193829 h 9144000"/>
              <a:gd name="connsiteX11" fmla="*/ 756306 w 6858000"/>
              <a:gd name="connsiteY11" fmla="*/ 6091494 h 9144000"/>
              <a:gd name="connsiteX12" fmla="*/ 653971 w 6858000"/>
              <a:gd name="connsiteY12" fmla="*/ 5989159 h 9144000"/>
              <a:gd name="connsiteX13" fmla="*/ 653971 w 6858000"/>
              <a:gd name="connsiteY13" fmla="*/ 2527150 h 9144000"/>
              <a:gd name="connsiteX14" fmla="*/ 551636 w 6858000"/>
              <a:gd name="connsiteY14" fmla="*/ 2629485 h 9144000"/>
              <a:gd name="connsiteX15" fmla="*/ 653971 w 6858000"/>
              <a:gd name="connsiteY15" fmla="*/ 2731820 h 9144000"/>
              <a:gd name="connsiteX16" fmla="*/ 756306 w 6858000"/>
              <a:gd name="connsiteY16" fmla="*/ 2629485 h 9144000"/>
              <a:gd name="connsiteX17" fmla="*/ 653971 w 6858000"/>
              <a:gd name="connsiteY17" fmla="*/ 2527150 h 9144000"/>
              <a:gd name="connsiteX18" fmla="*/ 654115 w 6858000"/>
              <a:gd name="connsiteY18" fmla="*/ 758160 h 9144000"/>
              <a:gd name="connsiteX19" fmla="*/ 577229 w 6858000"/>
              <a:gd name="connsiteY19" fmla="*/ 835046 h 9144000"/>
              <a:gd name="connsiteX20" fmla="*/ 654115 w 6858000"/>
              <a:gd name="connsiteY20" fmla="*/ 911932 h 9144000"/>
              <a:gd name="connsiteX21" fmla="*/ 731001 w 6858000"/>
              <a:gd name="connsiteY21" fmla="*/ 835046 h 9144000"/>
              <a:gd name="connsiteX22" fmla="*/ 654115 w 6858000"/>
              <a:gd name="connsiteY22" fmla="*/ 758160 h 9144000"/>
              <a:gd name="connsiteX23" fmla="*/ 539998 w 6858000"/>
              <a:gd name="connsiteY23" fmla="*/ 423893 h 9144000"/>
              <a:gd name="connsiteX24" fmla="*/ 539998 w 6858000"/>
              <a:gd name="connsiteY24" fmla="*/ 477893 h 9144000"/>
              <a:gd name="connsiteX25" fmla="*/ 6296191 w 6858000"/>
              <a:gd name="connsiteY25" fmla="*/ 477893 h 9144000"/>
              <a:gd name="connsiteX26" fmla="*/ 6296191 w 6858000"/>
              <a:gd name="connsiteY26" fmla="*/ 423893 h 9144000"/>
              <a:gd name="connsiteX27" fmla="*/ 0 w 6858000"/>
              <a:gd name="connsiteY27" fmla="*/ 0 h 9144000"/>
              <a:gd name="connsiteX28" fmla="*/ 6858000 w 6858000"/>
              <a:gd name="connsiteY28" fmla="*/ 0 h 9144000"/>
              <a:gd name="connsiteX29" fmla="*/ 6858000 w 6858000"/>
              <a:gd name="connsiteY29" fmla="*/ 9144000 h 9144000"/>
              <a:gd name="connsiteX30" fmla="*/ 0 w 6858000"/>
              <a:gd name="connsiteY30" fmla="*/ 9144000 h 91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858000" h="9144000">
                <a:moveTo>
                  <a:pt x="3720305" y="8661917"/>
                </a:moveTo>
                <a:lnTo>
                  <a:pt x="3720305" y="8715917"/>
                </a:lnTo>
                <a:lnTo>
                  <a:pt x="6312305" y="8715917"/>
                </a:lnTo>
                <a:lnTo>
                  <a:pt x="6312305" y="8661917"/>
                </a:lnTo>
                <a:close/>
                <a:moveTo>
                  <a:pt x="539999" y="8661917"/>
                </a:moveTo>
                <a:lnTo>
                  <a:pt x="539999" y="8715917"/>
                </a:lnTo>
                <a:lnTo>
                  <a:pt x="3131999" y="8715917"/>
                </a:lnTo>
                <a:lnTo>
                  <a:pt x="3131999" y="8661917"/>
                </a:lnTo>
                <a:close/>
                <a:moveTo>
                  <a:pt x="653971" y="5989159"/>
                </a:moveTo>
                <a:cubicBezTo>
                  <a:pt x="597453" y="5989159"/>
                  <a:pt x="551636" y="6034976"/>
                  <a:pt x="551636" y="6091494"/>
                </a:cubicBezTo>
                <a:cubicBezTo>
                  <a:pt x="551636" y="6148012"/>
                  <a:pt x="597453" y="6193829"/>
                  <a:pt x="653971" y="6193829"/>
                </a:cubicBezTo>
                <a:cubicBezTo>
                  <a:pt x="710489" y="6193829"/>
                  <a:pt x="756306" y="6148012"/>
                  <a:pt x="756306" y="6091494"/>
                </a:cubicBezTo>
                <a:cubicBezTo>
                  <a:pt x="756306" y="6034976"/>
                  <a:pt x="710489" y="5989159"/>
                  <a:pt x="653971" y="5989159"/>
                </a:cubicBezTo>
                <a:close/>
                <a:moveTo>
                  <a:pt x="653971" y="2527150"/>
                </a:moveTo>
                <a:cubicBezTo>
                  <a:pt x="597453" y="2527150"/>
                  <a:pt x="551636" y="2572967"/>
                  <a:pt x="551636" y="2629485"/>
                </a:cubicBezTo>
                <a:cubicBezTo>
                  <a:pt x="551636" y="2686003"/>
                  <a:pt x="597453" y="2731820"/>
                  <a:pt x="653971" y="2731820"/>
                </a:cubicBezTo>
                <a:cubicBezTo>
                  <a:pt x="710489" y="2731820"/>
                  <a:pt x="756306" y="2686003"/>
                  <a:pt x="756306" y="2629485"/>
                </a:cubicBezTo>
                <a:cubicBezTo>
                  <a:pt x="756306" y="2572967"/>
                  <a:pt x="710489" y="2527150"/>
                  <a:pt x="653971" y="2527150"/>
                </a:cubicBezTo>
                <a:close/>
                <a:moveTo>
                  <a:pt x="654115" y="758160"/>
                </a:moveTo>
                <a:cubicBezTo>
                  <a:pt x="611652" y="758160"/>
                  <a:pt x="577229" y="792583"/>
                  <a:pt x="577229" y="835046"/>
                </a:cubicBezTo>
                <a:cubicBezTo>
                  <a:pt x="577229" y="877509"/>
                  <a:pt x="611652" y="911932"/>
                  <a:pt x="654115" y="911932"/>
                </a:cubicBezTo>
                <a:cubicBezTo>
                  <a:pt x="696578" y="911932"/>
                  <a:pt x="731001" y="877509"/>
                  <a:pt x="731001" y="835046"/>
                </a:cubicBezTo>
                <a:cubicBezTo>
                  <a:pt x="731001" y="792583"/>
                  <a:pt x="696578" y="758160"/>
                  <a:pt x="654115" y="758160"/>
                </a:cubicBezTo>
                <a:close/>
                <a:moveTo>
                  <a:pt x="539998" y="423893"/>
                </a:moveTo>
                <a:lnTo>
                  <a:pt x="539998" y="477893"/>
                </a:lnTo>
                <a:lnTo>
                  <a:pt x="6296191" y="477893"/>
                </a:lnTo>
                <a:lnTo>
                  <a:pt x="6296191" y="423893"/>
                </a:lnTo>
                <a:close/>
                <a:moveTo>
                  <a:pt x="0" y="0"/>
                </a:moveTo>
                <a:lnTo>
                  <a:pt x="6858000" y="0"/>
                </a:lnTo>
                <a:lnTo>
                  <a:pt x="6858000" y="9144000"/>
                </a:lnTo>
                <a:lnTo>
                  <a:pt x="0" y="914400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17" name="テキスト ボックス 16">
            <a:extLst>
              <a:ext uri="{FF2B5EF4-FFF2-40B4-BE49-F238E27FC236}">
                <a16:creationId xmlns:a16="http://schemas.microsoft.com/office/drawing/2014/main" id="{F74192C9-9E17-B9AC-8DDC-9D23C21F6F04}"/>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2</a:t>
            </a:r>
            <a:endParaRPr kumimoji="1" lang="ja-JP" altLang="en-US" dirty="0"/>
          </a:p>
        </p:txBody>
      </p:sp>
      <p:sp>
        <p:nvSpPr>
          <p:cNvPr id="3" name="テキスト ボックス 2">
            <a:extLst>
              <a:ext uri="{FF2B5EF4-FFF2-40B4-BE49-F238E27FC236}">
                <a16:creationId xmlns:a16="http://schemas.microsoft.com/office/drawing/2014/main" id="{76FB88D8-934A-FBDC-EDBF-263508337E95}"/>
              </a:ext>
            </a:extLst>
          </p:cNvPr>
          <p:cNvSpPr txBox="1"/>
          <p:nvPr/>
        </p:nvSpPr>
        <p:spPr>
          <a:xfrm>
            <a:off x="770844" y="2461623"/>
            <a:ext cx="3052439" cy="769441"/>
          </a:xfrm>
          <a:prstGeom prst="rect">
            <a:avLst/>
          </a:prstGeom>
          <a:noFill/>
        </p:spPr>
        <p:txBody>
          <a:bodyPr wrap="none" rtlCol="0">
            <a:spAutoFit/>
          </a:bodyPr>
          <a:lstStyle/>
          <a:p>
            <a:r>
              <a:rPr lang="en-US" altLang="ja-JP" sz="2000" dirty="0">
                <a:latin typeface="IBM Plex Sans JP Medium" panose="020B0603050203000203" pitchFamily="50" charset="-128"/>
                <a:ea typeface="IBM Plex Sans JP Medium" panose="020B0603050203000203" pitchFamily="50" charset="-128"/>
              </a:rPr>
              <a:t>3. </a:t>
            </a:r>
            <a:r>
              <a:rPr lang="ja-JP" altLang="en-US" sz="2000" dirty="0">
                <a:latin typeface="IBM Plex Sans JP Medium" panose="020B0603050203000203" pitchFamily="50" charset="-128"/>
                <a:ea typeface="IBM Plex Sans JP Medium" panose="020B0603050203000203" pitchFamily="50" charset="-128"/>
              </a:rPr>
              <a:t>各シリーズごとの情報</a:t>
            </a:r>
            <a:endParaRPr lang="ja-JP" altLang="ja-JP" b="1" dirty="0">
              <a:latin typeface="IBM Plex Sans JP Medium" panose="020B0603050203000203" pitchFamily="50" charset="-128"/>
              <a:ea typeface="IBM Plex Sans JP Medium" panose="020B0603050203000203" pitchFamily="50" charset="-128"/>
            </a:endParaRPr>
          </a:p>
          <a:p>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11" name="テキスト ボックス 10">
            <a:extLst>
              <a:ext uri="{FF2B5EF4-FFF2-40B4-BE49-F238E27FC236}">
                <a16:creationId xmlns:a16="http://schemas.microsoft.com/office/drawing/2014/main" id="{BBED467A-A3C1-5809-D7F4-CA9E33D4FFD2}"/>
              </a:ext>
            </a:extLst>
          </p:cNvPr>
          <p:cNvSpPr txBox="1"/>
          <p:nvPr/>
        </p:nvSpPr>
        <p:spPr>
          <a:xfrm>
            <a:off x="668508" y="2838257"/>
            <a:ext cx="5649491" cy="415498"/>
          </a:xfrm>
          <a:prstGeom prst="rect">
            <a:avLst/>
          </a:prstGeom>
          <a:noFill/>
        </p:spPr>
        <p:txBody>
          <a:bodyPr wrap="square" rtlCol="0">
            <a:spAutoFit/>
          </a:bodyPr>
          <a:lstStyle/>
          <a:p>
            <a:r>
              <a:rPr lang="ja-JP" altLang="ja-JP" sz="1050" dirty="0">
                <a:latin typeface="IBM Plex Sans JP" panose="020B0503050203000203" pitchFamily="50" charset="-128"/>
                <a:ea typeface="IBM Plex Sans JP" panose="020B0503050203000203" pitchFamily="50" charset="-128"/>
              </a:rPr>
              <a:t>前項では基本的な情報の考えかたを書きましたが、各</a:t>
            </a:r>
            <a:r>
              <a:rPr lang="en-US" altLang="ja-JP" sz="1050" dirty="0">
                <a:latin typeface="IBM Plex Sans JP" panose="020B0503050203000203" pitchFamily="50" charset="-128"/>
                <a:ea typeface="IBM Plex Sans JP" panose="020B0503050203000203" pitchFamily="50" charset="-128"/>
              </a:rPr>
              <a:t>Text</a:t>
            </a:r>
            <a:r>
              <a:rPr lang="ja-JP" altLang="ja-JP" sz="1050" dirty="0">
                <a:latin typeface="IBM Plex Sans JP" panose="020B0503050203000203" pitchFamily="50" charset="-128"/>
                <a:ea typeface="IBM Plex Sans JP" panose="020B0503050203000203" pitchFamily="50" charset="-128"/>
              </a:rPr>
              <a:t>情報はシリーズによって異なります。このシリーズごとの情報一覧を下記に示します。</a:t>
            </a:r>
          </a:p>
        </p:txBody>
      </p:sp>
      <p:sp>
        <p:nvSpPr>
          <p:cNvPr id="12" name="テキスト ボックス 11">
            <a:extLst>
              <a:ext uri="{FF2B5EF4-FFF2-40B4-BE49-F238E27FC236}">
                <a16:creationId xmlns:a16="http://schemas.microsoft.com/office/drawing/2014/main" id="{36924E32-01C2-6023-5099-6D01C9AB0BB7}"/>
              </a:ext>
            </a:extLst>
          </p:cNvPr>
          <p:cNvSpPr txBox="1"/>
          <p:nvPr/>
        </p:nvSpPr>
        <p:spPr>
          <a:xfrm>
            <a:off x="770844" y="5937603"/>
            <a:ext cx="2379177"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4. Blend Filament</a:t>
            </a:r>
            <a:endParaRPr kumimoji="1" lang="ja-JP" altLang="en-US" sz="2800" b="1" dirty="0">
              <a:latin typeface="IBM Plex Sans JP SemiBold" panose="020B0703050203000203" pitchFamily="50" charset="-128"/>
              <a:ea typeface="IBM Plex Sans JP SemiBold" panose="020B0703050203000203" pitchFamily="50" charset="-128"/>
            </a:endParaRPr>
          </a:p>
        </p:txBody>
      </p:sp>
      <p:sp>
        <p:nvSpPr>
          <p:cNvPr id="23" name="テキスト ボックス 22">
            <a:extLst>
              <a:ext uri="{FF2B5EF4-FFF2-40B4-BE49-F238E27FC236}">
                <a16:creationId xmlns:a16="http://schemas.microsoft.com/office/drawing/2014/main" id="{DE6923F3-B907-F234-3F6F-799A1399EC4A}"/>
              </a:ext>
            </a:extLst>
          </p:cNvPr>
          <p:cNvSpPr txBox="1"/>
          <p:nvPr/>
        </p:nvSpPr>
        <p:spPr>
          <a:xfrm>
            <a:off x="668509" y="6317254"/>
            <a:ext cx="5642222" cy="1708160"/>
          </a:xfrm>
          <a:prstGeom prst="rect">
            <a:avLst/>
          </a:prstGeom>
          <a:noFill/>
        </p:spPr>
        <p:txBody>
          <a:bodyPr wrap="square" rtlCol="0">
            <a:spAutoFit/>
          </a:bodyPr>
          <a:lstStyle/>
          <a:p>
            <a:r>
              <a:rPr lang="en-US" altLang="ja-JP" sz="1050" dirty="0"/>
              <a:t>Blend Filament</a:t>
            </a:r>
            <a:r>
              <a:rPr lang="ja-JP" altLang="ja-JP" sz="1050" dirty="0"/>
              <a:t>は</a:t>
            </a:r>
            <a:r>
              <a:rPr lang="en-US" altLang="ja-JP" sz="1050" dirty="0"/>
              <a:t>2</a:t>
            </a:r>
            <a:r>
              <a:rPr lang="ja-JP" altLang="ja-JP" sz="1050" dirty="0"/>
              <a:t>つのフィラメントを様々な混合比で混ぜ合わせ、新しい色を作ることが出来るシリーズです。</a:t>
            </a:r>
          </a:p>
          <a:p>
            <a:r>
              <a:rPr lang="ja-JP" altLang="ja-JP" sz="1050" dirty="0"/>
              <a:t>シンプルな構造のため他のシリーズと比べ情報が少なく、外側ブリムの</a:t>
            </a:r>
            <a:r>
              <a:rPr lang="en-US" altLang="ja-JP" sz="1050" dirty="0"/>
              <a:t>Text</a:t>
            </a:r>
            <a:r>
              <a:rPr lang="ja-JP" altLang="ja-JP" sz="1050" dirty="0"/>
              <a:t>は１段のみとなります。</a:t>
            </a:r>
          </a:p>
          <a:p>
            <a:r>
              <a:rPr lang="en-US" altLang="ja-JP" sz="1050" dirty="0"/>
              <a:t> </a:t>
            </a:r>
            <a:endParaRPr lang="ja-JP" altLang="ja-JP" sz="1050" dirty="0"/>
          </a:p>
          <a:p>
            <a:r>
              <a:rPr lang="ja-JP" altLang="ja-JP" sz="1050" b="1" dirty="0"/>
              <a:t>【内側ブリム】</a:t>
            </a:r>
            <a:endParaRPr lang="ja-JP" altLang="ja-JP" sz="1050" dirty="0"/>
          </a:p>
          <a:p>
            <a:r>
              <a:rPr lang="ja-JP" altLang="ja-JP" sz="1050" dirty="0"/>
              <a:t>シリーズ略称「</a:t>
            </a:r>
            <a:r>
              <a:rPr lang="en-US" altLang="ja-JP" sz="1050" dirty="0"/>
              <a:t>BL</a:t>
            </a:r>
            <a:r>
              <a:rPr lang="ja-JP" altLang="ja-JP" sz="1050" dirty="0"/>
              <a:t>」の後に「</a:t>
            </a:r>
            <a:r>
              <a:rPr lang="en-US" altLang="ja-JP" sz="1050" dirty="0"/>
              <a:t>/</a:t>
            </a:r>
            <a:r>
              <a:rPr lang="ja-JP" altLang="ja-JP" sz="1050" dirty="0"/>
              <a:t>」、その後にサイズ名をつなげて記載します。初期のモデルではシリーズ名称と「</a:t>
            </a:r>
            <a:r>
              <a:rPr lang="en-US" altLang="ja-JP" sz="1050" dirty="0"/>
              <a:t>/</a:t>
            </a:r>
            <a:r>
              <a:rPr lang="ja-JP" altLang="ja-JP" sz="1050" dirty="0"/>
              <a:t>」が省略されています。</a:t>
            </a:r>
            <a:endParaRPr lang="en-US" altLang="ja-JP" sz="1050" dirty="0"/>
          </a:p>
          <a:p>
            <a:endParaRPr lang="ja-JP" altLang="ja-JP" sz="1050" dirty="0"/>
          </a:p>
          <a:p>
            <a:r>
              <a:rPr lang="ja-JP" altLang="ja-JP" sz="1050" dirty="0"/>
              <a:t>例：</a:t>
            </a:r>
            <a:r>
              <a:rPr lang="ja-JP" altLang="en-US" sz="1050" dirty="0"/>
              <a:t>    </a:t>
            </a:r>
            <a:r>
              <a:rPr lang="en-US" altLang="ja-JP" sz="1050" dirty="0"/>
              <a:t>BL/M4</a:t>
            </a:r>
            <a:r>
              <a:rPr lang="ja-JP" altLang="ja-JP" sz="1050" dirty="0"/>
              <a:t>　</a:t>
            </a:r>
            <a:r>
              <a:rPr lang="en-US" altLang="ja-JP" sz="1050" dirty="0"/>
              <a:t> (Blend Filament M4 model</a:t>
            </a:r>
            <a:r>
              <a:rPr lang="ja-JP" altLang="ja-JP" sz="1050" dirty="0"/>
              <a:t>を示す</a:t>
            </a:r>
            <a:r>
              <a:rPr lang="en-US" altLang="ja-JP" sz="1050" dirty="0"/>
              <a:t>)</a:t>
            </a:r>
            <a:endParaRPr lang="ja-JP" altLang="ja-JP" sz="1050" dirty="0"/>
          </a:p>
        </p:txBody>
      </p:sp>
      <p:sp>
        <p:nvSpPr>
          <p:cNvPr id="4" name="テキスト ボックス 3">
            <a:extLst>
              <a:ext uri="{FF2B5EF4-FFF2-40B4-BE49-F238E27FC236}">
                <a16:creationId xmlns:a16="http://schemas.microsoft.com/office/drawing/2014/main" id="{453A0A65-FA4E-0962-FADD-634BAF9524E2}"/>
              </a:ext>
            </a:extLst>
          </p:cNvPr>
          <p:cNvSpPr txBox="1"/>
          <p:nvPr/>
        </p:nvSpPr>
        <p:spPr>
          <a:xfrm>
            <a:off x="675777" y="724558"/>
            <a:ext cx="5649492" cy="1515800"/>
          </a:xfrm>
          <a:prstGeom prst="rect">
            <a:avLst/>
          </a:prstGeom>
          <a:noFill/>
        </p:spPr>
        <p:txBody>
          <a:bodyPr wrap="square" rtlCol="0">
            <a:spAutoFit/>
          </a:bodyPr>
          <a:lstStyle/>
          <a:p>
            <a:r>
              <a:rPr lang="en-US" altLang="ja-JP" sz="1300" dirty="0">
                <a:latin typeface="IBM Plex Sans JP Medium" panose="020B0603050203000203" pitchFamily="50" charset="-128"/>
                <a:ea typeface="IBM Plex Sans JP Medium" panose="020B0603050203000203" pitchFamily="50" charset="-128"/>
              </a:rPr>
              <a:t> </a:t>
            </a:r>
            <a:r>
              <a:rPr lang="ja-JP" altLang="ja-JP" sz="1300" b="1" dirty="0"/>
              <a:t>色の意味</a:t>
            </a:r>
            <a:endParaRPr lang="ja-JP" altLang="ja-JP" sz="1300" dirty="0"/>
          </a:p>
          <a:p>
            <a:br>
              <a:rPr lang="en-US" altLang="ja-JP" sz="600" dirty="0"/>
            </a:br>
            <a:r>
              <a:rPr lang="ja-JP" altLang="ja-JP" sz="1050" dirty="0"/>
              <a:t>外側のブリムの色はベースカラーを示します。</a:t>
            </a:r>
          </a:p>
          <a:p>
            <a:r>
              <a:rPr lang="ja-JP" altLang="ja-JP" sz="1050" dirty="0"/>
              <a:t>内側のブリムの色は特段の意味を持ちません。</a:t>
            </a:r>
            <a:br>
              <a:rPr lang="en-US" altLang="ja-JP" sz="1050" dirty="0"/>
            </a:br>
            <a:r>
              <a:rPr lang="ja-JP" altLang="ja-JP" sz="1050" dirty="0"/>
              <a:t>外側のブリムの上段に記載する文字は２番目の色を示します。</a:t>
            </a:r>
          </a:p>
          <a:p>
            <a:r>
              <a:rPr lang="ja-JP" altLang="ja-JP" sz="1050" dirty="0"/>
              <a:t>下段に記載する文字の色は存在する場合は３番目の色をを示し、そうでない場合は２番目の色を示します。</a:t>
            </a:r>
          </a:p>
          <a:p>
            <a:r>
              <a:rPr lang="ja-JP" altLang="ja-JP" sz="1050" dirty="0"/>
              <a:t>内側のブリムに記載する文字の色は存在する場合は４番目の色をを示し、そうでない場合は２番目の色を示します。</a:t>
            </a:r>
          </a:p>
        </p:txBody>
      </p:sp>
      <p:pic>
        <p:nvPicPr>
          <p:cNvPr id="19" name="図 18">
            <a:extLst>
              <a:ext uri="{FF2B5EF4-FFF2-40B4-BE49-F238E27FC236}">
                <a16:creationId xmlns:a16="http://schemas.microsoft.com/office/drawing/2014/main" id="{0B5659A5-B11E-9F94-C69A-B23B9C7DBF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897" y="3322374"/>
            <a:ext cx="5649492" cy="2178222"/>
          </a:xfrm>
          <a:prstGeom prst="rect">
            <a:avLst/>
          </a:prstGeom>
          <a:noFill/>
          <a:extLst>
            <a:ext uri="{909E8E84-426E-40DD-AFC4-6F175D3DCCD1}">
              <a14:hiddenFill xmlns:a14="http://schemas.microsoft.com/office/drawing/2010/main">
                <a:solidFill>
                  <a:srgbClr val="FFFFFF"/>
                </a:solidFill>
              </a14:hiddenFill>
            </a:ext>
          </a:extLst>
        </p:spPr>
      </p:pic>
      <p:sp>
        <p:nvSpPr>
          <p:cNvPr id="30" name="四角形: 角を丸くする 29">
            <a:extLst>
              <a:ext uri="{FF2B5EF4-FFF2-40B4-BE49-F238E27FC236}">
                <a16:creationId xmlns:a16="http://schemas.microsoft.com/office/drawing/2014/main" id="{6316493A-60BD-408C-E622-20447D186781}"/>
              </a:ext>
            </a:extLst>
          </p:cNvPr>
          <p:cNvSpPr/>
          <p:nvPr/>
        </p:nvSpPr>
        <p:spPr>
          <a:xfrm>
            <a:off x="1043874" y="7734048"/>
            <a:ext cx="629752" cy="262791"/>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03772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E0FA9-EE82-2662-04E5-D9C12E9BCF39}"/>
            </a:ext>
          </a:extLst>
        </p:cNvPr>
        <p:cNvGrpSpPr/>
        <p:nvPr/>
      </p:nvGrpSpPr>
      <p:grpSpPr>
        <a:xfrm>
          <a:off x="0" y="0"/>
          <a:ext cx="0" cy="0"/>
          <a:chOff x="0" y="0"/>
          <a:chExt cx="0" cy="0"/>
        </a:xfrm>
      </p:grpSpPr>
      <p:sp>
        <p:nvSpPr>
          <p:cNvPr id="30" name="正方形/長方形 29">
            <a:extLst>
              <a:ext uri="{FF2B5EF4-FFF2-40B4-BE49-F238E27FC236}">
                <a16:creationId xmlns:a16="http://schemas.microsoft.com/office/drawing/2014/main" id="{8F7BBCC8-322E-ED6E-4C1A-EF6362310695}"/>
              </a:ext>
            </a:extLst>
          </p:cNvPr>
          <p:cNvSpPr/>
          <p:nvPr/>
        </p:nvSpPr>
        <p:spPr>
          <a:xfrm>
            <a:off x="56125" y="51987"/>
            <a:ext cx="6722870" cy="8963827"/>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8" name="フリーフォーム: 図形 27">
            <a:extLst>
              <a:ext uri="{FF2B5EF4-FFF2-40B4-BE49-F238E27FC236}">
                <a16:creationId xmlns:a16="http://schemas.microsoft.com/office/drawing/2014/main" id="{8C69394B-E297-0C5B-81F8-16233AB7CB52}"/>
              </a:ext>
            </a:extLst>
          </p:cNvPr>
          <p:cNvSpPr/>
          <p:nvPr/>
        </p:nvSpPr>
        <p:spPr>
          <a:xfrm>
            <a:off x="9525" y="5531"/>
            <a:ext cx="6858000" cy="9144000"/>
          </a:xfrm>
          <a:custGeom>
            <a:avLst/>
            <a:gdLst>
              <a:gd name="connsiteX0" fmla="*/ 3725319 w 6858000"/>
              <a:gd name="connsiteY0" fmla="*/ 8656386 h 9144000"/>
              <a:gd name="connsiteX1" fmla="*/ 3725319 w 6858000"/>
              <a:gd name="connsiteY1" fmla="*/ 8710386 h 9144000"/>
              <a:gd name="connsiteX2" fmla="*/ 6317319 w 6858000"/>
              <a:gd name="connsiteY2" fmla="*/ 8710386 h 9144000"/>
              <a:gd name="connsiteX3" fmla="*/ 6317319 w 6858000"/>
              <a:gd name="connsiteY3" fmla="*/ 8656386 h 9144000"/>
              <a:gd name="connsiteX4" fmla="*/ 545013 w 6858000"/>
              <a:gd name="connsiteY4" fmla="*/ 8656386 h 9144000"/>
              <a:gd name="connsiteX5" fmla="*/ 545013 w 6858000"/>
              <a:gd name="connsiteY5" fmla="*/ 8710386 h 9144000"/>
              <a:gd name="connsiteX6" fmla="*/ 3137013 w 6858000"/>
              <a:gd name="connsiteY6" fmla="*/ 8710386 h 9144000"/>
              <a:gd name="connsiteX7" fmla="*/ 3137013 w 6858000"/>
              <a:gd name="connsiteY7" fmla="*/ 8656386 h 9144000"/>
              <a:gd name="connsiteX8" fmla="*/ 657378 w 6858000"/>
              <a:gd name="connsiteY8" fmla="*/ 6173765 h 9144000"/>
              <a:gd name="connsiteX9" fmla="*/ 555043 w 6858000"/>
              <a:gd name="connsiteY9" fmla="*/ 6266797 h 9144000"/>
              <a:gd name="connsiteX10" fmla="*/ 657378 w 6858000"/>
              <a:gd name="connsiteY10" fmla="*/ 6359829 h 9144000"/>
              <a:gd name="connsiteX11" fmla="*/ 759713 w 6858000"/>
              <a:gd name="connsiteY11" fmla="*/ 6266797 h 9144000"/>
              <a:gd name="connsiteX12" fmla="*/ 657378 w 6858000"/>
              <a:gd name="connsiteY12" fmla="*/ 6173765 h 9144000"/>
              <a:gd name="connsiteX13" fmla="*/ 658985 w 6858000"/>
              <a:gd name="connsiteY13" fmla="*/ 3473536 h 9144000"/>
              <a:gd name="connsiteX14" fmla="*/ 582099 w 6858000"/>
              <a:gd name="connsiteY14" fmla="*/ 3550422 h 9144000"/>
              <a:gd name="connsiteX15" fmla="*/ 658985 w 6858000"/>
              <a:gd name="connsiteY15" fmla="*/ 3627308 h 9144000"/>
              <a:gd name="connsiteX16" fmla="*/ 735871 w 6858000"/>
              <a:gd name="connsiteY16" fmla="*/ 3550422 h 9144000"/>
              <a:gd name="connsiteX17" fmla="*/ 658985 w 6858000"/>
              <a:gd name="connsiteY17" fmla="*/ 3473536 h 9144000"/>
              <a:gd name="connsiteX18" fmla="*/ 545012 w 6858000"/>
              <a:gd name="connsiteY18" fmla="*/ 418362 h 9144000"/>
              <a:gd name="connsiteX19" fmla="*/ 545012 w 6858000"/>
              <a:gd name="connsiteY19" fmla="*/ 472362 h 9144000"/>
              <a:gd name="connsiteX20" fmla="*/ 6301205 w 6858000"/>
              <a:gd name="connsiteY20" fmla="*/ 472362 h 9144000"/>
              <a:gd name="connsiteX21" fmla="*/ 6301205 w 6858000"/>
              <a:gd name="connsiteY21" fmla="*/ 418362 h 9144000"/>
              <a:gd name="connsiteX22" fmla="*/ 0 w 6858000"/>
              <a:gd name="connsiteY22" fmla="*/ 0 h 9144000"/>
              <a:gd name="connsiteX23" fmla="*/ 6858000 w 6858000"/>
              <a:gd name="connsiteY23" fmla="*/ 0 h 9144000"/>
              <a:gd name="connsiteX24" fmla="*/ 6858000 w 6858000"/>
              <a:gd name="connsiteY24" fmla="*/ 9144000 h 9144000"/>
              <a:gd name="connsiteX25" fmla="*/ 0 w 6858000"/>
              <a:gd name="connsiteY25" fmla="*/ 9144000 h 91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8000" h="9144000">
                <a:moveTo>
                  <a:pt x="3725319" y="8656386"/>
                </a:moveTo>
                <a:lnTo>
                  <a:pt x="3725319" y="8710386"/>
                </a:lnTo>
                <a:lnTo>
                  <a:pt x="6317319" y="8710386"/>
                </a:lnTo>
                <a:lnTo>
                  <a:pt x="6317319" y="8656386"/>
                </a:lnTo>
                <a:close/>
                <a:moveTo>
                  <a:pt x="545013" y="8656386"/>
                </a:moveTo>
                <a:lnTo>
                  <a:pt x="545013" y="8710386"/>
                </a:lnTo>
                <a:lnTo>
                  <a:pt x="3137013" y="8710386"/>
                </a:lnTo>
                <a:lnTo>
                  <a:pt x="3137013" y="8656386"/>
                </a:lnTo>
                <a:close/>
                <a:moveTo>
                  <a:pt x="657378" y="6173765"/>
                </a:moveTo>
                <a:cubicBezTo>
                  <a:pt x="600860" y="6173765"/>
                  <a:pt x="555043" y="6215417"/>
                  <a:pt x="555043" y="6266797"/>
                </a:cubicBezTo>
                <a:cubicBezTo>
                  <a:pt x="555043" y="6318177"/>
                  <a:pt x="600860" y="6359829"/>
                  <a:pt x="657378" y="6359829"/>
                </a:cubicBezTo>
                <a:cubicBezTo>
                  <a:pt x="713896" y="6359829"/>
                  <a:pt x="759713" y="6318177"/>
                  <a:pt x="759713" y="6266797"/>
                </a:cubicBezTo>
                <a:cubicBezTo>
                  <a:pt x="759713" y="6215417"/>
                  <a:pt x="713896" y="6173765"/>
                  <a:pt x="657378" y="6173765"/>
                </a:cubicBezTo>
                <a:close/>
                <a:moveTo>
                  <a:pt x="658985" y="3473536"/>
                </a:moveTo>
                <a:cubicBezTo>
                  <a:pt x="616522" y="3473536"/>
                  <a:pt x="582099" y="3507959"/>
                  <a:pt x="582099" y="3550422"/>
                </a:cubicBezTo>
                <a:cubicBezTo>
                  <a:pt x="582099" y="3592885"/>
                  <a:pt x="616522" y="3627308"/>
                  <a:pt x="658985" y="3627308"/>
                </a:cubicBezTo>
                <a:cubicBezTo>
                  <a:pt x="701448" y="3627308"/>
                  <a:pt x="735871" y="3592885"/>
                  <a:pt x="735871" y="3550422"/>
                </a:cubicBezTo>
                <a:cubicBezTo>
                  <a:pt x="735871" y="3507959"/>
                  <a:pt x="701448" y="3473536"/>
                  <a:pt x="658985" y="3473536"/>
                </a:cubicBezTo>
                <a:close/>
                <a:moveTo>
                  <a:pt x="545012" y="418362"/>
                </a:moveTo>
                <a:lnTo>
                  <a:pt x="545012" y="472362"/>
                </a:lnTo>
                <a:lnTo>
                  <a:pt x="6301205" y="472362"/>
                </a:lnTo>
                <a:lnTo>
                  <a:pt x="6301205" y="418362"/>
                </a:lnTo>
                <a:close/>
                <a:moveTo>
                  <a:pt x="0" y="0"/>
                </a:moveTo>
                <a:lnTo>
                  <a:pt x="6858000" y="0"/>
                </a:lnTo>
                <a:lnTo>
                  <a:pt x="6858000" y="9144000"/>
                </a:lnTo>
                <a:lnTo>
                  <a:pt x="0" y="914400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17" name="テキスト ボックス 16">
            <a:extLst>
              <a:ext uri="{FF2B5EF4-FFF2-40B4-BE49-F238E27FC236}">
                <a16:creationId xmlns:a16="http://schemas.microsoft.com/office/drawing/2014/main" id="{2355E7FE-72E8-AEBD-8CA6-F58CC98D5B1B}"/>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3</a:t>
            </a:r>
            <a:endParaRPr kumimoji="1" lang="ja-JP" altLang="en-US" dirty="0"/>
          </a:p>
        </p:txBody>
      </p:sp>
      <p:sp>
        <p:nvSpPr>
          <p:cNvPr id="31" name="テキスト ボックス 30">
            <a:extLst>
              <a:ext uri="{FF2B5EF4-FFF2-40B4-BE49-F238E27FC236}">
                <a16:creationId xmlns:a16="http://schemas.microsoft.com/office/drawing/2014/main" id="{F124513A-D554-6C08-13C8-FA017FE442C9}"/>
              </a:ext>
            </a:extLst>
          </p:cNvPr>
          <p:cNvSpPr txBox="1"/>
          <p:nvPr/>
        </p:nvSpPr>
        <p:spPr>
          <a:xfrm>
            <a:off x="770844" y="3414308"/>
            <a:ext cx="2675732" cy="338554"/>
          </a:xfrm>
          <a:prstGeom prst="rect">
            <a:avLst/>
          </a:prstGeom>
          <a:noFill/>
        </p:spPr>
        <p:txBody>
          <a:bodyPr wrap="none" rtlCol="0">
            <a:spAutoFit/>
          </a:bodyPr>
          <a:lstStyle/>
          <a:p>
            <a:r>
              <a:rPr lang="en-US" altLang="ja-JP" sz="1600" dirty="0">
                <a:latin typeface="IBM Plex Sans JP SemiBold" panose="020B0703050203000203" pitchFamily="50" charset="-128"/>
                <a:ea typeface="IBM Plex Sans JP SemiBold" panose="020B0703050203000203" pitchFamily="50" charset="-128"/>
              </a:rPr>
              <a:t>4-1. Blend Color Checker</a:t>
            </a:r>
            <a:endParaRPr kumimoji="1" lang="ja-JP" altLang="en-US" sz="1600" b="1" dirty="0">
              <a:latin typeface="IBM Plex Sans JP SemiBold" panose="020B0703050203000203" pitchFamily="50" charset="-128"/>
              <a:ea typeface="IBM Plex Sans JP SemiBold" panose="020B0703050203000203" pitchFamily="50" charset="-128"/>
            </a:endParaRPr>
          </a:p>
        </p:txBody>
      </p:sp>
      <p:sp>
        <p:nvSpPr>
          <p:cNvPr id="32" name="テキスト ボックス 31">
            <a:extLst>
              <a:ext uri="{FF2B5EF4-FFF2-40B4-BE49-F238E27FC236}">
                <a16:creationId xmlns:a16="http://schemas.microsoft.com/office/drawing/2014/main" id="{D9D4B3F2-F9CF-7585-861C-805DB1A013E8}"/>
              </a:ext>
            </a:extLst>
          </p:cNvPr>
          <p:cNvSpPr txBox="1"/>
          <p:nvPr/>
        </p:nvSpPr>
        <p:spPr>
          <a:xfrm>
            <a:off x="668508" y="3803395"/>
            <a:ext cx="5649491" cy="1384995"/>
          </a:xfrm>
          <a:prstGeom prst="rect">
            <a:avLst/>
          </a:prstGeom>
          <a:noFill/>
        </p:spPr>
        <p:txBody>
          <a:bodyPr wrap="square" rtlCol="0">
            <a:spAutoFit/>
          </a:bodyPr>
          <a:lstStyle/>
          <a:p>
            <a:r>
              <a:rPr lang="en-US" altLang="ja-JP" sz="1050" b="1" dirty="0">
                <a:latin typeface="IBM Plex Sans JP" panose="020B0503050203000203" pitchFamily="50" charset="-128"/>
                <a:ea typeface="IBM Plex Sans JP" panose="020B0503050203000203" pitchFamily="50" charset="-128"/>
              </a:rPr>
              <a:t>【</a:t>
            </a:r>
            <a:r>
              <a:rPr lang="ja-JP" altLang="en-US" sz="1050" b="1" dirty="0">
                <a:latin typeface="IBM Plex Sans JP" panose="020B0503050203000203" pitchFamily="50" charset="-128"/>
                <a:ea typeface="IBM Plex Sans JP" panose="020B0503050203000203" pitchFamily="50" charset="-128"/>
              </a:rPr>
              <a:t>ブリム内側</a:t>
            </a:r>
            <a:r>
              <a:rPr lang="en-US" altLang="ja-JP" sz="1050" b="1" dirty="0">
                <a:latin typeface="IBM Plex Sans JP" panose="020B0503050203000203" pitchFamily="50" charset="-128"/>
                <a:ea typeface="IBM Plex Sans JP" panose="020B0503050203000203" pitchFamily="50" charset="-128"/>
              </a:rPr>
              <a:t>】</a:t>
            </a:r>
          </a:p>
          <a:p>
            <a:r>
              <a:rPr lang="ja-JP" altLang="en-US" sz="1050" dirty="0">
                <a:latin typeface="IBM Plex Sans JP" panose="020B0503050203000203" pitchFamily="50" charset="-128"/>
                <a:ea typeface="IBM Plex Sans JP" panose="020B0503050203000203" pitchFamily="50" charset="-128"/>
              </a:rPr>
              <a:t>シリーズ略称「</a:t>
            </a:r>
            <a:r>
              <a:rPr lang="en-US" altLang="ja-JP" sz="1050" dirty="0">
                <a:latin typeface="IBM Plex Sans JP" panose="020B0503050203000203" pitchFamily="50" charset="-128"/>
                <a:ea typeface="IBM Plex Sans JP" panose="020B0503050203000203" pitchFamily="50" charset="-128"/>
              </a:rPr>
              <a:t>BL</a:t>
            </a:r>
            <a:r>
              <a:rPr lang="ja-JP" altLang="en-US" sz="1050" dirty="0">
                <a:latin typeface="IBM Plex Sans JP" panose="020B0503050203000203" pitchFamily="50" charset="-128"/>
                <a:ea typeface="IBM Plex Sans JP" panose="020B0503050203000203" pitchFamily="50" charset="-128"/>
              </a:rPr>
              <a:t>」の後に「</a:t>
            </a:r>
            <a:r>
              <a:rPr lang="en-US" altLang="ja-JP" sz="1050" dirty="0">
                <a:latin typeface="IBM Plex Sans JP" panose="020B0503050203000203" pitchFamily="50" charset="-128"/>
                <a:ea typeface="IBM Plex Sans JP" panose="020B0503050203000203" pitchFamily="50" charset="-128"/>
              </a:rPr>
              <a:t>/</a:t>
            </a:r>
            <a:r>
              <a:rPr lang="ja-JP" altLang="en-US" sz="1050" dirty="0">
                <a:latin typeface="IBM Plex Sans JP" panose="020B0503050203000203" pitchFamily="50" charset="-128"/>
                <a:ea typeface="IBM Plex Sans JP" panose="020B0503050203000203" pitchFamily="50" charset="-128"/>
              </a:rPr>
              <a:t>」と、ツールの略称「</a:t>
            </a:r>
            <a:r>
              <a:rPr lang="en-US" altLang="ja-JP" sz="1050" dirty="0">
                <a:latin typeface="IBM Plex Sans JP" panose="020B0503050203000203" pitchFamily="50" charset="-128"/>
                <a:ea typeface="IBM Plex Sans JP" panose="020B0503050203000203" pitchFamily="50" charset="-128"/>
              </a:rPr>
              <a:t>T1</a:t>
            </a:r>
            <a:r>
              <a:rPr lang="ja-JP" altLang="en-US" sz="1050" dirty="0">
                <a:latin typeface="IBM Plex Sans JP" panose="020B0503050203000203" pitchFamily="50" charset="-128"/>
                <a:ea typeface="IBM Plex Sans JP" panose="020B0503050203000203" pitchFamily="50" charset="-128"/>
              </a:rPr>
              <a:t>」が続きます。 </a:t>
            </a:r>
            <a:endParaRPr lang="en-US" altLang="ja-JP" sz="1050" dirty="0">
              <a:latin typeface="IBM Plex Sans JP" panose="020B0503050203000203" pitchFamily="50" charset="-128"/>
              <a:ea typeface="IBM Plex Sans JP" panose="020B0503050203000203" pitchFamily="50" charset="-128"/>
            </a:endParaRPr>
          </a:p>
          <a:p>
            <a:endParaRPr lang="en-US" altLang="ja-JP" sz="1050" dirty="0">
              <a:latin typeface="IBM Plex Sans JP" panose="020B0503050203000203" pitchFamily="50" charset="-128"/>
              <a:ea typeface="IBM Plex Sans JP" panose="020B0503050203000203" pitchFamily="50" charset="-128"/>
            </a:endParaRPr>
          </a:p>
          <a:p>
            <a:r>
              <a:rPr lang="ja-JP" altLang="en-US" sz="1050" dirty="0">
                <a:latin typeface="IBM Plex Sans JP" panose="020B0503050203000203" pitchFamily="50" charset="-128"/>
                <a:ea typeface="IBM Plex Sans JP" panose="020B0503050203000203" pitchFamily="50" charset="-128"/>
              </a:rPr>
              <a:t>例：   </a:t>
            </a:r>
            <a:r>
              <a:rPr lang="en-US" altLang="ja-JP" sz="1050" dirty="0">
                <a:latin typeface="IBM Plex Sans JP" panose="020B0503050203000203" pitchFamily="50" charset="-128"/>
                <a:ea typeface="IBM Plex Sans JP" panose="020B0503050203000203" pitchFamily="50" charset="-128"/>
              </a:rPr>
              <a:t>BL/T1    </a:t>
            </a:r>
            <a:r>
              <a:rPr lang="ja-JP" altLang="en-US" sz="1050" dirty="0">
                <a:latin typeface="IBM Plex Sans JP" panose="020B0503050203000203" pitchFamily="50" charset="-128"/>
                <a:ea typeface="IBM Plex Sans JP" panose="020B0503050203000203" pitchFamily="50" charset="-128"/>
              </a:rPr>
              <a:t>は、ブレンドカラーチェッカーを示します </a:t>
            </a:r>
            <a:endParaRPr lang="en-US" altLang="ja-JP" sz="1050" dirty="0">
              <a:latin typeface="IBM Plex Sans JP" panose="020B0503050203000203" pitchFamily="50" charset="-128"/>
              <a:ea typeface="IBM Plex Sans JP" panose="020B0503050203000203" pitchFamily="50" charset="-128"/>
            </a:endParaRPr>
          </a:p>
          <a:p>
            <a:endParaRPr lang="en-US" altLang="ja-JP" sz="1050" dirty="0">
              <a:latin typeface="IBM Plex Sans JP" panose="020B0503050203000203" pitchFamily="50" charset="-128"/>
              <a:ea typeface="IBM Plex Sans JP" panose="020B0503050203000203" pitchFamily="50" charset="-128"/>
            </a:endParaRPr>
          </a:p>
          <a:p>
            <a:r>
              <a:rPr lang="en-US" altLang="ja-JP" sz="1050" b="1" dirty="0">
                <a:latin typeface="IBM Plex Sans JP" panose="020B0503050203000203" pitchFamily="50" charset="-128"/>
                <a:ea typeface="IBM Plex Sans JP" panose="020B0503050203000203" pitchFamily="50" charset="-128"/>
              </a:rPr>
              <a:t>【</a:t>
            </a:r>
            <a:r>
              <a:rPr lang="ja-JP" altLang="en-US" sz="1050" b="1" dirty="0">
                <a:latin typeface="IBM Plex Sans JP" panose="020B0503050203000203" pitchFamily="50" charset="-128"/>
                <a:ea typeface="IBM Plex Sans JP" panose="020B0503050203000203" pitchFamily="50" charset="-128"/>
              </a:rPr>
              <a:t>ブリム外側</a:t>
            </a:r>
            <a:r>
              <a:rPr lang="en-US" altLang="ja-JP" sz="1050" b="1" dirty="0">
                <a:latin typeface="IBM Plex Sans JP" panose="020B0503050203000203" pitchFamily="50" charset="-128"/>
                <a:ea typeface="IBM Plex Sans JP" panose="020B0503050203000203" pitchFamily="50" charset="-128"/>
              </a:rPr>
              <a:t>】</a:t>
            </a:r>
          </a:p>
          <a:p>
            <a:r>
              <a:rPr lang="ja-JP" altLang="en-US" sz="1050" dirty="0">
                <a:latin typeface="IBM Plex Sans JP" panose="020B0503050203000203" pitchFamily="50" charset="-128"/>
                <a:ea typeface="IBM Plex Sans JP" panose="020B0503050203000203" pitchFamily="50" charset="-128"/>
              </a:rPr>
              <a:t>ブレンドフィラメントモデルには、「</a:t>
            </a:r>
            <a:r>
              <a:rPr lang="en-US" altLang="ja-JP" sz="1050" dirty="0">
                <a:latin typeface="IBM Plex Sans JP" panose="020B0503050203000203" pitchFamily="50" charset="-128"/>
                <a:ea typeface="IBM Plex Sans JP" panose="020B0503050203000203" pitchFamily="50" charset="-128"/>
              </a:rPr>
              <a:t>Standard</a:t>
            </a:r>
            <a:r>
              <a:rPr lang="ja-JP" altLang="en-US" sz="1050" dirty="0">
                <a:latin typeface="IBM Plex Sans JP" panose="020B0503050203000203" pitchFamily="50" charset="-128"/>
                <a:ea typeface="IBM Plex Sans JP" panose="020B0503050203000203" pitchFamily="50" charset="-128"/>
              </a:rPr>
              <a:t>」と「</a:t>
            </a:r>
            <a:r>
              <a:rPr lang="en-US" altLang="ja-JP" sz="1050" dirty="0">
                <a:latin typeface="IBM Plex Sans JP" panose="020B0503050203000203" pitchFamily="50" charset="-128"/>
                <a:ea typeface="IBM Plex Sans JP" panose="020B0503050203000203" pitchFamily="50" charset="-128"/>
              </a:rPr>
              <a:t>Detail</a:t>
            </a:r>
            <a:r>
              <a:rPr lang="ja-JP" altLang="en-US" sz="1050" dirty="0">
                <a:latin typeface="IBM Plex Sans JP" panose="020B0503050203000203" pitchFamily="50" charset="-128"/>
                <a:ea typeface="IBM Plex Sans JP" panose="020B0503050203000203" pitchFamily="50" charset="-128"/>
              </a:rPr>
              <a:t>」の</a:t>
            </a:r>
            <a:r>
              <a:rPr lang="en-US" altLang="ja-JP" sz="1050" dirty="0">
                <a:latin typeface="IBM Plex Sans JP" panose="020B0503050203000203" pitchFamily="50" charset="-128"/>
                <a:ea typeface="IBM Plex Sans JP" panose="020B0503050203000203" pitchFamily="50" charset="-128"/>
              </a:rPr>
              <a:t>2</a:t>
            </a:r>
            <a:r>
              <a:rPr lang="ja-JP" altLang="en-US" sz="1050" dirty="0">
                <a:latin typeface="IBM Plex Sans JP" panose="020B0503050203000203" pitchFamily="50" charset="-128"/>
                <a:ea typeface="IBM Plex Sans JP" panose="020B0503050203000203" pitchFamily="50" charset="-128"/>
              </a:rPr>
              <a:t>種類があります。それぞれの識別情報は、以下の表に示されています。</a:t>
            </a:r>
            <a:endParaRPr lang="ja-JP" altLang="ja-JP" sz="1050" dirty="0">
              <a:latin typeface="IBM Plex Sans JP" panose="020B0503050203000203" pitchFamily="50" charset="-128"/>
              <a:ea typeface="IBM Plex Sans JP" panose="020B0503050203000203" pitchFamily="50" charset="-128"/>
            </a:endParaRPr>
          </a:p>
        </p:txBody>
      </p:sp>
      <p:grpSp>
        <p:nvGrpSpPr>
          <p:cNvPr id="21" name="グループ化 20">
            <a:extLst>
              <a:ext uri="{FF2B5EF4-FFF2-40B4-BE49-F238E27FC236}">
                <a16:creationId xmlns:a16="http://schemas.microsoft.com/office/drawing/2014/main" id="{3EB7CB54-F5C5-163A-39F3-AD2D26D5D9E5}"/>
              </a:ext>
            </a:extLst>
          </p:cNvPr>
          <p:cNvGrpSpPr/>
          <p:nvPr/>
        </p:nvGrpSpPr>
        <p:grpSpPr>
          <a:xfrm>
            <a:off x="880208" y="525495"/>
            <a:ext cx="5307282" cy="2485553"/>
            <a:chOff x="-167676" y="0"/>
            <a:chExt cx="5796409" cy="2714625"/>
          </a:xfrm>
        </p:grpSpPr>
        <p:pic>
          <p:nvPicPr>
            <p:cNvPr id="22" name="図 21">
              <a:extLst>
                <a:ext uri="{FF2B5EF4-FFF2-40B4-BE49-F238E27FC236}">
                  <a16:creationId xmlns:a16="http://schemas.microsoft.com/office/drawing/2014/main" id="{6E5D54A6-285F-E68A-06F9-C20227BBD4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76" y="1589453"/>
              <a:ext cx="2809875" cy="1114425"/>
            </a:xfrm>
            <a:prstGeom prst="rect">
              <a:avLst/>
            </a:prstGeom>
            <a:noFill/>
            <a:extLst>
              <a:ext uri="{909E8E84-426E-40DD-AFC4-6F175D3DCCD1}">
                <a14:hiddenFill xmlns:a14="http://schemas.microsoft.com/office/drawing/2010/main">
                  <a:solidFill>
                    <a:srgbClr val="FFFFFF"/>
                  </a:solidFill>
                </a14:hiddenFill>
              </a:ext>
            </a:extLst>
          </p:spPr>
        </p:pic>
        <p:pic>
          <p:nvPicPr>
            <p:cNvPr id="25" name="図 24">
              <a:extLst>
                <a:ext uri="{FF2B5EF4-FFF2-40B4-BE49-F238E27FC236}">
                  <a16:creationId xmlns:a16="http://schemas.microsoft.com/office/drawing/2014/main" id="{58111E49-B1CC-A355-F25A-E400E20AD2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8857" y="0"/>
              <a:ext cx="2809876" cy="2714625"/>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テキスト ボックス 2">
            <a:extLst>
              <a:ext uri="{FF2B5EF4-FFF2-40B4-BE49-F238E27FC236}">
                <a16:creationId xmlns:a16="http://schemas.microsoft.com/office/drawing/2014/main" id="{C894A1B6-75A3-B634-B2D7-19CB3EFFA551}"/>
              </a:ext>
            </a:extLst>
          </p:cNvPr>
          <p:cNvSpPr txBox="1"/>
          <p:nvPr/>
        </p:nvSpPr>
        <p:spPr>
          <a:xfrm>
            <a:off x="604254" y="675403"/>
            <a:ext cx="3053345" cy="977191"/>
          </a:xfrm>
          <a:prstGeom prst="rect">
            <a:avLst/>
          </a:prstGeom>
          <a:noFill/>
        </p:spPr>
        <p:txBody>
          <a:bodyPr wrap="square" rtlCol="0">
            <a:spAutoFit/>
          </a:bodyPr>
          <a:lstStyle/>
          <a:p>
            <a:r>
              <a:rPr lang="ja-JP" altLang="ja-JP" sz="1050" b="1" dirty="0"/>
              <a:t>【外側ブリム】</a:t>
            </a:r>
            <a:endParaRPr lang="ja-JP" altLang="ja-JP" sz="1050" dirty="0"/>
          </a:p>
          <a:p>
            <a:r>
              <a:rPr lang="ja-JP" altLang="ja-JP" sz="1050" dirty="0"/>
              <a:t>基本色の割合を％で表示します。</a:t>
            </a:r>
            <a:endParaRPr lang="en-US" altLang="ja-JP" sz="1050" dirty="0"/>
          </a:p>
          <a:p>
            <a:endParaRPr lang="ja-JP" altLang="ja-JP" sz="1050" dirty="0"/>
          </a:p>
          <a:p>
            <a:r>
              <a:rPr lang="ja-JP" altLang="ja-JP" sz="1050" dirty="0"/>
              <a:t>例：黄色いブリムの上に青字の</a:t>
            </a:r>
            <a:r>
              <a:rPr lang="en-US" altLang="ja-JP" sz="1050" dirty="0"/>
              <a:t>     75%</a:t>
            </a:r>
            <a:endParaRPr lang="ja-JP" altLang="ja-JP" sz="1050" dirty="0"/>
          </a:p>
          <a:p>
            <a:endParaRPr lang="en-US" altLang="ja-JP" sz="500" dirty="0"/>
          </a:p>
          <a:p>
            <a:r>
              <a:rPr lang="en-US" altLang="ja-JP" sz="1050" dirty="0"/>
              <a:t> (</a:t>
            </a:r>
            <a:r>
              <a:rPr lang="ja-JP" altLang="ja-JP" sz="1050" dirty="0"/>
              <a:t>黄色</a:t>
            </a:r>
            <a:r>
              <a:rPr lang="en-US" altLang="ja-JP" sz="1050" dirty="0"/>
              <a:t>75%</a:t>
            </a:r>
            <a:r>
              <a:rPr lang="ja-JP" altLang="ja-JP" sz="1050" dirty="0"/>
              <a:t>、青</a:t>
            </a:r>
            <a:r>
              <a:rPr lang="en-US" altLang="ja-JP" sz="1050" dirty="0"/>
              <a:t>25%</a:t>
            </a:r>
            <a:r>
              <a:rPr lang="ja-JP" altLang="ja-JP" sz="1050" dirty="0"/>
              <a:t>となる混色比を示す</a:t>
            </a:r>
            <a:r>
              <a:rPr lang="en-US" altLang="ja-JP" sz="1050" dirty="0"/>
              <a:t>)</a:t>
            </a:r>
            <a:endParaRPr lang="ja-JP" altLang="ja-JP" sz="1050" dirty="0"/>
          </a:p>
        </p:txBody>
      </p:sp>
      <p:sp>
        <p:nvSpPr>
          <p:cNvPr id="11" name="テキスト ボックス 10">
            <a:extLst>
              <a:ext uri="{FF2B5EF4-FFF2-40B4-BE49-F238E27FC236}">
                <a16:creationId xmlns:a16="http://schemas.microsoft.com/office/drawing/2014/main" id="{A4E23F12-554D-5580-CE83-334B6915152A}"/>
              </a:ext>
            </a:extLst>
          </p:cNvPr>
          <p:cNvSpPr txBox="1"/>
          <p:nvPr/>
        </p:nvSpPr>
        <p:spPr>
          <a:xfrm>
            <a:off x="769237" y="6101245"/>
            <a:ext cx="2739853" cy="363736"/>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5. Gradient Filament</a:t>
            </a:r>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12" name="テキスト ボックス 11">
            <a:extLst>
              <a:ext uri="{FF2B5EF4-FFF2-40B4-BE49-F238E27FC236}">
                <a16:creationId xmlns:a16="http://schemas.microsoft.com/office/drawing/2014/main" id="{EC0AA4DC-DB2A-9062-C275-F74CBD84B6F2}"/>
              </a:ext>
            </a:extLst>
          </p:cNvPr>
          <p:cNvSpPr txBox="1"/>
          <p:nvPr/>
        </p:nvSpPr>
        <p:spPr>
          <a:xfrm>
            <a:off x="666901" y="6545170"/>
            <a:ext cx="5649491" cy="1708160"/>
          </a:xfrm>
          <a:prstGeom prst="rect">
            <a:avLst/>
          </a:prstGeom>
          <a:noFill/>
        </p:spPr>
        <p:txBody>
          <a:bodyPr wrap="square" rtlCol="0">
            <a:spAutoFit/>
          </a:bodyPr>
          <a:lstStyle/>
          <a:p>
            <a:r>
              <a:rPr lang="en-US" altLang="ja-JP" sz="1050" dirty="0"/>
              <a:t>Gradient Filament</a:t>
            </a:r>
            <a:r>
              <a:rPr lang="ja-JP" altLang="ja-JP" sz="1050" dirty="0"/>
              <a:t>は色の組み合わせに合わせた複数のカラーカーブとサイクル数が異なるモデルがあり、推奨される印刷方向を持つモデルです。</a:t>
            </a:r>
          </a:p>
          <a:p>
            <a:r>
              <a:rPr lang="ja-JP" altLang="ja-JP" sz="1050" dirty="0"/>
              <a:t>情報が多いため外側ブリムは上下２段の</a:t>
            </a:r>
            <a:r>
              <a:rPr lang="en-US" altLang="ja-JP" sz="1050" dirty="0"/>
              <a:t>Text</a:t>
            </a:r>
            <a:r>
              <a:rPr lang="ja-JP" altLang="ja-JP" sz="1050" dirty="0"/>
              <a:t>情報を持ちます。</a:t>
            </a:r>
          </a:p>
          <a:p>
            <a:r>
              <a:rPr lang="en-US" altLang="ja-JP" sz="1050" dirty="0"/>
              <a:t> </a:t>
            </a:r>
            <a:endParaRPr lang="ja-JP" altLang="ja-JP" sz="1050" dirty="0"/>
          </a:p>
          <a:p>
            <a:r>
              <a:rPr lang="ja-JP" altLang="ja-JP" sz="1050" b="1" dirty="0"/>
              <a:t>【内側ブリム】</a:t>
            </a:r>
            <a:endParaRPr lang="ja-JP" altLang="ja-JP" sz="1050" dirty="0"/>
          </a:p>
          <a:p>
            <a:r>
              <a:rPr lang="ja-JP" altLang="ja-JP" sz="1050" dirty="0"/>
              <a:t>シリーズ略称「</a:t>
            </a:r>
            <a:r>
              <a:rPr lang="en-US" altLang="ja-JP" sz="1050" dirty="0"/>
              <a:t>GR</a:t>
            </a:r>
            <a:r>
              <a:rPr lang="ja-JP" altLang="ja-JP" sz="1050" dirty="0"/>
              <a:t>」の後に「</a:t>
            </a:r>
            <a:r>
              <a:rPr lang="en-US" altLang="ja-JP" sz="1050" dirty="0"/>
              <a:t>/</a:t>
            </a:r>
            <a:r>
              <a:rPr lang="ja-JP" altLang="ja-JP" sz="1050" dirty="0"/>
              <a:t>」、その後にサイズ名をつなげて記載します。初期のモデルではシリーズ名称と「</a:t>
            </a:r>
            <a:r>
              <a:rPr lang="en-US" altLang="ja-JP" sz="1050" dirty="0"/>
              <a:t>/</a:t>
            </a:r>
            <a:r>
              <a:rPr lang="ja-JP" altLang="ja-JP" sz="1050" dirty="0"/>
              <a:t>」が省略されています。</a:t>
            </a:r>
          </a:p>
          <a:p>
            <a:r>
              <a:rPr lang="ja-JP" altLang="ja-JP" sz="1050" dirty="0"/>
              <a:t>凡例は</a:t>
            </a:r>
            <a:r>
              <a:rPr lang="en-US" altLang="ja-JP" sz="1050" dirty="0"/>
              <a:t>Blend Filament</a:t>
            </a:r>
            <a:r>
              <a:rPr lang="ja-JP" altLang="ja-JP" sz="1050" dirty="0"/>
              <a:t>に準じます。</a:t>
            </a:r>
            <a:endParaRPr lang="en-US" altLang="ja-JP" sz="1050" dirty="0"/>
          </a:p>
          <a:p>
            <a:endParaRPr lang="ja-JP" altLang="ja-JP" sz="1050" dirty="0"/>
          </a:p>
          <a:p>
            <a:r>
              <a:rPr lang="ja-JP" altLang="ja-JP" sz="1050" dirty="0"/>
              <a:t>例：</a:t>
            </a:r>
            <a:r>
              <a:rPr lang="ja-JP" altLang="en-US" sz="1050" dirty="0"/>
              <a:t>　</a:t>
            </a:r>
            <a:r>
              <a:rPr lang="en-US" altLang="ja-JP" sz="1050" dirty="0"/>
              <a:t>GR/S4b</a:t>
            </a:r>
            <a:r>
              <a:rPr lang="ja-JP" altLang="ja-JP" sz="1050" dirty="0"/>
              <a:t>　</a:t>
            </a:r>
            <a:r>
              <a:rPr lang="ja-JP" altLang="en-US" sz="1050" dirty="0"/>
              <a:t>　</a:t>
            </a:r>
            <a:r>
              <a:rPr lang="en-US" altLang="ja-JP" sz="1050" dirty="0"/>
              <a:t>(Gradient Filament M4 Beta model</a:t>
            </a:r>
            <a:r>
              <a:rPr lang="ja-JP" altLang="ja-JP" sz="1050" dirty="0"/>
              <a:t>を示す</a:t>
            </a:r>
            <a:r>
              <a:rPr lang="en-US" altLang="ja-JP" sz="1050" dirty="0"/>
              <a:t>)</a:t>
            </a:r>
            <a:endParaRPr lang="ja-JP" altLang="ja-JP" sz="1050" dirty="0"/>
          </a:p>
        </p:txBody>
      </p:sp>
      <p:pic>
        <p:nvPicPr>
          <p:cNvPr id="18" name="図 17">
            <a:extLst>
              <a:ext uri="{FF2B5EF4-FFF2-40B4-BE49-F238E27FC236}">
                <a16:creationId xmlns:a16="http://schemas.microsoft.com/office/drawing/2014/main" id="{48D1B717-FC02-16C3-C256-99705A48F87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06240" y="5211453"/>
            <a:ext cx="2529840" cy="693420"/>
          </a:xfrm>
          <a:prstGeom prst="rect">
            <a:avLst/>
          </a:prstGeom>
          <a:noFill/>
          <a:extLst>
            <a:ext uri="{909E8E84-426E-40DD-AFC4-6F175D3DCCD1}">
              <a14:hiddenFill xmlns:a14="http://schemas.microsoft.com/office/drawing/2010/main">
                <a:solidFill>
                  <a:srgbClr val="FFFFFF"/>
                </a:solidFill>
              </a14:hiddenFill>
            </a:ext>
          </a:extLst>
        </p:spPr>
      </p:pic>
      <p:sp>
        <p:nvSpPr>
          <p:cNvPr id="19" name="四角形: 角を丸くする 18">
            <a:extLst>
              <a:ext uri="{FF2B5EF4-FFF2-40B4-BE49-F238E27FC236}">
                <a16:creationId xmlns:a16="http://schemas.microsoft.com/office/drawing/2014/main" id="{45A08820-C28C-B77C-8C18-2570E1EFD83B}"/>
              </a:ext>
            </a:extLst>
          </p:cNvPr>
          <p:cNvSpPr/>
          <p:nvPr/>
        </p:nvSpPr>
        <p:spPr>
          <a:xfrm>
            <a:off x="2634389" y="1163998"/>
            <a:ext cx="474802" cy="204964"/>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49F28658-6007-E720-25B3-D7EDC01130D2}"/>
              </a:ext>
            </a:extLst>
          </p:cNvPr>
          <p:cNvSpPr/>
          <p:nvPr/>
        </p:nvSpPr>
        <p:spPr>
          <a:xfrm>
            <a:off x="1082560" y="4280429"/>
            <a:ext cx="474802" cy="225460"/>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四角形: 角を丸くする 22">
            <a:extLst>
              <a:ext uri="{FF2B5EF4-FFF2-40B4-BE49-F238E27FC236}">
                <a16:creationId xmlns:a16="http://schemas.microsoft.com/office/drawing/2014/main" id="{C498ED23-26FA-9DD6-9BFC-073879FD6F0C}"/>
              </a:ext>
            </a:extLst>
          </p:cNvPr>
          <p:cNvSpPr/>
          <p:nvPr/>
        </p:nvSpPr>
        <p:spPr>
          <a:xfrm>
            <a:off x="1072885" y="7971852"/>
            <a:ext cx="631961" cy="225460"/>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16402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D60F8-8E1E-94AA-339E-890E1C4BB1C2}"/>
            </a:ext>
          </a:extLst>
        </p:cNvPr>
        <p:cNvGrpSpPr/>
        <p:nvPr/>
      </p:nvGrpSpPr>
      <p:grpSpPr>
        <a:xfrm>
          <a:off x="0" y="0"/>
          <a:ext cx="0" cy="0"/>
          <a:chOff x="0" y="0"/>
          <a:chExt cx="0" cy="0"/>
        </a:xfrm>
      </p:grpSpPr>
      <p:sp>
        <p:nvSpPr>
          <p:cNvPr id="30" name="正方形/長方形 29">
            <a:extLst>
              <a:ext uri="{FF2B5EF4-FFF2-40B4-BE49-F238E27FC236}">
                <a16:creationId xmlns:a16="http://schemas.microsoft.com/office/drawing/2014/main" id="{3C362B1A-84CB-1ED3-3115-52C18E7E17A0}"/>
              </a:ext>
            </a:extLst>
          </p:cNvPr>
          <p:cNvSpPr/>
          <p:nvPr/>
        </p:nvSpPr>
        <p:spPr>
          <a:xfrm>
            <a:off x="51086" y="45268"/>
            <a:ext cx="6790099" cy="9053465"/>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フリーフォーム: 図形 21">
            <a:extLst>
              <a:ext uri="{FF2B5EF4-FFF2-40B4-BE49-F238E27FC236}">
                <a16:creationId xmlns:a16="http://schemas.microsoft.com/office/drawing/2014/main" id="{3BD75A38-03D4-4724-C46F-EA7F62DF1BEB}"/>
              </a:ext>
            </a:extLst>
          </p:cNvPr>
          <p:cNvSpPr/>
          <p:nvPr/>
        </p:nvSpPr>
        <p:spPr>
          <a:xfrm>
            <a:off x="6064" y="-3583"/>
            <a:ext cx="6858000" cy="9144000"/>
          </a:xfrm>
          <a:custGeom>
            <a:avLst/>
            <a:gdLst>
              <a:gd name="connsiteX0" fmla="*/ 3728780 w 6858000"/>
              <a:gd name="connsiteY0" fmla="*/ 8665500 h 9144000"/>
              <a:gd name="connsiteX1" fmla="*/ 3728780 w 6858000"/>
              <a:gd name="connsiteY1" fmla="*/ 8719500 h 9144000"/>
              <a:gd name="connsiteX2" fmla="*/ 6320780 w 6858000"/>
              <a:gd name="connsiteY2" fmla="*/ 8719500 h 9144000"/>
              <a:gd name="connsiteX3" fmla="*/ 6320780 w 6858000"/>
              <a:gd name="connsiteY3" fmla="*/ 8665500 h 9144000"/>
              <a:gd name="connsiteX4" fmla="*/ 548474 w 6858000"/>
              <a:gd name="connsiteY4" fmla="*/ 8665500 h 9144000"/>
              <a:gd name="connsiteX5" fmla="*/ 548474 w 6858000"/>
              <a:gd name="connsiteY5" fmla="*/ 8719500 h 9144000"/>
              <a:gd name="connsiteX6" fmla="*/ 3140474 w 6858000"/>
              <a:gd name="connsiteY6" fmla="*/ 8719500 h 9144000"/>
              <a:gd name="connsiteX7" fmla="*/ 3140474 w 6858000"/>
              <a:gd name="connsiteY7" fmla="*/ 8665500 h 9144000"/>
              <a:gd name="connsiteX8" fmla="*/ 642619 w 6858000"/>
              <a:gd name="connsiteY8" fmla="*/ 7304634 h 9144000"/>
              <a:gd name="connsiteX9" fmla="*/ 540284 w 6858000"/>
              <a:gd name="connsiteY9" fmla="*/ 7406969 h 9144000"/>
              <a:gd name="connsiteX10" fmla="*/ 642619 w 6858000"/>
              <a:gd name="connsiteY10" fmla="*/ 7509304 h 9144000"/>
              <a:gd name="connsiteX11" fmla="*/ 744954 w 6858000"/>
              <a:gd name="connsiteY11" fmla="*/ 7406969 h 9144000"/>
              <a:gd name="connsiteX12" fmla="*/ 642619 w 6858000"/>
              <a:gd name="connsiteY12" fmla="*/ 7304634 h 9144000"/>
              <a:gd name="connsiteX13" fmla="*/ 660839 w 6858000"/>
              <a:gd name="connsiteY13" fmla="*/ 4139061 h 9144000"/>
              <a:gd name="connsiteX14" fmla="*/ 558504 w 6858000"/>
              <a:gd name="connsiteY14" fmla="*/ 4232093 h 9144000"/>
              <a:gd name="connsiteX15" fmla="*/ 660839 w 6858000"/>
              <a:gd name="connsiteY15" fmla="*/ 4325125 h 9144000"/>
              <a:gd name="connsiteX16" fmla="*/ 763174 w 6858000"/>
              <a:gd name="connsiteY16" fmla="*/ 4232093 h 9144000"/>
              <a:gd name="connsiteX17" fmla="*/ 660839 w 6858000"/>
              <a:gd name="connsiteY17" fmla="*/ 4139061 h 9144000"/>
              <a:gd name="connsiteX18" fmla="*/ 548473 w 6858000"/>
              <a:gd name="connsiteY18" fmla="*/ 427476 h 9144000"/>
              <a:gd name="connsiteX19" fmla="*/ 548473 w 6858000"/>
              <a:gd name="connsiteY19" fmla="*/ 481476 h 9144000"/>
              <a:gd name="connsiteX20" fmla="*/ 6304666 w 6858000"/>
              <a:gd name="connsiteY20" fmla="*/ 481476 h 9144000"/>
              <a:gd name="connsiteX21" fmla="*/ 6304666 w 6858000"/>
              <a:gd name="connsiteY21" fmla="*/ 427476 h 9144000"/>
              <a:gd name="connsiteX22" fmla="*/ 0 w 6858000"/>
              <a:gd name="connsiteY22" fmla="*/ 0 h 9144000"/>
              <a:gd name="connsiteX23" fmla="*/ 6858000 w 6858000"/>
              <a:gd name="connsiteY23" fmla="*/ 0 h 9144000"/>
              <a:gd name="connsiteX24" fmla="*/ 6858000 w 6858000"/>
              <a:gd name="connsiteY24" fmla="*/ 9144000 h 9144000"/>
              <a:gd name="connsiteX25" fmla="*/ 0 w 6858000"/>
              <a:gd name="connsiteY25" fmla="*/ 9144000 h 91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8000" h="9144000">
                <a:moveTo>
                  <a:pt x="3728780" y="8665500"/>
                </a:moveTo>
                <a:lnTo>
                  <a:pt x="3728780" y="8719500"/>
                </a:lnTo>
                <a:lnTo>
                  <a:pt x="6320780" y="8719500"/>
                </a:lnTo>
                <a:lnTo>
                  <a:pt x="6320780" y="8665500"/>
                </a:lnTo>
                <a:close/>
                <a:moveTo>
                  <a:pt x="548474" y="8665500"/>
                </a:moveTo>
                <a:lnTo>
                  <a:pt x="548474" y="8719500"/>
                </a:lnTo>
                <a:lnTo>
                  <a:pt x="3140474" y="8719500"/>
                </a:lnTo>
                <a:lnTo>
                  <a:pt x="3140474" y="8665500"/>
                </a:lnTo>
                <a:close/>
                <a:moveTo>
                  <a:pt x="642619" y="7304634"/>
                </a:moveTo>
                <a:cubicBezTo>
                  <a:pt x="586101" y="7304634"/>
                  <a:pt x="540284" y="7350451"/>
                  <a:pt x="540284" y="7406969"/>
                </a:cubicBezTo>
                <a:cubicBezTo>
                  <a:pt x="540284" y="7463487"/>
                  <a:pt x="586101" y="7509304"/>
                  <a:pt x="642619" y="7509304"/>
                </a:cubicBezTo>
                <a:cubicBezTo>
                  <a:pt x="699137" y="7509304"/>
                  <a:pt x="744954" y="7463487"/>
                  <a:pt x="744954" y="7406969"/>
                </a:cubicBezTo>
                <a:cubicBezTo>
                  <a:pt x="744954" y="7350451"/>
                  <a:pt x="699137" y="7304634"/>
                  <a:pt x="642619" y="7304634"/>
                </a:cubicBezTo>
                <a:close/>
                <a:moveTo>
                  <a:pt x="660839" y="4139061"/>
                </a:moveTo>
                <a:cubicBezTo>
                  <a:pt x="604321" y="4139061"/>
                  <a:pt x="558504" y="4180713"/>
                  <a:pt x="558504" y="4232093"/>
                </a:cubicBezTo>
                <a:cubicBezTo>
                  <a:pt x="558504" y="4283473"/>
                  <a:pt x="604321" y="4325125"/>
                  <a:pt x="660839" y="4325125"/>
                </a:cubicBezTo>
                <a:cubicBezTo>
                  <a:pt x="717357" y="4325125"/>
                  <a:pt x="763174" y="4283473"/>
                  <a:pt x="763174" y="4232093"/>
                </a:cubicBezTo>
                <a:cubicBezTo>
                  <a:pt x="763174" y="4180713"/>
                  <a:pt x="717357" y="4139061"/>
                  <a:pt x="660839" y="4139061"/>
                </a:cubicBezTo>
                <a:close/>
                <a:moveTo>
                  <a:pt x="548473" y="427476"/>
                </a:moveTo>
                <a:lnTo>
                  <a:pt x="548473" y="481476"/>
                </a:lnTo>
                <a:lnTo>
                  <a:pt x="6304666" y="481476"/>
                </a:lnTo>
                <a:lnTo>
                  <a:pt x="6304666" y="427476"/>
                </a:lnTo>
                <a:close/>
                <a:moveTo>
                  <a:pt x="0" y="0"/>
                </a:moveTo>
                <a:lnTo>
                  <a:pt x="6858000" y="0"/>
                </a:lnTo>
                <a:lnTo>
                  <a:pt x="6858000" y="9144000"/>
                </a:lnTo>
                <a:lnTo>
                  <a:pt x="0" y="914400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17" name="テキスト ボックス 16">
            <a:extLst>
              <a:ext uri="{FF2B5EF4-FFF2-40B4-BE49-F238E27FC236}">
                <a16:creationId xmlns:a16="http://schemas.microsoft.com/office/drawing/2014/main" id="{43DF714C-D97F-2A05-D15F-EA1DA43F8A63}"/>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4</a:t>
            </a:r>
            <a:endParaRPr kumimoji="1" lang="ja-JP" altLang="en-US" dirty="0"/>
          </a:p>
        </p:txBody>
      </p:sp>
      <p:sp>
        <p:nvSpPr>
          <p:cNvPr id="34" name="テキスト ボックス 33">
            <a:extLst>
              <a:ext uri="{FF2B5EF4-FFF2-40B4-BE49-F238E27FC236}">
                <a16:creationId xmlns:a16="http://schemas.microsoft.com/office/drawing/2014/main" id="{A162F138-8523-8C0C-CEEF-8FBEBBAF9725}"/>
              </a:ext>
            </a:extLst>
          </p:cNvPr>
          <p:cNvSpPr txBox="1"/>
          <p:nvPr/>
        </p:nvSpPr>
        <p:spPr>
          <a:xfrm>
            <a:off x="778114" y="7219472"/>
            <a:ext cx="3568606"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7. </a:t>
            </a:r>
            <a:r>
              <a:rPr lang="ja-JP" altLang="en-US" sz="2000" dirty="0">
                <a:latin typeface="IBM Plex Sans JP SemiBold" panose="020B0703050203000203" pitchFamily="50" charset="-128"/>
                <a:ea typeface="IBM Plex Sans JP SemiBold" panose="020B0703050203000203" pitchFamily="50" charset="-128"/>
              </a:rPr>
              <a:t>ブリムの取り扱いについて</a:t>
            </a:r>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35" name="テキスト ボックス 34">
            <a:extLst>
              <a:ext uri="{FF2B5EF4-FFF2-40B4-BE49-F238E27FC236}">
                <a16:creationId xmlns:a16="http://schemas.microsoft.com/office/drawing/2014/main" id="{BE988904-CD73-25E7-AE0E-4E02FA1CC474}"/>
              </a:ext>
            </a:extLst>
          </p:cNvPr>
          <p:cNvSpPr txBox="1"/>
          <p:nvPr/>
        </p:nvSpPr>
        <p:spPr>
          <a:xfrm>
            <a:off x="676426" y="7599215"/>
            <a:ext cx="5649491" cy="684803"/>
          </a:xfrm>
          <a:prstGeom prst="rect">
            <a:avLst/>
          </a:prstGeom>
          <a:noFill/>
        </p:spPr>
        <p:txBody>
          <a:bodyPr wrap="square" rtlCol="0">
            <a:spAutoFit/>
          </a:bodyPr>
          <a:lstStyle/>
          <a:p>
            <a:r>
              <a:rPr lang="ja-JP" altLang="ja-JP" sz="1050" dirty="0"/>
              <a:t>ブリムはフィラメント使用時には不要なものであるため、除去してから使って下さい。</a:t>
            </a:r>
          </a:p>
          <a:p>
            <a:r>
              <a:rPr lang="ja-JP" altLang="ja-JP" sz="1050" dirty="0"/>
              <a:t>どの様な仕様のフィラメントとして印刷されたかを読み解くことが出来るものであるため、すぐに使わない場合はすぐに外さずブリムがついたまま保管することを推奨いたします。</a:t>
            </a:r>
          </a:p>
          <a:p>
            <a:endParaRPr kumimoji="1" lang="ja-JP" altLang="en-US" sz="600" b="1" dirty="0">
              <a:latin typeface="IBM Plex Sans JP" panose="020B0503050203000203" pitchFamily="50" charset="-128"/>
              <a:ea typeface="IBM Plex Sans JP" panose="020B0503050203000203" pitchFamily="50" charset="-128"/>
            </a:endParaRPr>
          </a:p>
        </p:txBody>
      </p:sp>
      <p:sp>
        <p:nvSpPr>
          <p:cNvPr id="11" name="テキスト ボックス 10">
            <a:extLst>
              <a:ext uri="{FF2B5EF4-FFF2-40B4-BE49-F238E27FC236}">
                <a16:creationId xmlns:a16="http://schemas.microsoft.com/office/drawing/2014/main" id="{FC199E2F-B1A5-EF51-D820-1840C9E2C177}"/>
              </a:ext>
            </a:extLst>
          </p:cNvPr>
          <p:cNvSpPr txBox="1"/>
          <p:nvPr/>
        </p:nvSpPr>
        <p:spPr>
          <a:xfrm>
            <a:off x="769237" y="4066952"/>
            <a:ext cx="3060453"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6. New Series Preview</a:t>
            </a:r>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12" name="テキスト ボックス 11">
            <a:extLst>
              <a:ext uri="{FF2B5EF4-FFF2-40B4-BE49-F238E27FC236}">
                <a16:creationId xmlns:a16="http://schemas.microsoft.com/office/drawing/2014/main" id="{462436EF-BDF5-7E9C-FA11-74EECEEB7E3E}"/>
              </a:ext>
            </a:extLst>
          </p:cNvPr>
          <p:cNvSpPr txBox="1"/>
          <p:nvPr/>
        </p:nvSpPr>
        <p:spPr>
          <a:xfrm>
            <a:off x="666901" y="4520402"/>
            <a:ext cx="5649491" cy="2192908"/>
          </a:xfrm>
          <a:prstGeom prst="rect">
            <a:avLst/>
          </a:prstGeom>
          <a:noFill/>
        </p:spPr>
        <p:txBody>
          <a:bodyPr wrap="square" rtlCol="0">
            <a:spAutoFit/>
          </a:bodyPr>
          <a:lstStyle/>
          <a:p>
            <a:r>
              <a:rPr lang="en-US" altLang="ja-JP" sz="1050" dirty="0"/>
              <a:t>New Series Preview</a:t>
            </a:r>
            <a:r>
              <a:rPr lang="ja-JP" altLang="ja-JP" sz="1050" dirty="0"/>
              <a:t>は次に来るシリーズを示唆するプレビューモデルです。</a:t>
            </a:r>
          </a:p>
          <a:p>
            <a:r>
              <a:rPr lang="en-US" altLang="ja-JP" sz="1050" dirty="0"/>
              <a:t> </a:t>
            </a:r>
            <a:endParaRPr lang="ja-JP" altLang="ja-JP" sz="1050" dirty="0"/>
          </a:p>
          <a:p>
            <a:r>
              <a:rPr lang="ja-JP" altLang="ja-JP" sz="1050" b="1" dirty="0"/>
              <a:t>【内側ブリム】</a:t>
            </a:r>
            <a:endParaRPr lang="ja-JP" altLang="ja-JP" sz="1050" dirty="0"/>
          </a:p>
          <a:p>
            <a:r>
              <a:rPr lang="ja-JP" altLang="ja-JP" sz="1050" dirty="0"/>
              <a:t>シリーズ略称「</a:t>
            </a:r>
            <a:r>
              <a:rPr lang="en-US" altLang="ja-JP" sz="1050" dirty="0"/>
              <a:t>Prev</a:t>
            </a:r>
            <a:r>
              <a:rPr lang="ja-JP" altLang="ja-JP" sz="1050" dirty="0"/>
              <a:t>」のみを記載します。</a:t>
            </a:r>
          </a:p>
          <a:p>
            <a:r>
              <a:rPr lang="ja-JP" altLang="ja-JP" sz="1050" dirty="0"/>
              <a:t>凡例は</a:t>
            </a:r>
            <a:r>
              <a:rPr lang="en-US" altLang="ja-JP" sz="1050" dirty="0"/>
              <a:t>Blend Filament</a:t>
            </a:r>
            <a:r>
              <a:rPr lang="ja-JP" altLang="ja-JP" sz="1050" dirty="0"/>
              <a:t>に準じます。</a:t>
            </a:r>
            <a:endParaRPr lang="en-US" altLang="ja-JP" sz="1050" dirty="0"/>
          </a:p>
          <a:p>
            <a:endParaRPr lang="ja-JP" altLang="ja-JP" sz="1050" dirty="0"/>
          </a:p>
          <a:p>
            <a:r>
              <a:rPr lang="ja-JP" altLang="ja-JP" sz="1050" dirty="0"/>
              <a:t>例：</a:t>
            </a:r>
            <a:r>
              <a:rPr lang="ja-JP" altLang="en-US" sz="1050" dirty="0"/>
              <a:t>　</a:t>
            </a:r>
            <a:r>
              <a:rPr lang="en-US" altLang="ja-JP" sz="1050" dirty="0"/>
              <a:t>Prev</a:t>
            </a:r>
            <a:r>
              <a:rPr lang="ja-JP" altLang="en-US" sz="1050" dirty="0"/>
              <a:t>　</a:t>
            </a:r>
            <a:r>
              <a:rPr lang="ja-JP" altLang="ja-JP" sz="1050" dirty="0"/>
              <a:t>　</a:t>
            </a:r>
            <a:r>
              <a:rPr lang="en-US" altLang="ja-JP" sz="1050" dirty="0"/>
              <a:t>(Gradient Filament M4 Beta model</a:t>
            </a:r>
            <a:r>
              <a:rPr lang="ja-JP" altLang="ja-JP" sz="1050" dirty="0"/>
              <a:t>を示す</a:t>
            </a:r>
            <a:r>
              <a:rPr lang="en-US" altLang="ja-JP" sz="1050" dirty="0"/>
              <a:t>)</a:t>
            </a:r>
            <a:endParaRPr lang="ja-JP" altLang="ja-JP" sz="1050" dirty="0"/>
          </a:p>
          <a:p>
            <a:r>
              <a:rPr lang="en-US" altLang="ja-JP" sz="1050" dirty="0"/>
              <a:t> </a:t>
            </a:r>
            <a:endParaRPr lang="ja-JP" altLang="ja-JP" sz="1050" dirty="0"/>
          </a:p>
          <a:p>
            <a:r>
              <a:rPr lang="en-US" altLang="ja-JP" sz="1050" b="1" dirty="0"/>
              <a:t>【</a:t>
            </a:r>
            <a:r>
              <a:rPr lang="ja-JP" altLang="en-US" sz="1050" b="1" dirty="0"/>
              <a:t>外側ブリム</a:t>
            </a:r>
            <a:r>
              <a:rPr lang="en-US" altLang="ja-JP" sz="1050" b="1" dirty="0"/>
              <a:t>】</a:t>
            </a:r>
            <a:endParaRPr lang="ja-JP" altLang="ja-JP" sz="1050" dirty="0"/>
          </a:p>
          <a:p>
            <a:r>
              <a:rPr lang="ja-JP" altLang="en-US" sz="1050" dirty="0"/>
              <a:t>決まった表記方法はありません。「新シリーズ」への期待感を高めるため、新しいシリーズ予告モデルが作成されます。その結果、外側の縁にヒントが表示されます。</a:t>
            </a:r>
            <a:endParaRPr lang="en-US" altLang="ja-JP" sz="1050" dirty="0"/>
          </a:p>
          <a:p>
            <a:endParaRPr lang="en-US" altLang="ja-JP" sz="1050" dirty="0"/>
          </a:p>
          <a:p>
            <a:r>
              <a:rPr lang="ja-JP" altLang="en-US" sz="1050" dirty="0"/>
              <a:t>例：    </a:t>
            </a:r>
            <a:r>
              <a:rPr lang="en-US" altLang="ja-JP" sz="1050" dirty="0"/>
              <a:t>GRD     </a:t>
            </a:r>
            <a:r>
              <a:rPr lang="ja-JP" altLang="en-US" sz="1050" dirty="0"/>
              <a:t> は、「グラデーションフィラメント」という答えへのヒントです。</a:t>
            </a:r>
            <a:endParaRPr kumimoji="1" lang="ja-JP" altLang="en-US" sz="1050" b="1" dirty="0">
              <a:latin typeface="IBM Plex Sans JP" panose="020B0503050203000203" pitchFamily="50" charset="-128"/>
              <a:ea typeface="IBM Plex Sans JP" panose="020B0503050203000203" pitchFamily="50" charset="-128"/>
            </a:endParaRPr>
          </a:p>
        </p:txBody>
      </p:sp>
      <p:sp>
        <p:nvSpPr>
          <p:cNvPr id="19" name="テキスト ボックス 18">
            <a:extLst>
              <a:ext uri="{FF2B5EF4-FFF2-40B4-BE49-F238E27FC236}">
                <a16:creationId xmlns:a16="http://schemas.microsoft.com/office/drawing/2014/main" id="{C4692296-7F43-8421-2662-130E77DB1791}"/>
              </a:ext>
            </a:extLst>
          </p:cNvPr>
          <p:cNvSpPr txBox="1"/>
          <p:nvPr/>
        </p:nvSpPr>
        <p:spPr>
          <a:xfrm>
            <a:off x="666901" y="638958"/>
            <a:ext cx="5649491" cy="1477328"/>
          </a:xfrm>
          <a:prstGeom prst="rect">
            <a:avLst/>
          </a:prstGeom>
          <a:noFill/>
        </p:spPr>
        <p:txBody>
          <a:bodyPr wrap="square" rtlCol="0">
            <a:spAutoFit/>
          </a:bodyPr>
          <a:lstStyle/>
          <a:p>
            <a:r>
              <a:rPr lang="ja-JP" altLang="ja-JP" sz="1050" b="1" dirty="0"/>
              <a:t>【外側ブリム】</a:t>
            </a:r>
            <a:endParaRPr lang="ja-JP" altLang="ja-JP" sz="1050" dirty="0"/>
          </a:p>
          <a:p>
            <a:r>
              <a:rPr lang="ja-JP" altLang="ja-JP" sz="1050" dirty="0"/>
              <a:t>上段に推奨される挿入方向を示す「</a:t>
            </a:r>
            <a:r>
              <a:rPr lang="en-US" altLang="ja-JP" sz="1050" dirty="0"/>
              <a:t>IN</a:t>
            </a:r>
            <a:r>
              <a:rPr lang="ja-JP" altLang="ja-JP" sz="1050" dirty="0"/>
              <a:t>→」を記載し、下段にカラーカーブの略号の後に「</a:t>
            </a:r>
            <a:r>
              <a:rPr lang="en-US" altLang="ja-JP" sz="1050" dirty="0"/>
              <a:t>-</a:t>
            </a:r>
            <a:r>
              <a:rPr lang="ja-JP" altLang="ja-JP" sz="1050" dirty="0"/>
              <a:t>」、その後にサイクル数をつなげて記載します。</a:t>
            </a:r>
          </a:p>
          <a:p>
            <a:endParaRPr lang="en-US" altLang="ja-JP" sz="1050" dirty="0"/>
          </a:p>
          <a:p>
            <a:r>
              <a:rPr lang="ja-JP" altLang="en-US" sz="1050" dirty="0"/>
              <a:t>　　　　</a:t>
            </a:r>
            <a:r>
              <a:rPr lang="en-US" altLang="ja-JP" sz="1050" dirty="0"/>
              <a:t>IN</a:t>
            </a:r>
            <a:r>
              <a:rPr lang="ja-JP" altLang="ja-JP" sz="1050" dirty="0"/>
              <a:t>→</a:t>
            </a:r>
          </a:p>
          <a:p>
            <a:r>
              <a:rPr lang="ja-JP" altLang="en-US" sz="1050" dirty="0"/>
              <a:t>　　　　</a:t>
            </a:r>
            <a:r>
              <a:rPr lang="en-US" altLang="ja-JP" sz="1050" dirty="0"/>
              <a:t>Vvd-.5cyc</a:t>
            </a:r>
          </a:p>
          <a:p>
            <a:r>
              <a:rPr lang="ja-JP" altLang="ja-JP" sz="600" dirty="0"/>
              <a:t>　</a:t>
            </a:r>
            <a:endParaRPr lang="en-US" altLang="ja-JP" sz="600" dirty="0"/>
          </a:p>
          <a:p>
            <a:r>
              <a:rPr lang="ja-JP" altLang="ja-JP" sz="1050" dirty="0"/>
              <a:t>矢印が挿入方向を示し、</a:t>
            </a:r>
            <a:r>
              <a:rPr lang="en-US" altLang="ja-JP" sz="1050" dirty="0"/>
              <a:t>Vivid</a:t>
            </a:r>
            <a:r>
              <a:rPr lang="ja-JP" altLang="ja-JP" sz="1050" dirty="0"/>
              <a:t>カラーカーブの</a:t>
            </a:r>
            <a:r>
              <a:rPr lang="en-US" altLang="ja-JP" sz="1050" dirty="0"/>
              <a:t>0.5</a:t>
            </a:r>
            <a:r>
              <a:rPr lang="ja-JP" altLang="ja-JP" sz="1050" dirty="0"/>
              <a:t>サイクル数のグラデーションであることを示す</a:t>
            </a:r>
          </a:p>
        </p:txBody>
      </p:sp>
      <p:sp>
        <p:nvSpPr>
          <p:cNvPr id="20" name="テキスト ボックス 19">
            <a:extLst>
              <a:ext uri="{FF2B5EF4-FFF2-40B4-BE49-F238E27FC236}">
                <a16:creationId xmlns:a16="http://schemas.microsoft.com/office/drawing/2014/main" id="{974D7CFA-0331-0ED6-CB5D-29A4927980AB}"/>
              </a:ext>
            </a:extLst>
          </p:cNvPr>
          <p:cNvSpPr txBox="1"/>
          <p:nvPr/>
        </p:nvSpPr>
        <p:spPr>
          <a:xfrm>
            <a:off x="769237" y="1351707"/>
            <a:ext cx="803035" cy="253916"/>
          </a:xfrm>
          <a:prstGeom prst="rect">
            <a:avLst/>
          </a:prstGeom>
          <a:noFill/>
        </p:spPr>
        <p:txBody>
          <a:bodyPr wrap="square" rtlCol="0">
            <a:spAutoFit/>
          </a:bodyPr>
          <a:lstStyle/>
          <a:p>
            <a:r>
              <a:rPr lang="ja-JP" altLang="en-US" sz="1050" dirty="0"/>
              <a:t>例：</a:t>
            </a:r>
            <a:endParaRPr lang="en-US" altLang="ja-JP" sz="1050" dirty="0"/>
          </a:p>
        </p:txBody>
      </p:sp>
      <p:sp>
        <p:nvSpPr>
          <p:cNvPr id="23" name="四角形: 角を丸くする 22">
            <a:extLst>
              <a:ext uri="{FF2B5EF4-FFF2-40B4-BE49-F238E27FC236}">
                <a16:creationId xmlns:a16="http://schemas.microsoft.com/office/drawing/2014/main" id="{4CCADD7B-63D7-98E9-6EA7-AE83BEED5870}"/>
              </a:ext>
            </a:extLst>
          </p:cNvPr>
          <p:cNvSpPr/>
          <p:nvPr/>
        </p:nvSpPr>
        <p:spPr>
          <a:xfrm>
            <a:off x="1162049" y="1256996"/>
            <a:ext cx="838200" cy="423228"/>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4" name="グループ化 23">
            <a:extLst>
              <a:ext uri="{FF2B5EF4-FFF2-40B4-BE49-F238E27FC236}">
                <a16:creationId xmlns:a16="http://schemas.microsoft.com/office/drawing/2014/main" id="{103A5C31-18E9-233B-8945-B334C090CF46}"/>
              </a:ext>
            </a:extLst>
          </p:cNvPr>
          <p:cNvGrpSpPr/>
          <p:nvPr/>
        </p:nvGrpSpPr>
        <p:grpSpPr>
          <a:xfrm>
            <a:off x="560196" y="2159462"/>
            <a:ext cx="5756193" cy="1642545"/>
            <a:chOff x="0" y="0"/>
            <a:chExt cx="6069081" cy="1818034"/>
          </a:xfrm>
        </p:grpSpPr>
        <p:pic>
          <p:nvPicPr>
            <p:cNvPr id="26" name="図 25">
              <a:extLst>
                <a:ext uri="{FF2B5EF4-FFF2-40B4-BE49-F238E27FC236}">
                  <a16:creationId xmlns:a16="http://schemas.microsoft.com/office/drawing/2014/main" id="{D90A1C3F-79DA-B898-1B4F-CED4AD5006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2673" y="1"/>
              <a:ext cx="1994038" cy="1818033"/>
            </a:xfrm>
            <a:prstGeom prst="rect">
              <a:avLst/>
            </a:prstGeom>
            <a:noFill/>
            <a:extLst>
              <a:ext uri="{909E8E84-426E-40DD-AFC4-6F175D3DCCD1}">
                <a14:hiddenFill xmlns:a14="http://schemas.microsoft.com/office/drawing/2010/main">
                  <a:solidFill>
                    <a:srgbClr val="FFFFFF"/>
                  </a:solidFill>
                </a14:hiddenFill>
              </a:ext>
            </a:extLst>
          </p:spPr>
        </p:pic>
        <p:pic>
          <p:nvPicPr>
            <p:cNvPr id="27" name="図 26">
              <a:extLst>
                <a:ext uri="{FF2B5EF4-FFF2-40B4-BE49-F238E27FC236}">
                  <a16:creationId xmlns:a16="http://schemas.microsoft.com/office/drawing/2014/main" id="{55D7ABCF-23AC-B72E-2205-580D6D49D3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567"/>
              <a:ext cx="1955938" cy="665508"/>
            </a:xfrm>
            <a:prstGeom prst="rect">
              <a:avLst/>
            </a:prstGeom>
            <a:noFill/>
            <a:extLst>
              <a:ext uri="{909E8E84-426E-40DD-AFC4-6F175D3DCCD1}">
                <a14:hiddenFill xmlns:a14="http://schemas.microsoft.com/office/drawing/2010/main">
                  <a:solidFill>
                    <a:srgbClr val="FFFFFF"/>
                  </a:solidFill>
                </a14:hiddenFill>
              </a:ext>
            </a:extLst>
          </p:spPr>
        </p:pic>
        <p:pic>
          <p:nvPicPr>
            <p:cNvPr id="28" name="図 27">
              <a:extLst>
                <a:ext uri="{FF2B5EF4-FFF2-40B4-BE49-F238E27FC236}">
                  <a16:creationId xmlns:a16="http://schemas.microsoft.com/office/drawing/2014/main" id="{CD3892CC-4EDF-6E78-8F39-941AC94A49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5043" y="0"/>
              <a:ext cx="1994038" cy="1367873"/>
            </a:xfrm>
            <a:prstGeom prst="rect">
              <a:avLst/>
            </a:prstGeom>
            <a:noFill/>
            <a:extLst>
              <a:ext uri="{909E8E84-426E-40DD-AFC4-6F175D3DCCD1}">
                <a14:hiddenFill xmlns:a14="http://schemas.microsoft.com/office/drawing/2010/main">
                  <a:solidFill>
                    <a:srgbClr val="FFFFFF"/>
                  </a:solidFill>
                </a14:hiddenFill>
              </a:ext>
            </a:extLst>
          </p:spPr>
        </p:pic>
      </p:grpSp>
      <p:sp>
        <p:nvSpPr>
          <p:cNvPr id="29" name="四角形: 角を丸くする 28">
            <a:extLst>
              <a:ext uri="{FF2B5EF4-FFF2-40B4-BE49-F238E27FC236}">
                <a16:creationId xmlns:a16="http://schemas.microsoft.com/office/drawing/2014/main" id="{FBB2AD5E-1BDF-7CFD-A9E8-6106A4027851}"/>
              </a:ext>
            </a:extLst>
          </p:cNvPr>
          <p:cNvSpPr/>
          <p:nvPr/>
        </p:nvSpPr>
        <p:spPr>
          <a:xfrm>
            <a:off x="1058750" y="5474048"/>
            <a:ext cx="492354" cy="217183"/>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四角形: 角を丸くする 32">
            <a:extLst>
              <a:ext uri="{FF2B5EF4-FFF2-40B4-BE49-F238E27FC236}">
                <a16:creationId xmlns:a16="http://schemas.microsoft.com/office/drawing/2014/main" id="{1F8B2F5B-7696-60B2-A457-063169E3941E}"/>
              </a:ext>
            </a:extLst>
          </p:cNvPr>
          <p:cNvSpPr/>
          <p:nvPr/>
        </p:nvSpPr>
        <p:spPr>
          <a:xfrm>
            <a:off x="1049306" y="6428862"/>
            <a:ext cx="473142" cy="217183"/>
          </a:xfrm>
          <a:prstGeom prst="roundRect">
            <a:avLst>
              <a:gd name="adj" fmla="val 50000"/>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45276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4835A-0000-3443-65DC-2540E3C757D6}"/>
            </a:ext>
          </a:extLst>
        </p:cNvPr>
        <p:cNvGrpSpPr/>
        <p:nvPr/>
      </p:nvGrpSpPr>
      <p:grpSpPr>
        <a:xfrm>
          <a:off x="0" y="0"/>
          <a:ext cx="0" cy="0"/>
          <a:chOff x="0" y="0"/>
          <a:chExt cx="0" cy="0"/>
        </a:xfrm>
      </p:grpSpPr>
      <p:sp>
        <p:nvSpPr>
          <p:cNvPr id="30" name="正方形/長方形 29">
            <a:extLst>
              <a:ext uri="{FF2B5EF4-FFF2-40B4-BE49-F238E27FC236}">
                <a16:creationId xmlns:a16="http://schemas.microsoft.com/office/drawing/2014/main" id="{A6D5E7D5-26C3-0C89-B974-B6A78FE946DC}"/>
              </a:ext>
            </a:extLst>
          </p:cNvPr>
          <p:cNvSpPr/>
          <p:nvPr/>
        </p:nvSpPr>
        <p:spPr>
          <a:xfrm>
            <a:off x="51086" y="45268"/>
            <a:ext cx="6790099" cy="9053465"/>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フリーフォーム: 図形 11">
            <a:extLst>
              <a:ext uri="{FF2B5EF4-FFF2-40B4-BE49-F238E27FC236}">
                <a16:creationId xmlns:a16="http://schemas.microsoft.com/office/drawing/2014/main" id="{CC47E6BC-816E-0F2B-71DB-D0ECF15E3CDD}"/>
              </a:ext>
            </a:extLst>
          </p:cNvPr>
          <p:cNvSpPr/>
          <p:nvPr/>
        </p:nvSpPr>
        <p:spPr>
          <a:xfrm>
            <a:off x="6064" y="-3583"/>
            <a:ext cx="6858000" cy="9144000"/>
          </a:xfrm>
          <a:custGeom>
            <a:avLst/>
            <a:gdLst>
              <a:gd name="connsiteX0" fmla="*/ 3728780 w 6858000"/>
              <a:gd name="connsiteY0" fmla="*/ 8665500 h 9144000"/>
              <a:gd name="connsiteX1" fmla="*/ 3728780 w 6858000"/>
              <a:gd name="connsiteY1" fmla="*/ 8719500 h 9144000"/>
              <a:gd name="connsiteX2" fmla="*/ 6320780 w 6858000"/>
              <a:gd name="connsiteY2" fmla="*/ 8719500 h 9144000"/>
              <a:gd name="connsiteX3" fmla="*/ 6320780 w 6858000"/>
              <a:gd name="connsiteY3" fmla="*/ 8665500 h 9144000"/>
              <a:gd name="connsiteX4" fmla="*/ 548474 w 6858000"/>
              <a:gd name="connsiteY4" fmla="*/ 8665500 h 9144000"/>
              <a:gd name="connsiteX5" fmla="*/ 548474 w 6858000"/>
              <a:gd name="connsiteY5" fmla="*/ 8719500 h 9144000"/>
              <a:gd name="connsiteX6" fmla="*/ 3140474 w 6858000"/>
              <a:gd name="connsiteY6" fmla="*/ 8719500 h 9144000"/>
              <a:gd name="connsiteX7" fmla="*/ 3140474 w 6858000"/>
              <a:gd name="connsiteY7" fmla="*/ 8665500 h 9144000"/>
              <a:gd name="connsiteX8" fmla="*/ 642619 w 6858000"/>
              <a:gd name="connsiteY8" fmla="*/ 885090 h 9144000"/>
              <a:gd name="connsiteX9" fmla="*/ 540284 w 6858000"/>
              <a:gd name="connsiteY9" fmla="*/ 987425 h 9144000"/>
              <a:gd name="connsiteX10" fmla="*/ 642619 w 6858000"/>
              <a:gd name="connsiteY10" fmla="*/ 1089760 h 9144000"/>
              <a:gd name="connsiteX11" fmla="*/ 744954 w 6858000"/>
              <a:gd name="connsiteY11" fmla="*/ 987425 h 9144000"/>
              <a:gd name="connsiteX12" fmla="*/ 642619 w 6858000"/>
              <a:gd name="connsiteY12" fmla="*/ 885090 h 9144000"/>
              <a:gd name="connsiteX13" fmla="*/ 548473 w 6858000"/>
              <a:gd name="connsiteY13" fmla="*/ 427476 h 9144000"/>
              <a:gd name="connsiteX14" fmla="*/ 548473 w 6858000"/>
              <a:gd name="connsiteY14" fmla="*/ 481476 h 9144000"/>
              <a:gd name="connsiteX15" fmla="*/ 6304666 w 6858000"/>
              <a:gd name="connsiteY15" fmla="*/ 481476 h 9144000"/>
              <a:gd name="connsiteX16" fmla="*/ 6304666 w 6858000"/>
              <a:gd name="connsiteY16" fmla="*/ 427476 h 9144000"/>
              <a:gd name="connsiteX17" fmla="*/ 0 w 6858000"/>
              <a:gd name="connsiteY17" fmla="*/ 0 h 9144000"/>
              <a:gd name="connsiteX18" fmla="*/ 6858000 w 6858000"/>
              <a:gd name="connsiteY18" fmla="*/ 0 h 9144000"/>
              <a:gd name="connsiteX19" fmla="*/ 6858000 w 6858000"/>
              <a:gd name="connsiteY19" fmla="*/ 9144000 h 9144000"/>
              <a:gd name="connsiteX20" fmla="*/ 0 w 6858000"/>
              <a:gd name="connsiteY20" fmla="*/ 9144000 h 914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858000" h="9144000">
                <a:moveTo>
                  <a:pt x="3728780" y="8665500"/>
                </a:moveTo>
                <a:lnTo>
                  <a:pt x="3728780" y="8719500"/>
                </a:lnTo>
                <a:lnTo>
                  <a:pt x="6320780" y="8719500"/>
                </a:lnTo>
                <a:lnTo>
                  <a:pt x="6320780" y="8665500"/>
                </a:lnTo>
                <a:close/>
                <a:moveTo>
                  <a:pt x="548474" y="8665500"/>
                </a:moveTo>
                <a:lnTo>
                  <a:pt x="548474" y="8719500"/>
                </a:lnTo>
                <a:lnTo>
                  <a:pt x="3140474" y="8719500"/>
                </a:lnTo>
                <a:lnTo>
                  <a:pt x="3140474" y="8665500"/>
                </a:lnTo>
                <a:close/>
                <a:moveTo>
                  <a:pt x="642619" y="885090"/>
                </a:moveTo>
                <a:cubicBezTo>
                  <a:pt x="586101" y="885090"/>
                  <a:pt x="540284" y="930907"/>
                  <a:pt x="540284" y="987425"/>
                </a:cubicBezTo>
                <a:cubicBezTo>
                  <a:pt x="540284" y="1043943"/>
                  <a:pt x="586101" y="1089760"/>
                  <a:pt x="642619" y="1089760"/>
                </a:cubicBezTo>
                <a:cubicBezTo>
                  <a:pt x="699137" y="1089760"/>
                  <a:pt x="744954" y="1043943"/>
                  <a:pt x="744954" y="987425"/>
                </a:cubicBezTo>
                <a:cubicBezTo>
                  <a:pt x="744954" y="930907"/>
                  <a:pt x="699137" y="885090"/>
                  <a:pt x="642619" y="885090"/>
                </a:cubicBezTo>
                <a:close/>
                <a:moveTo>
                  <a:pt x="548473" y="427476"/>
                </a:moveTo>
                <a:lnTo>
                  <a:pt x="548473" y="481476"/>
                </a:lnTo>
                <a:lnTo>
                  <a:pt x="6304666" y="481476"/>
                </a:lnTo>
                <a:lnTo>
                  <a:pt x="6304666" y="427476"/>
                </a:lnTo>
                <a:close/>
                <a:moveTo>
                  <a:pt x="0" y="0"/>
                </a:moveTo>
                <a:lnTo>
                  <a:pt x="6858000" y="0"/>
                </a:lnTo>
                <a:lnTo>
                  <a:pt x="6858000" y="9144000"/>
                </a:lnTo>
                <a:lnTo>
                  <a:pt x="0" y="914400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17" name="テキスト ボックス 16">
            <a:extLst>
              <a:ext uri="{FF2B5EF4-FFF2-40B4-BE49-F238E27FC236}">
                <a16:creationId xmlns:a16="http://schemas.microsoft.com/office/drawing/2014/main" id="{4CB5E7F5-8693-25F2-23F6-A47E8BD3424A}"/>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5</a:t>
            </a:r>
            <a:endParaRPr kumimoji="1" lang="ja-JP" altLang="en-US" dirty="0"/>
          </a:p>
        </p:txBody>
      </p:sp>
      <p:sp>
        <p:nvSpPr>
          <p:cNvPr id="34" name="テキスト ボックス 33">
            <a:extLst>
              <a:ext uri="{FF2B5EF4-FFF2-40B4-BE49-F238E27FC236}">
                <a16:creationId xmlns:a16="http://schemas.microsoft.com/office/drawing/2014/main" id="{4B842E4F-5383-A2EF-22F7-F36B0563D1CB}"/>
              </a:ext>
            </a:extLst>
          </p:cNvPr>
          <p:cNvSpPr txBox="1"/>
          <p:nvPr/>
        </p:nvSpPr>
        <p:spPr>
          <a:xfrm>
            <a:off x="778114" y="810625"/>
            <a:ext cx="1516762" cy="400110"/>
          </a:xfrm>
          <a:prstGeom prst="rect">
            <a:avLst/>
          </a:prstGeom>
          <a:noFill/>
        </p:spPr>
        <p:txBody>
          <a:bodyPr wrap="none" rtlCol="0">
            <a:spAutoFit/>
          </a:bodyPr>
          <a:lstStyle/>
          <a:p>
            <a:r>
              <a:rPr lang="en-US" altLang="ja-JP" sz="2000" dirty="0">
                <a:latin typeface="IBM Plex Sans JP SemiBold" panose="020B0703050203000203" pitchFamily="50" charset="-128"/>
                <a:ea typeface="IBM Plex Sans JP SemiBold" panose="020B0703050203000203" pitchFamily="50" charset="-128"/>
              </a:rPr>
              <a:t>8. </a:t>
            </a:r>
            <a:r>
              <a:rPr lang="ja-JP" altLang="en-US" sz="2000" dirty="0">
                <a:latin typeface="IBM Plex Sans JP SemiBold" panose="020B0703050203000203" pitchFamily="50" charset="-128"/>
                <a:ea typeface="IBM Plex Sans JP SemiBold" panose="020B0703050203000203" pitchFamily="50" charset="-128"/>
              </a:rPr>
              <a:t>更新履歴</a:t>
            </a:r>
            <a:endParaRPr kumimoji="1" lang="ja-JP" altLang="en-US" sz="2400" b="1" dirty="0">
              <a:latin typeface="IBM Plex Sans JP SemiBold" panose="020B0703050203000203" pitchFamily="50" charset="-128"/>
              <a:ea typeface="IBM Plex Sans JP SemiBold" panose="020B0703050203000203" pitchFamily="50" charset="-128"/>
            </a:endParaRPr>
          </a:p>
        </p:txBody>
      </p:sp>
      <p:sp>
        <p:nvSpPr>
          <p:cNvPr id="35" name="テキスト ボックス 34">
            <a:extLst>
              <a:ext uri="{FF2B5EF4-FFF2-40B4-BE49-F238E27FC236}">
                <a16:creationId xmlns:a16="http://schemas.microsoft.com/office/drawing/2014/main" id="{DBCF6E34-FE29-E779-E2C8-F2E8F1B4FC98}"/>
              </a:ext>
            </a:extLst>
          </p:cNvPr>
          <p:cNvSpPr txBox="1"/>
          <p:nvPr/>
        </p:nvSpPr>
        <p:spPr>
          <a:xfrm>
            <a:off x="638323" y="1179671"/>
            <a:ext cx="5649491" cy="507831"/>
          </a:xfrm>
          <a:prstGeom prst="rect">
            <a:avLst/>
          </a:prstGeom>
          <a:noFill/>
        </p:spPr>
        <p:txBody>
          <a:bodyPr wrap="square" rtlCol="0">
            <a:spAutoFit/>
          </a:bodyPr>
          <a:lstStyle/>
          <a:p>
            <a:r>
              <a:rPr lang="en-US" altLang="ja-JP" sz="900" dirty="0">
                <a:latin typeface="IBM Plex Sans JP" panose="020B0503050203000203" pitchFamily="50" charset="-128"/>
                <a:ea typeface="IBM Plex Sans JP" panose="020B0503050203000203" pitchFamily="50" charset="-128"/>
              </a:rPr>
              <a:t>Ver.1.00  2026-07-21  First Edition Published</a:t>
            </a:r>
          </a:p>
          <a:p>
            <a:r>
              <a:rPr lang="en-US" altLang="ja-JP" sz="900" dirty="0">
                <a:latin typeface="IBM Plex Sans JP" panose="020B0503050203000203" pitchFamily="50" charset="-128"/>
                <a:ea typeface="IBM Plex Sans JP" panose="020B0503050203000203" pitchFamily="50" charset="-128"/>
              </a:rPr>
              <a:t>Ver.1.10  2026-07-24  Revisions for Integrated Design</a:t>
            </a:r>
          </a:p>
          <a:p>
            <a:endParaRPr kumimoji="1" lang="ja-JP" altLang="en-US" sz="900" b="1" dirty="0">
              <a:latin typeface="IBM Plex Sans JP" panose="020B0503050203000203" pitchFamily="50" charset="-128"/>
              <a:ea typeface="IBM Plex Sans JP" panose="020B0503050203000203" pitchFamily="50" charset="-128"/>
            </a:endParaRPr>
          </a:p>
        </p:txBody>
      </p:sp>
    </p:spTree>
    <p:extLst>
      <p:ext uri="{BB962C8B-B14F-4D97-AF65-F5344CB8AC3E}">
        <p14:creationId xmlns:p14="http://schemas.microsoft.com/office/powerpoint/2010/main" val="1601973314"/>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ユーザー定義 1">
      <a:majorFont>
        <a:latin typeface="IBM Plex Sans JP SemiBold"/>
        <a:ea typeface="IBM Plex Sans JP SemiBold"/>
        <a:cs typeface=""/>
      </a:majorFont>
      <a:minorFont>
        <a:latin typeface="IBM Plex Sans JP"/>
        <a:ea typeface="IBM Plex Sans JP"/>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327</TotalTime>
  <Words>1884</Words>
  <Application>Microsoft Office PowerPoint</Application>
  <PresentationFormat>画面に合わせる (4:3)</PresentationFormat>
  <Paragraphs>170</Paragraphs>
  <Slides>11</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11</vt:i4>
      </vt:variant>
    </vt:vector>
  </HeadingPairs>
  <TitlesOfParts>
    <vt:vector size="17" baseType="lpstr">
      <vt:lpstr>IBM Plex Sans JP</vt:lpstr>
      <vt:lpstr>IBM Plex Sans JP Medium</vt:lpstr>
      <vt:lpstr>IBM Plex Sans JP SemiBold</vt:lpstr>
      <vt:lpstr>Arial</vt:lpstr>
      <vt:lpstr>Segoe UI Semibold</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MAKOTO YAZAKI (矢﨑 誠)</dc:creator>
  <cp:lastModifiedBy>MAKOTO YAZAKI (矢﨑 誠)</cp:lastModifiedBy>
  <cp:revision>19</cp:revision>
  <cp:lastPrinted>2026-07-24T02:49:25Z</cp:lastPrinted>
  <dcterms:created xsi:type="dcterms:W3CDTF">2026-07-22T02:46:18Z</dcterms:created>
  <dcterms:modified xsi:type="dcterms:W3CDTF">2026-07-24T09:07:47Z</dcterms:modified>
</cp:coreProperties>
</file>