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6858000" cy="9144000" type="screen4x3"/>
  <p:notesSz cx="7104063" cy="10234613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Jost-Regular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JostRoman-Bold"/>
          <a:ea typeface="JostRoman-Bold"/>
          <a:cs typeface="JostRoman-Bold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JostRoman-Bold"/>
          <a:ea typeface="JostRoman-Bold"/>
          <a:cs typeface="JostRoman-Bol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JostRoman-Bold"/>
          <a:ea typeface="JostRoman-Bold"/>
          <a:cs typeface="JostRoman-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JostRoman-Bold"/>
          <a:ea typeface="JostRoman-Bold"/>
          <a:cs typeface="JostRoman-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JostRoman-Bold"/>
          <a:ea typeface="JostRoman-Bold"/>
          <a:cs typeface="JostRoman-Bol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432" y="-7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>
            <a:spLocks noGrp="1" noRot="1" noChangeAspect="1"/>
          </p:cNvSpPr>
          <p:nvPr>
            <p:ph type="sldImg"/>
          </p:nvPr>
        </p:nvSpPr>
        <p:spPr>
          <a:xfrm>
            <a:off x="2112963" y="768350"/>
            <a:ext cx="2878137" cy="3836988"/>
          </a:xfrm>
          <a:prstGeom prst="rect">
            <a:avLst/>
          </a:prstGeom>
        </p:spPr>
        <p:txBody>
          <a:bodyPr lIns="99075" tIns="49538" rIns="99075" bIns="49538"/>
          <a:lstStyle/>
          <a:p>
            <a:endParaRPr/>
          </a:p>
        </p:txBody>
      </p:sp>
      <p:sp>
        <p:nvSpPr>
          <p:cNvPr id="92" name="Shape 92"/>
          <p:cNvSpPr>
            <a:spLocks noGrp="1"/>
          </p:cNvSpPr>
          <p:nvPr>
            <p:ph type="body" sz="quarter" idx="1"/>
          </p:nvPr>
        </p:nvSpPr>
        <p:spPr>
          <a:xfrm>
            <a:off x="947209" y="4861441"/>
            <a:ext cx="5209646" cy="4605576"/>
          </a:xfrm>
          <a:prstGeom prst="rect">
            <a:avLst/>
          </a:prstGeom>
        </p:spPr>
        <p:txBody>
          <a:bodyPr lIns="99075" tIns="49538" rIns="99075" bIns="49538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Jost-Regular"/>
      </a:defRPr>
    </a:lvl1pPr>
    <a:lvl2pPr indent="228600" defTabSz="457200" latinLnBrk="0">
      <a:defRPr sz="1200">
        <a:latin typeface="+mn-lt"/>
        <a:ea typeface="+mn-ea"/>
        <a:cs typeface="+mn-cs"/>
        <a:sym typeface="Jost-Regular"/>
      </a:defRPr>
    </a:lvl2pPr>
    <a:lvl3pPr indent="457200" defTabSz="457200" latinLnBrk="0">
      <a:defRPr sz="1200">
        <a:latin typeface="+mn-lt"/>
        <a:ea typeface="+mn-ea"/>
        <a:cs typeface="+mn-cs"/>
        <a:sym typeface="Jost-Regular"/>
      </a:defRPr>
    </a:lvl3pPr>
    <a:lvl4pPr indent="685800" defTabSz="457200" latinLnBrk="0">
      <a:defRPr sz="1200">
        <a:latin typeface="+mn-lt"/>
        <a:ea typeface="+mn-ea"/>
        <a:cs typeface="+mn-cs"/>
        <a:sym typeface="Jost-Regular"/>
      </a:defRPr>
    </a:lvl4pPr>
    <a:lvl5pPr indent="914400" defTabSz="457200" latinLnBrk="0">
      <a:defRPr sz="1200">
        <a:latin typeface="+mn-lt"/>
        <a:ea typeface="+mn-ea"/>
        <a:cs typeface="+mn-cs"/>
        <a:sym typeface="Jost-Regular"/>
      </a:defRPr>
    </a:lvl5pPr>
    <a:lvl6pPr indent="1143000" defTabSz="457200" latinLnBrk="0">
      <a:defRPr sz="1200">
        <a:latin typeface="+mn-lt"/>
        <a:ea typeface="+mn-ea"/>
        <a:cs typeface="+mn-cs"/>
        <a:sym typeface="Jost-Regular"/>
      </a:defRPr>
    </a:lvl6pPr>
    <a:lvl7pPr indent="1371600" defTabSz="457200" latinLnBrk="0">
      <a:defRPr sz="1200">
        <a:latin typeface="+mn-lt"/>
        <a:ea typeface="+mn-ea"/>
        <a:cs typeface="+mn-cs"/>
        <a:sym typeface="Jost-Regular"/>
      </a:defRPr>
    </a:lvl7pPr>
    <a:lvl8pPr indent="1600200" defTabSz="457200" latinLnBrk="0">
      <a:defRPr sz="1200">
        <a:latin typeface="+mn-lt"/>
        <a:ea typeface="+mn-ea"/>
        <a:cs typeface="+mn-cs"/>
        <a:sym typeface="Jost-Regular"/>
      </a:defRPr>
    </a:lvl8pPr>
    <a:lvl9pPr indent="1828800" defTabSz="457200" latinLnBrk="0">
      <a:defRPr sz="1200">
        <a:latin typeface="+mn-lt"/>
        <a:ea typeface="+mn-ea"/>
        <a:cs typeface="+mn-cs"/>
        <a:sym typeface="Jost-Regular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タイトルテキスト"/>
          <p:cNvSpPr txBox="1">
            <a:spLocks noGrp="1"/>
          </p:cNvSpPr>
          <p:nvPr>
            <p:ph type="title"/>
          </p:nvPr>
        </p:nvSpPr>
        <p:spPr>
          <a:xfrm>
            <a:off x="514350" y="1496484"/>
            <a:ext cx="5829300" cy="31834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t>タイトルテキスト</a:t>
            </a:r>
          </a:p>
        </p:txBody>
      </p:sp>
      <p:sp>
        <p:nvSpPr>
          <p:cNvPr id="12" name="本文レベル1…"/>
          <p:cNvSpPr txBox="1">
            <a:spLocks noGrp="1"/>
          </p:cNvSpPr>
          <p:nvPr>
            <p:ph type="body" sz="quarter" idx="1"/>
          </p:nvPr>
        </p:nvSpPr>
        <p:spPr>
          <a:xfrm>
            <a:off x="857250" y="4802716"/>
            <a:ext cx="5143500" cy="2207684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1800"/>
            </a:lvl1pPr>
            <a:lvl2pPr marL="0" indent="342900" algn="ctr">
              <a:buSzTx/>
              <a:buFontTx/>
              <a:buNone/>
              <a:defRPr sz="1800"/>
            </a:lvl2pPr>
            <a:lvl3pPr marL="0" indent="685800" algn="ctr">
              <a:buSzTx/>
              <a:buFontTx/>
              <a:buNone/>
              <a:defRPr sz="1800"/>
            </a:lvl3pPr>
            <a:lvl4pPr marL="0" indent="1028700" algn="ctr">
              <a:buSzTx/>
              <a:buFontTx/>
              <a:buNone/>
              <a:defRPr sz="1800"/>
            </a:lvl4pPr>
            <a:lvl5pPr marL="0" indent="1371600" algn="ctr">
              <a:buSzTx/>
              <a:buFontTx/>
              <a:buNone/>
              <a:defRPr sz="1800"/>
            </a:lvl5pPr>
          </a:lstStyle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13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タイトルテキスト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タイトルテキスト</a:t>
            </a:r>
          </a:p>
        </p:txBody>
      </p:sp>
      <p:sp>
        <p:nvSpPr>
          <p:cNvPr id="21" name="本文レベル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22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タイトルテキスト"/>
          <p:cNvSpPr txBox="1">
            <a:spLocks noGrp="1"/>
          </p:cNvSpPr>
          <p:nvPr>
            <p:ph type="title"/>
          </p:nvPr>
        </p:nvSpPr>
        <p:spPr>
          <a:xfrm>
            <a:off x="467916" y="2279652"/>
            <a:ext cx="5915026" cy="3803650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タイトルテキスト</a:t>
            </a:r>
          </a:p>
        </p:txBody>
      </p:sp>
      <p:sp>
        <p:nvSpPr>
          <p:cNvPr id="30" name="本文レベル1…"/>
          <p:cNvSpPr txBox="1">
            <a:spLocks noGrp="1"/>
          </p:cNvSpPr>
          <p:nvPr>
            <p:ph type="body" sz="quarter" idx="1"/>
          </p:nvPr>
        </p:nvSpPr>
        <p:spPr>
          <a:xfrm>
            <a:off x="467916" y="6119286"/>
            <a:ext cx="5915026" cy="2000250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31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タイトルテキスト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タイトルテキスト</a:t>
            </a:r>
          </a:p>
        </p:txBody>
      </p:sp>
      <p:sp>
        <p:nvSpPr>
          <p:cNvPr id="39" name="本文レベル1…"/>
          <p:cNvSpPr txBox="1">
            <a:spLocks noGrp="1"/>
          </p:cNvSpPr>
          <p:nvPr>
            <p:ph type="body" sz="half" idx="1"/>
          </p:nvPr>
        </p:nvSpPr>
        <p:spPr>
          <a:xfrm>
            <a:off x="471487" y="2434166"/>
            <a:ext cx="2914651" cy="5801785"/>
          </a:xfrm>
          <a:prstGeom prst="rect">
            <a:avLst/>
          </a:prstGeom>
        </p:spPr>
        <p:txBody>
          <a:bodyPr/>
          <a:lstStyle/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40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タイトルテキスト"/>
          <p:cNvSpPr txBox="1">
            <a:spLocks noGrp="1"/>
          </p:cNvSpPr>
          <p:nvPr>
            <p:ph type="title"/>
          </p:nvPr>
        </p:nvSpPr>
        <p:spPr>
          <a:xfrm>
            <a:off x="472381" y="486835"/>
            <a:ext cx="5915026" cy="1767418"/>
          </a:xfrm>
          <a:prstGeom prst="rect">
            <a:avLst/>
          </a:prstGeom>
        </p:spPr>
        <p:txBody>
          <a:bodyPr/>
          <a:lstStyle/>
          <a:p>
            <a:r>
              <a:t>タイトルテキスト</a:t>
            </a:r>
          </a:p>
        </p:txBody>
      </p:sp>
      <p:sp>
        <p:nvSpPr>
          <p:cNvPr id="48" name="本文レベル1…"/>
          <p:cNvSpPr txBox="1">
            <a:spLocks noGrp="1"/>
          </p:cNvSpPr>
          <p:nvPr>
            <p:ph type="body" sz="quarter" idx="1"/>
          </p:nvPr>
        </p:nvSpPr>
        <p:spPr>
          <a:xfrm>
            <a:off x="472381" y="2241550"/>
            <a:ext cx="2901256" cy="1098550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>
                <a:latin typeface="JostRoman-Bold"/>
                <a:ea typeface="JostRoman-Bold"/>
                <a:cs typeface="JostRoman-Bold"/>
                <a:sym typeface="JostRoman-Bold"/>
              </a:defRPr>
            </a:lvl1pPr>
            <a:lvl2pPr marL="0" indent="342900">
              <a:buSzTx/>
              <a:buFontTx/>
              <a:buNone/>
              <a:defRPr sz="1800" b="1">
                <a:latin typeface="JostRoman-Bold"/>
                <a:ea typeface="JostRoman-Bold"/>
                <a:cs typeface="JostRoman-Bold"/>
                <a:sym typeface="JostRoman-Bold"/>
              </a:defRPr>
            </a:lvl2pPr>
            <a:lvl3pPr marL="0" indent="685800">
              <a:buSzTx/>
              <a:buFontTx/>
              <a:buNone/>
              <a:defRPr sz="1800" b="1">
                <a:latin typeface="JostRoman-Bold"/>
                <a:ea typeface="JostRoman-Bold"/>
                <a:cs typeface="JostRoman-Bold"/>
                <a:sym typeface="JostRoman-Bold"/>
              </a:defRPr>
            </a:lvl3pPr>
            <a:lvl4pPr marL="0" indent="1028700">
              <a:buSzTx/>
              <a:buFontTx/>
              <a:buNone/>
              <a:defRPr sz="1800" b="1">
                <a:latin typeface="JostRoman-Bold"/>
                <a:ea typeface="JostRoman-Bold"/>
                <a:cs typeface="JostRoman-Bold"/>
                <a:sym typeface="JostRoman-Bold"/>
              </a:defRPr>
            </a:lvl4pPr>
            <a:lvl5pPr marL="0" indent="1371600">
              <a:buSzTx/>
              <a:buFontTx/>
              <a:buNone/>
              <a:defRPr sz="1800" b="1">
                <a:latin typeface="JostRoman-Bold"/>
                <a:ea typeface="JostRoman-Bold"/>
                <a:cs typeface="JostRoman-Bold"/>
                <a:sym typeface="JostRoman-Bold"/>
              </a:defRPr>
            </a:lvl5pPr>
          </a:lstStyle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241550"/>
            <a:ext cx="2915544" cy="1098550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>
                <a:latin typeface="JostRoman-Bold"/>
                <a:ea typeface="JostRoman-Bold"/>
                <a:cs typeface="JostRoman-Bold"/>
                <a:sym typeface="JostRoman-Bold"/>
              </a:defRPr>
            </a:pPr>
            <a:endParaRPr/>
          </a:p>
        </p:txBody>
      </p:sp>
      <p:sp>
        <p:nvSpPr>
          <p:cNvPr id="50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タイトルテキスト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タイトルテキスト</a:t>
            </a:r>
          </a:p>
        </p:txBody>
      </p:sp>
      <p:sp>
        <p:nvSpPr>
          <p:cNvPr id="58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タイトルテキスト"/>
          <p:cNvSpPr txBox="1"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タイトルテキスト</a:t>
            </a:r>
          </a:p>
        </p:txBody>
      </p:sp>
      <p:sp>
        <p:nvSpPr>
          <p:cNvPr id="73" name="本文レベル1…"/>
          <p:cNvSpPr txBox="1">
            <a:spLocks noGrp="1"/>
          </p:cNvSpPr>
          <p:nvPr>
            <p:ph type="body" sz="half" idx="1"/>
          </p:nvPr>
        </p:nvSpPr>
        <p:spPr>
          <a:xfrm>
            <a:off x="2915542" y="1316568"/>
            <a:ext cx="3471864" cy="649816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タイトルテキスト"/>
          <p:cNvSpPr txBox="1"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タイトルテキスト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316568"/>
            <a:ext cx="3471864" cy="64981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本文レベル1…"/>
          <p:cNvSpPr txBox="1">
            <a:spLocks noGrp="1"/>
          </p:cNvSpPr>
          <p:nvPr>
            <p:ph type="body" sz="quarter" idx="1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85" name="スライド番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テキスト"/>
          <p:cNvSpPr txBox="1">
            <a:spLocks noGrp="1"/>
          </p:cNvSpPr>
          <p:nvPr>
            <p:ph type="title"/>
          </p:nvPr>
        </p:nvSpPr>
        <p:spPr>
          <a:xfrm>
            <a:off x="471487" y="486835"/>
            <a:ext cx="5915026" cy="1767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タイトルテキスト</a:t>
            </a:r>
          </a:p>
        </p:txBody>
      </p:sp>
      <p:sp>
        <p:nvSpPr>
          <p:cNvPr id="3" name="本文レベル1…"/>
          <p:cNvSpPr txBox="1">
            <a:spLocks noGrp="1"/>
          </p:cNvSpPr>
          <p:nvPr>
            <p:ph type="body" idx="1"/>
          </p:nvPr>
        </p:nvSpPr>
        <p:spPr>
          <a:xfrm>
            <a:off x="471487" y="2434166"/>
            <a:ext cx="5915026" cy="5801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本文レベル1</a:t>
            </a:r>
          </a:p>
          <a:p>
            <a:pPr lvl="1"/>
            <a:r>
              <a:t>本文レベル2</a:t>
            </a:r>
          </a:p>
          <a:p>
            <a:pPr lvl="2"/>
            <a:r>
              <a:t>本文レベル3</a:t>
            </a:r>
          </a:p>
          <a:p>
            <a:pPr lvl="3"/>
            <a:r>
              <a:t>本文レベル4</a:t>
            </a:r>
          </a:p>
          <a:p>
            <a:pPr lvl="4"/>
            <a:r>
              <a:t>本文レベル5</a:t>
            </a:r>
          </a:p>
        </p:txBody>
      </p:sp>
      <p:sp>
        <p:nvSpPr>
          <p:cNvPr id="4" name="スライド番号"/>
          <p:cNvSpPr txBox="1">
            <a:spLocks noGrp="1"/>
          </p:cNvSpPr>
          <p:nvPr>
            <p:ph type="sldNum" sz="quarter" idx="2"/>
          </p:nvPr>
        </p:nvSpPr>
        <p:spPr>
          <a:xfrm>
            <a:off x="6162357" y="8590282"/>
            <a:ext cx="224156" cy="2565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Jost-Regular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Jost-Regular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Jost-Regula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正方形/長方形 3"/>
          <p:cNvSpPr/>
          <p:nvPr/>
        </p:nvSpPr>
        <p:spPr>
          <a:xfrm>
            <a:off x="33951" y="45267"/>
            <a:ext cx="6790098" cy="9053467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5" name="正方形/長方形 4"/>
          <p:cNvSpPr/>
          <p:nvPr/>
        </p:nvSpPr>
        <p:spPr>
          <a:xfrm>
            <a:off x="16974" y="0"/>
            <a:ext cx="6858001" cy="9144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0" name="グループ化 9"/>
          <p:cNvGrpSpPr/>
          <p:nvPr/>
        </p:nvGrpSpPr>
        <p:grpSpPr>
          <a:xfrm>
            <a:off x="0" y="-1"/>
            <a:ext cx="6865270" cy="9144002"/>
            <a:chOff x="0" y="0"/>
            <a:chExt cx="6865269" cy="9144001"/>
          </a:xfrm>
        </p:grpSpPr>
        <p:sp>
          <p:nvSpPr>
            <p:cNvPr id="96" name="正方形/長方形 5"/>
            <p:cNvSpPr/>
            <p:nvPr/>
          </p:nvSpPr>
          <p:spPr>
            <a:xfrm>
              <a:off x="0" y="-1"/>
              <a:ext cx="6858001" cy="432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7" name="正方形/長方形 6"/>
            <p:cNvSpPr/>
            <p:nvPr/>
          </p:nvSpPr>
          <p:spPr>
            <a:xfrm>
              <a:off x="0" y="8712000"/>
              <a:ext cx="6858001" cy="432000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8" name="正方形/長方形 7"/>
            <p:cNvSpPr/>
            <p:nvPr/>
          </p:nvSpPr>
          <p:spPr>
            <a:xfrm>
              <a:off x="0" y="0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9" name="正方形/長方形 8"/>
            <p:cNvSpPr/>
            <p:nvPr/>
          </p:nvSpPr>
          <p:spPr>
            <a:xfrm>
              <a:off x="6325269" y="-1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1" name="正方形/長方形 12"/>
          <p:cNvSpPr/>
          <p:nvPr/>
        </p:nvSpPr>
        <p:spPr>
          <a:xfrm>
            <a:off x="539999" y="431999"/>
            <a:ext cx="5785269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2" name="正方形/長方形 14"/>
          <p:cNvSpPr/>
          <p:nvPr/>
        </p:nvSpPr>
        <p:spPr>
          <a:xfrm>
            <a:off x="554537" y="8661917"/>
            <a:ext cx="2592002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3" name="正方形/長方形 15"/>
          <p:cNvSpPr/>
          <p:nvPr/>
        </p:nvSpPr>
        <p:spPr>
          <a:xfrm>
            <a:off x="3734844" y="8661917"/>
            <a:ext cx="2592001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4" name="テキスト ボックス 16"/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r>
              <a:t>1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正方形/長方形 31"/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7" name="正方形/長方形 4"/>
          <p:cNvSpPr/>
          <p:nvPr/>
        </p:nvSpPr>
        <p:spPr>
          <a:xfrm>
            <a:off x="0" y="9342"/>
            <a:ext cx="6858000" cy="9144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2" name="グループ化 9"/>
          <p:cNvGrpSpPr/>
          <p:nvPr/>
        </p:nvGrpSpPr>
        <p:grpSpPr>
          <a:xfrm>
            <a:off x="0" y="-1"/>
            <a:ext cx="6865270" cy="9144002"/>
            <a:chOff x="0" y="0"/>
            <a:chExt cx="6865269" cy="9144001"/>
          </a:xfrm>
        </p:grpSpPr>
        <p:sp>
          <p:nvSpPr>
            <p:cNvPr id="108" name="正方形/長方形 5"/>
            <p:cNvSpPr/>
            <p:nvPr/>
          </p:nvSpPr>
          <p:spPr>
            <a:xfrm>
              <a:off x="0" y="-1"/>
              <a:ext cx="6858001" cy="432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9" name="正方形/長方形 6"/>
            <p:cNvSpPr/>
            <p:nvPr/>
          </p:nvSpPr>
          <p:spPr>
            <a:xfrm>
              <a:off x="0" y="8712000"/>
              <a:ext cx="6858001" cy="432000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0" name="正方形/長方形 7"/>
            <p:cNvSpPr/>
            <p:nvPr/>
          </p:nvSpPr>
          <p:spPr>
            <a:xfrm>
              <a:off x="0" y="0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1" name="正方形/長方形 8"/>
            <p:cNvSpPr/>
            <p:nvPr/>
          </p:nvSpPr>
          <p:spPr>
            <a:xfrm>
              <a:off x="6325269" y="-1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3" name="正方形/長方形 14"/>
          <p:cNvSpPr/>
          <p:nvPr/>
        </p:nvSpPr>
        <p:spPr>
          <a:xfrm>
            <a:off x="554537" y="8661917"/>
            <a:ext cx="2592002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4" name="正方形/長方形 15"/>
          <p:cNvSpPr/>
          <p:nvPr/>
        </p:nvSpPr>
        <p:spPr>
          <a:xfrm>
            <a:off x="3734844" y="8661917"/>
            <a:ext cx="2592001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5" name="テキスト ボックス 16"/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r>
              <a:t>1</a:t>
            </a:r>
          </a:p>
        </p:txBody>
      </p:sp>
      <p:sp>
        <p:nvSpPr>
          <p:cNvPr id="116" name="テキスト ボックス 1"/>
          <p:cNvSpPr txBox="1"/>
          <p:nvPr/>
        </p:nvSpPr>
        <p:spPr>
          <a:xfrm>
            <a:off x="1599039" y="846314"/>
            <a:ext cx="4088618" cy="5847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3200">
                <a:latin typeface="JostRoman-Medium"/>
                <a:ea typeface="JostRoman-Medium"/>
                <a:cs typeface="JostRoman-Medium"/>
                <a:sym typeface="JostRoman-Medium"/>
              </a:defRPr>
            </a:pPr>
            <a:r>
              <a:rPr dirty="0"/>
              <a:t>FlexChroma</a:t>
            </a:r>
            <a:r>
              <a:rPr dirty="0">
                <a:latin typeface="+mn-lt"/>
                <a:ea typeface="+mn-ea"/>
                <a:cs typeface="+mn-cs"/>
                <a:sym typeface="Jost-Regular"/>
              </a:rPr>
              <a:t> </a:t>
            </a:r>
            <a:r>
              <a:rPr dirty="0">
                <a:ea typeface="+mn-ea"/>
                <a:cs typeface="+mn-cs"/>
                <a:sym typeface="Jost-Regular"/>
              </a:rPr>
              <a:t>Tour-Guide</a:t>
            </a:r>
          </a:p>
        </p:txBody>
      </p:sp>
      <p:sp>
        <p:nvSpPr>
          <p:cNvPr id="117" name="楕円 13"/>
          <p:cNvSpPr/>
          <p:nvPr/>
        </p:nvSpPr>
        <p:spPr>
          <a:xfrm>
            <a:off x="566174" y="3114670"/>
            <a:ext cx="204671" cy="204671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" name="テキスト ボックス 17"/>
          <p:cNvSpPr txBox="1"/>
          <p:nvPr/>
        </p:nvSpPr>
        <p:spPr>
          <a:xfrm>
            <a:off x="816563" y="2995985"/>
            <a:ext cx="1530936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 b="1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r>
              <a:t>1. Einleitung</a:t>
            </a:r>
          </a:p>
        </p:txBody>
      </p:sp>
      <p:sp>
        <p:nvSpPr>
          <p:cNvPr id="119" name="テキスト ボックス 18"/>
          <p:cNvSpPr txBox="1"/>
          <p:nvPr/>
        </p:nvSpPr>
        <p:spPr>
          <a:xfrm>
            <a:off x="714228" y="3418925"/>
            <a:ext cx="5558051" cy="662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 b="1">
                <a:latin typeface="JostRoman-Bold"/>
                <a:ea typeface="JostRoman-Bold"/>
                <a:cs typeface="JostRoman-Bold"/>
                <a:sym typeface="JostRoman-Bold"/>
              </a:defRPr>
            </a:pPr>
            <a:r>
              <a:t>FlexChroma</a:t>
            </a:r>
            <a:r>
              <a:rPr b="0">
                <a:latin typeface="+mn-lt"/>
                <a:ea typeface="+mn-ea"/>
                <a:cs typeface="+mn-cs"/>
                <a:sym typeface="Jost-Regular"/>
              </a:rPr>
              <a:t> umfasst Modelle zur Herstellung eigener Filamente aus handelsüblichen Materialien. </a:t>
            </a:r>
          </a:p>
          <a:p>
            <a:pPr>
              <a:defRPr sz="1000"/>
            </a:pPr>
            <a:r>
              <a:t>Das System unterteilt sich in verschiedene Serien für unterschiedliche Einsatzzwecke. Jede Serie bietet mehrere Modelle, Profile und Druckplatten, abgestimmt auf Größe und Anwendung.</a:t>
            </a:r>
          </a:p>
        </p:txBody>
      </p:sp>
      <p:sp>
        <p:nvSpPr>
          <p:cNvPr id="120" name="楕円 19"/>
          <p:cNvSpPr/>
          <p:nvPr/>
        </p:nvSpPr>
        <p:spPr>
          <a:xfrm>
            <a:off x="561095" y="4363691"/>
            <a:ext cx="204671" cy="204671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" name="テキスト ボックス 20"/>
          <p:cNvSpPr txBox="1"/>
          <p:nvPr/>
        </p:nvSpPr>
        <p:spPr>
          <a:xfrm>
            <a:off x="816563" y="4242466"/>
            <a:ext cx="3033713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 b="1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r>
              <a:t>2. Auswahl eines Modells</a:t>
            </a:r>
          </a:p>
        </p:txBody>
      </p:sp>
      <p:sp>
        <p:nvSpPr>
          <p:cNvPr id="122" name="テキスト ボックス 21"/>
          <p:cNvSpPr txBox="1"/>
          <p:nvPr/>
        </p:nvSpPr>
        <p:spPr>
          <a:xfrm>
            <a:off x="706959" y="4643889"/>
            <a:ext cx="5558052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r>
              <a:t>Folgen Sie zuerst diesem kurzen Auswahlprozess, um die richtigen Daten herunterzuladen und zu drucken.</a:t>
            </a:r>
          </a:p>
        </p:txBody>
      </p:sp>
      <p:sp>
        <p:nvSpPr>
          <p:cNvPr id="123" name="テキスト ボックス 24"/>
          <p:cNvSpPr txBox="1"/>
          <p:nvPr/>
        </p:nvSpPr>
        <p:spPr>
          <a:xfrm>
            <a:off x="706958" y="6386023"/>
            <a:ext cx="5565321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r>
              <a:rPr dirty="0" err="1"/>
              <a:t>Wählen</a:t>
            </a:r>
            <a:r>
              <a:rPr dirty="0"/>
              <a:t> Sie </a:t>
            </a:r>
            <a:r>
              <a:rPr dirty="0" err="1"/>
              <a:t>zuerst</a:t>
            </a:r>
            <a:r>
              <a:rPr dirty="0"/>
              <a:t> die </a:t>
            </a:r>
            <a:r>
              <a:rPr dirty="0" err="1"/>
              <a:t>gewünschte</a:t>
            </a:r>
            <a:r>
              <a:rPr dirty="0"/>
              <a:t> </a:t>
            </a:r>
            <a:r>
              <a:rPr dirty="0" err="1"/>
              <a:t>Filamentart</a:t>
            </a:r>
            <a:r>
              <a:rPr dirty="0"/>
              <a:t> </a:t>
            </a:r>
            <a:r>
              <a:rPr dirty="0" err="1"/>
              <a:t>aus</a:t>
            </a:r>
            <a:r>
              <a:rPr dirty="0"/>
              <a:t>, </a:t>
            </a:r>
            <a:r>
              <a:rPr dirty="0" err="1"/>
              <a:t>wenn</a:t>
            </a:r>
            <a:r>
              <a:rPr dirty="0"/>
              <a:t> Sie </a:t>
            </a:r>
            <a:r>
              <a:rPr dirty="0" err="1"/>
              <a:t>sich</a:t>
            </a:r>
            <a:r>
              <a:rPr dirty="0"/>
              <a:t> für </a:t>
            </a:r>
            <a:r>
              <a:rPr dirty="0" err="1"/>
              <a:t>ein</a:t>
            </a:r>
            <a:r>
              <a:rPr dirty="0"/>
              <a:t> Modell </a:t>
            </a:r>
            <a:r>
              <a:rPr dirty="0" err="1"/>
              <a:t>entscheiden</a:t>
            </a:r>
            <a:r>
              <a:rPr dirty="0"/>
              <a:t>.</a:t>
            </a:r>
          </a:p>
        </p:txBody>
      </p:sp>
      <p:sp>
        <p:nvSpPr>
          <p:cNvPr id="124" name="テキスト ボックス 25"/>
          <p:cNvSpPr txBox="1"/>
          <p:nvPr/>
        </p:nvSpPr>
        <p:spPr>
          <a:xfrm>
            <a:off x="816563" y="6696427"/>
            <a:ext cx="5462985" cy="161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28600" indent="-228600">
              <a:buSzPct val="100000"/>
              <a:buAutoNum type="arabicPeriod"/>
              <a:defRPr sz="1000"/>
            </a:pPr>
            <a:r>
              <a:rPr dirty="0" err="1"/>
              <a:t>Wählen</a:t>
            </a:r>
            <a:r>
              <a:rPr dirty="0"/>
              <a:t> Sie </a:t>
            </a:r>
            <a:r>
              <a:rPr dirty="0" err="1"/>
              <a:t>eine</a:t>
            </a:r>
            <a:r>
              <a:rPr dirty="0"/>
              <a:t> Serie: </a:t>
            </a:r>
            <a:r>
              <a:rPr dirty="0" err="1"/>
              <a:t>Mischfilament</a:t>
            </a:r>
            <a:r>
              <a:rPr dirty="0"/>
              <a:t> für </a:t>
            </a:r>
            <a:r>
              <a:rPr dirty="0" err="1"/>
              <a:t>Mischfarben</a:t>
            </a:r>
            <a:r>
              <a:rPr dirty="0"/>
              <a:t>, </a:t>
            </a:r>
            <a:r>
              <a:rPr dirty="0" err="1"/>
              <a:t>Farbverlaufsfilament</a:t>
            </a:r>
            <a:r>
              <a:rPr dirty="0"/>
              <a:t> für </a:t>
            </a:r>
            <a:r>
              <a:rPr dirty="0" err="1"/>
              <a:t>Farbwechsel</a:t>
            </a:r>
            <a:r>
              <a:rPr dirty="0"/>
              <a:t>.</a:t>
            </a:r>
          </a:p>
          <a:p>
            <a:pPr marL="228600" indent="-228600">
              <a:buSzPct val="100000"/>
              <a:buAutoNum type="arabicPeriod"/>
              <a:defRPr sz="1000"/>
            </a:pPr>
            <a:r>
              <a:rPr dirty="0" err="1"/>
              <a:t>Wählen</a:t>
            </a:r>
            <a:r>
              <a:rPr dirty="0"/>
              <a:t> Sie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Modellgröße</a:t>
            </a:r>
            <a:r>
              <a:rPr dirty="0"/>
              <a:t>: </a:t>
            </a:r>
            <a:r>
              <a:rPr dirty="0" err="1"/>
              <a:t>Nutzen</a:t>
            </a:r>
            <a:r>
              <a:rPr dirty="0"/>
              <a:t> Sie </a:t>
            </a:r>
            <a:r>
              <a:rPr dirty="0" err="1"/>
              <a:t>ein</a:t>
            </a:r>
            <a:r>
              <a:rPr dirty="0"/>
              <a:t> S4-Modell für </a:t>
            </a:r>
            <a:r>
              <a:rPr dirty="0" err="1"/>
              <a:t>kleine</a:t>
            </a:r>
            <a:r>
              <a:rPr dirty="0"/>
              <a:t> </a:t>
            </a:r>
            <a:r>
              <a:rPr dirty="0" err="1"/>
              <a:t>Objekte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M1-Modell für </a:t>
            </a:r>
            <a:r>
              <a:rPr dirty="0" err="1"/>
              <a:t>größere</a:t>
            </a:r>
            <a:r>
              <a:rPr dirty="0"/>
              <a:t> </a:t>
            </a:r>
            <a:r>
              <a:rPr dirty="0" err="1"/>
              <a:t>Drucke</a:t>
            </a:r>
            <a:r>
              <a:rPr dirty="0"/>
              <a:t>, die </a:t>
            </a:r>
            <a:r>
              <a:rPr dirty="0" err="1"/>
              <a:t>etwa</a:t>
            </a:r>
            <a:r>
              <a:rPr dirty="0"/>
              <a:t> 70 g Filament </a:t>
            </a:r>
            <a:r>
              <a:rPr dirty="0" err="1"/>
              <a:t>benötigen</a:t>
            </a:r>
            <a:r>
              <a:rPr dirty="0"/>
              <a:t>.</a:t>
            </a:r>
          </a:p>
          <a:p>
            <a:pPr marL="228600" indent="-228600">
              <a:buSzPct val="100000"/>
              <a:buAutoNum type="arabicPeriod"/>
              <a:defRPr sz="1000"/>
            </a:pPr>
            <a:r>
              <a:rPr dirty="0" err="1"/>
              <a:t>Profil</a:t>
            </a:r>
            <a:r>
              <a:rPr dirty="0"/>
              <a:t> und </a:t>
            </a:r>
            <a:r>
              <a:rPr dirty="0" err="1"/>
              <a:t>Druckplatte</a:t>
            </a:r>
            <a:r>
              <a:rPr dirty="0"/>
              <a:t> </a:t>
            </a:r>
            <a:r>
              <a:rPr dirty="0" err="1"/>
              <a:t>auswählen</a:t>
            </a:r>
            <a:r>
              <a:rPr dirty="0"/>
              <a:t>: </a:t>
            </a:r>
            <a:r>
              <a:rPr dirty="0" err="1"/>
              <a:t>Entscheiden</a:t>
            </a:r>
            <a:r>
              <a:rPr dirty="0"/>
              <a:t> Sie </a:t>
            </a:r>
            <a:r>
              <a:rPr dirty="0" err="1"/>
              <a:t>sich</a:t>
            </a:r>
            <a:r>
              <a:rPr dirty="0"/>
              <a:t> für die </a:t>
            </a:r>
            <a:r>
              <a:rPr dirty="0" err="1"/>
              <a:t>Druckplatte</a:t>
            </a:r>
            <a:r>
              <a:rPr dirty="0"/>
              <a:t>, die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Ihrem</a:t>
            </a:r>
            <a:r>
              <a:rPr dirty="0"/>
              <a:t> </a:t>
            </a:r>
            <a:r>
              <a:rPr dirty="0" err="1"/>
              <a:t>gewünschten</a:t>
            </a:r>
            <a:r>
              <a:rPr dirty="0"/>
              <a:t> </a:t>
            </a:r>
            <a:r>
              <a:rPr dirty="0" err="1"/>
              <a:t>Mischungsverhältnis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Muster </a:t>
            </a:r>
            <a:r>
              <a:rPr dirty="0" err="1"/>
              <a:t>passt</a:t>
            </a:r>
            <a:r>
              <a:rPr dirty="0"/>
              <a:t>.</a:t>
            </a:r>
          </a:p>
          <a:p>
            <a:pPr marL="228600" indent="-228600">
              <a:buSzPct val="100000"/>
              <a:buAutoNum type="arabicPeriod"/>
              <a:defRPr sz="1000"/>
            </a:pPr>
            <a:r>
              <a:rPr dirty="0" err="1"/>
              <a:t>Filamente</a:t>
            </a:r>
            <a:r>
              <a:rPr dirty="0"/>
              <a:t> </a:t>
            </a:r>
            <a:r>
              <a:rPr dirty="0" err="1"/>
              <a:t>zuweisen</a:t>
            </a:r>
            <a:r>
              <a:rPr dirty="0"/>
              <a:t> und </a:t>
            </a:r>
            <a:r>
              <a:rPr dirty="0" err="1"/>
              <a:t>slicen</a:t>
            </a:r>
            <a:r>
              <a:rPr dirty="0"/>
              <a:t>: </a:t>
            </a:r>
            <a:r>
              <a:rPr dirty="0" err="1"/>
              <a:t>Nutzen</a:t>
            </a:r>
            <a:r>
              <a:rPr dirty="0"/>
              <a:t> Sie </a:t>
            </a:r>
            <a:r>
              <a:rPr dirty="0" err="1"/>
              <a:t>Filamente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identischem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ähnlichem</a:t>
            </a:r>
            <a:r>
              <a:rPr dirty="0"/>
              <a:t> Material, </a:t>
            </a:r>
            <a:r>
              <a:rPr dirty="0" err="1"/>
              <a:t>führen</a:t>
            </a:r>
            <a:r>
              <a:rPr dirty="0"/>
              <a:t> Sie die </a:t>
            </a:r>
            <a:r>
              <a:rPr dirty="0" err="1"/>
              <a:t>Zuweisung</a:t>
            </a:r>
            <a:r>
              <a:rPr dirty="0"/>
              <a:t> </a:t>
            </a:r>
            <a:r>
              <a:rPr dirty="0" err="1"/>
              <a:t>durch</a:t>
            </a:r>
            <a:r>
              <a:rPr dirty="0"/>
              <a:t>, </a:t>
            </a:r>
            <a:r>
              <a:rPr dirty="0" err="1"/>
              <a:t>slicen</a:t>
            </a:r>
            <a:r>
              <a:rPr dirty="0"/>
              <a:t> Sie das Modell und </a:t>
            </a:r>
            <a:r>
              <a:rPr dirty="0" err="1"/>
              <a:t>beachten</a:t>
            </a:r>
            <a:r>
              <a:rPr dirty="0"/>
              <a:t> Sie </a:t>
            </a:r>
            <a:r>
              <a:rPr dirty="0" err="1"/>
              <a:t>vor</a:t>
            </a:r>
            <a:r>
              <a:rPr dirty="0"/>
              <a:t> dem Druck die </a:t>
            </a:r>
            <a:r>
              <a:rPr dirty="0" err="1"/>
              <a:t>Druckhinweise</a:t>
            </a:r>
            <a:r>
              <a:rPr dirty="0"/>
              <a:t>.</a:t>
            </a:r>
          </a:p>
        </p:txBody>
      </p:sp>
      <p:sp>
        <p:nvSpPr>
          <p:cNvPr id="125" name="テキスト ボックス 26"/>
          <p:cNvSpPr txBox="1"/>
          <p:nvPr/>
        </p:nvSpPr>
        <p:spPr>
          <a:xfrm>
            <a:off x="816562" y="8157903"/>
            <a:ext cx="5372560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900">
                <a:latin typeface="JostRoman-Light"/>
                <a:ea typeface="JostRoman-Light"/>
                <a:cs typeface="JostRoman-Light"/>
                <a:sym typeface="JostRoman-Light"/>
              </a:defRPr>
            </a:pPr>
            <a:r>
              <a:t>*Hinweis: Der Begriff „Profil“ steht in FlexChroma für eine Einteilung nach Verwendungszweck, nicht für abweichende Druckeinstellungen.</a:t>
            </a:r>
          </a:p>
        </p:txBody>
      </p:sp>
      <p:grpSp>
        <p:nvGrpSpPr>
          <p:cNvPr id="128" name="グループ化 22"/>
          <p:cNvGrpSpPr/>
          <p:nvPr/>
        </p:nvGrpSpPr>
        <p:grpSpPr>
          <a:xfrm>
            <a:off x="1042025" y="441444"/>
            <a:ext cx="4781217" cy="377794"/>
            <a:chOff x="0" y="0"/>
            <a:chExt cx="4781215" cy="377792"/>
          </a:xfrm>
        </p:grpSpPr>
        <p:sp>
          <p:nvSpPr>
            <p:cNvPr id="126" name="四角形: 上の 2 つの角を丸める 2"/>
            <p:cNvSpPr/>
            <p:nvPr/>
          </p:nvSpPr>
          <p:spPr>
            <a:xfrm>
              <a:off x="0" y="-1"/>
              <a:ext cx="4781214" cy="37779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53" y="0"/>
                  </a:moveTo>
                  <a:lnTo>
                    <a:pt x="20747" y="0"/>
                  </a:lnTo>
                  <a:cubicBezTo>
                    <a:pt x="21218" y="0"/>
                    <a:pt x="21600" y="4835"/>
                    <a:pt x="21600" y="10800"/>
                  </a:cubicBezTo>
                  <a:lnTo>
                    <a:pt x="21600" y="21600"/>
                  </a:lnTo>
                  <a:lnTo>
                    <a:pt x="0" y="21600"/>
                  </a:lnTo>
                  <a:lnTo>
                    <a:pt x="0" y="10800"/>
                  </a:lnTo>
                  <a:cubicBezTo>
                    <a:pt x="0" y="4835"/>
                    <a:pt x="382" y="0"/>
                    <a:pt x="853" y="0"/>
                  </a:cubicBezTo>
                  <a:close/>
                </a:path>
              </a:pathLst>
            </a:custGeom>
            <a:solidFill>
              <a:schemeClr val="accent1"/>
            </a:solidFill>
            <a:ln w="19050" cap="flat">
              <a:solidFill>
                <a:srgbClr val="092937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" name="四角形: 上の 2 つの角を丸める 3"/>
            <p:cNvSpPr/>
            <p:nvPr/>
          </p:nvSpPr>
          <p:spPr>
            <a:xfrm>
              <a:off x="-1" y="267182"/>
              <a:ext cx="4781217" cy="110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50" y="0"/>
                  </a:moveTo>
                  <a:lnTo>
                    <a:pt x="21350" y="0"/>
                  </a:lnTo>
                  <a:cubicBezTo>
                    <a:pt x="21488" y="0"/>
                    <a:pt x="21600" y="4835"/>
                    <a:pt x="21600" y="10800"/>
                  </a:cubicBezTo>
                  <a:lnTo>
                    <a:pt x="21600" y="21600"/>
                  </a:lnTo>
                  <a:lnTo>
                    <a:pt x="0" y="21600"/>
                  </a:lnTo>
                  <a:lnTo>
                    <a:pt x="0" y="10800"/>
                  </a:lnTo>
                  <a:cubicBezTo>
                    <a:pt x="0" y="4835"/>
                    <a:pt x="112" y="0"/>
                    <a:pt x="250" y="0"/>
                  </a:cubicBezTo>
                  <a:close/>
                </a:path>
              </a:pathLst>
            </a:custGeom>
            <a:solidFill>
              <a:schemeClr val="accent1"/>
            </a:solidFill>
            <a:ln w="19050" cap="flat">
              <a:solidFill>
                <a:srgbClr val="092937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31" name="グループ化 23"/>
          <p:cNvGrpSpPr/>
          <p:nvPr/>
        </p:nvGrpSpPr>
        <p:grpSpPr>
          <a:xfrm>
            <a:off x="1042024" y="2224672"/>
            <a:ext cx="4781217" cy="377794"/>
            <a:chOff x="0" y="0"/>
            <a:chExt cx="4781215" cy="377792"/>
          </a:xfrm>
        </p:grpSpPr>
        <p:sp>
          <p:nvSpPr>
            <p:cNvPr id="129" name="四角形: 上の 2 つの角を丸める 27"/>
            <p:cNvSpPr/>
            <p:nvPr/>
          </p:nvSpPr>
          <p:spPr>
            <a:xfrm rot="10800000">
              <a:off x="1" y="0"/>
              <a:ext cx="4781214" cy="3777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853" y="0"/>
                  </a:moveTo>
                  <a:lnTo>
                    <a:pt x="20747" y="0"/>
                  </a:lnTo>
                  <a:cubicBezTo>
                    <a:pt x="21218" y="0"/>
                    <a:pt x="21600" y="4835"/>
                    <a:pt x="21600" y="10800"/>
                  </a:cubicBezTo>
                  <a:lnTo>
                    <a:pt x="21600" y="21600"/>
                  </a:lnTo>
                  <a:lnTo>
                    <a:pt x="0" y="21600"/>
                  </a:lnTo>
                  <a:lnTo>
                    <a:pt x="0" y="10800"/>
                  </a:lnTo>
                  <a:cubicBezTo>
                    <a:pt x="0" y="4835"/>
                    <a:pt x="382" y="0"/>
                    <a:pt x="853" y="0"/>
                  </a:cubicBezTo>
                  <a:close/>
                </a:path>
              </a:pathLst>
            </a:custGeom>
            <a:solidFill>
              <a:schemeClr val="accent1"/>
            </a:solidFill>
            <a:ln w="19050" cap="flat">
              <a:solidFill>
                <a:srgbClr val="092937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" name="四角形: 上の 2 つの角を丸める 29"/>
            <p:cNvSpPr/>
            <p:nvPr/>
          </p:nvSpPr>
          <p:spPr>
            <a:xfrm rot="10800000">
              <a:off x="-1" y="0"/>
              <a:ext cx="4781217" cy="1106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50" y="0"/>
                  </a:moveTo>
                  <a:lnTo>
                    <a:pt x="21350" y="0"/>
                  </a:lnTo>
                  <a:cubicBezTo>
                    <a:pt x="21488" y="0"/>
                    <a:pt x="21600" y="4835"/>
                    <a:pt x="21600" y="10800"/>
                  </a:cubicBezTo>
                  <a:lnTo>
                    <a:pt x="21600" y="21600"/>
                  </a:lnTo>
                  <a:lnTo>
                    <a:pt x="0" y="21600"/>
                  </a:lnTo>
                  <a:lnTo>
                    <a:pt x="0" y="10800"/>
                  </a:lnTo>
                  <a:cubicBezTo>
                    <a:pt x="0" y="4835"/>
                    <a:pt x="112" y="0"/>
                    <a:pt x="250" y="0"/>
                  </a:cubicBezTo>
                  <a:close/>
                </a:path>
              </a:pathLst>
            </a:custGeom>
            <a:solidFill>
              <a:schemeClr val="accent1"/>
            </a:solidFill>
            <a:ln w="19050" cap="flat">
              <a:solidFill>
                <a:srgbClr val="092937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32" name="テキスト ボックス 30"/>
          <p:cNvSpPr txBox="1"/>
          <p:nvPr/>
        </p:nvSpPr>
        <p:spPr>
          <a:xfrm>
            <a:off x="1934144" y="1459500"/>
            <a:ext cx="2970886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600"/>
            </a:lvl1pPr>
          </a:lstStyle>
          <a:p>
            <a:r>
              <a:t>- FlexChroma Dokumentenarchiv -</a:t>
            </a:r>
          </a:p>
        </p:txBody>
      </p:sp>
      <p:sp>
        <p:nvSpPr>
          <p:cNvPr id="133" name="テキスト ボックス 33"/>
          <p:cNvSpPr txBox="1"/>
          <p:nvPr/>
        </p:nvSpPr>
        <p:spPr>
          <a:xfrm>
            <a:off x="2657017" y="1806153"/>
            <a:ext cx="1543966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400"/>
            </a:lvl1pPr>
          </a:lstStyle>
          <a:p>
            <a:r>
              <a:t>Ver.1.00  2026.9.1</a:t>
            </a:r>
          </a:p>
        </p:txBody>
      </p:sp>
      <p:pic>
        <p:nvPicPr>
          <p:cNvPr id="134" name="FlexChroma-icon3.png" descr="FlexChroma-icon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623" y="950702"/>
            <a:ext cx="484295" cy="466866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6E8A4CD3-6911-29A5-264C-B3E55E7BDF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001" y="5093007"/>
            <a:ext cx="5813043" cy="1099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正方形/長方形 1"/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8" name="正方形/長方形 4"/>
          <p:cNvSpPr/>
          <p:nvPr/>
        </p:nvSpPr>
        <p:spPr>
          <a:xfrm>
            <a:off x="7825" y="0"/>
            <a:ext cx="6858001" cy="9144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43" name="グループ化 9"/>
          <p:cNvGrpSpPr/>
          <p:nvPr/>
        </p:nvGrpSpPr>
        <p:grpSpPr>
          <a:xfrm>
            <a:off x="0" y="-1"/>
            <a:ext cx="6865270" cy="9144002"/>
            <a:chOff x="0" y="0"/>
            <a:chExt cx="6865269" cy="9144001"/>
          </a:xfrm>
        </p:grpSpPr>
        <p:sp>
          <p:nvSpPr>
            <p:cNvPr id="139" name="正方形/長方形 5"/>
            <p:cNvSpPr/>
            <p:nvPr/>
          </p:nvSpPr>
          <p:spPr>
            <a:xfrm>
              <a:off x="0" y="-1"/>
              <a:ext cx="6858001" cy="432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0" name="正方形/長方形 6"/>
            <p:cNvSpPr/>
            <p:nvPr/>
          </p:nvSpPr>
          <p:spPr>
            <a:xfrm>
              <a:off x="0" y="8712000"/>
              <a:ext cx="6858001" cy="432000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1" name="正方形/長方形 7"/>
            <p:cNvSpPr/>
            <p:nvPr/>
          </p:nvSpPr>
          <p:spPr>
            <a:xfrm>
              <a:off x="0" y="0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2" name="正方形/長方形 8"/>
            <p:cNvSpPr/>
            <p:nvPr/>
          </p:nvSpPr>
          <p:spPr>
            <a:xfrm>
              <a:off x="6325269" y="-1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44" name="正方形/長方形 12"/>
          <p:cNvSpPr/>
          <p:nvPr/>
        </p:nvSpPr>
        <p:spPr>
          <a:xfrm>
            <a:off x="554536" y="452468"/>
            <a:ext cx="5756195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" name="正方形/長方形 14"/>
          <p:cNvSpPr/>
          <p:nvPr/>
        </p:nvSpPr>
        <p:spPr>
          <a:xfrm>
            <a:off x="554537" y="8661917"/>
            <a:ext cx="2592002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6" name="正方形/長方形 15"/>
          <p:cNvSpPr/>
          <p:nvPr/>
        </p:nvSpPr>
        <p:spPr>
          <a:xfrm>
            <a:off x="3734844" y="8661917"/>
            <a:ext cx="2592001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7" name="テキスト ボックス 16"/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r>
              <a:t>2</a:t>
            </a:r>
          </a:p>
        </p:txBody>
      </p:sp>
      <p:sp>
        <p:nvSpPr>
          <p:cNvPr id="148" name="楕円 13"/>
          <p:cNvSpPr/>
          <p:nvPr/>
        </p:nvSpPr>
        <p:spPr>
          <a:xfrm>
            <a:off x="566174" y="655549"/>
            <a:ext cx="204671" cy="204671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9" name="楕円 19"/>
          <p:cNvSpPr/>
          <p:nvPr/>
        </p:nvSpPr>
        <p:spPr>
          <a:xfrm>
            <a:off x="566174" y="2534513"/>
            <a:ext cx="204671" cy="204671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0" name="テキスト ボックス 2"/>
          <p:cNvSpPr txBox="1"/>
          <p:nvPr/>
        </p:nvSpPr>
        <p:spPr>
          <a:xfrm>
            <a:off x="816563" y="546516"/>
            <a:ext cx="2373057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 b="1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r>
              <a:rPr dirty="0"/>
              <a:t>3. FlexChroma HUB</a:t>
            </a:r>
          </a:p>
        </p:txBody>
      </p:sp>
      <p:sp>
        <p:nvSpPr>
          <p:cNvPr id="151" name="テキスト ボックス 10"/>
          <p:cNvSpPr txBox="1"/>
          <p:nvPr/>
        </p:nvSpPr>
        <p:spPr>
          <a:xfrm>
            <a:off x="714228" y="886688"/>
            <a:ext cx="5558051" cy="55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/>
            </a:pPr>
            <a:r>
              <a:rPr dirty="0"/>
              <a:t>Der </a:t>
            </a:r>
            <a:r>
              <a:rPr dirty="0">
                <a:latin typeface="Jost Medium" pitchFamily="2" charset="0"/>
                <a:ea typeface="Jost Medium" pitchFamily="2" charset="0"/>
              </a:rPr>
              <a:t>FlexChroma</a:t>
            </a:r>
            <a:r>
              <a:rPr dirty="0"/>
              <a:t>-Hub </a:t>
            </a:r>
            <a:r>
              <a:rPr dirty="0" err="1"/>
              <a:t>ist</a:t>
            </a:r>
            <a:r>
              <a:rPr dirty="0"/>
              <a:t> der </a:t>
            </a:r>
            <a:r>
              <a:rPr dirty="0" err="1"/>
              <a:t>zentrale</a:t>
            </a:r>
            <a:r>
              <a:rPr dirty="0"/>
              <a:t> </a:t>
            </a:r>
            <a:r>
              <a:rPr dirty="0" err="1"/>
              <a:t>Einstiegspunkt</a:t>
            </a:r>
            <a:r>
              <a:rPr dirty="0"/>
              <a:t> auf MakerWorld und </a:t>
            </a:r>
            <a:r>
              <a:rPr dirty="0" err="1"/>
              <a:t>bietet</a:t>
            </a:r>
            <a:r>
              <a:rPr dirty="0"/>
              <a:t> </a:t>
            </a:r>
            <a:r>
              <a:rPr dirty="0" err="1"/>
              <a:t>Zugang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allen</a:t>
            </a:r>
            <a:r>
              <a:rPr dirty="0"/>
              <a:t> </a:t>
            </a:r>
            <a:r>
              <a:rPr dirty="0" err="1"/>
              <a:t>Serien</a:t>
            </a:r>
            <a:r>
              <a:rPr dirty="0"/>
              <a:t> und </a:t>
            </a:r>
            <a:r>
              <a:rPr dirty="0" err="1"/>
              <a:t>externen</a:t>
            </a:r>
            <a:r>
              <a:rPr dirty="0"/>
              <a:t> </a:t>
            </a:r>
            <a:r>
              <a:rPr dirty="0" err="1"/>
              <a:t>Portalen</a:t>
            </a:r>
            <a:r>
              <a:rPr dirty="0"/>
              <a:t>. 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Wenn Sie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sich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unsicher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sind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, wo Sie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beginnen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sollen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,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öffnen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 Sie am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besten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zuerst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 dieses Modell.</a:t>
            </a:r>
          </a:p>
        </p:txBody>
      </p:sp>
      <p:sp>
        <p:nvSpPr>
          <p:cNvPr id="152" name="テキスト ボックス 11"/>
          <p:cNvSpPr txBox="1"/>
          <p:nvPr/>
        </p:nvSpPr>
        <p:spPr>
          <a:xfrm>
            <a:off x="816564" y="2439572"/>
            <a:ext cx="2006461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 b="1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r>
              <a:t>4. Mischfilament</a:t>
            </a:r>
          </a:p>
        </p:txBody>
      </p:sp>
      <p:sp>
        <p:nvSpPr>
          <p:cNvPr id="153" name="テキスト ボックス 22"/>
          <p:cNvSpPr txBox="1"/>
          <p:nvPr/>
        </p:nvSpPr>
        <p:spPr>
          <a:xfrm>
            <a:off x="714228" y="2819223"/>
            <a:ext cx="5550784" cy="1704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/>
            </a:pPr>
            <a:r>
              <a:t>Die Mischfilament Serie bildet das grundlegendste Sortiment von FlexChroma. Sie ermöglicht es Ihnen, zwei Filamente in verschiedenen Verhältnissen zu mischen, um Ihre eigene individuelle Farbe zu kreieren. </a:t>
            </a:r>
          </a:p>
          <a:p>
            <a:pPr>
              <a:defRPr sz="1000" b="1">
                <a:latin typeface="JostRoman-Bold"/>
                <a:ea typeface="JostRoman-Bold"/>
                <a:cs typeface="JostRoman-Bold"/>
                <a:sym typeface="JostRoman-Bold"/>
              </a:defRPr>
            </a:pPr>
            <a:r>
              <a:t>Jedes Modell deckt dabei Mischungsverhältnisse von 50 % bis 99,5 % ab. Für Werte unter 50 % tauschen Sie einfach Filament A und Filament B aus.</a:t>
            </a:r>
          </a:p>
          <a:p>
            <a:pPr>
              <a:defRPr sz="500" b="1">
                <a:latin typeface="JostRoman-Bold"/>
                <a:ea typeface="JostRoman-Bold"/>
                <a:cs typeface="JostRoman-Bold"/>
                <a:sym typeface="JostRoman-Bold"/>
              </a:defRPr>
            </a:pPr>
            <a:endParaRPr/>
          </a:p>
          <a:p>
            <a:pPr>
              <a:defRPr sz="1000"/>
            </a:pPr>
            <a:r>
              <a:t>Beispiel: Um ein Filament mit 25 % Cyan gemischt in Gelb zu erstellen, lesen Sie den Wert der Druckplatte als Verhältnis von Filament A ab, interpretieren diesen als 75 % Gelb und slicen das Modell entsprechend.</a:t>
            </a:r>
          </a:p>
        </p:txBody>
      </p:sp>
      <p:sp>
        <p:nvSpPr>
          <p:cNvPr id="154" name="テキスト ボックス 23"/>
          <p:cNvSpPr txBox="1"/>
          <p:nvPr/>
        </p:nvSpPr>
        <p:spPr>
          <a:xfrm>
            <a:off x="717862" y="5392072"/>
            <a:ext cx="5550783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r>
              <a:t>Nachfolgend finden Sie die Modellkonfiguration für das Mischfilament.</a:t>
            </a:r>
          </a:p>
        </p:txBody>
      </p:sp>
      <p:pic>
        <p:nvPicPr>
          <p:cNvPr id="155" name="図 21" descr="図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630" y="5678858"/>
            <a:ext cx="4408740" cy="290178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ペーストされたムービー.png" descr="ペーストされたムービー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664" y="1492058"/>
            <a:ext cx="4098506" cy="913899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F8BCD32-B926-C125-5103-9FBDBFFE9C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000" y="4252052"/>
            <a:ext cx="5812703" cy="109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正方形/長方形 29"/>
          <p:cNvSpPr/>
          <p:nvPr/>
        </p:nvSpPr>
        <p:spPr>
          <a:xfrm>
            <a:off x="51086" y="45267"/>
            <a:ext cx="6790098" cy="9053467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" name="正方形/長方形 4"/>
          <p:cNvSpPr/>
          <p:nvPr/>
        </p:nvSpPr>
        <p:spPr>
          <a:xfrm>
            <a:off x="17134" y="0"/>
            <a:ext cx="6858001" cy="9144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5" name="グループ化 9"/>
          <p:cNvGrpSpPr/>
          <p:nvPr/>
        </p:nvGrpSpPr>
        <p:grpSpPr>
          <a:xfrm>
            <a:off x="0" y="-1"/>
            <a:ext cx="6865270" cy="9144002"/>
            <a:chOff x="0" y="0"/>
            <a:chExt cx="6865269" cy="9144001"/>
          </a:xfrm>
        </p:grpSpPr>
        <p:sp>
          <p:nvSpPr>
            <p:cNvPr id="161" name="正方形/長方形 5"/>
            <p:cNvSpPr/>
            <p:nvPr/>
          </p:nvSpPr>
          <p:spPr>
            <a:xfrm>
              <a:off x="0" y="-1"/>
              <a:ext cx="6858001" cy="432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2" name="正方形/長方形 6"/>
            <p:cNvSpPr/>
            <p:nvPr/>
          </p:nvSpPr>
          <p:spPr>
            <a:xfrm>
              <a:off x="0" y="8712000"/>
              <a:ext cx="6858001" cy="432000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3" name="正方形/長方形 7"/>
            <p:cNvSpPr/>
            <p:nvPr/>
          </p:nvSpPr>
          <p:spPr>
            <a:xfrm>
              <a:off x="0" y="0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4" name="正方形/長方形 8"/>
            <p:cNvSpPr/>
            <p:nvPr/>
          </p:nvSpPr>
          <p:spPr>
            <a:xfrm>
              <a:off x="6325269" y="-1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66" name="正方形/長方形 12"/>
          <p:cNvSpPr/>
          <p:nvPr/>
        </p:nvSpPr>
        <p:spPr>
          <a:xfrm>
            <a:off x="554536" y="452468"/>
            <a:ext cx="5756195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7" name="正方形/長方形 14"/>
          <p:cNvSpPr/>
          <p:nvPr/>
        </p:nvSpPr>
        <p:spPr>
          <a:xfrm>
            <a:off x="554537" y="8661917"/>
            <a:ext cx="2592002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8" name="正方形/長方形 15"/>
          <p:cNvSpPr/>
          <p:nvPr/>
        </p:nvSpPr>
        <p:spPr>
          <a:xfrm>
            <a:off x="3734844" y="8661917"/>
            <a:ext cx="2592001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" name="テキスト ボックス 16"/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r>
              <a:t>3</a:t>
            </a:r>
          </a:p>
        </p:txBody>
      </p:sp>
      <p:sp>
        <p:nvSpPr>
          <p:cNvPr id="170" name="楕円 13"/>
          <p:cNvSpPr/>
          <p:nvPr/>
        </p:nvSpPr>
        <p:spPr>
          <a:xfrm>
            <a:off x="566174" y="677901"/>
            <a:ext cx="204671" cy="204671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" name="テキスト ボックス 30"/>
          <p:cNvSpPr txBox="1"/>
          <p:nvPr/>
        </p:nvSpPr>
        <p:spPr>
          <a:xfrm>
            <a:off x="816563" y="570900"/>
            <a:ext cx="2813096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 b="1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r>
              <a:rPr dirty="0"/>
              <a:t>5. </a:t>
            </a:r>
            <a:r>
              <a:rPr dirty="0" err="1"/>
              <a:t>Farbverlaufsfilament</a:t>
            </a:r>
            <a:r>
              <a:rPr dirty="0"/>
              <a:t> </a:t>
            </a:r>
          </a:p>
        </p:txBody>
      </p:sp>
      <p:sp>
        <p:nvSpPr>
          <p:cNvPr id="172" name="テキスト ボックス 32"/>
          <p:cNvSpPr txBox="1"/>
          <p:nvPr/>
        </p:nvSpPr>
        <p:spPr>
          <a:xfrm>
            <a:off x="721497" y="4547616"/>
            <a:ext cx="5550783" cy="281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r>
              <a:rPr dirty="0" err="1"/>
              <a:t>Nachfolgend</a:t>
            </a:r>
            <a:r>
              <a:rPr dirty="0"/>
              <a:t> </a:t>
            </a:r>
            <a:r>
              <a:rPr dirty="0" err="1"/>
              <a:t>finden</a:t>
            </a:r>
            <a:r>
              <a:rPr dirty="0"/>
              <a:t> Sie die </a:t>
            </a:r>
            <a:r>
              <a:rPr dirty="0" err="1"/>
              <a:t>Modellkonfiguration</a:t>
            </a:r>
            <a:r>
              <a:rPr dirty="0"/>
              <a:t> für das </a:t>
            </a:r>
            <a:r>
              <a:rPr dirty="0" err="1"/>
              <a:t>Farbverlaufsfilament</a:t>
            </a:r>
            <a:r>
              <a:rPr dirty="0"/>
              <a:t>.</a:t>
            </a:r>
          </a:p>
        </p:txBody>
      </p:sp>
      <p:sp>
        <p:nvSpPr>
          <p:cNvPr id="174" name="テキスト ボックス 18"/>
          <p:cNvSpPr txBox="1"/>
          <p:nvPr/>
        </p:nvSpPr>
        <p:spPr>
          <a:xfrm>
            <a:off x="714228" y="950456"/>
            <a:ext cx="5558051" cy="266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/>
            </a:pPr>
            <a:r>
              <a:rPr dirty="0"/>
              <a:t>Die </a:t>
            </a:r>
            <a:r>
              <a:rPr dirty="0" err="1"/>
              <a:t>Farbverlaufsfilament</a:t>
            </a:r>
            <a:r>
              <a:rPr dirty="0"/>
              <a:t> Serie </a:t>
            </a:r>
            <a:r>
              <a:rPr dirty="0" err="1"/>
              <a:t>bietet</a:t>
            </a:r>
            <a:r>
              <a:rPr dirty="0"/>
              <a:t> </a:t>
            </a:r>
            <a:r>
              <a:rPr dirty="0" err="1"/>
              <a:t>mehrere</a:t>
            </a:r>
            <a:r>
              <a:rPr dirty="0"/>
              <a:t> </a:t>
            </a:r>
            <a:r>
              <a:rPr dirty="0" err="1"/>
              <a:t>farbwechselnde</a:t>
            </a:r>
            <a:r>
              <a:rPr dirty="0"/>
              <a:t> Profile und </a:t>
            </a:r>
            <a:r>
              <a:rPr dirty="0" err="1"/>
              <a:t>Druckplatten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unterschiedlichen</a:t>
            </a:r>
            <a:r>
              <a:rPr dirty="0"/>
              <a:t> </a:t>
            </a:r>
            <a:r>
              <a:rPr dirty="0" err="1"/>
              <a:t>Zyklusanzahlen</a:t>
            </a:r>
            <a:r>
              <a:rPr dirty="0"/>
              <a:t>. Die Details </a:t>
            </a:r>
            <a:r>
              <a:rPr dirty="0" err="1"/>
              <a:t>variieren</a:t>
            </a:r>
            <a:r>
              <a:rPr dirty="0"/>
              <a:t> je </a:t>
            </a:r>
            <a:r>
              <a:rPr dirty="0" err="1"/>
              <a:t>nach</a:t>
            </a:r>
            <a:r>
              <a:rPr dirty="0"/>
              <a:t> Modell. Bitte </a:t>
            </a:r>
            <a:r>
              <a:rPr dirty="0" err="1"/>
              <a:t>beachten</a:t>
            </a:r>
            <a:r>
              <a:rPr dirty="0"/>
              <a:t> Sie </a:t>
            </a:r>
            <a:r>
              <a:rPr dirty="0" err="1"/>
              <a:t>daher</a:t>
            </a:r>
            <a:r>
              <a:rPr dirty="0"/>
              <a:t> die </a:t>
            </a:r>
            <a:r>
              <a:rPr dirty="0" err="1"/>
              <a:t>Beschreibung</a:t>
            </a:r>
            <a:r>
              <a:rPr dirty="0"/>
              <a:t> des </a:t>
            </a:r>
            <a:r>
              <a:rPr dirty="0" err="1"/>
              <a:t>jeweiligen</a:t>
            </a:r>
            <a:r>
              <a:rPr dirty="0"/>
              <a:t> </a:t>
            </a:r>
            <a:r>
              <a:rPr dirty="0" err="1"/>
              <a:t>Modells</a:t>
            </a:r>
            <a:r>
              <a:rPr dirty="0"/>
              <a:t>.</a:t>
            </a:r>
          </a:p>
          <a:p>
            <a:pPr>
              <a:defRPr sz="1000"/>
            </a:pPr>
            <a:endParaRPr dirty="0"/>
          </a:p>
          <a:p>
            <a:pPr marL="171450" indent="-171450">
              <a:buSzPct val="100000"/>
              <a:buFont typeface="Jost-Regular"/>
              <a:buChar char="•"/>
              <a:defRPr sz="1000"/>
            </a:pPr>
            <a:r>
              <a:rPr dirty="0" err="1"/>
              <a:t>Farbkurve</a:t>
            </a:r>
            <a:r>
              <a:rPr dirty="0"/>
              <a:t>: </a:t>
            </a:r>
            <a:r>
              <a:rPr dirty="0" err="1"/>
              <a:t>Einstellungen</a:t>
            </a:r>
            <a:r>
              <a:rPr dirty="0"/>
              <a:t> </a:t>
            </a:r>
            <a:r>
              <a:rPr dirty="0" err="1"/>
              <a:t>basierend</a:t>
            </a:r>
            <a:r>
              <a:rPr dirty="0"/>
              <a:t> auf </a:t>
            </a:r>
            <a:r>
              <a:rPr dirty="0" err="1"/>
              <a:t>Farbkombinationen</a:t>
            </a:r>
            <a:r>
              <a:rPr dirty="0"/>
              <a:t>. </a:t>
            </a:r>
            <a:r>
              <a:rPr dirty="0" err="1"/>
              <a:t>Diese</a:t>
            </a:r>
            <a:r>
              <a:rPr dirty="0"/>
              <a:t> Option </a:t>
            </a:r>
            <a:r>
              <a:rPr dirty="0" err="1"/>
              <a:t>ermöglicht</a:t>
            </a:r>
            <a:r>
              <a:rPr dirty="0"/>
              <a:t> es Ihnen, den </a:t>
            </a:r>
            <a:r>
              <a:rPr dirty="0" err="1"/>
              <a:t>optimalen</a:t>
            </a:r>
            <a:r>
              <a:rPr dirty="0"/>
              <a:t> </a:t>
            </a:r>
            <a:r>
              <a:rPr dirty="0" err="1"/>
              <a:t>Verlauf</a:t>
            </a:r>
            <a:r>
              <a:rPr dirty="0"/>
              <a:t> für </a:t>
            </a:r>
            <a:r>
              <a:rPr dirty="0" err="1"/>
              <a:t>jede</a:t>
            </a:r>
            <a:r>
              <a:rPr dirty="0"/>
              <a:t> </a:t>
            </a:r>
            <a:r>
              <a:rPr dirty="0" err="1"/>
              <a:t>Farbe</a:t>
            </a:r>
            <a:r>
              <a:rPr dirty="0"/>
              <a:t> </a:t>
            </a:r>
            <a:r>
              <a:rPr dirty="0" err="1"/>
              <a:t>auszuwählen</a:t>
            </a:r>
            <a:r>
              <a:rPr dirty="0"/>
              <a:t> – </a:t>
            </a:r>
            <a:r>
              <a:rPr dirty="0" err="1"/>
              <a:t>zum</a:t>
            </a:r>
            <a:r>
              <a:rPr dirty="0"/>
              <a:t> </a:t>
            </a:r>
            <a:r>
              <a:rPr dirty="0" err="1"/>
              <a:t>Beispiel</a:t>
            </a:r>
            <a:r>
              <a:rPr dirty="0"/>
              <a:t> „Lebendig“ für Cyan und Gelb </a:t>
            </a:r>
            <a:r>
              <a:rPr dirty="0" err="1"/>
              <a:t>oder</a:t>
            </a:r>
            <a:r>
              <a:rPr dirty="0"/>
              <a:t> „</a:t>
            </a:r>
            <a:r>
              <a:rPr dirty="0" err="1"/>
              <a:t>Kontrast</a:t>
            </a:r>
            <a:r>
              <a:rPr dirty="0"/>
              <a:t>“ für Weiß und Magenta.</a:t>
            </a:r>
          </a:p>
          <a:p>
            <a:pPr>
              <a:defRPr sz="600"/>
            </a:pPr>
            <a:endParaRPr dirty="0"/>
          </a:p>
          <a:p>
            <a:pPr marL="171450" indent="-171450">
              <a:buSzPct val="100000"/>
              <a:buFont typeface="Jost-Regular"/>
              <a:buChar char="•"/>
              <a:defRPr sz="1000"/>
            </a:pPr>
            <a:r>
              <a:rPr dirty="0" err="1"/>
              <a:t>Zyklusanzahl</a:t>
            </a:r>
            <a:r>
              <a:rPr dirty="0"/>
              <a:t>: Die Zahl, </a:t>
            </a:r>
            <a:r>
              <a:rPr dirty="0" err="1"/>
              <a:t>welche</a:t>
            </a:r>
            <a:r>
              <a:rPr dirty="0"/>
              <a:t> die </a:t>
            </a:r>
            <a:r>
              <a:rPr dirty="0" err="1"/>
              <a:t>Häufigkeit</a:t>
            </a:r>
            <a:r>
              <a:rPr dirty="0"/>
              <a:t> des </a:t>
            </a:r>
            <a:r>
              <a:rPr dirty="0" err="1"/>
              <a:t>Verlaufs</a:t>
            </a:r>
            <a:r>
              <a:rPr dirty="0"/>
              <a:t> </a:t>
            </a:r>
            <a:r>
              <a:rPr dirty="0" err="1"/>
              <a:t>bestimmt</a:t>
            </a:r>
            <a:r>
              <a:rPr dirty="0"/>
              <a:t>. Als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Zyklus</a:t>
            </a:r>
            <a:r>
              <a:rPr dirty="0"/>
              <a:t> </a:t>
            </a:r>
            <a:r>
              <a:rPr dirty="0" err="1"/>
              <a:t>zählt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vollständiger</a:t>
            </a:r>
            <a:r>
              <a:rPr dirty="0"/>
              <a:t> </a:t>
            </a:r>
            <a:r>
              <a:rPr dirty="0" err="1"/>
              <a:t>Durchlauf</a:t>
            </a:r>
            <a:r>
              <a:rPr dirty="0"/>
              <a:t>, in dem das Filament von A </a:t>
            </a:r>
            <a:r>
              <a:rPr dirty="0" err="1"/>
              <a:t>nach</a:t>
            </a:r>
            <a:r>
              <a:rPr dirty="0"/>
              <a:t> B </a:t>
            </a:r>
            <a:r>
              <a:rPr dirty="0" err="1"/>
              <a:t>nach</a:t>
            </a:r>
            <a:r>
              <a:rPr dirty="0"/>
              <a:t> A und </a:t>
            </a:r>
            <a:r>
              <a:rPr dirty="0" err="1"/>
              <a:t>wieder</a:t>
            </a:r>
            <a:r>
              <a:rPr dirty="0"/>
              <a:t> </a:t>
            </a:r>
            <a:r>
              <a:rPr dirty="0" err="1"/>
              <a:t>zurück</a:t>
            </a:r>
            <a:r>
              <a:rPr dirty="0"/>
              <a:t> </a:t>
            </a:r>
            <a:r>
              <a:rPr dirty="0" err="1"/>
              <a:t>wechselt</a:t>
            </a:r>
            <a:r>
              <a:rPr dirty="0"/>
              <a:t>.</a:t>
            </a:r>
          </a:p>
          <a:p>
            <a:pPr>
              <a:defRPr sz="1000"/>
            </a:pPr>
            <a:endParaRPr dirty="0"/>
          </a:p>
          <a:p>
            <a:pPr>
              <a:defRPr sz="1000"/>
            </a:pPr>
            <a:r>
              <a:rPr dirty="0" err="1"/>
              <a:t>Beispiel</a:t>
            </a:r>
            <a:r>
              <a:rPr dirty="0"/>
              <a:t>: Um </a:t>
            </a:r>
            <a:r>
              <a:rPr dirty="0" err="1"/>
              <a:t>ein</a:t>
            </a:r>
            <a:r>
              <a:rPr dirty="0"/>
              <a:t> schnell </a:t>
            </a:r>
            <a:r>
              <a:rPr dirty="0" err="1"/>
              <a:t>wechselndes</a:t>
            </a:r>
            <a:r>
              <a:rPr dirty="0"/>
              <a:t> </a:t>
            </a:r>
            <a:r>
              <a:rPr dirty="0" err="1"/>
              <a:t>Farbverlaufsfilament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Cyan und Magenta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erstellen</a:t>
            </a:r>
            <a:r>
              <a:rPr dirty="0"/>
              <a:t>, </a:t>
            </a:r>
            <a:r>
              <a:rPr dirty="0" err="1"/>
              <a:t>wählen</a:t>
            </a:r>
            <a:r>
              <a:rPr dirty="0"/>
              <a:t> Sie </a:t>
            </a:r>
            <a:r>
              <a:rPr dirty="0" err="1"/>
              <a:t>ein</a:t>
            </a:r>
            <a:r>
              <a:rPr dirty="0"/>
              <a:t> S4 Modell, </a:t>
            </a:r>
            <a:r>
              <a:rPr dirty="0" err="1"/>
              <a:t>entscheiden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für </a:t>
            </a:r>
            <a:r>
              <a:rPr dirty="0" err="1"/>
              <a:t>eine</a:t>
            </a:r>
            <a:r>
              <a:rPr dirty="0"/>
              <a:t> 4 </a:t>
            </a:r>
            <a:r>
              <a:rPr dirty="0" err="1"/>
              <a:t>Zyklus</a:t>
            </a:r>
            <a:r>
              <a:rPr dirty="0"/>
              <a:t> </a:t>
            </a:r>
            <a:r>
              <a:rPr dirty="0" err="1"/>
              <a:t>Druckplatte</a:t>
            </a:r>
            <a:r>
              <a:rPr dirty="0"/>
              <a:t> und </a:t>
            </a:r>
            <a:r>
              <a:rPr dirty="0" err="1"/>
              <a:t>nutzen</a:t>
            </a:r>
            <a:r>
              <a:rPr dirty="0"/>
              <a:t> </a:t>
            </a:r>
            <a:r>
              <a:rPr dirty="0" err="1"/>
              <a:t>aufgrund</a:t>
            </a:r>
            <a:r>
              <a:rPr dirty="0"/>
              <a:t> des </a:t>
            </a:r>
            <a:r>
              <a:rPr dirty="0" err="1"/>
              <a:t>hohen</a:t>
            </a:r>
            <a:r>
              <a:rPr dirty="0"/>
              <a:t> </a:t>
            </a:r>
            <a:r>
              <a:rPr dirty="0" err="1"/>
              <a:t>Farbkontrasts</a:t>
            </a:r>
            <a:r>
              <a:rPr dirty="0"/>
              <a:t> das </a:t>
            </a:r>
            <a:r>
              <a:rPr dirty="0" err="1"/>
              <a:t>Profil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der </a:t>
            </a:r>
            <a:r>
              <a:rPr dirty="0" err="1"/>
              <a:t>Kurve</a:t>
            </a:r>
            <a:r>
              <a:rPr dirty="0"/>
              <a:t> Lebendig.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9BFAA9-BAA9-A287-8B2F-5211E1A270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797" y="3305622"/>
            <a:ext cx="5818062" cy="1117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D2653145-492D-9AEA-3B54-C14567956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027" y="4873452"/>
            <a:ext cx="5251946" cy="3665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正方形/長方形 29"/>
          <p:cNvSpPr/>
          <p:nvPr/>
        </p:nvSpPr>
        <p:spPr>
          <a:xfrm>
            <a:off x="51086" y="45267"/>
            <a:ext cx="6790098" cy="9053467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" name="正方形/長方形 4"/>
          <p:cNvSpPr/>
          <p:nvPr/>
        </p:nvSpPr>
        <p:spPr>
          <a:xfrm>
            <a:off x="17051" y="5530"/>
            <a:ext cx="6858001" cy="9144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3" name="グループ化 9"/>
          <p:cNvGrpSpPr/>
          <p:nvPr/>
        </p:nvGrpSpPr>
        <p:grpSpPr>
          <a:xfrm>
            <a:off x="0" y="-1"/>
            <a:ext cx="6865270" cy="9144002"/>
            <a:chOff x="0" y="0"/>
            <a:chExt cx="6865269" cy="9144001"/>
          </a:xfrm>
        </p:grpSpPr>
        <p:sp>
          <p:nvSpPr>
            <p:cNvPr id="179" name="正方形/長方形 5"/>
            <p:cNvSpPr/>
            <p:nvPr/>
          </p:nvSpPr>
          <p:spPr>
            <a:xfrm>
              <a:off x="0" y="-1"/>
              <a:ext cx="6858001" cy="432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0" name="正方形/長方形 6"/>
            <p:cNvSpPr/>
            <p:nvPr/>
          </p:nvSpPr>
          <p:spPr>
            <a:xfrm>
              <a:off x="0" y="8712000"/>
              <a:ext cx="6858001" cy="432000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1" name="正方形/長方形 7"/>
            <p:cNvSpPr/>
            <p:nvPr/>
          </p:nvSpPr>
          <p:spPr>
            <a:xfrm>
              <a:off x="0" y="0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" name="正方形/長方形 8"/>
            <p:cNvSpPr/>
            <p:nvPr/>
          </p:nvSpPr>
          <p:spPr>
            <a:xfrm>
              <a:off x="6325269" y="-1"/>
              <a:ext cx="540001" cy="9144001"/>
            </a:xfrm>
            <a:prstGeom prst="rect">
              <a:avLst/>
            </a:prstGeom>
            <a:solidFill>
              <a:srgbClr val="F2AA84">
                <a:alpha val="10000"/>
              </a:srgbClr>
            </a:solidFill>
            <a:ln w="19050" cap="flat">
              <a:solidFill>
                <a:srgbClr val="80350E"/>
              </a:solidFill>
              <a:prstDash val="dash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4" name="正方形/長方形 12"/>
          <p:cNvSpPr/>
          <p:nvPr/>
        </p:nvSpPr>
        <p:spPr>
          <a:xfrm>
            <a:off x="554536" y="452468"/>
            <a:ext cx="5756195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5" name="正方形/長方形 14"/>
          <p:cNvSpPr/>
          <p:nvPr/>
        </p:nvSpPr>
        <p:spPr>
          <a:xfrm>
            <a:off x="554537" y="8661917"/>
            <a:ext cx="2592002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" name="正方形/長方形 15"/>
          <p:cNvSpPr/>
          <p:nvPr/>
        </p:nvSpPr>
        <p:spPr>
          <a:xfrm>
            <a:off x="3734844" y="8661917"/>
            <a:ext cx="2592001" cy="54001"/>
          </a:xfrm>
          <a:prstGeom prst="rect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" name="テキスト ボックス 16"/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r>
              <a:t>4</a:t>
            </a:r>
          </a:p>
        </p:txBody>
      </p:sp>
      <p:sp>
        <p:nvSpPr>
          <p:cNvPr id="188" name="楕円 1"/>
          <p:cNvSpPr/>
          <p:nvPr/>
        </p:nvSpPr>
        <p:spPr>
          <a:xfrm>
            <a:off x="546347" y="817075"/>
            <a:ext cx="204671" cy="204671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092937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" name="テキスト ボックス 33"/>
          <p:cNvSpPr txBox="1"/>
          <p:nvPr/>
        </p:nvSpPr>
        <p:spPr>
          <a:xfrm>
            <a:off x="823834" y="772101"/>
            <a:ext cx="1804552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600" b="1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r>
              <a:rPr dirty="0"/>
              <a:t>6. Update </a:t>
            </a:r>
            <a:r>
              <a:rPr dirty="0" err="1"/>
              <a:t>Historie</a:t>
            </a:r>
            <a:endParaRPr dirty="0"/>
          </a:p>
        </p:txBody>
      </p:sp>
      <p:sp>
        <p:nvSpPr>
          <p:cNvPr id="190" name="テキスト ボックス 34"/>
          <p:cNvSpPr txBox="1"/>
          <p:nvPr/>
        </p:nvSpPr>
        <p:spPr>
          <a:xfrm>
            <a:off x="684043" y="1115239"/>
            <a:ext cx="555805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00"/>
            </a:lvl1pPr>
          </a:lstStyle>
          <a:p>
            <a:r>
              <a:rPr dirty="0"/>
              <a:t>Ver.1.00  2026-09-01  Erste Version </a:t>
            </a:r>
            <a:r>
              <a:rPr dirty="0" err="1"/>
              <a:t>veröffentlicht</a:t>
            </a:r>
            <a:endParaRPr dirty="0"/>
          </a:p>
        </p:txBody>
      </p:sp>
      <p:sp>
        <p:nvSpPr>
          <p:cNvPr id="3" name="テキスト ボックス 34">
            <a:extLst>
              <a:ext uri="{FF2B5EF4-FFF2-40B4-BE49-F238E27FC236}">
                <a16:creationId xmlns:a16="http://schemas.microsoft.com/office/drawing/2014/main" id="{428EAF54-F90C-9FE7-D2B3-BCDADCCF8091}"/>
              </a:ext>
            </a:extLst>
          </p:cNvPr>
          <p:cNvSpPr txBox="1"/>
          <p:nvPr/>
        </p:nvSpPr>
        <p:spPr>
          <a:xfrm>
            <a:off x="684043" y="1985257"/>
            <a:ext cx="5558051" cy="4001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00"/>
            </a:lvl1pPr>
          </a:lstStyle>
          <a:p>
            <a:r>
              <a:rPr lang="en-US" sz="1000" dirty="0" err="1"/>
              <a:t>Nennung</a:t>
            </a:r>
            <a:r>
              <a:rPr lang="en-US" sz="1000" dirty="0"/>
              <a:t> : </a:t>
            </a:r>
          </a:p>
          <a:p>
            <a:r>
              <a:rPr lang="en-US" sz="1000" dirty="0"/>
              <a:t> Deutsche </a:t>
            </a:r>
            <a:r>
              <a:rPr lang="en-US" sz="1000" dirty="0" err="1"/>
              <a:t>Übersetzung</a:t>
            </a:r>
            <a:r>
              <a:rPr lang="en-US" sz="1000" dirty="0"/>
              <a:t> –Domenik</a:t>
            </a:r>
            <a:endParaRPr sz="1000" dirty="0"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1533B-51BE-0125-C0AC-3E921E282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正方形/長方形 31">
            <a:extLst>
              <a:ext uri="{FF2B5EF4-FFF2-40B4-BE49-F238E27FC236}">
                <a16:creationId xmlns:a16="http://schemas.microsoft.com/office/drawing/2014/main" id="{9758962D-A558-7663-91E8-5236D817CF32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" name="フリーフォーム: 図形 10">
            <a:extLst>
              <a:ext uri="{FF2B5EF4-FFF2-40B4-BE49-F238E27FC236}">
                <a16:creationId xmlns:a16="http://schemas.microsoft.com/office/drawing/2014/main" id="{3B252398-2709-408A-29D1-04934C29BB60}"/>
              </a:ext>
            </a:extLst>
          </p:cNvPr>
          <p:cNvSpPr/>
          <p:nvPr/>
        </p:nvSpPr>
        <p:spPr>
          <a:xfrm>
            <a:off x="-4150" y="0"/>
            <a:ext cx="6858000" cy="9144000"/>
          </a:xfrm>
          <a:custGeom>
            <a:avLst/>
            <a:gdLst>
              <a:gd name="connsiteX0" fmla="*/ 3734844 w 6858000"/>
              <a:gd name="connsiteY0" fmla="*/ 8661917 h 9144000"/>
              <a:gd name="connsiteX1" fmla="*/ 3734844 w 6858000"/>
              <a:gd name="connsiteY1" fmla="*/ 8715918 h 9144000"/>
              <a:gd name="connsiteX2" fmla="*/ 6326845 w 6858000"/>
              <a:gd name="connsiteY2" fmla="*/ 8715918 h 9144000"/>
              <a:gd name="connsiteX3" fmla="*/ 6326845 w 6858000"/>
              <a:gd name="connsiteY3" fmla="*/ 8661917 h 9144000"/>
              <a:gd name="connsiteX4" fmla="*/ 554537 w 6858000"/>
              <a:gd name="connsiteY4" fmla="*/ 8661917 h 9144000"/>
              <a:gd name="connsiteX5" fmla="*/ 554537 w 6858000"/>
              <a:gd name="connsiteY5" fmla="*/ 8715918 h 9144000"/>
              <a:gd name="connsiteX6" fmla="*/ 3146539 w 6858000"/>
              <a:gd name="connsiteY6" fmla="*/ 8715918 h 9144000"/>
              <a:gd name="connsiteX7" fmla="*/ 3146539 w 6858000"/>
              <a:gd name="connsiteY7" fmla="*/ 8661917 h 9144000"/>
              <a:gd name="connsiteX8" fmla="*/ 663431 w 6858000"/>
              <a:gd name="connsiteY8" fmla="*/ 4344641 h 9144000"/>
              <a:gd name="connsiteX9" fmla="*/ 561095 w 6858000"/>
              <a:gd name="connsiteY9" fmla="*/ 4446977 h 9144000"/>
              <a:gd name="connsiteX10" fmla="*/ 663431 w 6858000"/>
              <a:gd name="connsiteY10" fmla="*/ 4549313 h 9144000"/>
              <a:gd name="connsiteX11" fmla="*/ 765767 w 6858000"/>
              <a:gd name="connsiteY11" fmla="*/ 4446977 h 9144000"/>
              <a:gd name="connsiteX12" fmla="*/ 663431 w 6858000"/>
              <a:gd name="connsiteY12" fmla="*/ 4344641 h 9144000"/>
              <a:gd name="connsiteX13" fmla="*/ 668510 w 6858000"/>
              <a:gd name="connsiteY13" fmla="*/ 3089647 h 9144000"/>
              <a:gd name="connsiteX14" fmla="*/ 566174 w 6858000"/>
              <a:gd name="connsiteY14" fmla="*/ 3191983 h 9144000"/>
              <a:gd name="connsiteX15" fmla="*/ 668510 w 6858000"/>
              <a:gd name="connsiteY15" fmla="*/ 3294319 h 9144000"/>
              <a:gd name="connsiteX16" fmla="*/ 770846 w 6858000"/>
              <a:gd name="connsiteY16" fmla="*/ 3191983 h 9144000"/>
              <a:gd name="connsiteX17" fmla="*/ 668510 w 6858000"/>
              <a:gd name="connsiteY17" fmla="*/ 3089647 h 9144000"/>
              <a:gd name="connsiteX18" fmla="*/ 5823241 w 6858000"/>
              <a:gd name="connsiteY18" fmla="*/ 2279980 h 9144000"/>
              <a:gd name="connsiteX19" fmla="*/ 5807028 w 6858000"/>
              <a:gd name="connsiteY19" fmla="*/ 2319085 h 9144000"/>
              <a:gd name="connsiteX20" fmla="*/ 5767904 w 6858000"/>
              <a:gd name="connsiteY20" fmla="*/ 2335283 h 9144000"/>
              <a:gd name="connsiteX21" fmla="*/ 1097361 w 6858000"/>
              <a:gd name="connsiteY21" fmla="*/ 2335283 h 9144000"/>
              <a:gd name="connsiteX22" fmla="*/ 1058237 w 6858000"/>
              <a:gd name="connsiteY22" fmla="*/ 2319085 h 9144000"/>
              <a:gd name="connsiteX23" fmla="*/ 1042025 w 6858000"/>
              <a:gd name="connsiteY23" fmla="*/ 2279982 h 9144000"/>
              <a:gd name="connsiteX24" fmla="*/ 1042025 w 6858000"/>
              <a:gd name="connsiteY24" fmla="*/ 2413569 h 9144000"/>
              <a:gd name="connsiteX25" fmla="*/ 1230839 w 6858000"/>
              <a:gd name="connsiteY25" fmla="*/ 2602467 h 9144000"/>
              <a:gd name="connsiteX26" fmla="*/ 5634427 w 6858000"/>
              <a:gd name="connsiteY26" fmla="*/ 2602467 h 9144000"/>
              <a:gd name="connsiteX27" fmla="*/ 5823241 w 6858000"/>
              <a:gd name="connsiteY27" fmla="*/ 2413570 h 9144000"/>
              <a:gd name="connsiteX28" fmla="*/ 1230839 w 6858000"/>
              <a:gd name="connsiteY28" fmla="*/ 436680 h 9144000"/>
              <a:gd name="connsiteX29" fmla="*/ 1042025 w 6858000"/>
              <a:gd name="connsiteY29" fmla="*/ 625578 h 9144000"/>
              <a:gd name="connsiteX30" fmla="*/ 1042025 w 6858000"/>
              <a:gd name="connsiteY30" fmla="*/ 763930 h 9144000"/>
              <a:gd name="connsiteX31" fmla="*/ 1058238 w 6858000"/>
              <a:gd name="connsiteY31" fmla="*/ 724825 h 9144000"/>
              <a:gd name="connsiteX32" fmla="*/ 1097362 w 6858000"/>
              <a:gd name="connsiteY32" fmla="*/ 708627 h 9144000"/>
              <a:gd name="connsiteX33" fmla="*/ 5767905 w 6858000"/>
              <a:gd name="connsiteY33" fmla="*/ 708627 h 9144000"/>
              <a:gd name="connsiteX34" fmla="*/ 5807029 w 6858000"/>
              <a:gd name="connsiteY34" fmla="*/ 724825 h 9144000"/>
              <a:gd name="connsiteX35" fmla="*/ 5823241 w 6858000"/>
              <a:gd name="connsiteY35" fmla="*/ 763928 h 9144000"/>
              <a:gd name="connsiteX36" fmla="*/ 5823241 w 6858000"/>
              <a:gd name="connsiteY36" fmla="*/ 625578 h 9144000"/>
              <a:gd name="connsiteX37" fmla="*/ 5634427 w 6858000"/>
              <a:gd name="connsiteY37" fmla="*/ 436680 h 9144000"/>
              <a:gd name="connsiteX38" fmla="*/ 0 w 6858000"/>
              <a:gd name="connsiteY38" fmla="*/ 0 h 9144000"/>
              <a:gd name="connsiteX39" fmla="*/ 6858000 w 6858000"/>
              <a:gd name="connsiteY39" fmla="*/ 0 h 9144000"/>
              <a:gd name="connsiteX40" fmla="*/ 6858000 w 6858000"/>
              <a:gd name="connsiteY40" fmla="*/ 9144000 h 9144000"/>
              <a:gd name="connsiteX41" fmla="*/ 0 w 6858000"/>
              <a:gd name="connsiteY41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6858000" h="9144000">
                <a:moveTo>
                  <a:pt x="3734844" y="8661917"/>
                </a:moveTo>
                <a:lnTo>
                  <a:pt x="3734844" y="8715918"/>
                </a:lnTo>
                <a:lnTo>
                  <a:pt x="6326845" y="8715918"/>
                </a:lnTo>
                <a:lnTo>
                  <a:pt x="6326845" y="8661917"/>
                </a:lnTo>
                <a:close/>
                <a:moveTo>
                  <a:pt x="554537" y="8661917"/>
                </a:moveTo>
                <a:lnTo>
                  <a:pt x="554537" y="8715918"/>
                </a:lnTo>
                <a:lnTo>
                  <a:pt x="3146539" y="8715918"/>
                </a:lnTo>
                <a:lnTo>
                  <a:pt x="3146539" y="8661917"/>
                </a:lnTo>
                <a:close/>
                <a:moveTo>
                  <a:pt x="663431" y="4344641"/>
                </a:moveTo>
                <a:cubicBezTo>
                  <a:pt x="606912" y="4344641"/>
                  <a:pt x="561095" y="4390458"/>
                  <a:pt x="561095" y="4446977"/>
                </a:cubicBezTo>
                <a:cubicBezTo>
                  <a:pt x="561095" y="4503496"/>
                  <a:pt x="606912" y="4549313"/>
                  <a:pt x="663431" y="4549313"/>
                </a:cubicBezTo>
                <a:cubicBezTo>
                  <a:pt x="719950" y="4549313"/>
                  <a:pt x="765767" y="4503496"/>
                  <a:pt x="765767" y="4446977"/>
                </a:cubicBezTo>
                <a:cubicBezTo>
                  <a:pt x="765767" y="4390458"/>
                  <a:pt x="719950" y="4344641"/>
                  <a:pt x="663431" y="4344641"/>
                </a:cubicBezTo>
                <a:close/>
                <a:moveTo>
                  <a:pt x="668510" y="3089647"/>
                </a:moveTo>
                <a:cubicBezTo>
                  <a:pt x="611991" y="3089647"/>
                  <a:pt x="566174" y="3135464"/>
                  <a:pt x="566174" y="3191983"/>
                </a:cubicBezTo>
                <a:cubicBezTo>
                  <a:pt x="566174" y="3248502"/>
                  <a:pt x="611991" y="3294319"/>
                  <a:pt x="668510" y="3294319"/>
                </a:cubicBezTo>
                <a:cubicBezTo>
                  <a:pt x="725029" y="3294319"/>
                  <a:pt x="770846" y="3248502"/>
                  <a:pt x="770846" y="3191983"/>
                </a:cubicBezTo>
                <a:cubicBezTo>
                  <a:pt x="770846" y="3135464"/>
                  <a:pt x="725029" y="3089647"/>
                  <a:pt x="668510" y="3089647"/>
                </a:cubicBezTo>
                <a:close/>
                <a:moveTo>
                  <a:pt x="5823241" y="2279980"/>
                </a:moveTo>
                <a:lnTo>
                  <a:pt x="5807028" y="2319085"/>
                </a:lnTo>
                <a:cubicBezTo>
                  <a:pt x="5797011" y="2329093"/>
                  <a:pt x="5783177" y="2335283"/>
                  <a:pt x="5767904" y="2335283"/>
                </a:cubicBezTo>
                <a:lnTo>
                  <a:pt x="1097361" y="2335283"/>
                </a:lnTo>
                <a:cubicBezTo>
                  <a:pt x="1082088" y="2335283"/>
                  <a:pt x="1068253" y="2329093"/>
                  <a:pt x="1058237" y="2319085"/>
                </a:cubicBezTo>
                <a:lnTo>
                  <a:pt x="1042025" y="2279982"/>
                </a:lnTo>
                <a:lnTo>
                  <a:pt x="1042025" y="2413569"/>
                </a:lnTo>
                <a:cubicBezTo>
                  <a:pt x="1042025" y="2517900"/>
                  <a:pt x="1126581" y="2602467"/>
                  <a:pt x="1230839" y="2602467"/>
                </a:cubicBezTo>
                <a:lnTo>
                  <a:pt x="5634427" y="2602467"/>
                </a:lnTo>
                <a:cubicBezTo>
                  <a:pt x="5738684" y="2602467"/>
                  <a:pt x="5823241" y="2517901"/>
                  <a:pt x="5823241" y="2413570"/>
                </a:cubicBezTo>
                <a:close/>
                <a:moveTo>
                  <a:pt x="1230839" y="436680"/>
                </a:moveTo>
                <a:cubicBezTo>
                  <a:pt x="1126582" y="436680"/>
                  <a:pt x="1042025" y="521247"/>
                  <a:pt x="1042025" y="625578"/>
                </a:cubicBezTo>
                <a:lnTo>
                  <a:pt x="1042025" y="763930"/>
                </a:lnTo>
                <a:lnTo>
                  <a:pt x="1058238" y="724825"/>
                </a:lnTo>
                <a:cubicBezTo>
                  <a:pt x="1068254" y="714817"/>
                  <a:pt x="1082089" y="708627"/>
                  <a:pt x="1097362" y="708627"/>
                </a:cubicBezTo>
                <a:lnTo>
                  <a:pt x="5767905" y="708627"/>
                </a:lnTo>
                <a:cubicBezTo>
                  <a:pt x="5783178" y="708627"/>
                  <a:pt x="5797013" y="714817"/>
                  <a:pt x="5807029" y="724825"/>
                </a:cubicBezTo>
                <a:lnTo>
                  <a:pt x="5823241" y="763928"/>
                </a:lnTo>
                <a:lnTo>
                  <a:pt x="5823241" y="625578"/>
                </a:lnTo>
                <a:cubicBezTo>
                  <a:pt x="5823241" y="521247"/>
                  <a:pt x="5738685" y="436680"/>
                  <a:pt x="5634427" y="436680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wrap="square" lIns="45719" rIns="45719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5" name="テキスト ボックス 16">
            <a:extLst>
              <a:ext uri="{FF2B5EF4-FFF2-40B4-BE49-F238E27FC236}">
                <a16:creationId xmlns:a16="http://schemas.microsoft.com/office/drawing/2014/main" id="{0B15B1FE-7F2C-2239-01F2-4A88DB500E16}"/>
              </a:ext>
            </a:extLst>
          </p:cNvPr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r>
              <a:t>1</a:t>
            </a:r>
          </a:p>
        </p:txBody>
      </p:sp>
      <p:sp>
        <p:nvSpPr>
          <p:cNvPr id="116" name="テキスト ボックス 1">
            <a:extLst>
              <a:ext uri="{FF2B5EF4-FFF2-40B4-BE49-F238E27FC236}">
                <a16:creationId xmlns:a16="http://schemas.microsoft.com/office/drawing/2014/main" id="{FF6A6F4D-0377-B8C0-99D6-7577D998AFDF}"/>
              </a:ext>
            </a:extLst>
          </p:cNvPr>
          <p:cNvSpPr txBox="1"/>
          <p:nvPr/>
        </p:nvSpPr>
        <p:spPr>
          <a:xfrm>
            <a:off x="1599039" y="846314"/>
            <a:ext cx="4252124" cy="5847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3200">
                <a:latin typeface="JostRoman-Medium"/>
                <a:ea typeface="JostRoman-Medium"/>
                <a:cs typeface="JostRoman-Medium"/>
                <a:sym typeface="JostRoman-Medium"/>
              </a:defRPr>
            </a:pPr>
            <a:r>
              <a:rPr dirty="0">
                <a:latin typeface="Jost Medium" pitchFamily="2" charset="0"/>
                <a:ea typeface="Jost Medium" pitchFamily="2" charset="0"/>
              </a:rPr>
              <a:t>FlexChroma</a:t>
            </a:r>
            <a:r>
              <a:rPr dirty="0">
                <a:latin typeface="+mn-lt"/>
                <a:ea typeface="+mn-ea"/>
                <a:cs typeface="+mn-cs"/>
                <a:sym typeface="Jost-Regular"/>
              </a:rPr>
              <a:t> </a:t>
            </a:r>
            <a:r>
              <a:rPr dirty="0">
                <a:ea typeface="+mn-ea"/>
                <a:cs typeface="+mn-cs"/>
                <a:sym typeface="Jost-Regular"/>
              </a:rPr>
              <a:t>Tour-Guide</a:t>
            </a:r>
          </a:p>
        </p:txBody>
      </p:sp>
      <p:sp>
        <p:nvSpPr>
          <p:cNvPr id="118" name="テキスト ボックス 17">
            <a:extLst>
              <a:ext uri="{FF2B5EF4-FFF2-40B4-BE49-F238E27FC236}">
                <a16:creationId xmlns:a16="http://schemas.microsoft.com/office/drawing/2014/main" id="{3C83112A-5E24-4EDC-E84B-7A418B54ADB1}"/>
              </a:ext>
            </a:extLst>
          </p:cNvPr>
          <p:cNvSpPr txBox="1"/>
          <p:nvPr/>
        </p:nvSpPr>
        <p:spPr>
          <a:xfrm>
            <a:off x="816563" y="2995985"/>
            <a:ext cx="1530936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 b="1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r>
              <a:t>1. Einleitung</a:t>
            </a:r>
          </a:p>
        </p:txBody>
      </p:sp>
      <p:sp>
        <p:nvSpPr>
          <p:cNvPr id="119" name="テキスト ボックス 18">
            <a:extLst>
              <a:ext uri="{FF2B5EF4-FFF2-40B4-BE49-F238E27FC236}">
                <a16:creationId xmlns:a16="http://schemas.microsoft.com/office/drawing/2014/main" id="{1139D95F-C700-149F-93CE-3AC5F823FD44}"/>
              </a:ext>
            </a:extLst>
          </p:cNvPr>
          <p:cNvSpPr txBox="1"/>
          <p:nvPr/>
        </p:nvSpPr>
        <p:spPr>
          <a:xfrm>
            <a:off x="714228" y="3418925"/>
            <a:ext cx="5558051" cy="55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 b="1">
                <a:latin typeface="JostRoman-Bold"/>
                <a:ea typeface="JostRoman-Bold"/>
                <a:cs typeface="JostRoman-Bold"/>
                <a:sym typeface="JostRoman-Bold"/>
              </a:defRPr>
            </a:pPr>
            <a:r>
              <a:rPr lang="en-US" altLang="ja-JP" b="0" dirty="0">
                <a:latin typeface="Jost Medium" pitchFamily="2" charset="0"/>
                <a:ea typeface="Jost Medium" pitchFamily="2" charset="0"/>
                <a:sym typeface="Jost-Regular"/>
              </a:rPr>
              <a:t>FlexChroma</a:t>
            </a:r>
            <a:r>
              <a:rPr lang="en-US" altLang="ja-JP" b="0" dirty="0">
                <a:latin typeface="+mn-lt"/>
                <a:ea typeface="+mn-ea"/>
                <a:cs typeface="+mn-cs"/>
                <a:sym typeface="Jost-Regular"/>
              </a:rPr>
              <a:t> </a:t>
            </a:r>
            <a:r>
              <a:rPr b="0" dirty="0" err="1">
                <a:latin typeface="+mn-lt"/>
                <a:ea typeface="+mn-ea"/>
                <a:cs typeface="+mn-cs"/>
                <a:sym typeface="Jost-Regular"/>
              </a:rPr>
              <a:t>umfasst</a:t>
            </a:r>
            <a:r>
              <a:rPr b="0" dirty="0">
                <a:latin typeface="+mn-lt"/>
                <a:ea typeface="+mn-ea"/>
                <a:cs typeface="+mn-cs"/>
                <a:sym typeface="Jost-Regular"/>
              </a:rPr>
              <a:t> Modelle </a:t>
            </a:r>
            <a:r>
              <a:rPr b="0" dirty="0" err="1">
                <a:latin typeface="+mn-lt"/>
                <a:ea typeface="+mn-ea"/>
                <a:cs typeface="+mn-cs"/>
                <a:sym typeface="Jost-Regular"/>
              </a:rPr>
              <a:t>zur</a:t>
            </a:r>
            <a:r>
              <a:rPr b="0" dirty="0">
                <a:latin typeface="+mn-lt"/>
                <a:ea typeface="+mn-ea"/>
                <a:cs typeface="+mn-cs"/>
                <a:sym typeface="Jost-Regular"/>
              </a:rPr>
              <a:t> </a:t>
            </a:r>
            <a:r>
              <a:rPr b="0" dirty="0" err="1">
                <a:latin typeface="+mn-lt"/>
                <a:ea typeface="+mn-ea"/>
                <a:cs typeface="+mn-cs"/>
                <a:sym typeface="Jost-Regular"/>
              </a:rPr>
              <a:t>Herstellung</a:t>
            </a:r>
            <a:r>
              <a:rPr b="0" dirty="0">
                <a:latin typeface="+mn-lt"/>
                <a:ea typeface="+mn-ea"/>
                <a:cs typeface="+mn-cs"/>
                <a:sym typeface="Jost-Regular"/>
              </a:rPr>
              <a:t> </a:t>
            </a:r>
            <a:r>
              <a:rPr b="0" dirty="0" err="1">
                <a:latin typeface="+mn-lt"/>
                <a:ea typeface="+mn-ea"/>
                <a:cs typeface="+mn-cs"/>
                <a:sym typeface="Jost-Regular"/>
              </a:rPr>
              <a:t>eigener</a:t>
            </a:r>
            <a:r>
              <a:rPr b="0" dirty="0">
                <a:latin typeface="+mn-lt"/>
                <a:ea typeface="+mn-ea"/>
                <a:cs typeface="+mn-cs"/>
                <a:sym typeface="Jost-Regular"/>
              </a:rPr>
              <a:t> </a:t>
            </a:r>
            <a:r>
              <a:rPr b="0" dirty="0" err="1">
                <a:latin typeface="+mn-lt"/>
                <a:ea typeface="+mn-ea"/>
                <a:cs typeface="+mn-cs"/>
                <a:sym typeface="Jost-Regular"/>
              </a:rPr>
              <a:t>Filamente</a:t>
            </a:r>
            <a:r>
              <a:rPr b="0" dirty="0">
                <a:latin typeface="+mn-lt"/>
                <a:ea typeface="+mn-ea"/>
                <a:cs typeface="+mn-cs"/>
                <a:sym typeface="Jost-Regular"/>
              </a:rPr>
              <a:t> </a:t>
            </a:r>
            <a:r>
              <a:rPr b="0" dirty="0" err="1">
                <a:latin typeface="+mn-lt"/>
                <a:ea typeface="+mn-ea"/>
                <a:cs typeface="+mn-cs"/>
                <a:sym typeface="Jost-Regular"/>
              </a:rPr>
              <a:t>aus</a:t>
            </a:r>
            <a:r>
              <a:rPr b="0" dirty="0">
                <a:latin typeface="+mn-lt"/>
                <a:ea typeface="+mn-ea"/>
                <a:cs typeface="+mn-cs"/>
                <a:sym typeface="Jost-Regular"/>
              </a:rPr>
              <a:t> </a:t>
            </a:r>
            <a:r>
              <a:rPr b="0" dirty="0" err="1">
                <a:latin typeface="+mn-lt"/>
                <a:ea typeface="+mn-ea"/>
                <a:cs typeface="+mn-cs"/>
                <a:sym typeface="Jost-Regular"/>
              </a:rPr>
              <a:t>handelsüblichen</a:t>
            </a:r>
            <a:r>
              <a:rPr b="0" dirty="0">
                <a:latin typeface="+mn-lt"/>
                <a:ea typeface="+mn-ea"/>
                <a:cs typeface="+mn-cs"/>
                <a:sym typeface="Jost-Regular"/>
              </a:rPr>
              <a:t> </a:t>
            </a:r>
            <a:r>
              <a:rPr b="0" dirty="0" err="1">
                <a:latin typeface="+mn-lt"/>
                <a:ea typeface="+mn-ea"/>
                <a:cs typeface="+mn-cs"/>
                <a:sym typeface="Jost-Regular"/>
              </a:rPr>
              <a:t>Materialien</a:t>
            </a:r>
            <a:r>
              <a:rPr b="0" dirty="0">
                <a:latin typeface="+mn-lt"/>
                <a:ea typeface="+mn-ea"/>
                <a:cs typeface="+mn-cs"/>
                <a:sym typeface="Jost-Regular"/>
              </a:rPr>
              <a:t>. </a:t>
            </a:r>
          </a:p>
          <a:p>
            <a:pPr>
              <a:defRPr sz="1000"/>
            </a:pPr>
            <a:r>
              <a:rPr dirty="0"/>
              <a:t>Das System </a:t>
            </a:r>
            <a:r>
              <a:rPr dirty="0" err="1"/>
              <a:t>unterteilt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in </a:t>
            </a:r>
            <a:r>
              <a:rPr dirty="0" err="1"/>
              <a:t>verschiedene</a:t>
            </a:r>
            <a:r>
              <a:rPr dirty="0"/>
              <a:t> </a:t>
            </a:r>
            <a:r>
              <a:rPr dirty="0" err="1"/>
              <a:t>Serien</a:t>
            </a:r>
            <a:r>
              <a:rPr dirty="0"/>
              <a:t> für </a:t>
            </a:r>
            <a:r>
              <a:rPr dirty="0" err="1"/>
              <a:t>unterschiedliche</a:t>
            </a:r>
            <a:r>
              <a:rPr dirty="0"/>
              <a:t> </a:t>
            </a:r>
            <a:r>
              <a:rPr dirty="0" err="1"/>
              <a:t>Einsatzzwecke</a:t>
            </a:r>
            <a:r>
              <a:rPr dirty="0"/>
              <a:t>. </a:t>
            </a:r>
            <a:r>
              <a:rPr dirty="0" err="1"/>
              <a:t>Jede</a:t>
            </a:r>
            <a:r>
              <a:rPr dirty="0"/>
              <a:t> Serie </a:t>
            </a:r>
            <a:r>
              <a:rPr dirty="0" err="1"/>
              <a:t>bietet</a:t>
            </a:r>
            <a:r>
              <a:rPr dirty="0"/>
              <a:t> </a:t>
            </a:r>
            <a:r>
              <a:rPr dirty="0" err="1"/>
              <a:t>mehrere</a:t>
            </a:r>
            <a:r>
              <a:rPr dirty="0"/>
              <a:t> Modelle, Profile und </a:t>
            </a:r>
            <a:r>
              <a:rPr dirty="0" err="1"/>
              <a:t>Druckplatten</a:t>
            </a:r>
            <a:r>
              <a:rPr dirty="0"/>
              <a:t>, </a:t>
            </a:r>
            <a:r>
              <a:rPr dirty="0" err="1"/>
              <a:t>abgestimmt</a:t>
            </a:r>
            <a:r>
              <a:rPr dirty="0"/>
              <a:t> auf </a:t>
            </a:r>
            <a:r>
              <a:rPr dirty="0" err="1"/>
              <a:t>Größe</a:t>
            </a:r>
            <a:r>
              <a:rPr dirty="0"/>
              <a:t> und </a:t>
            </a:r>
            <a:r>
              <a:rPr dirty="0" err="1"/>
              <a:t>Anwendung</a:t>
            </a:r>
            <a:r>
              <a:rPr dirty="0"/>
              <a:t>.</a:t>
            </a:r>
          </a:p>
        </p:txBody>
      </p:sp>
      <p:sp>
        <p:nvSpPr>
          <p:cNvPr id="121" name="テキスト ボックス 20">
            <a:extLst>
              <a:ext uri="{FF2B5EF4-FFF2-40B4-BE49-F238E27FC236}">
                <a16:creationId xmlns:a16="http://schemas.microsoft.com/office/drawing/2014/main" id="{C89A22A8-9C63-F6A9-D99B-BE1157857DC3}"/>
              </a:ext>
            </a:extLst>
          </p:cNvPr>
          <p:cNvSpPr txBox="1"/>
          <p:nvPr/>
        </p:nvSpPr>
        <p:spPr>
          <a:xfrm>
            <a:off x="816563" y="4242466"/>
            <a:ext cx="3033713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 b="1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r>
              <a:t>2. Auswahl eines Modells</a:t>
            </a:r>
          </a:p>
        </p:txBody>
      </p:sp>
      <p:sp>
        <p:nvSpPr>
          <p:cNvPr id="122" name="テキスト ボックス 21">
            <a:extLst>
              <a:ext uri="{FF2B5EF4-FFF2-40B4-BE49-F238E27FC236}">
                <a16:creationId xmlns:a16="http://schemas.microsoft.com/office/drawing/2014/main" id="{1A4D55E4-1CC0-F260-C218-3C5FABD6E41B}"/>
              </a:ext>
            </a:extLst>
          </p:cNvPr>
          <p:cNvSpPr txBox="1"/>
          <p:nvPr/>
        </p:nvSpPr>
        <p:spPr>
          <a:xfrm>
            <a:off x="706959" y="4643889"/>
            <a:ext cx="5558052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r>
              <a:t>Folgen Sie zuerst diesem kurzen Auswahlprozess, um die richtigen Daten herunterzuladen und zu drucken.</a:t>
            </a:r>
          </a:p>
        </p:txBody>
      </p:sp>
      <p:sp>
        <p:nvSpPr>
          <p:cNvPr id="123" name="テキスト ボックス 24">
            <a:extLst>
              <a:ext uri="{FF2B5EF4-FFF2-40B4-BE49-F238E27FC236}">
                <a16:creationId xmlns:a16="http://schemas.microsoft.com/office/drawing/2014/main" id="{85F6A698-3F75-1C1C-A794-F2EA27EED6AA}"/>
              </a:ext>
            </a:extLst>
          </p:cNvPr>
          <p:cNvSpPr txBox="1"/>
          <p:nvPr/>
        </p:nvSpPr>
        <p:spPr>
          <a:xfrm>
            <a:off x="706958" y="6386023"/>
            <a:ext cx="5565321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r>
              <a:rPr dirty="0" err="1"/>
              <a:t>Wählen</a:t>
            </a:r>
            <a:r>
              <a:rPr dirty="0"/>
              <a:t> Sie </a:t>
            </a:r>
            <a:r>
              <a:rPr dirty="0" err="1"/>
              <a:t>zuerst</a:t>
            </a:r>
            <a:r>
              <a:rPr dirty="0"/>
              <a:t> die </a:t>
            </a:r>
            <a:r>
              <a:rPr dirty="0" err="1"/>
              <a:t>gewünschte</a:t>
            </a:r>
            <a:r>
              <a:rPr dirty="0"/>
              <a:t> </a:t>
            </a:r>
            <a:r>
              <a:rPr dirty="0" err="1"/>
              <a:t>Filamentart</a:t>
            </a:r>
            <a:r>
              <a:rPr dirty="0"/>
              <a:t> </a:t>
            </a:r>
            <a:r>
              <a:rPr dirty="0" err="1"/>
              <a:t>aus</a:t>
            </a:r>
            <a:r>
              <a:rPr dirty="0"/>
              <a:t>, </a:t>
            </a:r>
            <a:r>
              <a:rPr dirty="0" err="1"/>
              <a:t>wenn</a:t>
            </a:r>
            <a:r>
              <a:rPr dirty="0"/>
              <a:t> Sie </a:t>
            </a:r>
            <a:r>
              <a:rPr dirty="0" err="1"/>
              <a:t>sich</a:t>
            </a:r>
            <a:r>
              <a:rPr dirty="0"/>
              <a:t> für </a:t>
            </a:r>
            <a:r>
              <a:rPr dirty="0" err="1"/>
              <a:t>ein</a:t>
            </a:r>
            <a:r>
              <a:rPr dirty="0"/>
              <a:t> Modell </a:t>
            </a:r>
            <a:r>
              <a:rPr dirty="0" err="1"/>
              <a:t>entscheiden</a:t>
            </a:r>
            <a:r>
              <a:rPr dirty="0"/>
              <a:t>.</a:t>
            </a:r>
          </a:p>
        </p:txBody>
      </p:sp>
      <p:sp>
        <p:nvSpPr>
          <p:cNvPr id="124" name="テキスト ボックス 25">
            <a:extLst>
              <a:ext uri="{FF2B5EF4-FFF2-40B4-BE49-F238E27FC236}">
                <a16:creationId xmlns:a16="http://schemas.microsoft.com/office/drawing/2014/main" id="{027C453D-F9C9-F551-93DB-DB8E8582E58B}"/>
              </a:ext>
            </a:extLst>
          </p:cNvPr>
          <p:cNvSpPr txBox="1"/>
          <p:nvPr/>
        </p:nvSpPr>
        <p:spPr>
          <a:xfrm>
            <a:off x="816563" y="6696427"/>
            <a:ext cx="5462985" cy="161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28600" indent="-228600">
              <a:buSzPct val="100000"/>
              <a:buAutoNum type="arabicPeriod"/>
              <a:defRPr sz="1000"/>
            </a:pPr>
            <a:r>
              <a:rPr dirty="0" err="1"/>
              <a:t>Wählen</a:t>
            </a:r>
            <a:r>
              <a:rPr dirty="0"/>
              <a:t> Sie </a:t>
            </a:r>
            <a:r>
              <a:rPr dirty="0" err="1"/>
              <a:t>eine</a:t>
            </a:r>
            <a:r>
              <a:rPr dirty="0"/>
              <a:t> Serie: </a:t>
            </a:r>
            <a:r>
              <a:rPr dirty="0" err="1"/>
              <a:t>Mischfilament</a:t>
            </a:r>
            <a:r>
              <a:rPr dirty="0"/>
              <a:t> für </a:t>
            </a:r>
            <a:r>
              <a:rPr dirty="0" err="1"/>
              <a:t>Mischfarben</a:t>
            </a:r>
            <a:r>
              <a:rPr dirty="0"/>
              <a:t>, </a:t>
            </a:r>
            <a:r>
              <a:rPr dirty="0" err="1"/>
              <a:t>Farbverlaufsfilament</a:t>
            </a:r>
            <a:r>
              <a:rPr dirty="0"/>
              <a:t> für </a:t>
            </a:r>
            <a:r>
              <a:rPr dirty="0" err="1"/>
              <a:t>Farbwechsel</a:t>
            </a:r>
            <a:r>
              <a:rPr dirty="0"/>
              <a:t>.</a:t>
            </a:r>
          </a:p>
          <a:p>
            <a:pPr marL="228600" indent="-228600">
              <a:buSzPct val="100000"/>
              <a:buAutoNum type="arabicPeriod"/>
              <a:defRPr sz="1000"/>
            </a:pPr>
            <a:r>
              <a:rPr dirty="0" err="1"/>
              <a:t>Wählen</a:t>
            </a:r>
            <a:r>
              <a:rPr dirty="0"/>
              <a:t> Sie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Modellgröße</a:t>
            </a:r>
            <a:r>
              <a:rPr dirty="0"/>
              <a:t>: </a:t>
            </a:r>
            <a:r>
              <a:rPr dirty="0" err="1"/>
              <a:t>Nutzen</a:t>
            </a:r>
            <a:r>
              <a:rPr dirty="0"/>
              <a:t> Sie </a:t>
            </a:r>
            <a:r>
              <a:rPr dirty="0" err="1"/>
              <a:t>ein</a:t>
            </a:r>
            <a:r>
              <a:rPr dirty="0"/>
              <a:t> S4-Modell für </a:t>
            </a:r>
            <a:r>
              <a:rPr dirty="0" err="1"/>
              <a:t>kleine</a:t>
            </a:r>
            <a:r>
              <a:rPr dirty="0"/>
              <a:t> </a:t>
            </a:r>
            <a:r>
              <a:rPr dirty="0" err="1"/>
              <a:t>Objekte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M1-Modell für </a:t>
            </a:r>
            <a:r>
              <a:rPr dirty="0" err="1"/>
              <a:t>größere</a:t>
            </a:r>
            <a:r>
              <a:rPr dirty="0"/>
              <a:t> </a:t>
            </a:r>
            <a:r>
              <a:rPr dirty="0" err="1"/>
              <a:t>Drucke</a:t>
            </a:r>
            <a:r>
              <a:rPr dirty="0"/>
              <a:t>, die </a:t>
            </a:r>
            <a:r>
              <a:rPr dirty="0" err="1"/>
              <a:t>etwa</a:t>
            </a:r>
            <a:r>
              <a:rPr dirty="0"/>
              <a:t> 70 g Filament </a:t>
            </a:r>
            <a:r>
              <a:rPr dirty="0" err="1"/>
              <a:t>benötigen</a:t>
            </a:r>
            <a:r>
              <a:rPr dirty="0"/>
              <a:t>.</a:t>
            </a:r>
          </a:p>
          <a:p>
            <a:pPr marL="228600" indent="-228600">
              <a:buSzPct val="100000"/>
              <a:buAutoNum type="arabicPeriod"/>
              <a:defRPr sz="1000"/>
            </a:pPr>
            <a:r>
              <a:rPr dirty="0" err="1"/>
              <a:t>Profil</a:t>
            </a:r>
            <a:r>
              <a:rPr dirty="0"/>
              <a:t> und </a:t>
            </a:r>
            <a:r>
              <a:rPr dirty="0" err="1"/>
              <a:t>Druckplatte</a:t>
            </a:r>
            <a:r>
              <a:rPr dirty="0"/>
              <a:t> </a:t>
            </a:r>
            <a:r>
              <a:rPr dirty="0" err="1"/>
              <a:t>auswählen</a:t>
            </a:r>
            <a:r>
              <a:rPr dirty="0"/>
              <a:t>: </a:t>
            </a:r>
            <a:r>
              <a:rPr dirty="0" err="1"/>
              <a:t>Entscheiden</a:t>
            </a:r>
            <a:r>
              <a:rPr dirty="0"/>
              <a:t> Sie </a:t>
            </a:r>
            <a:r>
              <a:rPr dirty="0" err="1"/>
              <a:t>sich</a:t>
            </a:r>
            <a:r>
              <a:rPr dirty="0"/>
              <a:t> für die </a:t>
            </a:r>
            <a:r>
              <a:rPr dirty="0" err="1"/>
              <a:t>Druckplatte</a:t>
            </a:r>
            <a:r>
              <a:rPr dirty="0"/>
              <a:t>, die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Ihrem</a:t>
            </a:r>
            <a:r>
              <a:rPr dirty="0"/>
              <a:t> </a:t>
            </a:r>
            <a:r>
              <a:rPr dirty="0" err="1"/>
              <a:t>gewünschten</a:t>
            </a:r>
            <a:r>
              <a:rPr dirty="0"/>
              <a:t> </a:t>
            </a:r>
            <a:r>
              <a:rPr dirty="0" err="1"/>
              <a:t>Mischungsverhältnis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Muster </a:t>
            </a:r>
            <a:r>
              <a:rPr dirty="0" err="1"/>
              <a:t>passt</a:t>
            </a:r>
            <a:r>
              <a:rPr dirty="0"/>
              <a:t>.</a:t>
            </a:r>
          </a:p>
          <a:p>
            <a:pPr marL="228600" indent="-228600">
              <a:buSzPct val="100000"/>
              <a:buAutoNum type="arabicPeriod"/>
              <a:defRPr sz="1000"/>
            </a:pPr>
            <a:r>
              <a:rPr dirty="0" err="1"/>
              <a:t>Filamente</a:t>
            </a:r>
            <a:r>
              <a:rPr dirty="0"/>
              <a:t> </a:t>
            </a:r>
            <a:r>
              <a:rPr dirty="0" err="1"/>
              <a:t>zuweisen</a:t>
            </a:r>
            <a:r>
              <a:rPr dirty="0"/>
              <a:t> und </a:t>
            </a:r>
            <a:r>
              <a:rPr dirty="0" err="1"/>
              <a:t>slicen</a:t>
            </a:r>
            <a:r>
              <a:rPr dirty="0"/>
              <a:t>: </a:t>
            </a:r>
            <a:r>
              <a:rPr dirty="0" err="1"/>
              <a:t>Nutzen</a:t>
            </a:r>
            <a:r>
              <a:rPr dirty="0"/>
              <a:t> Sie </a:t>
            </a:r>
            <a:r>
              <a:rPr dirty="0" err="1"/>
              <a:t>Filamente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identischem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ähnlichem</a:t>
            </a:r>
            <a:r>
              <a:rPr dirty="0"/>
              <a:t> Material, </a:t>
            </a:r>
            <a:r>
              <a:rPr dirty="0" err="1"/>
              <a:t>führen</a:t>
            </a:r>
            <a:r>
              <a:rPr dirty="0"/>
              <a:t> Sie die </a:t>
            </a:r>
            <a:r>
              <a:rPr dirty="0" err="1"/>
              <a:t>Zuweisung</a:t>
            </a:r>
            <a:r>
              <a:rPr dirty="0"/>
              <a:t> </a:t>
            </a:r>
            <a:r>
              <a:rPr dirty="0" err="1"/>
              <a:t>durch</a:t>
            </a:r>
            <a:r>
              <a:rPr dirty="0"/>
              <a:t>, </a:t>
            </a:r>
            <a:r>
              <a:rPr dirty="0" err="1"/>
              <a:t>slicen</a:t>
            </a:r>
            <a:r>
              <a:rPr dirty="0"/>
              <a:t> Sie das Modell und </a:t>
            </a:r>
            <a:r>
              <a:rPr dirty="0" err="1"/>
              <a:t>beachten</a:t>
            </a:r>
            <a:r>
              <a:rPr dirty="0"/>
              <a:t> Sie </a:t>
            </a:r>
            <a:r>
              <a:rPr dirty="0" err="1"/>
              <a:t>vor</a:t>
            </a:r>
            <a:r>
              <a:rPr dirty="0"/>
              <a:t> dem Druck die </a:t>
            </a:r>
            <a:r>
              <a:rPr dirty="0" err="1"/>
              <a:t>Druckhinweise</a:t>
            </a:r>
            <a:r>
              <a:rPr dirty="0"/>
              <a:t>.</a:t>
            </a:r>
          </a:p>
        </p:txBody>
      </p:sp>
      <p:sp>
        <p:nvSpPr>
          <p:cNvPr id="125" name="テキスト ボックス 26">
            <a:extLst>
              <a:ext uri="{FF2B5EF4-FFF2-40B4-BE49-F238E27FC236}">
                <a16:creationId xmlns:a16="http://schemas.microsoft.com/office/drawing/2014/main" id="{8E8B847F-FA03-A969-8B37-801820A5731E}"/>
              </a:ext>
            </a:extLst>
          </p:cNvPr>
          <p:cNvSpPr txBox="1"/>
          <p:nvPr/>
        </p:nvSpPr>
        <p:spPr>
          <a:xfrm>
            <a:off x="816562" y="8157903"/>
            <a:ext cx="5372560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900">
                <a:latin typeface="JostRoman-Light"/>
                <a:ea typeface="JostRoman-Light"/>
                <a:cs typeface="JostRoman-Light"/>
                <a:sym typeface="JostRoman-Light"/>
              </a:defRPr>
            </a:pPr>
            <a:r>
              <a:t>*Hinweis: Der Begriff „Profil“ steht in FlexChroma für eine Einteilung nach Verwendungszweck, nicht für abweichende Druckeinstellungen.</a:t>
            </a:r>
          </a:p>
        </p:txBody>
      </p:sp>
      <p:sp>
        <p:nvSpPr>
          <p:cNvPr id="132" name="テキスト ボックス 30">
            <a:extLst>
              <a:ext uri="{FF2B5EF4-FFF2-40B4-BE49-F238E27FC236}">
                <a16:creationId xmlns:a16="http://schemas.microsoft.com/office/drawing/2014/main" id="{CFED4C0C-94D5-F7FE-7ABA-C963717D818B}"/>
              </a:ext>
            </a:extLst>
          </p:cNvPr>
          <p:cNvSpPr txBox="1"/>
          <p:nvPr/>
        </p:nvSpPr>
        <p:spPr>
          <a:xfrm>
            <a:off x="1934144" y="1459500"/>
            <a:ext cx="3107580" cy="3385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600"/>
            </a:lvl1pPr>
          </a:lstStyle>
          <a:p>
            <a:r>
              <a:rPr dirty="0"/>
              <a:t>- </a:t>
            </a:r>
            <a:r>
              <a:rPr dirty="0">
                <a:latin typeface="Jost Medium" pitchFamily="2" charset="0"/>
                <a:ea typeface="Jost Medium" pitchFamily="2" charset="0"/>
              </a:rPr>
              <a:t>FlexChroma</a:t>
            </a:r>
            <a:r>
              <a:rPr dirty="0"/>
              <a:t> </a:t>
            </a:r>
            <a:r>
              <a:rPr dirty="0" err="1"/>
              <a:t>Dokumentenarchiv</a:t>
            </a:r>
            <a:r>
              <a:rPr dirty="0"/>
              <a:t> -</a:t>
            </a:r>
          </a:p>
        </p:txBody>
      </p:sp>
      <p:sp>
        <p:nvSpPr>
          <p:cNvPr id="133" name="テキスト ボックス 33">
            <a:extLst>
              <a:ext uri="{FF2B5EF4-FFF2-40B4-BE49-F238E27FC236}">
                <a16:creationId xmlns:a16="http://schemas.microsoft.com/office/drawing/2014/main" id="{DD85EE58-2B6C-3D5C-CBB9-40D003BB3BC8}"/>
              </a:ext>
            </a:extLst>
          </p:cNvPr>
          <p:cNvSpPr txBox="1"/>
          <p:nvPr/>
        </p:nvSpPr>
        <p:spPr>
          <a:xfrm>
            <a:off x="2657017" y="1806153"/>
            <a:ext cx="1543966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400"/>
            </a:lvl1pPr>
          </a:lstStyle>
          <a:p>
            <a:r>
              <a:t>Ver.1.00  2026.9.1</a:t>
            </a:r>
          </a:p>
        </p:txBody>
      </p:sp>
      <p:pic>
        <p:nvPicPr>
          <p:cNvPr id="134" name="FlexChroma-icon3.png" descr="FlexChroma-icon3.png">
            <a:extLst>
              <a:ext uri="{FF2B5EF4-FFF2-40B4-BE49-F238E27FC236}">
                <a16:creationId xmlns:a16="http://schemas.microsoft.com/office/drawing/2014/main" id="{DAF96A4E-261E-83CF-EEA1-B63B3697F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623" y="950702"/>
            <a:ext cx="484295" cy="466866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4F3F5446-B5C9-6482-CD2E-BFEB90739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001" y="5093007"/>
            <a:ext cx="5813043" cy="1099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8769660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63A08-F6DA-C98D-7F81-40E0C00F9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正方形/長方形 1">
            <a:extLst>
              <a:ext uri="{FF2B5EF4-FFF2-40B4-BE49-F238E27FC236}">
                <a16:creationId xmlns:a16="http://schemas.microsoft.com/office/drawing/2014/main" id="{FE41F440-6320-04BB-8D8A-4A93DEF88F88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BEC6A02F-0DFC-E14F-FD82-8A1F0A796629}"/>
              </a:ext>
            </a:extLst>
          </p:cNvPr>
          <p:cNvSpPr/>
          <p:nvPr/>
        </p:nvSpPr>
        <p:spPr>
          <a:xfrm>
            <a:off x="7825" y="0"/>
            <a:ext cx="6858001" cy="9144000"/>
          </a:xfrm>
          <a:custGeom>
            <a:avLst/>
            <a:gdLst>
              <a:gd name="connsiteX0" fmla="*/ 3727576 w 6858001"/>
              <a:gd name="connsiteY0" fmla="*/ 8661917 h 9144000"/>
              <a:gd name="connsiteX1" fmla="*/ 3727576 w 6858001"/>
              <a:gd name="connsiteY1" fmla="*/ 8715918 h 9144000"/>
              <a:gd name="connsiteX2" fmla="*/ 6319577 w 6858001"/>
              <a:gd name="connsiteY2" fmla="*/ 8715918 h 9144000"/>
              <a:gd name="connsiteX3" fmla="*/ 6319577 w 6858001"/>
              <a:gd name="connsiteY3" fmla="*/ 8661917 h 9144000"/>
              <a:gd name="connsiteX4" fmla="*/ 547269 w 6858001"/>
              <a:gd name="connsiteY4" fmla="*/ 8661917 h 9144000"/>
              <a:gd name="connsiteX5" fmla="*/ 547269 w 6858001"/>
              <a:gd name="connsiteY5" fmla="*/ 8715918 h 9144000"/>
              <a:gd name="connsiteX6" fmla="*/ 3139271 w 6858001"/>
              <a:gd name="connsiteY6" fmla="*/ 8715918 h 9144000"/>
              <a:gd name="connsiteX7" fmla="*/ 3139271 w 6858001"/>
              <a:gd name="connsiteY7" fmla="*/ 8661917 h 9144000"/>
              <a:gd name="connsiteX8" fmla="*/ 661242 w 6858001"/>
              <a:gd name="connsiteY8" fmla="*/ 2534513 h 9144000"/>
              <a:gd name="connsiteX9" fmla="*/ 558906 w 6858001"/>
              <a:gd name="connsiteY9" fmla="*/ 2636849 h 9144000"/>
              <a:gd name="connsiteX10" fmla="*/ 661242 w 6858001"/>
              <a:gd name="connsiteY10" fmla="*/ 2739185 h 9144000"/>
              <a:gd name="connsiteX11" fmla="*/ 763578 w 6858001"/>
              <a:gd name="connsiteY11" fmla="*/ 2636849 h 9144000"/>
              <a:gd name="connsiteX12" fmla="*/ 661242 w 6858001"/>
              <a:gd name="connsiteY12" fmla="*/ 2534513 h 9144000"/>
              <a:gd name="connsiteX13" fmla="*/ 661242 w 6858001"/>
              <a:gd name="connsiteY13" fmla="*/ 655549 h 9144000"/>
              <a:gd name="connsiteX14" fmla="*/ 558906 w 6858001"/>
              <a:gd name="connsiteY14" fmla="*/ 757885 h 9144000"/>
              <a:gd name="connsiteX15" fmla="*/ 661242 w 6858001"/>
              <a:gd name="connsiteY15" fmla="*/ 860221 h 9144000"/>
              <a:gd name="connsiteX16" fmla="*/ 763578 w 6858001"/>
              <a:gd name="connsiteY16" fmla="*/ 757885 h 9144000"/>
              <a:gd name="connsiteX17" fmla="*/ 661242 w 6858001"/>
              <a:gd name="connsiteY17" fmla="*/ 655549 h 9144000"/>
              <a:gd name="connsiteX18" fmla="*/ 547268 w 6858001"/>
              <a:gd name="connsiteY18" fmla="*/ 452468 h 9144000"/>
              <a:gd name="connsiteX19" fmla="*/ 547268 w 6858001"/>
              <a:gd name="connsiteY19" fmla="*/ 506469 h 9144000"/>
              <a:gd name="connsiteX20" fmla="*/ 6303463 w 6858001"/>
              <a:gd name="connsiteY20" fmla="*/ 506469 h 9144000"/>
              <a:gd name="connsiteX21" fmla="*/ 6303463 w 6858001"/>
              <a:gd name="connsiteY21" fmla="*/ 452468 h 9144000"/>
              <a:gd name="connsiteX22" fmla="*/ 0 w 6858001"/>
              <a:gd name="connsiteY22" fmla="*/ 0 h 9144000"/>
              <a:gd name="connsiteX23" fmla="*/ 6858001 w 6858001"/>
              <a:gd name="connsiteY23" fmla="*/ 0 h 9144000"/>
              <a:gd name="connsiteX24" fmla="*/ 6858001 w 6858001"/>
              <a:gd name="connsiteY24" fmla="*/ 9144000 h 9144000"/>
              <a:gd name="connsiteX25" fmla="*/ 0 w 6858001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58001" h="9144000">
                <a:moveTo>
                  <a:pt x="3727576" y="8661917"/>
                </a:moveTo>
                <a:lnTo>
                  <a:pt x="3727576" y="8715918"/>
                </a:lnTo>
                <a:lnTo>
                  <a:pt x="6319577" y="8715918"/>
                </a:lnTo>
                <a:lnTo>
                  <a:pt x="6319577" y="8661917"/>
                </a:lnTo>
                <a:close/>
                <a:moveTo>
                  <a:pt x="547269" y="8661917"/>
                </a:moveTo>
                <a:lnTo>
                  <a:pt x="547269" y="8715918"/>
                </a:lnTo>
                <a:lnTo>
                  <a:pt x="3139271" y="8715918"/>
                </a:lnTo>
                <a:lnTo>
                  <a:pt x="3139271" y="8661917"/>
                </a:lnTo>
                <a:close/>
                <a:moveTo>
                  <a:pt x="661242" y="2534513"/>
                </a:moveTo>
                <a:cubicBezTo>
                  <a:pt x="604723" y="2534513"/>
                  <a:pt x="558906" y="2580330"/>
                  <a:pt x="558906" y="2636849"/>
                </a:cubicBezTo>
                <a:cubicBezTo>
                  <a:pt x="558906" y="2693368"/>
                  <a:pt x="604723" y="2739185"/>
                  <a:pt x="661242" y="2739185"/>
                </a:cubicBezTo>
                <a:cubicBezTo>
                  <a:pt x="717761" y="2739185"/>
                  <a:pt x="763578" y="2693368"/>
                  <a:pt x="763578" y="2636849"/>
                </a:cubicBezTo>
                <a:cubicBezTo>
                  <a:pt x="763578" y="2580330"/>
                  <a:pt x="717761" y="2534513"/>
                  <a:pt x="661242" y="2534513"/>
                </a:cubicBezTo>
                <a:close/>
                <a:moveTo>
                  <a:pt x="661242" y="655549"/>
                </a:moveTo>
                <a:cubicBezTo>
                  <a:pt x="604723" y="655549"/>
                  <a:pt x="558906" y="701366"/>
                  <a:pt x="558906" y="757885"/>
                </a:cubicBezTo>
                <a:cubicBezTo>
                  <a:pt x="558906" y="814404"/>
                  <a:pt x="604723" y="860221"/>
                  <a:pt x="661242" y="860221"/>
                </a:cubicBezTo>
                <a:cubicBezTo>
                  <a:pt x="717761" y="860221"/>
                  <a:pt x="763578" y="814404"/>
                  <a:pt x="763578" y="757885"/>
                </a:cubicBezTo>
                <a:cubicBezTo>
                  <a:pt x="763578" y="701366"/>
                  <a:pt x="717761" y="655549"/>
                  <a:pt x="661242" y="655549"/>
                </a:cubicBezTo>
                <a:close/>
                <a:moveTo>
                  <a:pt x="547268" y="452468"/>
                </a:moveTo>
                <a:lnTo>
                  <a:pt x="547268" y="506469"/>
                </a:lnTo>
                <a:lnTo>
                  <a:pt x="6303463" y="506469"/>
                </a:lnTo>
                <a:lnTo>
                  <a:pt x="6303463" y="452468"/>
                </a:lnTo>
                <a:close/>
                <a:moveTo>
                  <a:pt x="0" y="0"/>
                </a:moveTo>
                <a:lnTo>
                  <a:pt x="6858001" y="0"/>
                </a:lnTo>
                <a:lnTo>
                  <a:pt x="6858001" y="9144000"/>
                </a:lnTo>
                <a:lnTo>
                  <a:pt x="0" y="914400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wrap="square" lIns="45719" rIns="45719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7" name="テキスト ボックス 16">
            <a:extLst>
              <a:ext uri="{FF2B5EF4-FFF2-40B4-BE49-F238E27FC236}">
                <a16:creationId xmlns:a16="http://schemas.microsoft.com/office/drawing/2014/main" id="{9C00153E-3BF6-ACC4-5308-E6AF5A49BF2F}"/>
              </a:ext>
            </a:extLst>
          </p:cNvPr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r>
              <a:t>2</a:t>
            </a:r>
          </a:p>
        </p:txBody>
      </p:sp>
      <p:sp>
        <p:nvSpPr>
          <p:cNvPr id="150" name="テキスト ボックス 2">
            <a:extLst>
              <a:ext uri="{FF2B5EF4-FFF2-40B4-BE49-F238E27FC236}">
                <a16:creationId xmlns:a16="http://schemas.microsoft.com/office/drawing/2014/main" id="{A354347C-BCC8-1E90-02B4-070AE102021D}"/>
              </a:ext>
            </a:extLst>
          </p:cNvPr>
          <p:cNvSpPr txBox="1"/>
          <p:nvPr/>
        </p:nvSpPr>
        <p:spPr>
          <a:xfrm>
            <a:off x="816563" y="546516"/>
            <a:ext cx="2373057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 b="1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r>
              <a:rPr dirty="0"/>
              <a:t>3. FlexChroma HUB</a:t>
            </a:r>
          </a:p>
        </p:txBody>
      </p:sp>
      <p:sp>
        <p:nvSpPr>
          <p:cNvPr id="151" name="テキスト ボックス 10">
            <a:extLst>
              <a:ext uri="{FF2B5EF4-FFF2-40B4-BE49-F238E27FC236}">
                <a16:creationId xmlns:a16="http://schemas.microsoft.com/office/drawing/2014/main" id="{97AAD561-B768-F02F-DFBC-0C864E489FA7}"/>
              </a:ext>
            </a:extLst>
          </p:cNvPr>
          <p:cNvSpPr txBox="1"/>
          <p:nvPr/>
        </p:nvSpPr>
        <p:spPr>
          <a:xfrm>
            <a:off x="714228" y="886688"/>
            <a:ext cx="5558051" cy="55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/>
            </a:pPr>
            <a:r>
              <a:rPr dirty="0"/>
              <a:t>Der </a:t>
            </a:r>
            <a:r>
              <a:rPr dirty="0">
                <a:latin typeface="Jost Medium" pitchFamily="2" charset="0"/>
                <a:ea typeface="Jost Medium" pitchFamily="2" charset="0"/>
              </a:rPr>
              <a:t>FlexChroma</a:t>
            </a:r>
            <a:r>
              <a:rPr dirty="0"/>
              <a:t>-Hub </a:t>
            </a:r>
            <a:r>
              <a:rPr dirty="0" err="1"/>
              <a:t>ist</a:t>
            </a:r>
            <a:r>
              <a:rPr dirty="0"/>
              <a:t> der </a:t>
            </a:r>
            <a:r>
              <a:rPr dirty="0" err="1"/>
              <a:t>zentrale</a:t>
            </a:r>
            <a:r>
              <a:rPr dirty="0"/>
              <a:t> </a:t>
            </a:r>
            <a:r>
              <a:rPr dirty="0" err="1"/>
              <a:t>Einstiegspunkt</a:t>
            </a:r>
            <a:r>
              <a:rPr dirty="0"/>
              <a:t> auf MakerWorld und </a:t>
            </a:r>
            <a:r>
              <a:rPr dirty="0" err="1"/>
              <a:t>bietet</a:t>
            </a:r>
            <a:r>
              <a:rPr dirty="0"/>
              <a:t> </a:t>
            </a:r>
            <a:r>
              <a:rPr dirty="0" err="1"/>
              <a:t>Zugang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allen</a:t>
            </a:r>
            <a:r>
              <a:rPr dirty="0"/>
              <a:t> </a:t>
            </a:r>
            <a:r>
              <a:rPr dirty="0" err="1"/>
              <a:t>Serien</a:t>
            </a:r>
            <a:r>
              <a:rPr dirty="0"/>
              <a:t> und </a:t>
            </a:r>
            <a:r>
              <a:rPr dirty="0" err="1"/>
              <a:t>externen</a:t>
            </a:r>
            <a:r>
              <a:rPr dirty="0"/>
              <a:t> </a:t>
            </a:r>
            <a:r>
              <a:rPr dirty="0" err="1"/>
              <a:t>Portalen</a:t>
            </a:r>
            <a:r>
              <a:rPr dirty="0"/>
              <a:t>. 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Wenn Sie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sich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unsicher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sind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, wo Sie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beginnen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sollen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,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öffnen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 Sie am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besten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 </a:t>
            </a:r>
            <a:r>
              <a:rPr b="1" dirty="0" err="1">
                <a:latin typeface="JostRoman-Bold"/>
                <a:ea typeface="JostRoman-Bold"/>
                <a:cs typeface="JostRoman-Bold"/>
                <a:sym typeface="JostRoman-Bold"/>
              </a:rPr>
              <a:t>zuerst</a:t>
            </a:r>
            <a:r>
              <a:rPr b="1" dirty="0">
                <a:latin typeface="JostRoman-Bold"/>
                <a:ea typeface="JostRoman-Bold"/>
                <a:cs typeface="JostRoman-Bold"/>
                <a:sym typeface="JostRoman-Bold"/>
              </a:rPr>
              <a:t> dieses Modell.</a:t>
            </a:r>
          </a:p>
        </p:txBody>
      </p:sp>
      <p:sp>
        <p:nvSpPr>
          <p:cNvPr id="152" name="テキスト ボックス 11">
            <a:extLst>
              <a:ext uri="{FF2B5EF4-FFF2-40B4-BE49-F238E27FC236}">
                <a16:creationId xmlns:a16="http://schemas.microsoft.com/office/drawing/2014/main" id="{BB2A2762-36EA-D126-7AEA-66FD3A54D01F}"/>
              </a:ext>
            </a:extLst>
          </p:cNvPr>
          <p:cNvSpPr txBox="1"/>
          <p:nvPr/>
        </p:nvSpPr>
        <p:spPr>
          <a:xfrm>
            <a:off x="816564" y="2439572"/>
            <a:ext cx="2006461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 b="1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r>
              <a:t>4. Mischfilament</a:t>
            </a:r>
          </a:p>
        </p:txBody>
      </p:sp>
      <p:sp>
        <p:nvSpPr>
          <p:cNvPr id="153" name="テキスト ボックス 22">
            <a:extLst>
              <a:ext uri="{FF2B5EF4-FFF2-40B4-BE49-F238E27FC236}">
                <a16:creationId xmlns:a16="http://schemas.microsoft.com/office/drawing/2014/main" id="{3B69E9F9-BDD8-5DFB-ECBD-91CDAB1FC0C8}"/>
              </a:ext>
            </a:extLst>
          </p:cNvPr>
          <p:cNvSpPr txBox="1"/>
          <p:nvPr/>
        </p:nvSpPr>
        <p:spPr>
          <a:xfrm>
            <a:off x="714228" y="2819223"/>
            <a:ext cx="5550784" cy="1704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/>
            </a:pPr>
            <a:r>
              <a:t>Die Mischfilament Serie bildet das grundlegendste Sortiment von FlexChroma. Sie ermöglicht es Ihnen, zwei Filamente in verschiedenen Verhältnissen zu mischen, um Ihre eigene individuelle Farbe zu kreieren. </a:t>
            </a:r>
          </a:p>
          <a:p>
            <a:pPr>
              <a:defRPr sz="1000" b="1">
                <a:latin typeface="JostRoman-Bold"/>
                <a:ea typeface="JostRoman-Bold"/>
                <a:cs typeface="JostRoman-Bold"/>
                <a:sym typeface="JostRoman-Bold"/>
              </a:defRPr>
            </a:pPr>
            <a:r>
              <a:t>Jedes Modell deckt dabei Mischungsverhältnisse von 50 % bis 99,5 % ab. Für Werte unter 50 % tauschen Sie einfach Filament A und Filament B aus.</a:t>
            </a:r>
          </a:p>
          <a:p>
            <a:pPr>
              <a:defRPr sz="500" b="1">
                <a:latin typeface="JostRoman-Bold"/>
                <a:ea typeface="JostRoman-Bold"/>
                <a:cs typeface="JostRoman-Bold"/>
                <a:sym typeface="JostRoman-Bold"/>
              </a:defRPr>
            </a:pPr>
            <a:endParaRPr/>
          </a:p>
          <a:p>
            <a:pPr>
              <a:defRPr sz="1000"/>
            </a:pPr>
            <a:r>
              <a:t>Beispiel: Um ein Filament mit 25 % Cyan gemischt in Gelb zu erstellen, lesen Sie den Wert der Druckplatte als Verhältnis von Filament A ab, interpretieren diesen als 75 % Gelb und slicen das Modell entsprechend.</a:t>
            </a:r>
          </a:p>
        </p:txBody>
      </p:sp>
      <p:sp>
        <p:nvSpPr>
          <p:cNvPr id="154" name="テキスト ボックス 23">
            <a:extLst>
              <a:ext uri="{FF2B5EF4-FFF2-40B4-BE49-F238E27FC236}">
                <a16:creationId xmlns:a16="http://schemas.microsoft.com/office/drawing/2014/main" id="{172C0EF1-2B71-0731-E3AF-2BB40F7C9795}"/>
              </a:ext>
            </a:extLst>
          </p:cNvPr>
          <p:cNvSpPr txBox="1"/>
          <p:nvPr/>
        </p:nvSpPr>
        <p:spPr>
          <a:xfrm>
            <a:off x="717862" y="5373022"/>
            <a:ext cx="5550783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r>
              <a:t>Nachfolgend finden Sie die Modellkonfiguration für das Mischfilament.</a:t>
            </a:r>
          </a:p>
        </p:txBody>
      </p:sp>
      <p:pic>
        <p:nvPicPr>
          <p:cNvPr id="155" name="図 21" descr="図 21">
            <a:extLst>
              <a:ext uri="{FF2B5EF4-FFF2-40B4-BE49-F238E27FC236}">
                <a16:creationId xmlns:a16="http://schemas.microsoft.com/office/drawing/2014/main" id="{648A668E-8B8F-EAEE-9D4E-D6FDF7EB2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630" y="5640758"/>
            <a:ext cx="4408740" cy="290178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ペーストされたムービー.png" descr="ペーストされたムービー.png">
            <a:extLst>
              <a:ext uri="{FF2B5EF4-FFF2-40B4-BE49-F238E27FC236}">
                <a16:creationId xmlns:a16="http://schemas.microsoft.com/office/drawing/2014/main" id="{0B6AF062-4E92-582C-A0E2-26B515248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664" y="1492058"/>
            <a:ext cx="4098506" cy="913899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A8D5765-0413-AB84-AC5C-DC51DC685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000" y="4252052"/>
            <a:ext cx="5812703" cy="109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2504864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BB94A-357A-8CC1-6092-5E4642B72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正方形/長方形 29">
            <a:extLst>
              <a:ext uri="{FF2B5EF4-FFF2-40B4-BE49-F238E27FC236}">
                <a16:creationId xmlns:a16="http://schemas.microsoft.com/office/drawing/2014/main" id="{9C2D9634-BAD8-E396-FADC-1CD25BD4BC1F}"/>
              </a:ext>
            </a:extLst>
          </p:cNvPr>
          <p:cNvSpPr/>
          <p:nvPr/>
        </p:nvSpPr>
        <p:spPr>
          <a:xfrm>
            <a:off x="51086" y="45267"/>
            <a:ext cx="6790098" cy="9053467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フリーフォーム: 図形 5">
            <a:extLst>
              <a:ext uri="{FF2B5EF4-FFF2-40B4-BE49-F238E27FC236}">
                <a16:creationId xmlns:a16="http://schemas.microsoft.com/office/drawing/2014/main" id="{2D9A8B50-FD90-91BE-4FC0-A204DAAEEE2F}"/>
              </a:ext>
            </a:extLst>
          </p:cNvPr>
          <p:cNvSpPr/>
          <p:nvPr/>
        </p:nvSpPr>
        <p:spPr>
          <a:xfrm>
            <a:off x="17134" y="0"/>
            <a:ext cx="6858001" cy="9144000"/>
          </a:xfrm>
          <a:custGeom>
            <a:avLst/>
            <a:gdLst>
              <a:gd name="connsiteX0" fmla="*/ 3717710 w 6858001"/>
              <a:gd name="connsiteY0" fmla="*/ 8661917 h 9144000"/>
              <a:gd name="connsiteX1" fmla="*/ 3717710 w 6858001"/>
              <a:gd name="connsiteY1" fmla="*/ 8715918 h 9144000"/>
              <a:gd name="connsiteX2" fmla="*/ 6309711 w 6858001"/>
              <a:gd name="connsiteY2" fmla="*/ 8715918 h 9144000"/>
              <a:gd name="connsiteX3" fmla="*/ 6309711 w 6858001"/>
              <a:gd name="connsiteY3" fmla="*/ 8661917 h 9144000"/>
              <a:gd name="connsiteX4" fmla="*/ 537403 w 6858001"/>
              <a:gd name="connsiteY4" fmla="*/ 8661917 h 9144000"/>
              <a:gd name="connsiteX5" fmla="*/ 537403 w 6858001"/>
              <a:gd name="connsiteY5" fmla="*/ 8715918 h 9144000"/>
              <a:gd name="connsiteX6" fmla="*/ 3129405 w 6858001"/>
              <a:gd name="connsiteY6" fmla="*/ 8715918 h 9144000"/>
              <a:gd name="connsiteX7" fmla="*/ 3129405 w 6858001"/>
              <a:gd name="connsiteY7" fmla="*/ 8661917 h 9144000"/>
              <a:gd name="connsiteX8" fmla="*/ 651376 w 6858001"/>
              <a:gd name="connsiteY8" fmla="*/ 677901 h 9144000"/>
              <a:gd name="connsiteX9" fmla="*/ 549040 w 6858001"/>
              <a:gd name="connsiteY9" fmla="*/ 780237 h 9144000"/>
              <a:gd name="connsiteX10" fmla="*/ 651376 w 6858001"/>
              <a:gd name="connsiteY10" fmla="*/ 882573 h 9144000"/>
              <a:gd name="connsiteX11" fmla="*/ 753712 w 6858001"/>
              <a:gd name="connsiteY11" fmla="*/ 780237 h 9144000"/>
              <a:gd name="connsiteX12" fmla="*/ 651376 w 6858001"/>
              <a:gd name="connsiteY12" fmla="*/ 677901 h 9144000"/>
              <a:gd name="connsiteX13" fmla="*/ 537402 w 6858001"/>
              <a:gd name="connsiteY13" fmla="*/ 452468 h 9144000"/>
              <a:gd name="connsiteX14" fmla="*/ 537402 w 6858001"/>
              <a:gd name="connsiteY14" fmla="*/ 506469 h 9144000"/>
              <a:gd name="connsiteX15" fmla="*/ 6293597 w 6858001"/>
              <a:gd name="connsiteY15" fmla="*/ 506469 h 9144000"/>
              <a:gd name="connsiteX16" fmla="*/ 6293597 w 6858001"/>
              <a:gd name="connsiteY16" fmla="*/ 452468 h 9144000"/>
              <a:gd name="connsiteX17" fmla="*/ 0 w 6858001"/>
              <a:gd name="connsiteY17" fmla="*/ 0 h 9144000"/>
              <a:gd name="connsiteX18" fmla="*/ 6858001 w 6858001"/>
              <a:gd name="connsiteY18" fmla="*/ 0 h 9144000"/>
              <a:gd name="connsiteX19" fmla="*/ 6858001 w 6858001"/>
              <a:gd name="connsiteY19" fmla="*/ 9144000 h 9144000"/>
              <a:gd name="connsiteX20" fmla="*/ 0 w 6858001"/>
              <a:gd name="connsiteY20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858001" h="9144000">
                <a:moveTo>
                  <a:pt x="3717710" y="8661917"/>
                </a:moveTo>
                <a:lnTo>
                  <a:pt x="3717710" y="8715918"/>
                </a:lnTo>
                <a:lnTo>
                  <a:pt x="6309711" y="8715918"/>
                </a:lnTo>
                <a:lnTo>
                  <a:pt x="6309711" y="8661917"/>
                </a:lnTo>
                <a:close/>
                <a:moveTo>
                  <a:pt x="537403" y="8661917"/>
                </a:moveTo>
                <a:lnTo>
                  <a:pt x="537403" y="8715918"/>
                </a:lnTo>
                <a:lnTo>
                  <a:pt x="3129405" y="8715918"/>
                </a:lnTo>
                <a:lnTo>
                  <a:pt x="3129405" y="8661917"/>
                </a:lnTo>
                <a:close/>
                <a:moveTo>
                  <a:pt x="651376" y="677901"/>
                </a:moveTo>
                <a:cubicBezTo>
                  <a:pt x="594857" y="677901"/>
                  <a:pt x="549040" y="723718"/>
                  <a:pt x="549040" y="780237"/>
                </a:cubicBezTo>
                <a:cubicBezTo>
                  <a:pt x="549040" y="836756"/>
                  <a:pt x="594857" y="882573"/>
                  <a:pt x="651376" y="882573"/>
                </a:cubicBezTo>
                <a:cubicBezTo>
                  <a:pt x="707895" y="882573"/>
                  <a:pt x="753712" y="836756"/>
                  <a:pt x="753712" y="780237"/>
                </a:cubicBezTo>
                <a:cubicBezTo>
                  <a:pt x="753712" y="723718"/>
                  <a:pt x="707895" y="677901"/>
                  <a:pt x="651376" y="677901"/>
                </a:cubicBezTo>
                <a:close/>
                <a:moveTo>
                  <a:pt x="537402" y="452468"/>
                </a:moveTo>
                <a:lnTo>
                  <a:pt x="537402" y="506469"/>
                </a:lnTo>
                <a:lnTo>
                  <a:pt x="6293597" y="506469"/>
                </a:lnTo>
                <a:lnTo>
                  <a:pt x="6293597" y="452468"/>
                </a:lnTo>
                <a:close/>
                <a:moveTo>
                  <a:pt x="0" y="0"/>
                </a:moveTo>
                <a:lnTo>
                  <a:pt x="6858001" y="0"/>
                </a:lnTo>
                <a:lnTo>
                  <a:pt x="6858001" y="9144000"/>
                </a:lnTo>
                <a:lnTo>
                  <a:pt x="0" y="9144000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wrap="square" lIns="45719" rIns="45719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" name="テキスト ボックス 16">
            <a:extLst>
              <a:ext uri="{FF2B5EF4-FFF2-40B4-BE49-F238E27FC236}">
                <a16:creationId xmlns:a16="http://schemas.microsoft.com/office/drawing/2014/main" id="{2401B375-2507-885F-D35B-A7B7404C2D62}"/>
              </a:ext>
            </a:extLst>
          </p:cNvPr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r>
              <a:t>3</a:t>
            </a:r>
          </a:p>
        </p:txBody>
      </p:sp>
      <p:sp>
        <p:nvSpPr>
          <p:cNvPr id="171" name="テキスト ボックス 30">
            <a:extLst>
              <a:ext uri="{FF2B5EF4-FFF2-40B4-BE49-F238E27FC236}">
                <a16:creationId xmlns:a16="http://schemas.microsoft.com/office/drawing/2014/main" id="{88F34578-DCC1-68E5-B4AC-69C030967868}"/>
              </a:ext>
            </a:extLst>
          </p:cNvPr>
          <p:cNvSpPr txBox="1"/>
          <p:nvPr/>
        </p:nvSpPr>
        <p:spPr>
          <a:xfrm>
            <a:off x="816563" y="570900"/>
            <a:ext cx="2813096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 b="1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r>
              <a:rPr dirty="0"/>
              <a:t>5. </a:t>
            </a:r>
            <a:r>
              <a:rPr dirty="0" err="1"/>
              <a:t>Farbverlaufsfilament</a:t>
            </a:r>
            <a:r>
              <a:rPr dirty="0"/>
              <a:t> </a:t>
            </a:r>
          </a:p>
        </p:txBody>
      </p:sp>
      <p:sp>
        <p:nvSpPr>
          <p:cNvPr id="172" name="テキスト ボックス 32">
            <a:extLst>
              <a:ext uri="{FF2B5EF4-FFF2-40B4-BE49-F238E27FC236}">
                <a16:creationId xmlns:a16="http://schemas.microsoft.com/office/drawing/2014/main" id="{EECE8F1E-0BB0-4D94-1D67-4BE275F3C55E}"/>
              </a:ext>
            </a:extLst>
          </p:cNvPr>
          <p:cNvSpPr txBox="1"/>
          <p:nvPr/>
        </p:nvSpPr>
        <p:spPr>
          <a:xfrm>
            <a:off x="721497" y="4547616"/>
            <a:ext cx="5550783" cy="281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000"/>
            </a:lvl1pPr>
          </a:lstStyle>
          <a:p>
            <a:r>
              <a:rPr dirty="0" err="1"/>
              <a:t>Nachfolgend</a:t>
            </a:r>
            <a:r>
              <a:rPr dirty="0"/>
              <a:t> </a:t>
            </a:r>
            <a:r>
              <a:rPr dirty="0" err="1"/>
              <a:t>finden</a:t>
            </a:r>
            <a:r>
              <a:rPr dirty="0"/>
              <a:t> Sie die </a:t>
            </a:r>
            <a:r>
              <a:rPr dirty="0" err="1"/>
              <a:t>Modellkonfiguration</a:t>
            </a:r>
            <a:r>
              <a:rPr dirty="0"/>
              <a:t> für das </a:t>
            </a:r>
            <a:r>
              <a:rPr dirty="0" err="1"/>
              <a:t>Farbverlaufsfilament</a:t>
            </a:r>
            <a:r>
              <a:rPr dirty="0"/>
              <a:t>.</a:t>
            </a:r>
          </a:p>
        </p:txBody>
      </p:sp>
      <p:sp>
        <p:nvSpPr>
          <p:cNvPr id="174" name="テキスト ボックス 18">
            <a:extLst>
              <a:ext uri="{FF2B5EF4-FFF2-40B4-BE49-F238E27FC236}">
                <a16:creationId xmlns:a16="http://schemas.microsoft.com/office/drawing/2014/main" id="{654BEC8C-B846-E75C-F208-611E4592D15F}"/>
              </a:ext>
            </a:extLst>
          </p:cNvPr>
          <p:cNvSpPr txBox="1"/>
          <p:nvPr/>
        </p:nvSpPr>
        <p:spPr>
          <a:xfrm>
            <a:off x="714228" y="950456"/>
            <a:ext cx="5558051" cy="266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000"/>
            </a:pPr>
            <a:r>
              <a:t>Die Farbverlaufsfilament Serie bietet mehrere farbwechselnde Profile und Druckplatten mit unterschiedlichen Zyklusanzahlen. Die Details variieren je nach Modell. Bitte beachten Sie daher die Beschreibung des jeweiligen Modells.</a:t>
            </a:r>
          </a:p>
          <a:p>
            <a:pPr>
              <a:defRPr sz="1000"/>
            </a:pPr>
            <a:endParaRPr/>
          </a:p>
          <a:p>
            <a:pPr marL="171450" indent="-171450">
              <a:buSzPct val="100000"/>
              <a:buFont typeface="Jost-Regular"/>
              <a:buChar char="•"/>
              <a:defRPr sz="1000"/>
            </a:pPr>
            <a:r>
              <a:t>Farbkurve: Einstellungen basierend auf Farbkombinationen. Diese Option ermöglicht es Ihnen, den optimalen Verlauf für jede Farbe auszuwählen – zum Beispiel „Lebendig“ für Cyan und Gelb oder „Kontrast“ für Weiß und Magenta.</a:t>
            </a:r>
          </a:p>
          <a:p>
            <a:pPr>
              <a:defRPr sz="600"/>
            </a:pPr>
            <a:endParaRPr/>
          </a:p>
          <a:p>
            <a:pPr marL="171450" indent="-171450">
              <a:buSzPct val="100000"/>
              <a:buFont typeface="Jost-Regular"/>
              <a:buChar char="•"/>
              <a:defRPr sz="1000"/>
            </a:pPr>
            <a:r>
              <a:t>Zyklusanzahl: Die Zahl, welche die Häufigkeit des Verlaufs bestimmt. Als ein Zyklus zählt ein vollständiger Durchlauf, in dem das Filament von A nach B nach A und wieder zurück wechselt.</a:t>
            </a:r>
          </a:p>
          <a:p>
            <a:pPr>
              <a:defRPr sz="1000"/>
            </a:pPr>
            <a:endParaRPr/>
          </a:p>
          <a:p>
            <a:pPr>
              <a:defRPr sz="1000"/>
            </a:pPr>
            <a:r>
              <a:t>Beispiel: Um ein schnell wechselndes Farbverlaufsfilament mit Cyan und Magenta zu erstellen, wählen Sie ein S4 Modell, entscheiden sich für eine 4 Zyklus Druckplatte und nutzen aufgrund des hohen Farbkontrasts das Profil mit der Kurve Lebendig.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38C1769-2964-372D-55F4-2CF36C321C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797" y="3305622"/>
            <a:ext cx="5818062" cy="1117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17992F70-9740-0BCE-1CB9-0A78444893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027" y="4873452"/>
            <a:ext cx="5251946" cy="3665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7303950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18F59-9DB2-8DBB-57D4-B1DFC727D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正方形/長方形 29">
            <a:extLst>
              <a:ext uri="{FF2B5EF4-FFF2-40B4-BE49-F238E27FC236}">
                <a16:creationId xmlns:a16="http://schemas.microsoft.com/office/drawing/2014/main" id="{E3C405C9-5B94-2B73-9968-361092C8FA9F}"/>
              </a:ext>
            </a:extLst>
          </p:cNvPr>
          <p:cNvSpPr/>
          <p:nvPr/>
        </p:nvSpPr>
        <p:spPr>
          <a:xfrm>
            <a:off x="51086" y="45267"/>
            <a:ext cx="6790098" cy="9053467"/>
          </a:xfrm>
          <a:prstGeom prst="rect">
            <a:avLst/>
          </a:prstGeom>
          <a:gradFill>
            <a:gsLst>
              <a:gs pos="10000">
                <a:srgbClr val="EE00B0"/>
              </a:gs>
              <a:gs pos="50000">
                <a:srgbClr val="6200E8"/>
              </a:gs>
              <a:gs pos="90000">
                <a:srgbClr val="0095E5"/>
              </a:gs>
            </a:gsLst>
            <a:lin ang="1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フリーフォーム: 図形 4">
            <a:extLst>
              <a:ext uri="{FF2B5EF4-FFF2-40B4-BE49-F238E27FC236}">
                <a16:creationId xmlns:a16="http://schemas.microsoft.com/office/drawing/2014/main" id="{2B7B299E-3851-A4B8-9022-0CB8448C98B8}"/>
              </a:ext>
            </a:extLst>
          </p:cNvPr>
          <p:cNvSpPr/>
          <p:nvPr/>
        </p:nvSpPr>
        <p:spPr>
          <a:xfrm>
            <a:off x="17051" y="5530"/>
            <a:ext cx="6858001" cy="9144001"/>
          </a:xfrm>
          <a:custGeom>
            <a:avLst/>
            <a:gdLst>
              <a:gd name="connsiteX0" fmla="*/ 3717793 w 6858001"/>
              <a:gd name="connsiteY0" fmla="*/ 8656387 h 9144001"/>
              <a:gd name="connsiteX1" fmla="*/ 3717793 w 6858001"/>
              <a:gd name="connsiteY1" fmla="*/ 8710388 h 9144001"/>
              <a:gd name="connsiteX2" fmla="*/ 6309794 w 6858001"/>
              <a:gd name="connsiteY2" fmla="*/ 8710388 h 9144001"/>
              <a:gd name="connsiteX3" fmla="*/ 6309794 w 6858001"/>
              <a:gd name="connsiteY3" fmla="*/ 8656387 h 9144001"/>
              <a:gd name="connsiteX4" fmla="*/ 537486 w 6858001"/>
              <a:gd name="connsiteY4" fmla="*/ 8656387 h 9144001"/>
              <a:gd name="connsiteX5" fmla="*/ 537486 w 6858001"/>
              <a:gd name="connsiteY5" fmla="*/ 8710388 h 9144001"/>
              <a:gd name="connsiteX6" fmla="*/ 3129488 w 6858001"/>
              <a:gd name="connsiteY6" fmla="*/ 8710388 h 9144001"/>
              <a:gd name="connsiteX7" fmla="*/ 3129488 w 6858001"/>
              <a:gd name="connsiteY7" fmla="*/ 8656387 h 9144001"/>
              <a:gd name="connsiteX8" fmla="*/ 631632 w 6858001"/>
              <a:gd name="connsiteY8" fmla="*/ 811545 h 9144001"/>
              <a:gd name="connsiteX9" fmla="*/ 529296 w 6858001"/>
              <a:gd name="connsiteY9" fmla="*/ 913881 h 9144001"/>
              <a:gd name="connsiteX10" fmla="*/ 631632 w 6858001"/>
              <a:gd name="connsiteY10" fmla="*/ 1016217 h 9144001"/>
              <a:gd name="connsiteX11" fmla="*/ 733968 w 6858001"/>
              <a:gd name="connsiteY11" fmla="*/ 913881 h 9144001"/>
              <a:gd name="connsiteX12" fmla="*/ 631632 w 6858001"/>
              <a:gd name="connsiteY12" fmla="*/ 811545 h 9144001"/>
              <a:gd name="connsiteX13" fmla="*/ 537485 w 6858001"/>
              <a:gd name="connsiteY13" fmla="*/ 446938 h 9144001"/>
              <a:gd name="connsiteX14" fmla="*/ 537485 w 6858001"/>
              <a:gd name="connsiteY14" fmla="*/ 500939 h 9144001"/>
              <a:gd name="connsiteX15" fmla="*/ 6293680 w 6858001"/>
              <a:gd name="connsiteY15" fmla="*/ 500939 h 9144001"/>
              <a:gd name="connsiteX16" fmla="*/ 6293680 w 6858001"/>
              <a:gd name="connsiteY16" fmla="*/ 446938 h 9144001"/>
              <a:gd name="connsiteX17" fmla="*/ 0 w 6858001"/>
              <a:gd name="connsiteY17" fmla="*/ 0 h 9144001"/>
              <a:gd name="connsiteX18" fmla="*/ 6858001 w 6858001"/>
              <a:gd name="connsiteY18" fmla="*/ 0 h 9144001"/>
              <a:gd name="connsiteX19" fmla="*/ 6858001 w 6858001"/>
              <a:gd name="connsiteY19" fmla="*/ 9144001 h 9144001"/>
              <a:gd name="connsiteX20" fmla="*/ 0 w 6858001"/>
              <a:gd name="connsiteY20" fmla="*/ 9144001 h 914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6858001" h="9144001">
                <a:moveTo>
                  <a:pt x="3717793" y="8656387"/>
                </a:moveTo>
                <a:lnTo>
                  <a:pt x="3717793" y="8710388"/>
                </a:lnTo>
                <a:lnTo>
                  <a:pt x="6309794" y="8710388"/>
                </a:lnTo>
                <a:lnTo>
                  <a:pt x="6309794" y="8656387"/>
                </a:lnTo>
                <a:close/>
                <a:moveTo>
                  <a:pt x="537486" y="8656387"/>
                </a:moveTo>
                <a:lnTo>
                  <a:pt x="537486" y="8710388"/>
                </a:lnTo>
                <a:lnTo>
                  <a:pt x="3129488" y="8710388"/>
                </a:lnTo>
                <a:lnTo>
                  <a:pt x="3129488" y="8656387"/>
                </a:lnTo>
                <a:close/>
                <a:moveTo>
                  <a:pt x="631632" y="811545"/>
                </a:moveTo>
                <a:cubicBezTo>
                  <a:pt x="575113" y="811545"/>
                  <a:pt x="529296" y="857362"/>
                  <a:pt x="529296" y="913881"/>
                </a:cubicBezTo>
                <a:cubicBezTo>
                  <a:pt x="529296" y="970400"/>
                  <a:pt x="575113" y="1016217"/>
                  <a:pt x="631632" y="1016217"/>
                </a:cubicBezTo>
                <a:cubicBezTo>
                  <a:pt x="688151" y="1016217"/>
                  <a:pt x="733968" y="970400"/>
                  <a:pt x="733968" y="913881"/>
                </a:cubicBezTo>
                <a:cubicBezTo>
                  <a:pt x="733968" y="857362"/>
                  <a:pt x="688151" y="811545"/>
                  <a:pt x="631632" y="811545"/>
                </a:cubicBezTo>
                <a:close/>
                <a:moveTo>
                  <a:pt x="537485" y="446938"/>
                </a:moveTo>
                <a:lnTo>
                  <a:pt x="537485" y="500939"/>
                </a:lnTo>
                <a:lnTo>
                  <a:pt x="6293680" y="500939"/>
                </a:lnTo>
                <a:lnTo>
                  <a:pt x="6293680" y="446938"/>
                </a:lnTo>
                <a:close/>
                <a:moveTo>
                  <a:pt x="0" y="0"/>
                </a:moveTo>
                <a:lnTo>
                  <a:pt x="6858001" y="0"/>
                </a:lnTo>
                <a:lnTo>
                  <a:pt x="6858001" y="9144001"/>
                </a:lnTo>
                <a:lnTo>
                  <a:pt x="0" y="9144001"/>
                </a:ln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wrap="square" lIns="45719" rIns="45719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" name="テキスト ボックス 16">
            <a:extLst>
              <a:ext uri="{FF2B5EF4-FFF2-40B4-BE49-F238E27FC236}">
                <a16:creationId xmlns:a16="http://schemas.microsoft.com/office/drawing/2014/main" id="{0C730130-D168-B011-DBF1-80B0EA2265F8}"/>
              </a:ext>
            </a:extLst>
          </p:cNvPr>
          <p:cNvSpPr txBox="1"/>
          <p:nvPr/>
        </p:nvSpPr>
        <p:spPr>
          <a:xfrm>
            <a:off x="3209546" y="8485377"/>
            <a:ext cx="484295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/>
          </a:lstStyle>
          <a:p>
            <a:r>
              <a:t>4</a:t>
            </a:r>
          </a:p>
        </p:txBody>
      </p:sp>
      <p:sp>
        <p:nvSpPr>
          <p:cNvPr id="189" name="テキスト ボックス 33">
            <a:extLst>
              <a:ext uri="{FF2B5EF4-FFF2-40B4-BE49-F238E27FC236}">
                <a16:creationId xmlns:a16="http://schemas.microsoft.com/office/drawing/2014/main" id="{DF2D9F74-0CB8-7397-100E-CAFF919500A2}"/>
              </a:ext>
            </a:extLst>
          </p:cNvPr>
          <p:cNvSpPr txBox="1"/>
          <p:nvPr/>
        </p:nvSpPr>
        <p:spPr>
          <a:xfrm>
            <a:off x="823834" y="762576"/>
            <a:ext cx="1804552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600" b="1">
                <a:latin typeface="JostRoman-SemiBold"/>
                <a:ea typeface="JostRoman-SemiBold"/>
                <a:cs typeface="JostRoman-SemiBold"/>
                <a:sym typeface="JostRoman-SemiBold"/>
              </a:defRPr>
            </a:lvl1pPr>
          </a:lstStyle>
          <a:p>
            <a:r>
              <a:rPr dirty="0"/>
              <a:t>6. Update </a:t>
            </a:r>
            <a:r>
              <a:rPr dirty="0" err="1"/>
              <a:t>Historie</a:t>
            </a:r>
            <a:endParaRPr dirty="0"/>
          </a:p>
        </p:txBody>
      </p:sp>
      <p:sp>
        <p:nvSpPr>
          <p:cNvPr id="190" name="テキスト ボックス 34">
            <a:extLst>
              <a:ext uri="{FF2B5EF4-FFF2-40B4-BE49-F238E27FC236}">
                <a16:creationId xmlns:a16="http://schemas.microsoft.com/office/drawing/2014/main" id="{0CC5E96C-B429-EA10-B007-210BB6EC074E}"/>
              </a:ext>
            </a:extLst>
          </p:cNvPr>
          <p:cNvSpPr txBox="1"/>
          <p:nvPr/>
        </p:nvSpPr>
        <p:spPr>
          <a:xfrm>
            <a:off x="684043" y="1115239"/>
            <a:ext cx="555805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00"/>
            </a:lvl1pPr>
          </a:lstStyle>
          <a:p>
            <a:r>
              <a:rPr dirty="0"/>
              <a:t>Ver.1.00  2026-09-01  Erste Version </a:t>
            </a:r>
            <a:r>
              <a:rPr dirty="0" err="1"/>
              <a:t>veröffentlicht</a:t>
            </a:r>
            <a:endParaRPr dirty="0"/>
          </a:p>
        </p:txBody>
      </p:sp>
      <p:sp>
        <p:nvSpPr>
          <p:cNvPr id="6" name="テキスト ボックス 34">
            <a:extLst>
              <a:ext uri="{FF2B5EF4-FFF2-40B4-BE49-F238E27FC236}">
                <a16:creationId xmlns:a16="http://schemas.microsoft.com/office/drawing/2014/main" id="{646A821F-C4D4-9F6F-D616-F25161195522}"/>
              </a:ext>
            </a:extLst>
          </p:cNvPr>
          <p:cNvSpPr txBox="1"/>
          <p:nvPr/>
        </p:nvSpPr>
        <p:spPr>
          <a:xfrm>
            <a:off x="684043" y="1985257"/>
            <a:ext cx="5558051" cy="4001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00"/>
            </a:lvl1pPr>
          </a:lstStyle>
          <a:p>
            <a:r>
              <a:rPr lang="en-US" sz="1000" dirty="0" err="1"/>
              <a:t>Nennung</a:t>
            </a:r>
            <a:r>
              <a:rPr lang="en-US" sz="1000" dirty="0"/>
              <a:t> : </a:t>
            </a:r>
          </a:p>
          <a:p>
            <a:r>
              <a:rPr lang="en-US" sz="1000" dirty="0"/>
              <a:t> Deutsche </a:t>
            </a:r>
            <a:r>
              <a:rPr lang="en-US" sz="1000" dirty="0" err="1"/>
              <a:t>Übersetzung</a:t>
            </a:r>
            <a:r>
              <a:rPr lang="en-US" sz="1000" dirty="0"/>
              <a:t> –Domenik</a:t>
            </a: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1738846206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テーマ">
  <a:themeElements>
    <a:clrScheme name="Office テーマ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テーマ">
      <a:majorFont>
        <a:latin typeface="Jost-Regular"/>
        <a:ea typeface="Jost-Regular"/>
        <a:cs typeface="Jost-Regular"/>
      </a:majorFont>
      <a:minorFont>
        <a:latin typeface="Jost-Regular"/>
        <a:ea typeface="Jost-Regular"/>
        <a:cs typeface="Jost-Regular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Jost-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Jost-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 テーマ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テーマ">
      <a:majorFont>
        <a:latin typeface="Jost-Regular"/>
        <a:ea typeface="Jost-Regular"/>
        <a:cs typeface="Jost-Regular"/>
      </a:majorFont>
      <a:minorFont>
        <a:latin typeface="Jost-Regular"/>
        <a:ea typeface="Jost-Regular"/>
        <a:cs typeface="Jost-Regular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Jost-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Jost-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1067</Words>
  <Application>Microsoft Office PowerPoint</Application>
  <PresentationFormat>画面に合わせる (4:3)</PresentationFormat>
  <Paragraphs>79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Jost-Regular</vt:lpstr>
      <vt:lpstr>JostRoman-Bold</vt:lpstr>
      <vt:lpstr>Jost Medium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MAKOTO YAZAKI (矢﨑 誠)</cp:lastModifiedBy>
  <cp:revision>3</cp:revision>
  <cp:lastPrinted>2026-09-02T07:35:42Z</cp:lastPrinted>
  <dcterms:modified xsi:type="dcterms:W3CDTF">2026-09-02T07:42:10Z</dcterms:modified>
</cp:coreProperties>
</file>