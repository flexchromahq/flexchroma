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6858000" cy="9144000" type="screen4x3"/>
  <p:notesSz cx="7104063" cy="102346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Jost-Regular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Jost-Regular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Jost-Regular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Jost-Regular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Jost-Regular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Jost-Regular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Jost-Regular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Jost-Regular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Jost-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JostRoman-Bold"/>
          <a:ea typeface="JostRoman-Bold"/>
          <a:cs typeface="JostRoman-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JostRoman-Bold"/>
          <a:ea typeface="JostRoman-Bold"/>
          <a:cs typeface="JostRoman-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JostRoman-Bold"/>
          <a:ea typeface="JostRoman-Bold"/>
          <a:cs typeface="JostRoman-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JostRoman-Bold"/>
          <a:ea typeface="JostRoman-Bold"/>
          <a:cs typeface="JostRoman-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JostRoman-Bold"/>
          <a:ea typeface="JostRoman-Bold"/>
          <a:cs typeface="JostRoman-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JostRoman-Bold"/>
          <a:ea typeface="JostRoman-Bold"/>
          <a:cs typeface="JostRoman-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JostRoman-Bold"/>
          <a:ea typeface="JostRoman-Bold"/>
          <a:cs typeface="JostRoman-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JostRoman-Bold"/>
          <a:ea typeface="JostRoman-Bold"/>
          <a:cs typeface="JostRoman-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JostRoman-Bold"/>
          <a:ea typeface="JostRoman-Bold"/>
          <a:cs typeface="JostRoman-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JostRoman-Bold"/>
          <a:ea typeface="JostRoman-Bold"/>
          <a:cs typeface="JostRoman-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JostRoman-Bold"/>
          <a:ea typeface="JostRoman-Bold"/>
          <a:cs typeface="JostRoman-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JostRoman-Bold"/>
          <a:ea typeface="JostRoman-Bold"/>
          <a:cs typeface="JostRoman-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JostRoman-Bold"/>
          <a:ea typeface="JostRoman-Bold"/>
          <a:cs typeface="JostRoman-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JostRoman-Bold"/>
          <a:ea typeface="JostRoman-Bold"/>
          <a:cs typeface="JostRoman-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JostRoman-Bold"/>
          <a:ea typeface="JostRoman-Bold"/>
          <a:cs typeface="JostRoman-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JostRoman-Bold"/>
          <a:ea typeface="JostRoman-Bold"/>
          <a:cs typeface="JostRoman-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JostRoman-Bold"/>
          <a:ea typeface="JostRoman-Bold"/>
          <a:cs typeface="JostRoman-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JostRoman-Bold"/>
          <a:ea typeface="JostRoman-Bold"/>
          <a:cs typeface="JostRoman-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272" y="-23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2112963" y="768350"/>
            <a:ext cx="2878137" cy="3836988"/>
          </a:xfrm>
          <a:prstGeom prst="rect">
            <a:avLst/>
          </a:prstGeom>
        </p:spPr>
        <p:txBody>
          <a:bodyPr lIns="99075" tIns="49538" rIns="99075" bIns="49538"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</p:spPr>
        <p:txBody>
          <a:bodyPr lIns="99075" tIns="49538" rIns="99075" bIns="49538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Jost-Regular"/>
      </a:defRPr>
    </a:lvl1pPr>
    <a:lvl2pPr indent="228600" defTabSz="457200" latinLnBrk="0">
      <a:defRPr sz="1200">
        <a:latin typeface="+mn-lt"/>
        <a:ea typeface="+mn-ea"/>
        <a:cs typeface="+mn-cs"/>
        <a:sym typeface="Jost-Regular"/>
      </a:defRPr>
    </a:lvl2pPr>
    <a:lvl3pPr indent="457200" defTabSz="457200" latinLnBrk="0">
      <a:defRPr sz="1200">
        <a:latin typeface="+mn-lt"/>
        <a:ea typeface="+mn-ea"/>
        <a:cs typeface="+mn-cs"/>
        <a:sym typeface="Jost-Regular"/>
      </a:defRPr>
    </a:lvl3pPr>
    <a:lvl4pPr indent="685800" defTabSz="457200" latinLnBrk="0">
      <a:defRPr sz="1200">
        <a:latin typeface="+mn-lt"/>
        <a:ea typeface="+mn-ea"/>
        <a:cs typeface="+mn-cs"/>
        <a:sym typeface="Jost-Regular"/>
      </a:defRPr>
    </a:lvl4pPr>
    <a:lvl5pPr indent="914400" defTabSz="457200" latinLnBrk="0">
      <a:defRPr sz="1200">
        <a:latin typeface="+mn-lt"/>
        <a:ea typeface="+mn-ea"/>
        <a:cs typeface="+mn-cs"/>
        <a:sym typeface="Jost-Regular"/>
      </a:defRPr>
    </a:lvl5pPr>
    <a:lvl6pPr indent="1143000" defTabSz="457200" latinLnBrk="0">
      <a:defRPr sz="1200">
        <a:latin typeface="+mn-lt"/>
        <a:ea typeface="+mn-ea"/>
        <a:cs typeface="+mn-cs"/>
        <a:sym typeface="Jost-Regular"/>
      </a:defRPr>
    </a:lvl6pPr>
    <a:lvl7pPr indent="1371600" defTabSz="457200" latinLnBrk="0">
      <a:defRPr sz="1200">
        <a:latin typeface="+mn-lt"/>
        <a:ea typeface="+mn-ea"/>
        <a:cs typeface="+mn-cs"/>
        <a:sym typeface="Jost-Regular"/>
      </a:defRPr>
    </a:lvl7pPr>
    <a:lvl8pPr indent="1600200" defTabSz="457200" latinLnBrk="0">
      <a:defRPr sz="1200">
        <a:latin typeface="+mn-lt"/>
        <a:ea typeface="+mn-ea"/>
        <a:cs typeface="+mn-cs"/>
        <a:sym typeface="Jost-Regular"/>
      </a:defRPr>
    </a:lvl8pPr>
    <a:lvl9pPr indent="1828800" defTabSz="457200" latinLnBrk="0">
      <a:defRPr sz="1200">
        <a:latin typeface="+mn-lt"/>
        <a:ea typeface="+mn-ea"/>
        <a:cs typeface="+mn-cs"/>
        <a:sym typeface="Jost-Regular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テキスト"/>
          <p:cNvSpPr txBox="1">
            <a:spLocks noGrp="1"/>
          </p:cNvSpPr>
          <p:nvPr>
            <p:ph type="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t>タイトルテキスト</a:t>
            </a:r>
          </a:p>
        </p:txBody>
      </p:sp>
      <p:sp>
        <p:nvSpPr>
          <p:cNvPr id="12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857250" y="4802716"/>
            <a:ext cx="5143500" cy="220768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800"/>
            </a:lvl1pPr>
            <a:lvl2pPr marL="0" indent="342900" algn="ctr">
              <a:buSzTx/>
              <a:buFontTx/>
              <a:buNone/>
              <a:defRPr sz="1800"/>
            </a:lvl2pPr>
            <a:lvl3pPr marL="0" indent="685800" algn="ctr">
              <a:buSzTx/>
              <a:buFontTx/>
              <a:buNone/>
              <a:defRPr sz="1800"/>
            </a:lvl3pPr>
            <a:lvl4pPr marL="0" indent="1028700" algn="ctr">
              <a:buSzTx/>
              <a:buFontTx/>
              <a:buNone/>
              <a:defRPr sz="1800"/>
            </a:lvl4pPr>
            <a:lvl5pPr marL="0" indent="1371600" algn="ctr">
              <a:buSzTx/>
              <a:buFontTx/>
              <a:buNone/>
              <a:defRPr sz="1800"/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3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タイトルテキスト</a:t>
            </a:r>
          </a:p>
        </p:txBody>
      </p:sp>
      <p:sp>
        <p:nvSpPr>
          <p:cNvPr id="21" name="本文レベル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22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タイトルテキスト"/>
          <p:cNvSpPr txBox="1">
            <a:spLocks noGrp="1"/>
          </p:cNvSpPr>
          <p:nvPr>
            <p:ph type="title"/>
          </p:nvPr>
        </p:nvSpPr>
        <p:spPr>
          <a:xfrm>
            <a:off x="467916" y="2279652"/>
            <a:ext cx="5915026" cy="3803650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t>タイトルテキスト</a:t>
            </a:r>
          </a:p>
        </p:txBody>
      </p:sp>
      <p:sp>
        <p:nvSpPr>
          <p:cNvPr id="30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467916" y="6119286"/>
            <a:ext cx="5915026" cy="200025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757575"/>
                </a:solidFill>
              </a:defRPr>
            </a:lvl1pPr>
            <a:lvl2pPr marL="0" indent="342900">
              <a:buSzTx/>
              <a:buFontTx/>
              <a:buNone/>
              <a:defRPr sz="1800">
                <a:solidFill>
                  <a:srgbClr val="757575"/>
                </a:solidFill>
              </a:defRPr>
            </a:lvl2pPr>
            <a:lvl3pPr marL="0" indent="685800">
              <a:buSzTx/>
              <a:buFontTx/>
              <a:buNone/>
              <a:defRPr sz="1800">
                <a:solidFill>
                  <a:srgbClr val="757575"/>
                </a:solidFill>
              </a:defRPr>
            </a:lvl3pPr>
            <a:lvl4pPr marL="0" indent="1028700">
              <a:buSzTx/>
              <a:buFontTx/>
              <a:buNone/>
              <a:defRPr sz="1800">
                <a:solidFill>
                  <a:srgbClr val="757575"/>
                </a:solidFill>
              </a:defRPr>
            </a:lvl4pPr>
            <a:lvl5pPr marL="0" indent="1371600">
              <a:buSzTx/>
              <a:buFontTx/>
              <a:buNone/>
              <a:defRPr sz="1800">
                <a:solidFill>
                  <a:srgbClr val="757575"/>
                </a:solidFill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1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タイトルテキスト</a:t>
            </a:r>
          </a:p>
        </p:txBody>
      </p:sp>
      <p:sp>
        <p:nvSpPr>
          <p:cNvPr id="39" name="本文レベル1…"/>
          <p:cNvSpPr txBox="1">
            <a:spLocks noGrp="1"/>
          </p:cNvSpPr>
          <p:nvPr>
            <p:ph type="body" sz="half" idx="1"/>
          </p:nvPr>
        </p:nvSpPr>
        <p:spPr>
          <a:xfrm>
            <a:off x="471487" y="2434166"/>
            <a:ext cx="2914651" cy="5801785"/>
          </a:xfrm>
          <a:prstGeom prst="rect">
            <a:avLst/>
          </a:prstGeom>
        </p:spPr>
        <p:txBody>
          <a:bodyPr/>
          <a:lstStyle/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タイトルテキスト"/>
          <p:cNvSpPr txBox="1">
            <a:spLocks noGrp="1"/>
          </p:cNvSpPr>
          <p:nvPr>
            <p:ph type="title"/>
          </p:nvPr>
        </p:nvSpPr>
        <p:spPr>
          <a:xfrm>
            <a:off x="472381" y="486835"/>
            <a:ext cx="5915026" cy="1767418"/>
          </a:xfrm>
          <a:prstGeom prst="rect">
            <a:avLst/>
          </a:prstGeom>
        </p:spPr>
        <p:txBody>
          <a:bodyPr/>
          <a:lstStyle/>
          <a:p>
            <a:r>
              <a:t>タイトルテキスト</a:t>
            </a:r>
          </a:p>
        </p:txBody>
      </p:sp>
      <p:sp>
        <p:nvSpPr>
          <p:cNvPr id="48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472381" y="2241550"/>
            <a:ext cx="2901256" cy="109855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800" b="1">
                <a:latin typeface="JostRoman-Bold"/>
                <a:ea typeface="JostRoman-Bold"/>
                <a:cs typeface="JostRoman-Bold"/>
                <a:sym typeface="JostRoman-Bold"/>
              </a:defRPr>
            </a:lvl1pPr>
            <a:lvl2pPr marL="0" indent="342900">
              <a:buSzTx/>
              <a:buFontTx/>
              <a:buNone/>
              <a:defRPr sz="1800" b="1">
                <a:latin typeface="JostRoman-Bold"/>
                <a:ea typeface="JostRoman-Bold"/>
                <a:cs typeface="JostRoman-Bold"/>
                <a:sym typeface="JostRoman-Bold"/>
              </a:defRPr>
            </a:lvl2pPr>
            <a:lvl3pPr marL="0" indent="685800">
              <a:buSzTx/>
              <a:buFontTx/>
              <a:buNone/>
              <a:defRPr sz="1800" b="1">
                <a:latin typeface="JostRoman-Bold"/>
                <a:ea typeface="JostRoman-Bold"/>
                <a:cs typeface="JostRoman-Bold"/>
                <a:sym typeface="JostRoman-Bold"/>
              </a:defRPr>
            </a:lvl3pPr>
            <a:lvl4pPr marL="0" indent="1028700">
              <a:buSzTx/>
              <a:buFontTx/>
              <a:buNone/>
              <a:defRPr sz="1800" b="1">
                <a:latin typeface="JostRoman-Bold"/>
                <a:ea typeface="JostRoman-Bold"/>
                <a:cs typeface="JostRoman-Bold"/>
                <a:sym typeface="JostRoman-Bold"/>
              </a:defRPr>
            </a:lvl4pPr>
            <a:lvl5pPr marL="0" indent="1371600">
              <a:buSzTx/>
              <a:buFontTx/>
              <a:buNone/>
              <a:defRPr sz="1800" b="1">
                <a:latin typeface="JostRoman-Bold"/>
                <a:ea typeface="JostRoman-Bold"/>
                <a:cs typeface="JostRoman-Bold"/>
                <a:sym typeface="JostRoman-Bold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3471862" y="2241550"/>
            <a:ext cx="2915544" cy="10985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1800" b="1">
                <a:latin typeface="JostRoman-Bold"/>
                <a:ea typeface="JostRoman-Bold"/>
                <a:cs typeface="JostRoman-Bold"/>
                <a:sym typeface="JostRoman-Bold"/>
              </a:defRPr>
            </a:pPr>
            <a:endParaRPr/>
          </a:p>
        </p:txBody>
      </p:sp>
      <p:sp>
        <p:nvSpPr>
          <p:cNvPr id="5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タイトルテキスト</a:t>
            </a:r>
          </a:p>
        </p:txBody>
      </p:sp>
      <p:sp>
        <p:nvSpPr>
          <p:cNvPr id="58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タイトルテキスト"/>
          <p:cNvSpPr txBox="1"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タイトルテキスト</a:t>
            </a:r>
          </a:p>
        </p:txBody>
      </p:sp>
      <p:sp>
        <p:nvSpPr>
          <p:cNvPr id="73" name="本文レベル1…"/>
          <p:cNvSpPr txBox="1">
            <a:spLocks noGrp="1"/>
          </p:cNvSpPr>
          <p:nvPr>
            <p:ph type="body" sz="half" idx="1"/>
          </p:nvPr>
        </p:nvSpPr>
        <p:spPr>
          <a:xfrm>
            <a:off x="2915542" y="1316568"/>
            <a:ext cx="3471864" cy="649816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538842" indent="-195942">
              <a:defRPr sz="2400"/>
            </a:lvl2pPr>
            <a:lvl3pPr marL="914400" indent="-228600">
              <a:defRPr sz="2400"/>
            </a:lvl3pPr>
            <a:lvl4pPr marL="1303019" indent="-274319">
              <a:defRPr sz="2400"/>
            </a:lvl4pPr>
            <a:lvl5pPr marL="1645920" indent="-274320">
              <a:defRPr sz="2400"/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200"/>
            </a:pPr>
            <a:endParaRPr/>
          </a:p>
        </p:txBody>
      </p:sp>
      <p:sp>
        <p:nvSpPr>
          <p:cNvPr id="75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タイトルテキスト"/>
          <p:cNvSpPr txBox="1"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タイトルテキスト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2915542" y="1316568"/>
            <a:ext cx="3471864" cy="64981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200"/>
            </a:lvl1pPr>
            <a:lvl2pPr marL="0" indent="342900">
              <a:buSzTx/>
              <a:buFontTx/>
              <a:buNone/>
              <a:defRPr sz="1200"/>
            </a:lvl2pPr>
            <a:lvl3pPr marL="0" indent="685800">
              <a:buSzTx/>
              <a:buFontTx/>
              <a:buNone/>
              <a:defRPr sz="1200"/>
            </a:lvl3pPr>
            <a:lvl4pPr marL="0" indent="1028700">
              <a:buSzTx/>
              <a:buFontTx/>
              <a:buNone/>
              <a:defRPr sz="1200"/>
            </a:lvl4pPr>
            <a:lvl5pPr marL="0" indent="1371600">
              <a:buSzTx/>
              <a:buFontTx/>
              <a:buNone/>
              <a:defRPr sz="1200"/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85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テキスト"/>
          <p:cNvSpPr txBox="1">
            <a:spLocks noGrp="1"/>
          </p:cNvSpPr>
          <p:nvPr>
            <p:ph type="title"/>
          </p:nvPr>
        </p:nvSpPr>
        <p:spPr>
          <a:xfrm>
            <a:off x="471487" y="486835"/>
            <a:ext cx="5915026" cy="1767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タイトルテキスト</a:t>
            </a:r>
          </a:p>
        </p:txBody>
      </p:sp>
      <p:sp>
        <p:nvSpPr>
          <p:cNvPr id="3" name="本文レベル1…"/>
          <p:cNvSpPr txBox="1">
            <a:spLocks noGrp="1"/>
          </p:cNvSpPr>
          <p:nvPr>
            <p:ph type="body" idx="1"/>
          </p:nvPr>
        </p:nvSpPr>
        <p:spPr>
          <a:xfrm>
            <a:off x="471487" y="2434166"/>
            <a:ext cx="5915026" cy="58017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162357" y="8590282"/>
            <a:ext cx="224156" cy="2565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757575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Jost-Regular"/>
        </a:defRPr>
      </a:lvl1pPr>
      <a:lvl2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Jost-Regular"/>
        </a:defRPr>
      </a:lvl2pPr>
      <a:lvl3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Jost-Regular"/>
        </a:defRPr>
      </a:lvl3pPr>
      <a:lvl4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Jost-Regular"/>
        </a:defRPr>
      </a:lvl4pPr>
      <a:lvl5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Jost-Regular"/>
        </a:defRPr>
      </a:lvl5pPr>
      <a:lvl6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Jost-Regular"/>
        </a:defRPr>
      </a:lvl6pPr>
      <a:lvl7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Jost-Regular"/>
        </a:defRPr>
      </a:lvl7pPr>
      <a:lvl8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Jost-Regular"/>
        </a:defRPr>
      </a:lvl8pPr>
      <a:lvl9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Jost-Regular"/>
        </a:defRPr>
      </a:lvl9pPr>
    </p:titleStyle>
    <p:bodyStyle>
      <a:lvl1pPr marL="171450" marR="0" indent="-17145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Jost-Regular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Jost-Regular"/>
        </a:defRPr>
      </a:lvl1pPr>
      <a:lvl2pPr marL="542925" marR="0" indent="-200025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Jost-Regular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Jost-Regular"/>
        </a:defRPr>
      </a:lvl2pPr>
      <a:lvl3pPr marL="925830" marR="0" indent="-24003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Jost-Regular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Jost-Regular"/>
        </a:defRPr>
      </a:lvl3pPr>
      <a:lvl4pPr marL="13056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Jost-Regular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Jost-Regular"/>
        </a:defRPr>
      </a:lvl4pPr>
      <a:lvl5pPr marL="16485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Jost-Regular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Jost-Regular"/>
        </a:defRPr>
      </a:lvl5pPr>
      <a:lvl6pPr marL="19914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Jost-Regular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Jost-Regular"/>
        </a:defRPr>
      </a:lvl6pPr>
      <a:lvl7pPr marL="23343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Jost-Regular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Jost-Regular"/>
        </a:defRPr>
      </a:lvl7pPr>
      <a:lvl8pPr marL="26772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Jost-Regular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Jost-Regular"/>
        </a:defRPr>
      </a:lvl8pPr>
      <a:lvl9pPr marL="30201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Jost-Regular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Jost-Regular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Jost-Regular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Jost-Regular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Jost-Regular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Jost-Regular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Jost-Regular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Jost-Regular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Jost-Regular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Jost-Regular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Jost-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正方形/長方形 3"/>
          <p:cNvSpPr/>
          <p:nvPr/>
        </p:nvSpPr>
        <p:spPr>
          <a:xfrm>
            <a:off x="33951" y="45267"/>
            <a:ext cx="6790098" cy="9053467"/>
          </a:xfrm>
          <a:prstGeom prst="rect">
            <a:avLst/>
          </a:prstGeom>
          <a:gradFill>
            <a:gsLst>
              <a:gs pos="10000">
                <a:srgbClr val="EE00B0"/>
              </a:gs>
              <a:gs pos="50000">
                <a:srgbClr val="6200E8"/>
              </a:gs>
              <a:gs pos="90000">
                <a:srgbClr val="0095E5"/>
              </a:gs>
            </a:gsLst>
            <a:lin ang="1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" name="正方形/長方形 4"/>
          <p:cNvSpPr/>
          <p:nvPr/>
        </p:nvSpPr>
        <p:spPr>
          <a:xfrm>
            <a:off x="16974" y="0"/>
            <a:ext cx="6858001" cy="9144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00" name="グループ化 9"/>
          <p:cNvGrpSpPr/>
          <p:nvPr/>
        </p:nvGrpSpPr>
        <p:grpSpPr>
          <a:xfrm>
            <a:off x="0" y="-1"/>
            <a:ext cx="6865270" cy="9144002"/>
            <a:chOff x="0" y="0"/>
            <a:chExt cx="6865269" cy="9144001"/>
          </a:xfrm>
        </p:grpSpPr>
        <p:sp>
          <p:nvSpPr>
            <p:cNvPr id="96" name="正方形/長方形 5"/>
            <p:cNvSpPr/>
            <p:nvPr/>
          </p:nvSpPr>
          <p:spPr>
            <a:xfrm>
              <a:off x="0" y="-1"/>
              <a:ext cx="6858001" cy="432001"/>
            </a:xfrm>
            <a:prstGeom prst="rect">
              <a:avLst/>
            </a:prstGeom>
            <a:solidFill>
              <a:srgbClr val="F2AA84">
                <a:alpha val="10000"/>
              </a:srgbClr>
            </a:solidFill>
            <a:ln w="19050" cap="flat">
              <a:solidFill>
                <a:srgbClr val="80350E"/>
              </a:solidFill>
              <a:prstDash val="dash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7" name="正方形/長方形 6"/>
            <p:cNvSpPr/>
            <p:nvPr/>
          </p:nvSpPr>
          <p:spPr>
            <a:xfrm>
              <a:off x="0" y="8712000"/>
              <a:ext cx="6858001" cy="432000"/>
            </a:xfrm>
            <a:prstGeom prst="rect">
              <a:avLst/>
            </a:prstGeom>
            <a:solidFill>
              <a:srgbClr val="F2AA84">
                <a:alpha val="10000"/>
              </a:srgbClr>
            </a:solidFill>
            <a:ln w="19050" cap="flat">
              <a:solidFill>
                <a:srgbClr val="80350E"/>
              </a:solidFill>
              <a:prstDash val="dash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8" name="正方形/長方形 7"/>
            <p:cNvSpPr/>
            <p:nvPr/>
          </p:nvSpPr>
          <p:spPr>
            <a:xfrm>
              <a:off x="0" y="0"/>
              <a:ext cx="540001" cy="9144001"/>
            </a:xfrm>
            <a:prstGeom prst="rect">
              <a:avLst/>
            </a:prstGeom>
            <a:solidFill>
              <a:srgbClr val="F2AA84">
                <a:alpha val="10000"/>
              </a:srgbClr>
            </a:solidFill>
            <a:ln w="19050" cap="flat">
              <a:solidFill>
                <a:srgbClr val="80350E"/>
              </a:solidFill>
              <a:prstDash val="dash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9" name="正方形/長方形 8"/>
            <p:cNvSpPr/>
            <p:nvPr/>
          </p:nvSpPr>
          <p:spPr>
            <a:xfrm>
              <a:off x="6325269" y="-1"/>
              <a:ext cx="540001" cy="9144001"/>
            </a:xfrm>
            <a:prstGeom prst="rect">
              <a:avLst/>
            </a:prstGeom>
            <a:solidFill>
              <a:srgbClr val="F2AA84">
                <a:alpha val="10000"/>
              </a:srgbClr>
            </a:solidFill>
            <a:ln w="19050" cap="flat">
              <a:solidFill>
                <a:srgbClr val="80350E"/>
              </a:solidFill>
              <a:prstDash val="dash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01" name="正方形/長方形 12"/>
          <p:cNvSpPr/>
          <p:nvPr/>
        </p:nvSpPr>
        <p:spPr>
          <a:xfrm>
            <a:off x="539999" y="431999"/>
            <a:ext cx="5785269" cy="5400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2" name="正方形/長方形 14"/>
          <p:cNvSpPr/>
          <p:nvPr/>
        </p:nvSpPr>
        <p:spPr>
          <a:xfrm>
            <a:off x="554537" y="8661917"/>
            <a:ext cx="2592002" cy="5400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3" name="正方形/長方形 15"/>
          <p:cNvSpPr/>
          <p:nvPr/>
        </p:nvSpPr>
        <p:spPr>
          <a:xfrm>
            <a:off x="3734844" y="8661917"/>
            <a:ext cx="2592001" cy="5400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4" name="テキスト ボックス 16"/>
          <p:cNvSpPr txBox="1"/>
          <p:nvPr/>
        </p:nvSpPr>
        <p:spPr>
          <a:xfrm>
            <a:off x="3209546" y="8485377"/>
            <a:ext cx="484295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/>
          </a:lstStyle>
          <a:p>
            <a:r>
              <a:t>1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正方形/長方形 31"/>
          <p:cNvSpPr/>
          <p:nvPr/>
        </p:nvSpPr>
        <p:spPr>
          <a:xfrm>
            <a:off x="33951" y="45268"/>
            <a:ext cx="6790099" cy="9053465"/>
          </a:xfrm>
          <a:prstGeom prst="rect">
            <a:avLst/>
          </a:prstGeom>
          <a:gradFill>
            <a:gsLst>
              <a:gs pos="10000">
                <a:srgbClr val="EE00B0"/>
              </a:gs>
              <a:gs pos="50000">
                <a:srgbClr val="6200E8"/>
              </a:gs>
              <a:gs pos="90000">
                <a:srgbClr val="0095E5"/>
              </a:gs>
            </a:gsLst>
            <a:lin ang="1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7" name="正方形/長方形 4"/>
          <p:cNvSpPr/>
          <p:nvPr/>
        </p:nvSpPr>
        <p:spPr>
          <a:xfrm>
            <a:off x="0" y="9342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12" name="グループ化 9"/>
          <p:cNvGrpSpPr/>
          <p:nvPr/>
        </p:nvGrpSpPr>
        <p:grpSpPr>
          <a:xfrm>
            <a:off x="0" y="-1"/>
            <a:ext cx="6865270" cy="9144002"/>
            <a:chOff x="0" y="0"/>
            <a:chExt cx="6865269" cy="9144001"/>
          </a:xfrm>
        </p:grpSpPr>
        <p:sp>
          <p:nvSpPr>
            <p:cNvPr id="108" name="正方形/長方形 5"/>
            <p:cNvSpPr/>
            <p:nvPr/>
          </p:nvSpPr>
          <p:spPr>
            <a:xfrm>
              <a:off x="0" y="-1"/>
              <a:ext cx="6858001" cy="432001"/>
            </a:xfrm>
            <a:prstGeom prst="rect">
              <a:avLst/>
            </a:prstGeom>
            <a:solidFill>
              <a:srgbClr val="F2AA84">
                <a:alpha val="10000"/>
              </a:srgbClr>
            </a:solidFill>
            <a:ln w="19050" cap="flat">
              <a:solidFill>
                <a:srgbClr val="80350E"/>
              </a:solidFill>
              <a:prstDash val="dash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9" name="正方形/長方形 6"/>
            <p:cNvSpPr/>
            <p:nvPr/>
          </p:nvSpPr>
          <p:spPr>
            <a:xfrm>
              <a:off x="0" y="8712000"/>
              <a:ext cx="6858001" cy="432000"/>
            </a:xfrm>
            <a:prstGeom prst="rect">
              <a:avLst/>
            </a:prstGeom>
            <a:solidFill>
              <a:srgbClr val="F2AA84">
                <a:alpha val="10000"/>
              </a:srgbClr>
            </a:solidFill>
            <a:ln w="19050" cap="flat">
              <a:solidFill>
                <a:srgbClr val="80350E"/>
              </a:solidFill>
              <a:prstDash val="dash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0" name="正方形/長方形 7"/>
            <p:cNvSpPr/>
            <p:nvPr/>
          </p:nvSpPr>
          <p:spPr>
            <a:xfrm>
              <a:off x="0" y="0"/>
              <a:ext cx="540001" cy="9144001"/>
            </a:xfrm>
            <a:prstGeom prst="rect">
              <a:avLst/>
            </a:prstGeom>
            <a:solidFill>
              <a:srgbClr val="F2AA84">
                <a:alpha val="10000"/>
              </a:srgbClr>
            </a:solidFill>
            <a:ln w="19050" cap="flat">
              <a:solidFill>
                <a:srgbClr val="80350E"/>
              </a:solidFill>
              <a:prstDash val="dash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1" name="正方形/長方形 8"/>
            <p:cNvSpPr/>
            <p:nvPr/>
          </p:nvSpPr>
          <p:spPr>
            <a:xfrm>
              <a:off x="6325269" y="-1"/>
              <a:ext cx="540001" cy="9144001"/>
            </a:xfrm>
            <a:prstGeom prst="rect">
              <a:avLst/>
            </a:prstGeom>
            <a:solidFill>
              <a:srgbClr val="F2AA84">
                <a:alpha val="10000"/>
              </a:srgbClr>
            </a:solidFill>
            <a:ln w="19050" cap="flat">
              <a:solidFill>
                <a:srgbClr val="80350E"/>
              </a:solidFill>
              <a:prstDash val="dash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13" name="正方形/長方形 14"/>
          <p:cNvSpPr/>
          <p:nvPr/>
        </p:nvSpPr>
        <p:spPr>
          <a:xfrm>
            <a:off x="554537" y="8661917"/>
            <a:ext cx="2592002" cy="5400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4" name="正方形/長方形 15"/>
          <p:cNvSpPr/>
          <p:nvPr/>
        </p:nvSpPr>
        <p:spPr>
          <a:xfrm>
            <a:off x="3734844" y="8661917"/>
            <a:ext cx="2592001" cy="5400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5" name="テキスト ボックス 16"/>
          <p:cNvSpPr txBox="1"/>
          <p:nvPr/>
        </p:nvSpPr>
        <p:spPr>
          <a:xfrm>
            <a:off x="3209546" y="8485377"/>
            <a:ext cx="484295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/>
          </a:lstStyle>
          <a:p>
            <a:r>
              <a:t>1</a:t>
            </a:r>
          </a:p>
        </p:txBody>
      </p:sp>
      <p:sp>
        <p:nvSpPr>
          <p:cNvPr id="116" name="テキスト ボックス 1"/>
          <p:cNvSpPr txBox="1"/>
          <p:nvPr/>
        </p:nvSpPr>
        <p:spPr>
          <a:xfrm>
            <a:off x="1507599" y="846314"/>
            <a:ext cx="4449293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3200">
                <a:latin typeface="JostRoman-Medium"/>
                <a:ea typeface="JostRoman-Medium"/>
                <a:cs typeface="JostRoman-Medium"/>
                <a:sym typeface="JostRoman-Medium"/>
              </a:defRPr>
            </a:pPr>
            <a:r>
              <a:rPr dirty="0">
                <a:latin typeface="Jost SemiBold" pitchFamily="2" charset="0"/>
                <a:ea typeface="Jost SemiBold" pitchFamily="2" charset="0"/>
              </a:rPr>
              <a:t>FlexChroma</a:t>
            </a:r>
            <a:r>
              <a:rPr dirty="0">
                <a:latin typeface="+mn-lt"/>
                <a:ea typeface="+mn-ea"/>
                <a:cs typeface="+mn-cs"/>
                <a:sym typeface="Jost-Regular"/>
              </a:rPr>
              <a:t> </a:t>
            </a:r>
            <a:r>
              <a:rPr dirty="0">
                <a:latin typeface="Jost Medium" pitchFamily="2" charset="0"/>
                <a:ea typeface="Jost Medium" pitchFamily="2" charset="0"/>
                <a:sym typeface="Jost-Regular"/>
              </a:rPr>
              <a:t>Tour-Guide</a:t>
            </a:r>
          </a:p>
        </p:txBody>
      </p:sp>
      <p:sp>
        <p:nvSpPr>
          <p:cNvPr id="117" name="楕円 13"/>
          <p:cNvSpPr/>
          <p:nvPr/>
        </p:nvSpPr>
        <p:spPr>
          <a:xfrm>
            <a:off x="566174" y="3114670"/>
            <a:ext cx="204671" cy="204671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8" name="テキスト ボックス 17"/>
          <p:cNvSpPr txBox="1"/>
          <p:nvPr/>
        </p:nvSpPr>
        <p:spPr>
          <a:xfrm>
            <a:off x="816563" y="2995985"/>
            <a:ext cx="1530936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 b="1">
                <a:latin typeface="JostRoman-SemiBold"/>
                <a:ea typeface="JostRoman-SemiBold"/>
                <a:cs typeface="JostRoman-SemiBold"/>
                <a:sym typeface="JostRoman-SemiBold"/>
              </a:defRPr>
            </a:lvl1pPr>
          </a:lstStyle>
          <a:p>
            <a:r>
              <a:t>1. Einleitung</a:t>
            </a:r>
          </a:p>
        </p:txBody>
      </p:sp>
      <p:sp>
        <p:nvSpPr>
          <p:cNvPr id="119" name="テキスト ボックス 18"/>
          <p:cNvSpPr txBox="1"/>
          <p:nvPr/>
        </p:nvSpPr>
        <p:spPr>
          <a:xfrm>
            <a:off x="714228" y="3418925"/>
            <a:ext cx="5558051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 b="1">
                <a:latin typeface="JostRoman-Bold"/>
                <a:ea typeface="JostRoman-Bold"/>
                <a:cs typeface="JostRoman-Bold"/>
                <a:sym typeface="JostRoman-Bold"/>
              </a:defRPr>
            </a:pPr>
            <a:r>
              <a:rPr dirty="0">
                <a:latin typeface="Jost SemiBold" pitchFamily="2" charset="0"/>
                <a:ea typeface="Jost SemiBold" pitchFamily="2" charset="0"/>
              </a:rPr>
              <a:t>FlexChroma</a:t>
            </a:r>
            <a:r>
              <a:rPr b="0" dirty="0">
                <a:latin typeface="+mn-lt"/>
                <a:ea typeface="+mn-ea"/>
                <a:cs typeface="+mn-cs"/>
                <a:sym typeface="Jost-Regular"/>
              </a:rPr>
              <a:t> </a:t>
            </a:r>
            <a:r>
              <a:rPr b="0" dirty="0" err="1">
                <a:latin typeface="+mn-lt"/>
                <a:ea typeface="+mn-ea"/>
                <a:cs typeface="+mn-cs"/>
                <a:sym typeface="Jost-Regular"/>
              </a:rPr>
              <a:t>umfasst</a:t>
            </a:r>
            <a:r>
              <a:rPr b="0" dirty="0">
                <a:latin typeface="+mn-lt"/>
                <a:ea typeface="+mn-ea"/>
                <a:cs typeface="+mn-cs"/>
                <a:sym typeface="Jost-Regular"/>
              </a:rPr>
              <a:t> Modelle </a:t>
            </a:r>
            <a:r>
              <a:rPr b="0" dirty="0" err="1">
                <a:latin typeface="+mn-lt"/>
                <a:ea typeface="+mn-ea"/>
                <a:cs typeface="+mn-cs"/>
                <a:sym typeface="Jost-Regular"/>
              </a:rPr>
              <a:t>zur</a:t>
            </a:r>
            <a:r>
              <a:rPr b="0" dirty="0">
                <a:latin typeface="+mn-lt"/>
                <a:ea typeface="+mn-ea"/>
                <a:cs typeface="+mn-cs"/>
                <a:sym typeface="Jost-Regular"/>
              </a:rPr>
              <a:t> </a:t>
            </a:r>
            <a:r>
              <a:rPr b="0" dirty="0" err="1">
                <a:latin typeface="+mn-lt"/>
                <a:ea typeface="+mn-ea"/>
                <a:cs typeface="+mn-cs"/>
                <a:sym typeface="Jost-Regular"/>
              </a:rPr>
              <a:t>Herstellung</a:t>
            </a:r>
            <a:r>
              <a:rPr b="0" dirty="0">
                <a:latin typeface="+mn-lt"/>
                <a:ea typeface="+mn-ea"/>
                <a:cs typeface="+mn-cs"/>
                <a:sym typeface="Jost-Regular"/>
              </a:rPr>
              <a:t> </a:t>
            </a:r>
            <a:r>
              <a:rPr b="0" dirty="0" err="1">
                <a:latin typeface="+mn-lt"/>
                <a:ea typeface="+mn-ea"/>
                <a:cs typeface="+mn-cs"/>
                <a:sym typeface="Jost-Regular"/>
              </a:rPr>
              <a:t>eigener</a:t>
            </a:r>
            <a:r>
              <a:rPr b="0" dirty="0">
                <a:latin typeface="+mn-lt"/>
                <a:ea typeface="+mn-ea"/>
                <a:cs typeface="+mn-cs"/>
                <a:sym typeface="Jost-Regular"/>
              </a:rPr>
              <a:t> </a:t>
            </a:r>
            <a:r>
              <a:rPr b="0" dirty="0" err="1">
                <a:latin typeface="+mn-lt"/>
                <a:ea typeface="+mn-ea"/>
                <a:cs typeface="+mn-cs"/>
                <a:sym typeface="Jost-Regular"/>
              </a:rPr>
              <a:t>Filamente</a:t>
            </a:r>
            <a:r>
              <a:rPr b="0" dirty="0">
                <a:latin typeface="+mn-lt"/>
                <a:ea typeface="+mn-ea"/>
                <a:cs typeface="+mn-cs"/>
                <a:sym typeface="Jost-Regular"/>
              </a:rPr>
              <a:t> </a:t>
            </a:r>
            <a:r>
              <a:rPr b="0" dirty="0" err="1">
                <a:latin typeface="+mn-lt"/>
                <a:ea typeface="+mn-ea"/>
                <a:cs typeface="+mn-cs"/>
                <a:sym typeface="Jost-Regular"/>
              </a:rPr>
              <a:t>aus</a:t>
            </a:r>
            <a:r>
              <a:rPr b="0" dirty="0">
                <a:latin typeface="+mn-lt"/>
                <a:ea typeface="+mn-ea"/>
                <a:cs typeface="+mn-cs"/>
                <a:sym typeface="Jost-Regular"/>
              </a:rPr>
              <a:t> </a:t>
            </a:r>
            <a:r>
              <a:rPr b="0" dirty="0" err="1">
                <a:latin typeface="+mn-lt"/>
                <a:ea typeface="+mn-ea"/>
                <a:cs typeface="+mn-cs"/>
                <a:sym typeface="Jost-Regular"/>
              </a:rPr>
              <a:t>handelsüblichen</a:t>
            </a:r>
            <a:r>
              <a:rPr b="0" dirty="0">
                <a:latin typeface="+mn-lt"/>
                <a:ea typeface="+mn-ea"/>
                <a:cs typeface="+mn-cs"/>
                <a:sym typeface="Jost-Regular"/>
              </a:rPr>
              <a:t> </a:t>
            </a:r>
            <a:r>
              <a:rPr b="0" dirty="0" err="1">
                <a:latin typeface="+mn-lt"/>
                <a:ea typeface="+mn-ea"/>
                <a:cs typeface="+mn-cs"/>
                <a:sym typeface="Jost-Regular"/>
              </a:rPr>
              <a:t>Materialien</a:t>
            </a:r>
            <a:r>
              <a:rPr b="0" dirty="0">
                <a:latin typeface="+mn-lt"/>
                <a:ea typeface="+mn-ea"/>
                <a:cs typeface="+mn-cs"/>
                <a:sym typeface="Jost-Regular"/>
              </a:rPr>
              <a:t>. </a:t>
            </a:r>
          </a:p>
          <a:p>
            <a:pPr>
              <a:defRPr sz="1000"/>
            </a:pPr>
            <a:r>
              <a:rPr dirty="0"/>
              <a:t>Das System </a:t>
            </a:r>
            <a:r>
              <a:rPr dirty="0" err="1"/>
              <a:t>unterteilt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in </a:t>
            </a:r>
            <a:r>
              <a:rPr dirty="0" err="1"/>
              <a:t>verschiedene</a:t>
            </a:r>
            <a:r>
              <a:rPr dirty="0"/>
              <a:t> </a:t>
            </a:r>
            <a:r>
              <a:rPr dirty="0" err="1"/>
              <a:t>Serien</a:t>
            </a:r>
            <a:r>
              <a:rPr dirty="0"/>
              <a:t> für </a:t>
            </a:r>
            <a:r>
              <a:rPr dirty="0" err="1"/>
              <a:t>unterschiedliche</a:t>
            </a:r>
            <a:r>
              <a:rPr dirty="0"/>
              <a:t> </a:t>
            </a:r>
            <a:r>
              <a:rPr dirty="0" err="1"/>
              <a:t>Einsatzzwecke</a:t>
            </a:r>
            <a:r>
              <a:rPr dirty="0"/>
              <a:t>. </a:t>
            </a:r>
            <a:r>
              <a:rPr dirty="0" err="1"/>
              <a:t>Jede</a:t>
            </a:r>
            <a:r>
              <a:rPr dirty="0"/>
              <a:t> Serie </a:t>
            </a:r>
            <a:r>
              <a:rPr dirty="0" err="1"/>
              <a:t>bietet</a:t>
            </a:r>
            <a:r>
              <a:rPr dirty="0"/>
              <a:t> </a:t>
            </a:r>
            <a:r>
              <a:rPr dirty="0" err="1"/>
              <a:t>mehrere</a:t>
            </a:r>
            <a:r>
              <a:rPr dirty="0"/>
              <a:t> Modelle, Profile und </a:t>
            </a:r>
            <a:r>
              <a:rPr dirty="0" err="1"/>
              <a:t>Druckplatten</a:t>
            </a:r>
            <a:r>
              <a:rPr dirty="0"/>
              <a:t>, </a:t>
            </a:r>
            <a:r>
              <a:rPr dirty="0" err="1"/>
              <a:t>abgestimmt</a:t>
            </a:r>
            <a:r>
              <a:rPr dirty="0"/>
              <a:t> auf </a:t>
            </a:r>
            <a:r>
              <a:rPr dirty="0" err="1"/>
              <a:t>Größe</a:t>
            </a:r>
            <a:r>
              <a:rPr dirty="0"/>
              <a:t> und </a:t>
            </a:r>
            <a:r>
              <a:rPr dirty="0" err="1"/>
              <a:t>Anwendung</a:t>
            </a:r>
            <a:r>
              <a:rPr dirty="0"/>
              <a:t>.</a:t>
            </a:r>
          </a:p>
        </p:txBody>
      </p:sp>
      <p:sp>
        <p:nvSpPr>
          <p:cNvPr id="120" name="楕円 19"/>
          <p:cNvSpPr/>
          <p:nvPr/>
        </p:nvSpPr>
        <p:spPr>
          <a:xfrm>
            <a:off x="561095" y="4363691"/>
            <a:ext cx="204671" cy="204671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1" name="テキスト ボックス 20"/>
          <p:cNvSpPr txBox="1"/>
          <p:nvPr/>
        </p:nvSpPr>
        <p:spPr>
          <a:xfrm>
            <a:off x="816563" y="4242466"/>
            <a:ext cx="3033713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 b="1">
                <a:latin typeface="JostRoman-SemiBold"/>
                <a:ea typeface="JostRoman-SemiBold"/>
                <a:cs typeface="JostRoman-SemiBold"/>
                <a:sym typeface="JostRoman-SemiBold"/>
              </a:defRPr>
            </a:lvl1pPr>
          </a:lstStyle>
          <a:p>
            <a:r>
              <a:t>2. Auswahl eines Modells</a:t>
            </a:r>
          </a:p>
        </p:txBody>
      </p:sp>
      <p:sp>
        <p:nvSpPr>
          <p:cNvPr id="122" name="テキスト ボックス 21"/>
          <p:cNvSpPr txBox="1"/>
          <p:nvPr/>
        </p:nvSpPr>
        <p:spPr>
          <a:xfrm>
            <a:off x="706959" y="4643889"/>
            <a:ext cx="5558052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/>
            </a:lvl1pPr>
          </a:lstStyle>
          <a:p>
            <a:r>
              <a:t>Folgen Sie zuerst diesem kurzen Auswahlprozess, um die richtigen Daten herunterzuladen und zu drucken.</a:t>
            </a:r>
          </a:p>
        </p:txBody>
      </p:sp>
      <p:sp>
        <p:nvSpPr>
          <p:cNvPr id="123" name="テキスト ボックス 24"/>
          <p:cNvSpPr txBox="1"/>
          <p:nvPr/>
        </p:nvSpPr>
        <p:spPr>
          <a:xfrm>
            <a:off x="706958" y="6386023"/>
            <a:ext cx="556532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/>
            </a:lvl1pPr>
          </a:lstStyle>
          <a:p>
            <a:r>
              <a:rPr dirty="0" err="1"/>
              <a:t>Wählen</a:t>
            </a:r>
            <a:r>
              <a:rPr dirty="0"/>
              <a:t> Sie </a:t>
            </a:r>
            <a:r>
              <a:rPr dirty="0" err="1"/>
              <a:t>zuerst</a:t>
            </a:r>
            <a:r>
              <a:rPr dirty="0"/>
              <a:t> die </a:t>
            </a:r>
            <a:r>
              <a:rPr dirty="0" err="1"/>
              <a:t>gewünschte</a:t>
            </a:r>
            <a:r>
              <a:rPr dirty="0"/>
              <a:t> </a:t>
            </a:r>
            <a:r>
              <a:rPr dirty="0" err="1"/>
              <a:t>Filamentart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, </a:t>
            </a:r>
            <a:r>
              <a:rPr dirty="0" err="1"/>
              <a:t>wenn</a:t>
            </a:r>
            <a:r>
              <a:rPr dirty="0"/>
              <a:t> Sie </a:t>
            </a:r>
            <a:r>
              <a:rPr dirty="0" err="1"/>
              <a:t>sich</a:t>
            </a:r>
            <a:r>
              <a:rPr dirty="0"/>
              <a:t> für </a:t>
            </a:r>
            <a:r>
              <a:rPr dirty="0" err="1"/>
              <a:t>ein</a:t>
            </a:r>
            <a:r>
              <a:rPr dirty="0"/>
              <a:t> Modell </a:t>
            </a:r>
            <a:r>
              <a:rPr dirty="0" err="1"/>
              <a:t>entscheiden</a:t>
            </a:r>
            <a:r>
              <a:rPr dirty="0"/>
              <a:t>.</a:t>
            </a:r>
          </a:p>
        </p:txBody>
      </p:sp>
      <p:sp>
        <p:nvSpPr>
          <p:cNvPr id="124" name="テキスト ボックス 25"/>
          <p:cNvSpPr txBox="1"/>
          <p:nvPr/>
        </p:nvSpPr>
        <p:spPr>
          <a:xfrm>
            <a:off x="816563" y="6696427"/>
            <a:ext cx="5462985" cy="161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buSzPct val="100000"/>
              <a:buAutoNum type="arabicPeriod"/>
              <a:defRPr sz="1000"/>
            </a:pPr>
            <a:r>
              <a:rPr dirty="0" err="1"/>
              <a:t>Wählen</a:t>
            </a:r>
            <a:r>
              <a:rPr dirty="0"/>
              <a:t> Sie </a:t>
            </a:r>
            <a:r>
              <a:rPr dirty="0" err="1"/>
              <a:t>eine</a:t>
            </a:r>
            <a:r>
              <a:rPr dirty="0"/>
              <a:t> Serie: </a:t>
            </a:r>
            <a:r>
              <a:rPr dirty="0" err="1"/>
              <a:t>Mischfilament</a:t>
            </a:r>
            <a:r>
              <a:rPr dirty="0"/>
              <a:t> für </a:t>
            </a:r>
            <a:r>
              <a:rPr dirty="0" err="1"/>
              <a:t>Mischfarben</a:t>
            </a:r>
            <a:r>
              <a:rPr dirty="0"/>
              <a:t>, </a:t>
            </a:r>
            <a:r>
              <a:rPr dirty="0" err="1"/>
              <a:t>Farbverlaufsfilament</a:t>
            </a:r>
            <a:r>
              <a:rPr dirty="0"/>
              <a:t> für </a:t>
            </a:r>
            <a:r>
              <a:rPr dirty="0" err="1"/>
              <a:t>Farbwechsel</a:t>
            </a:r>
            <a:r>
              <a:rPr dirty="0"/>
              <a:t>.</a:t>
            </a:r>
          </a:p>
          <a:p>
            <a:pPr marL="228600" indent="-228600">
              <a:buSzPct val="100000"/>
              <a:buAutoNum type="arabicPeriod"/>
              <a:defRPr sz="1000"/>
            </a:pPr>
            <a:r>
              <a:rPr dirty="0" err="1"/>
              <a:t>Wählen</a:t>
            </a:r>
            <a:r>
              <a:rPr dirty="0"/>
              <a:t> Sie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Modellgröße</a:t>
            </a:r>
            <a:r>
              <a:rPr dirty="0"/>
              <a:t>: </a:t>
            </a:r>
            <a:r>
              <a:rPr dirty="0" err="1"/>
              <a:t>Nutzen</a:t>
            </a:r>
            <a:r>
              <a:rPr dirty="0"/>
              <a:t> Sie </a:t>
            </a:r>
            <a:r>
              <a:rPr dirty="0" err="1"/>
              <a:t>ein</a:t>
            </a:r>
            <a:r>
              <a:rPr dirty="0"/>
              <a:t> S4-Modell für </a:t>
            </a:r>
            <a:r>
              <a:rPr dirty="0" err="1"/>
              <a:t>kleine</a:t>
            </a:r>
            <a:r>
              <a:rPr dirty="0"/>
              <a:t> </a:t>
            </a:r>
            <a:r>
              <a:rPr dirty="0" err="1"/>
              <a:t>Objekte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M1-Modell für </a:t>
            </a:r>
            <a:r>
              <a:rPr dirty="0" err="1"/>
              <a:t>größere</a:t>
            </a:r>
            <a:r>
              <a:rPr dirty="0"/>
              <a:t> </a:t>
            </a:r>
            <a:r>
              <a:rPr dirty="0" err="1"/>
              <a:t>Drucke</a:t>
            </a:r>
            <a:r>
              <a:rPr dirty="0"/>
              <a:t>, die </a:t>
            </a:r>
            <a:r>
              <a:rPr dirty="0" err="1"/>
              <a:t>etwa</a:t>
            </a:r>
            <a:r>
              <a:rPr dirty="0"/>
              <a:t> 70 g Filament </a:t>
            </a:r>
            <a:r>
              <a:rPr dirty="0" err="1"/>
              <a:t>benötigen</a:t>
            </a:r>
            <a:r>
              <a:rPr dirty="0"/>
              <a:t>.</a:t>
            </a:r>
          </a:p>
          <a:p>
            <a:pPr marL="228600" indent="-228600">
              <a:buSzPct val="100000"/>
              <a:buAutoNum type="arabicPeriod"/>
              <a:defRPr sz="1000"/>
            </a:pPr>
            <a:r>
              <a:rPr dirty="0" err="1"/>
              <a:t>Profil</a:t>
            </a:r>
            <a:r>
              <a:rPr dirty="0"/>
              <a:t> und </a:t>
            </a:r>
            <a:r>
              <a:rPr dirty="0" err="1"/>
              <a:t>Druckplatte</a:t>
            </a:r>
            <a:r>
              <a:rPr dirty="0"/>
              <a:t> </a:t>
            </a:r>
            <a:r>
              <a:rPr dirty="0" err="1"/>
              <a:t>auswählen</a:t>
            </a:r>
            <a:r>
              <a:rPr dirty="0"/>
              <a:t>: </a:t>
            </a:r>
            <a:r>
              <a:rPr dirty="0" err="1"/>
              <a:t>Entscheiden</a:t>
            </a:r>
            <a:r>
              <a:rPr dirty="0"/>
              <a:t> Sie </a:t>
            </a:r>
            <a:r>
              <a:rPr dirty="0" err="1"/>
              <a:t>sich</a:t>
            </a:r>
            <a:r>
              <a:rPr dirty="0"/>
              <a:t> für die </a:t>
            </a:r>
            <a:r>
              <a:rPr dirty="0" err="1"/>
              <a:t>Druckplatte</a:t>
            </a:r>
            <a:r>
              <a:rPr dirty="0"/>
              <a:t>, die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Ihrem</a:t>
            </a:r>
            <a:r>
              <a:rPr dirty="0"/>
              <a:t> </a:t>
            </a:r>
            <a:r>
              <a:rPr dirty="0" err="1"/>
              <a:t>gewünschten</a:t>
            </a:r>
            <a:r>
              <a:rPr dirty="0"/>
              <a:t> </a:t>
            </a:r>
            <a:r>
              <a:rPr dirty="0" err="1"/>
              <a:t>Mischungsverhältnis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Muster </a:t>
            </a:r>
            <a:r>
              <a:rPr dirty="0" err="1"/>
              <a:t>passt</a:t>
            </a:r>
            <a:r>
              <a:rPr dirty="0"/>
              <a:t>.</a:t>
            </a:r>
          </a:p>
          <a:p>
            <a:pPr marL="228600" indent="-228600">
              <a:buSzPct val="100000"/>
              <a:buAutoNum type="arabicPeriod"/>
              <a:defRPr sz="1000"/>
            </a:pPr>
            <a:r>
              <a:rPr dirty="0" err="1"/>
              <a:t>Filamente</a:t>
            </a:r>
            <a:r>
              <a:rPr dirty="0"/>
              <a:t> </a:t>
            </a:r>
            <a:r>
              <a:rPr dirty="0" err="1"/>
              <a:t>zuweisen</a:t>
            </a:r>
            <a:r>
              <a:rPr dirty="0"/>
              <a:t> und </a:t>
            </a:r>
            <a:r>
              <a:rPr dirty="0" err="1"/>
              <a:t>slicen</a:t>
            </a:r>
            <a:r>
              <a:rPr dirty="0"/>
              <a:t>: </a:t>
            </a:r>
            <a:r>
              <a:rPr dirty="0" err="1"/>
              <a:t>Nutzen</a:t>
            </a:r>
            <a:r>
              <a:rPr dirty="0"/>
              <a:t> Sie </a:t>
            </a:r>
            <a:r>
              <a:rPr dirty="0" err="1"/>
              <a:t>Filamente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identischem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ähnlichem</a:t>
            </a:r>
            <a:r>
              <a:rPr dirty="0"/>
              <a:t> Material, </a:t>
            </a:r>
            <a:r>
              <a:rPr dirty="0" err="1"/>
              <a:t>führen</a:t>
            </a:r>
            <a:r>
              <a:rPr dirty="0"/>
              <a:t> Sie die </a:t>
            </a:r>
            <a:r>
              <a:rPr dirty="0" err="1"/>
              <a:t>Zuweisung</a:t>
            </a:r>
            <a:r>
              <a:rPr dirty="0"/>
              <a:t> </a:t>
            </a:r>
            <a:r>
              <a:rPr dirty="0" err="1"/>
              <a:t>durch</a:t>
            </a:r>
            <a:r>
              <a:rPr dirty="0"/>
              <a:t>, </a:t>
            </a:r>
            <a:r>
              <a:rPr dirty="0" err="1"/>
              <a:t>slicen</a:t>
            </a:r>
            <a:r>
              <a:rPr dirty="0"/>
              <a:t> Sie das Modell und </a:t>
            </a:r>
            <a:r>
              <a:rPr dirty="0" err="1"/>
              <a:t>beachten</a:t>
            </a:r>
            <a:r>
              <a:rPr dirty="0"/>
              <a:t> Sie </a:t>
            </a:r>
            <a:r>
              <a:rPr dirty="0" err="1"/>
              <a:t>vor</a:t>
            </a:r>
            <a:r>
              <a:rPr dirty="0"/>
              <a:t> dem Druck die </a:t>
            </a:r>
            <a:r>
              <a:rPr dirty="0" err="1"/>
              <a:t>Druckhinweise</a:t>
            </a:r>
            <a:r>
              <a:rPr dirty="0"/>
              <a:t>.</a:t>
            </a:r>
          </a:p>
        </p:txBody>
      </p:sp>
      <p:sp>
        <p:nvSpPr>
          <p:cNvPr id="125" name="テキスト ボックス 26"/>
          <p:cNvSpPr txBox="1"/>
          <p:nvPr/>
        </p:nvSpPr>
        <p:spPr>
          <a:xfrm>
            <a:off x="816562" y="8157903"/>
            <a:ext cx="537256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latin typeface="JostRoman-Light"/>
                <a:ea typeface="JostRoman-Light"/>
                <a:cs typeface="JostRoman-Light"/>
                <a:sym typeface="JostRoman-Light"/>
              </a:defRPr>
            </a:pPr>
            <a:r>
              <a:rPr dirty="0"/>
              <a:t>*</a:t>
            </a:r>
            <a:r>
              <a:rPr dirty="0" err="1"/>
              <a:t>Hinweis</a:t>
            </a:r>
            <a:r>
              <a:rPr dirty="0"/>
              <a:t>: Der </a:t>
            </a:r>
            <a:r>
              <a:rPr dirty="0" err="1"/>
              <a:t>Begriff</a:t>
            </a:r>
            <a:r>
              <a:rPr dirty="0"/>
              <a:t> „</a:t>
            </a:r>
            <a:r>
              <a:rPr dirty="0" err="1"/>
              <a:t>Profil</a:t>
            </a:r>
            <a:r>
              <a:rPr dirty="0"/>
              <a:t>“ </a:t>
            </a:r>
            <a:r>
              <a:rPr dirty="0" err="1"/>
              <a:t>steht</a:t>
            </a:r>
            <a:r>
              <a:rPr dirty="0"/>
              <a:t> in </a:t>
            </a:r>
            <a:r>
              <a:rPr dirty="0">
                <a:latin typeface="Jost SemiBold" pitchFamily="2" charset="0"/>
                <a:ea typeface="Jost SemiBold" pitchFamily="2" charset="0"/>
              </a:rPr>
              <a:t>FlexChroma</a:t>
            </a:r>
            <a:r>
              <a:rPr dirty="0"/>
              <a:t> für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Einteilung</a:t>
            </a:r>
            <a:r>
              <a:rPr dirty="0"/>
              <a:t> </a:t>
            </a:r>
            <a:r>
              <a:rPr dirty="0" err="1"/>
              <a:t>nach</a:t>
            </a:r>
            <a:r>
              <a:rPr dirty="0"/>
              <a:t> </a:t>
            </a:r>
            <a:r>
              <a:rPr dirty="0" err="1"/>
              <a:t>Verwendungszweck</a:t>
            </a:r>
            <a:r>
              <a:rPr dirty="0"/>
              <a:t>, nicht für </a:t>
            </a:r>
            <a:r>
              <a:rPr dirty="0" err="1"/>
              <a:t>abweichende</a:t>
            </a:r>
            <a:r>
              <a:rPr dirty="0"/>
              <a:t> </a:t>
            </a:r>
            <a:r>
              <a:rPr dirty="0" err="1"/>
              <a:t>Druckeinstellungen</a:t>
            </a:r>
            <a:r>
              <a:rPr dirty="0"/>
              <a:t>.</a:t>
            </a:r>
          </a:p>
        </p:txBody>
      </p:sp>
      <p:grpSp>
        <p:nvGrpSpPr>
          <p:cNvPr id="128" name="グループ化 22"/>
          <p:cNvGrpSpPr/>
          <p:nvPr/>
        </p:nvGrpSpPr>
        <p:grpSpPr>
          <a:xfrm>
            <a:off x="993974" y="441444"/>
            <a:ext cx="4877319" cy="377794"/>
            <a:chOff x="0" y="0"/>
            <a:chExt cx="4781215" cy="377792"/>
          </a:xfrm>
        </p:grpSpPr>
        <p:sp>
          <p:nvSpPr>
            <p:cNvPr id="126" name="四角形: 上の 2 つの角を丸める 2"/>
            <p:cNvSpPr/>
            <p:nvPr/>
          </p:nvSpPr>
          <p:spPr>
            <a:xfrm>
              <a:off x="0" y="-1"/>
              <a:ext cx="4781214" cy="3777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53" y="0"/>
                  </a:moveTo>
                  <a:lnTo>
                    <a:pt x="20747" y="0"/>
                  </a:lnTo>
                  <a:cubicBezTo>
                    <a:pt x="21218" y="0"/>
                    <a:pt x="21600" y="4835"/>
                    <a:pt x="21600" y="10800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10800"/>
                  </a:lnTo>
                  <a:cubicBezTo>
                    <a:pt x="0" y="4835"/>
                    <a:pt x="382" y="0"/>
                    <a:pt x="853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>
              <a:solidFill>
                <a:srgbClr val="092937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27" name="四角形: 上の 2 つの角を丸める 3"/>
            <p:cNvSpPr/>
            <p:nvPr/>
          </p:nvSpPr>
          <p:spPr>
            <a:xfrm>
              <a:off x="-1" y="267182"/>
              <a:ext cx="4781217" cy="110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50" y="0"/>
                  </a:moveTo>
                  <a:lnTo>
                    <a:pt x="21350" y="0"/>
                  </a:lnTo>
                  <a:cubicBezTo>
                    <a:pt x="21488" y="0"/>
                    <a:pt x="21600" y="4835"/>
                    <a:pt x="21600" y="10800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10800"/>
                  </a:lnTo>
                  <a:cubicBezTo>
                    <a:pt x="0" y="4835"/>
                    <a:pt x="112" y="0"/>
                    <a:pt x="250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>
              <a:solidFill>
                <a:srgbClr val="092937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131" name="グループ化 23"/>
          <p:cNvGrpSpPr/>
          <p:nvPr/>
        </p:nvGrpSpPr>
        <p:grpSpPr>
          <a:xfrm>
            <a:off x="993973" y="2224672"/>
            <a:ext cx="4877319" cy="377794"/>
            <a:chOff x="0" y="0"/>
            <a:chExt cx="4781215" cy="377792"/>
          </a:xfrm>
        </p:grpSpPr>
        <p:sp>
          <p:nvSpPr>
            <p:cNvPr id="129" name="四角形: 上の 2 つの角を丸める 27"/>
            <p:cNvSpPr/>
            <p:nvPr/>
          </p:nvSpPr>
          <p:spPr>
            <a:xfrm rot="10800000">
              <a:off x="1" y="0"/>
              <a:ext cx="4781214" cy="3777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53" y="0"/>
                  </a:moveTo>
                  <a:lnTo>
                    <a:pt x="20747" y="0"/>
                  </a:lnTo>
                  <a:cubicBezTo>
                    <a:pt x="21218" y="0"/>
                    <a:pt x="21600" y="4835"/>
                    <a:pt x="21600" y="10800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10800"/>
                  </a:lnTo>
                  <a:cubicBezTo>
                    <a:pt x="0" y="4835"/>
                    <a:pt x="382" y="0"/>
                    <a:pt x="853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>
              <a:solidFill>
                <a:srgbClr val="092937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0" name="四角形: 上の 2 つの角を丸める 29"/>
            <p:cNvSpPr/>
            <p:nvPr/>
          </p:nvSpPr>
          <p:spPr>
            <a:xfrm rot="10800000">
              <a:off x="-1" y="0"/>
              <a:ext cx="4781217" cy="110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50" y="0"/>
                  </a:moveTo>
                  <a:lnTo>
                    <a:pt x="21350" y="0"/>
                  </a:lnTo>
                  <a:cubicBezTo>
                    <a:pt x="21488" y="0"/>
                    <a:pt x="21600" y="4835"/>
                    <a:pt x="21600" y="10800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10800"/>
                  </a:lnTo>
                  <a:cubicBezTo>
                    <a:pt x="0" y="4835"/>
                    <a:pt x="112" y="0"/>
                    <a:pt x="250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>
              <a:solidFill>
                <a:srgbClr val="092937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32" name="テキスト ボックス 30"/>
          <p:cNvSpPr txBox="1"/>
          <p:nvPr/>
        </p:nvSpPr>
        <p:spPr>
          <a:xfrm>
            <a:off x="1934144" y="1459500"/>
            <a:ext cx="307231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/>
            </a:lvl1pPr>
          </a:lstStyle>
          <a:p>
            <a:r>
              <a:rPr dirty="0"/>
              <a:t>- </a:t>
            </a:r>
            <a:r>
              <a:rPr dirty="0">
                <a:latin typeface="Jost SemiBold" pitchFamily="2" charset="0"/>
                <a:ea typeface="Jost SemiBold" pitchFamily="2" charset="0"/>
              </a:rPr>
              <a:t>FlexChroma</a:t>
            </a:r>
            <a:r>
              <a:rPr dirty="0"/>
              <a:t> </a:t>
            </a:r>
            <a:r>
              <a:rPr dirty="0" err="1">
                <a:latin typeface="Jost" pitchFamily="2" charset="0"/>
                <a:ea typeface="Jost" pitchFamily="2" charset="0"/>
              </a:rPr>
              <a:t>Dokumentenarchiv</a:t>
            </a:r>
            <a:r>
              <a:rPr dirty="0"/>
              <a:t> -</a:t>
            </a:r>
          </a:p>
        </p:txBody>
      </p:sp>
      <p:sp>
        <p:nvSpPr>
          <p:cNvPr id="133" name="テキスト ボックス 33"/>
          <p:cNvSpPr txBox="1"/>
          <p:nvPr/>
        </p:nvSpPr>
        <p:spPr>
          <a:xfrm>
            <a:off x="2657017" y="1806153"/>
            <a:ext cx="1543966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/>
            </a:lvl1pPr>
          </a:lstStyle>
          <a:p>
            <a:r>
              <a:rPr dirty="0"/>
              <a:t>Ver.1.00  2026.9.1</a:t>
            </a:r>
          </a:p>
        </p:txBody>
      </p:sp>
      <p:pic>
        <p:nvPicPr>
          <p:cNvPr id="134" name="FlexChroma-icon3.png" descr="FlexChroma-icon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72" y="877017"/>
            <a:ext cx="484295" cy="466866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6E8A4CD3-6911-29A5-264C-B3E55E7BD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01" y="5093007"/>
            <a:ext cx="5813043" cy="1099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正方形/長方形 1"/>
          <p:cNvSpPr/>
          <p:nvPr/>
        </p:nvSpPr>
        <p:spPr>
          <a:xfrm>
            <a:off x="33951" y="45268"/>
            <a:ext cx="6790099" cy="9053465"/>
          </a:xfrm>
          <a:prstGeom prst="rect">
            <a:avLst/>
          </a:prstGeom>
          <a:gradFill>
            <a:gsLst>
              <a:gs pos="10000">
                <a:srgbClr val="EE00B0"/>
              </a:gs>
              <a:gs pos="50000">
                <a:srgbClr val="6200E8"/>
              </a:gs>
              <a:gs pos="90000">
                <a:srgbClr val="0095E5"/>
              </a:gs>
            </a:gsLst>
            <a:lin ang="1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8" name="正方形/長方形 4"/>
          <p:cNvSpPr/>
          <p:nvPr/>
        </p:nvSpPr>
        <p:spPr>
          <a:xfrm>
            <a:off x="7825" y="0"/>
            <a:ext cx="6858001" cy="9144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43" name="グループ化 9"/>
          <p:cNvGrpSpPr/>
          <p:nvPr/>
        </p:nvGrpSpPr>
        <p:grpSpPr>
          <a:xfrm>
            <a:off x="0" y="-1"/>
            <a:ext cx="6865270" cy="9144002"/>
            <a:chOff x="0" y="0"/>
            <a:chExt cx="6865269" cy="9144001"/>
          </a:xfrm>
        </p:grpSpPr>
        <p:sp>
          <p:nvSpPr>
            <p:cNvPr id="139" name="正方形/長方形 5"/>
            <p:cNvSpPr/>
            <p:nvPr/>
          </p:nvSpPr>
          <p:spPr>
            <a:xfrm>
              <a:off x="0" y="-1"/>
              <a:ext cx="6858001" cy="432001"/>
            </a:xfrm>
            <a:prstGeom prst="rect">
              <a:avLst/>
            </a:prstGeom>
            <a:solidFill>
              <a:srgbClr val="F2AA84">
                <a:alpha val="10000"/>
              </a:srgbClr>
            </a:solidFill>
            <a:ln w="19050" cap="flat">
              <a:solidFill>
                <a:srgbClr val="80350E"/>
              </a:solidFill>
              <a:prstDash val="dash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0" name="正方形/長方形 6"/>
            <p:cNvSpPr/>
            <p:nvPr/>
          </p:nvSpPr>
          <p:spPr>
            <a:xfrm>
              <a:off x="0" y="8712000"/>
              <a:ext cx="6858001" cy="432000"/>
            </a:xfrm>
            <a:prstGeom prst="rect">
              <a:avLst/>
            </a:prstGeom>
            <a:solidFill>
              <a:srgbClr val="F2AA84">
                <a:alpha val="10000"/>
              </a:srgbClr>
            </a:solidFill>
            <a:ln w="19050" cap="flat">
              <a:solidFill>
                <a:srgbClr val="80350E"/>
              </a:solidFill>
              <a:prstDash val="dash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1" name="正方形/長方形 7"/>
            <p:cNvSpPr/>
            <p:nvPr/>
          </p:nvSpPr>
          <p:spPr>
            <a:xfrm>
              <a:off x="0" y="0"/>
              <a:ext cx="540001" cy="9144001"/>
            </a:xfrm>
            <a:prstGeom prst="rect">
              <a:avLst/>
            </a:prstGeom>
            <a:solidFill>
              <a:srgbClr val="F2AA84">
                <a:alpha val="10000"/>
              </a:srgbClr>
            </a:solidFill>
            <a:ln w="19050" cap="flat">
              <a:solidFill>
                <a:srgbClr val="80350E"/>
              </a:solidFill>
              <a:prstDash val="dash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2" name="正方形/長方形 8"/>
            <p:cNvSpPr/>
            <p:nvPr/>
          </p:nvSpPr>
          <p:spPr>
            <a:xfrm>
              <a:off x="6325269" y="-1"/>
              <a:ext cx="540001" cy="9144001"/>
            </a:xfrm>
            <a:prstGeom prst="rect">
              <a:avLst/>
            </a:prstGeom>
            <a:solidFill>
              <a:srgbClr val="F2AA84">
                <a:alpha val="10000"/>
              </a:srgbClr>
            </a:solidFill>
            <a:ln w="19050" cap="flat">
              <a:solidFill>
                <a:srgbClr val="80350E"/>
              </a:solidFill>
              <a:prstDash val="dash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44" name="正方形/長方形 12"/>
          <p:cNvSpPr/>
          <p:nvPr/>
        </p:nvSpPr>
        <p:spPr>
          <a:xfrm>
            <a:off x="554536" y="452468"/>
            <a:ext cx="5756195" cy="5400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5" name="正方形/長方形 14"/>
          <p:cNvSpPr/>
          <p:nvPr/>
        </p:nvSpPr>
        <p:spPr>
          <a:xfrm>
            <a:off x="554537" y="8661917"/>
            <a:ext cx="2592002" cy="5400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6" name="正方形/長方形 15"/>
          <p:cNvSpPr/>
          <p:nvPr/>
        </p:nvSpPr>
        <p:spPr>
          <a:xfrm>
            <a:off x="3734844" y="8661917"/>
            <a:ext cx="2592001" cy="5400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7" name="テキスト ボックス 16"/>
          <p:cNvSpPr txBox="1"/>
          <p:nvPr/>
        </p:nvSpPr>
        <p:spPr>
          <a:xfrm>
            <a:off x="3209546" y="8485377"/>
            <a:ext cx="484295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/>
          </a:lstStyle>
          <a:p>
            <a:r>
              <a:t>2</a:t>
            </a:r>
          </a:p>
        </p:txBody>
      </p:sp>
      <p:sp>
        <p:nvSpPr>
          <p:cNvPr id="148" name="楕円 13"/>
          <p:cNvSpPr/>
          <p:nvPr/>
        </p:nvSpPr>
        <p:spPr>
          <a:xfrm>
            <a:off x="566174" y="655549"/>
            <a:ext cx="204671" cy="204671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9" name="楕円 19"/>
          <p:cNvSpPr/>
          <p:nvPr/>
        </p:nvSpPr>
        <p:spPr>
          <a:xfrm>
            <a:off x="566174" y="2534513"/>
            <a:ext cx="204671" cy="204671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0" name="テキスト ボックス 2"/>
          <p:cNvSpPr txBox="1"/>
          <p:nvPr/>
        </p:nvSpPr>
        <p:spPr>
          <a:xfrm>
            <a:off x="816563" y="546516"/>
            <a:ext cx="2373057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 b="1">
                <a:latin typeface="JostRoman-SemiBold"/>
                <a:ea typeface="JostRoman-SemiBold"/>
                <a:cs typeface="JostRoman-SemiBold"/>
                <a:sym typeface="JostRoman-SemiBold"/>
              </a:defRPr>
            </a:lvl1pPr>
          </a:lstStyle>
          <a:p>
            <a:r>
              <a:rPr dirty="0"/>
              <a:t>3. FlexChroma HUB</a:t>
            </a:r>
          </a:p>
        </p:txBody>
      </p:sp>
      <p:sp>
        <p:nvSpPr>
          <p:cNvPr id="151" name="テキスト ボックス 10"/>
          <p:cNvSpPr txBox="1"/>
          <p:nvPr/>
        </p:nvSpPr>
        <p:spPr>
          <a:xfrm>
            <a:off x="714228" y="886688"/>
            <a:ext cx="5558051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/>
            </a:pPr>
            <a:r>
              <a:rPr dirty="0"/>
              <a:t>Der </a:t>
            </a:r>
            <a:r>
              <a:rPr dirty="0">
                <a:latin typeface="Jost SemiBold" pitchFamily="2" charset="0"/>
                <a:ea typeface="Jost SemiBold" pitchFamily="2" charset="0"/>
              </a:rPr>
              <a:t>FlexChroma</a:t>
            </a:r>
            <a:r>
              <a:rPr dirty="0"/>
              <a:t>-Hub </a:t>
            </a:r>
            <a:r>
              <a:rPr dirty="0" err="1"/>
              <a:t>ist</a:t>
            </a:r>
            <a:r>
              <a:rPr dirty="0"/>
              <a:t> der </a:t>
            </a:r>
            <a:r>
              <a:rPr dirty="0" err="1"/>
              <a:t>zentrale</a:t>
            </a:r>
            <a:r>
              <a:rPr dirty="0"/>
              <a:t> </a:t>
            </a:r>
            <a:r>
              <a:rPr dirty="0" err="1"/>
              <a:t>Einstiegspunkt</a:t>
            </a:r>
            <a:r>
              <a:rPr dirty="0"/>
              <a:t> auf MakerWorld und </a:t>
            </a:r>
            <a:r>
              <a:rPr dirty="0" err="1"/>
              <a:t>bietet</a:t>
            </a:r>
            <a:r>
              <a:rPr dirty="0"/>
              <a:t> </a:t>
            </a:r>
            <a:r>
              <a:rPr dirty="0" err="1"/>
              <a:t>Zugang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allen</a:t>
            </a:r>
            <a:r>
              <a:rPr dirty="0"/>
              <a:t> </a:t>
            </a:r>
            <a:r>
              <a:rPr dirty="0" err="1"/>
              <a:t>Serien</a:t>
            </a:r>
            <a:r>
              <a:rPr dirty="0"/>
              <a:t> und </a:t>
            </a:r>
            <a:r>
              <a:rPr dirty="0" err="1"/>
              <a:t>externen</a:t>
            </a:r>
            <a:r>
              <a:rPr dirty="0"/>
              <a:t> </a:t>
            </a:r>
            <a:r>
              <a:rPr dirty="0" err="1"/>
              <a:t>Portalen</a:t>
            </a:r>
            <a:r>
              <a:rPr dirty="0"/>
              <a:t>. </a:t>
            </a:r>
            <a:r>
              <a:rPr b="1" dirty="0">
                <a:latin typeface="JostRoman-Bold"/>
                <a:ea typeface="JostRoman-Bold"/>
                <a:cs typeface="JostRoman-Bold"/>
                <a:sym typeface="JostRoman-Bold"/>
              </a:rPr>
              <a:t>Wenn Sie </a:t>
            </a:r>
            <a:r>
              <a:rPr b="1" dirty="0" err="1">
                <a:latin typeface="JostRoman-Bold"/>
                <a:ea typeface="JostRoman-Bold"/>
                <a:cs typeface="JostRoman-Bold"/>
                <a:sym typeface="JostRoman-Bold"/>
              </a:rPr>
              <a:t>sich</a:t>
            </a:r>
            <a:r>
              <a:rPr b="1" dirty="0">
                <a:latin typeface="JostRoman-Bold"/>
                <a:ea typeface="JostRoman-Bold"/>
                <a:cs typeface="JostRoman-Bold"/>
                <a:sym typeface="JostRoman-Bold"/>
              </a:rPr>
              <a:t> </a:t>
            </a:r>
            <a:r>
              <a:rPr b="1" dirty="0" err="1">
                <a:latin typeface="JostRoman-Bold"/>
                <a:ea typeface="JostRoman-Bold"/>
                <a:cs typeface="JostRoman-Bold"/>
                <a:sym typeface="JostRoman-Bold"/>
              </a:rPr>
              <a:t>unsicher</a:t>
            </a:r>
            <a:r>
              <a:rPr b="1" dirty="0">
                <a:latin typeface="JostRoman-Bold"/>
                <a:ea typeface="JostRoman-Bold"/>
                <a:cs typeface="JostRoman-Bold"/>
                <a:sym typeface="JostRoman-Bold"/>
              </a:rPr>
              <a:t> </a:t>
            </a:r>
            <a:r>
              <a:rPr b="1" dirty="0" err="1">
                <a:latin typeface="JostRoman-Bold"/>
                <a:ea typeface="JostRoman-Bold"/>
                <a:cs typeface="JostRoman-Bold"/>
                <a:sym typeface="JostRoman-Bold"/>
              </a:rPr>
              <a:t>sind</a:t>
            </a:r>
            <a:r>
              <a:rPr b="1" dirty="0">
                <a:latin typeface="JostRoman-Bold"/>
                <a:ea typeface="JostRoman-Bold"/>
                <a:cs typeface="JostRoman-Bold"/>
                <a:sym typeface="JostRoman-Bold"/>
              </a:rPr>
              <a:t>, wo Sie </a:t>
            </a:r>
            <a:r>
              <a:rPr b="1" dirty="0" err="1">
                <a:latin typeface="JostRoman-Bold"/>
                <a:ea typeface="JostRoman-Bold"/>
                <a:cs typeface="JostRoman-Bold"/>
                <a:sym typeface="JostRoman-Bold"/>
              </a:rPr>
              <a:t>beginnen</a:t>
            </a:r>
            <a:r>
              <a:rPr b="1" dirty="0">
                <a:latin typeface="JostRoman-Bold"/>
                <a:ea typeface="JostRoman-Bold"/>
                <a:cs typeface="JostRoman-Bold"/>
                <a:sym typeface="JostRoman-Bold"/>
              </a:rPr>
              <a:t> </a:t>
            </a:r>
            <a:r>
              <a:rPr b="1" dirty="0" err="1">
                <a:latin typeface="JostRoman-Bold"/>
                <a:ea typeface="JostRoman-Bold"/>
                <a:cs typeface="JostRoman-Bold"/>
                <a:sym typeface="JostRoman-Bold"/>
              </a:rPr>
              <a:t>sollen</a:t>
            </a:r>
            <a:r>
              <a:rPr b="1" dirty="0">
                <a:latin typeface="JostRoman-Bold"/>
                <a:ea typeface="JostRoman-Bold"/>
                <a:cs typeface="JostRoman-Bold"/>
                <a:sym typeface="JostRoman-Bold"/>
              </a:rPr>
              <a:t>, </a:t>
            </a:r>
            <a:r>
              <a:rPr b="1" dirty="0" err="1">
                <a:latin typeface="JostRoman-Bold"/>
                <a:ea typeface="JostRoman-Bold"/>
                <a:cs typeface="JostRoman-Bold"/>
                <a:sym typeface="JostRoman-Bold"/>
              </a:rPr>
              <a:t>öffnen</a:t>
            </a:r>
            <a:r>
              <a:rPr b="1" dirty="0">
                <a:latin typeface="JostRoman-Bold"/>
                <a:ea typeface="JostRoman-Bold"/>
                <a:cs typeface="JostRoman-Bold"/>
                <a:sym typeface="JostRoman-Bold"/>
              </a:rPr>
              <a:t> Sie am </a:t>
            </a:r>
            <a:r>
              <a:rPr b="1" dirty="0" err="1">
                <a:latin typeface="JostRoman-Bold"/>
                <a:ea typeface="JostRoman-Bold"/>
                <a:cs typeface="JostRoman-Bold"/>
                <a:sym typeface="JostRoman-Bold"/>
              </a:rPr>
              <a:t>besten</a:t>
            </a:r>
            <a:r>
              <a:rPr b="1" dirty="0">
                <a:latin typeface="JostRoman-Bold"/>
                <a:ea typeface="JostRoman-Bold"/>
                <a:cs typeface="JostRoman-Bold"/>
                <a:sym typeface="JostRoman-Bold"/>
              </a:rPr>
              <a:t> </a:t>
            </a:r>
            <a:r>
              <a:rPr b="1" dirty="0" err="1">
                <a:latin typeface="JostRoman-Bold"/>
                <a:ea typeface="JostRoman-Bold"/>
                <a:cs typeface="JostRoman-Bold"/>
                <a:sym typeface="JostRoman-Bold"/>
              </a:rPr>
              <a:t>zuerst</a:t>
            </a:r>
            <a:r>
              <a:rPr b="1" dirty="0">
                <a:latin typeface="JostRoman-Bold"/>
                <a:ea typeface="JostRoman-Bold"/>
                <a:cs typeface="JostRoman-Bold"/>
                <a:sym typeface="JostRoman-Bold"/>
              </a:rPr>
              <a:t> dieses Modell.</a:t>
            </a:r>
          </a:p>
        </p:txBody>
      </p:sp>
      <p:sp>
        <p:nvSpPr>
          <p:cNvPr id="152" name="テキスト ボックス 11"/>
          <p:cNvSpPr txBox="1"/>
          <p:nvPr/>
        </p:nvSpPr>
        <p:spPr>
          <a:xfrm>
            <a:off x="816564" y="2439572"/>
            <a:ext cx="200646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 b="1">
                <a:latin typeface="JostRoman-SemiBold"/>
                <a:ea typeface="JostRoman-SemiBold"/>
                <a:cs typeface="JostRoman-SemiBold"/>
                <a:sym typeface="JostRoman-SemiBold"/>
              </a:defRPr>
            </a:lvl1pPr>
          </a:lstStyle>
          <a:p>
            <a:r>
              <a:t>4. Mischfilament</a:t>
            </a:r>
          </a:p>
        </p:txBody>
      </p:sp>
      <p:sp>
        <p:nvSpPr>
          <p:cNvPr id="153" name="テキスト ボックス 22"/>
          <p:cNvSpPr txBox="1"/>
          <p:nvPr/>
        </p:nvSpPr>
        <p:spPr>
          <a:xfrm>
            <a:off x="714228" y="2819223"/>
            <a:ext cx="5550784" cy="1400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/>
            </a:pPr>
            <a:r>
              <a:rPr dirty="0"/>
              <a:t>Die </a:t>
            </a:r>
            <a:r>
              <a:rPr dirty="0" err="1"/>
              <a:t>Mischfilament</a:t>
            </a:r>
            <a:r>
              <a:rPr dirty="0"/>
              <a:t> Serie </a:t>
            </a:r>
            <a:r>
              <a:rPr dirty="0" err="1"/>
              <a:t>bildet</a:t>
            </a:r>
            <a:r>
              <a:rPr dirty="0"/>
              <a:t> das </a:t>
            </a:r>
            <a:r>
              <a:rPr dirty="0" err="1"/>
              <a:t>grundlegendste</a:t>
            </a:r>
            <a:r>
              <a:rPr dirty="0"/>
              <a:t> </a:t>
            </a:r>
            <a:r>
              <a:rPr dirty="0" err="1"/>
              <a:t>Sortiment</a:t>
            </a:r>
            <a:r>
              <a:rPr dirty="0"/>
              <a:t> von </a:t>
            </a:r>
            <a:r>
              <a:rPr dirty="0">
                <a:latin typeface="Jost SemiBold" pitchFamily="2" charset="0"/>
                <a:ea typeface="Jost SemiBold" pitchFamily="2" charset="0"/>
              </a:rPr>
              <a:t>FlexChroma</a:t>
            </a:r>
            <a:r>
              <a:rPr dirty="0"/>
              <a:t>. Sie </a:t>
            </a:r>
            <a:r>
              <a:rPr dirty="0" err="1"/>
              <a:t>ermöglicht</a:t>
            </a:r>
            <a:r>
              <a:rPr dirty="0"/>
              <a:t> es Ihnen, </a:t>
            </a:r>
            <a:r>
              <a:rPr dirty="0" err="1"/>
              <a:t>zwei</a:t>
            </a:r>
            <a:r>
              <a:rPr dirty="0"/>
              <a:t> </a:t>
            </a:r>
            <a:r>
              <a:rPr dirty="0" err="1"/>
              <a:t>Filamente</a:t>
            </a:r>
            <a:r>
              <a:rPr dirty="0"/>
              <a:t> in </a:t>
            </a:r>
            <a:r>
              <a:rPr dirty="0" err="1"/>
              <a:t>verschiedenen</a:t>
            </a:r>
            <a:r>
              <a:rPr dirty="0"/>
              <a:t> </a:t>
            </a:r>
            <a:r>
              <a:rPr dirty="0" err="1"/>
              <a:t>Verhältnissen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mischen</a:t>
            </a:r>
            <a:r>
              <a:rPr dirty="0"/>
              <a:t>, um </a:t>
            </a:r>
            <a:r>
              <a:rPr dirty="0" err="1"/>
              <a:t>Ihre</a:t>
            </a:r>
            <a:r>
              <a:rPr dirty="0"/>
              <a:t> </a:t>
            </a:r>
            <a:r>
              <a:rPr dirty="0" err="1"/>
              <a:t>eigene</a:t>
            </a:r>
            <a:r>
              <a:rPr dirty="0"/>
              <a:t> </a:t>
            </a:r>
            <a:r>
              <a:rPr dirty="0" err="1"/>
              <a:t>individuelle</a:t>
            </a:r>
            <a:r>
              <a:rPr dirty="0"/>
              <a:t> </a:t>
            </a:r>
            <a:r>
              <a:rPr dirty="0" err="1"/>
              <a:t>Farbe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kreieren</a:t>
            </a:r>
            <a:r>
              <a:rPr dirty="0"/>
              <a:t>. </a:t>
            </a:r>
          </a:p>
          <a:p>
            <a:pPr>
              <a:defRPr sz="1000" b="1">
                <a:latin typeface="JostRoman-Bold"/>
                <a:ea typeface="JostRoman-Bold"/>
                <a:cs typeface="JostRoman-Bold"/>
                <a:sym typeface="JostRoman-Bold"/>
              </a:defRPr>
            </a:pPr>
            <a:r>
              <a:rPr dirty="0" err="1"/>
              <a:t>Jedes</a:t>
            </a:r>
            <a:r>
              <a:rPr dirty="0"/>
              <a:t> Modell </a:t>
            </a:r>
            <a:r>
              <a:rPr dirty="0" err="1"/>
              <a:t>deckt</a:t>
            </a:r>
            <a:r>
              <a:rPr dirty="0"/>
              <a:t> </a:t>
            </a:r>
            <a:r>
              <a:rPr dirty="0" err="1"/>
              <a:t>dabei</a:t>
            </a:r>
            <a:r>
              <a:rPr dirty="0"/>
              <a:t> </a:t>
            </a:r>
            <a:r>
              <a:rPr dirty="0" err="1"/>
              <a:t>Mischungsverhältnisse</a:t>
            </a:r>
            <a:r>
              <a:rPr dirty="0"/>
              <a:t> von 50 % bis 99,5 % ab. Für </a:t>
            </a:r>
            <a:r>
              <a:rPr dirty="0" err="1"/>
              <a:t>Werte</a:t>
            </a:r>
            <a:r>
              <a:rPr dirty="0"/>
              <a:t> </a:t>
            </a:r>
            <a:r>
              <a:rPr dirty="0" err="1"/>
              <a:t>unter</a:t>
            </a:r>
            <a:r>
              <a:rPr dirty="0"/>
              <a:t> 50 % </a:t>
            </a:r>
            <a:r>
              <a:rPr dirty="0" err="1"/>
              <a:t>tauschen</a:t>
            </a:r>
            <a:r>
              <a:rPr dirty="0"/>
              <a:t> Sie </a:t>
            </a:r>
            <a:r>
              <a:rPr dirty="0" err="1"/>
              <a:t>einfach</a:t>
            </a:r>
            <a:r>
              <a:rPr dirty="0"/>
              <a:t> Filament A und Filament B </a:t>
            </a:r>
            <a:r>
              <a:rPr dirty="0" err="1"/>
              <a:t>aus.</a:t>
            </a:r>
            <a:endParaRPr dirty="0"/>
          </a:p>
          <a:p>
            <a:pPr>
              <a:defRPr sz="500" b="1">
                <a:latin typeface="JostRoman-Bold"/>
                <a:ea typeface="JostRoman-Bold"/>
                <a:cs typeface="JostRoman-Bold"/>
                <a:sym typeface="JostRoman-Bold"/>
              </a:defRPr>
            </a:pPr>
            <a:endParaRPr dirty="0"/>
          </a:p>
          <a:p>
            <a:pPr>
              <a:defRPr sz="1000"/>
            </a:pPr>
            <a:r>
              <a:rPr dirty="0" err="1"/>
              <a:t>Beispiel</a:t>
            </a:r>
            <a:r>
              <a:rPr dirty="0"/>
              <a:t>: Um </a:t>
            </a:r>
            <a:r>
              <a:rPr dirty="0" err="1"/>
              <a:t>ein</a:t>
            </a:r>
            <a:r>
              <a:rPr dirty="0"/>
              <a:t> Filament </a:t>
            </a:r>
            <a:r>
              <a:rPr dirty="0" err="1"/>
              <a:t>mit</a:t>
            </a:r>
            <a:r>
              <a:rPr dirty="0"/>
              <a:t> 25 % Cyan </a:t>
            </a:r>
            <a:r>
              <a:rPr dirty="0" err="1"/>
              <a:t>gemischt</a:t>
            </a:r>
            <a:r>
              <a:rPr dirty="0"/>
              <a:t> in Gelb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erstellen</a:t>
            </a:r>
            <a:r>
              <a:rPr dirty="0"/>
              <a:t>, </a:t>
            </a:r>
            <a:r>
              <a:rPr dirty="0" err="1"/>
              <a:t>lesen</a:t>
            </a:r>
            <a:r>
              <a:rPr dirty="0"/>
              <a:t> Sie den Wert der </a:t>
            </a:r>
            <a:r>
              <a:rPr dirty="0" err="1"/>
              <a:t>Druckplatte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Verhältnis</a:t>
            </a:r>
            <a:r>
              <a:rPr dirty="0"/>
              <a:t> von Filament A ab, </a:t>
            </a:r>
            <a:r>
              <a:rPr dirty="0" err="1"/>
              <a:t>interpretieren</a:t>
            </a:r>
            <a:r>
              <a:rPr dirty="0"/>
              <a:t> </a:t>
            </a:r>
            <a:r>
              <a:rPr dirty="0" err="1"/>
              <a:t>diesen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75 % Gelb und </a:t>
            </a:r>
            <a:r>
              <a:rPr dirty="0" err="1"/>
              <a:t>slicen</a:t>
            </a:r>
            <a:r>
              <a:rPr dirty="0"/>
              <a:t> das Modell </a:t>
            </a:r>
            <a:r>
              <a:rPr dirty="0" err="1"/>
              <a:t>entsprechend</a:t>
            </a:r>
            <a:r>
              <a:rPr dirty="0"/>
              <a:t>.</a:t>
            </a:r>
          </a:p>
        </p:txBody>
      </p:sp>
      <p:sp>
        <p:nvSpPr>
          <p:cNvPr id="154" name="テキスト ボックス 23"/>
          <p:cNvSpPr txBox="1"/>
          <p:nvPr/>
        </p:nvSpPr>
        <p:spPr>
          <a:xfrm>
            <a:off x="717862" y="5392072"/>
            <a:ext cx="5550783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/>
            </a:lvl1pPr>
          </a:lstStyle>
          <a:p>
            <a:r>
              <a:t>Nachfolgend finden Sie die Modellkonfiguration für das Mischfilament.</a:t>
            </a:r>
          </a:p>
        </p:txBody>
      </p:sp>
      <p:pic>
        <p:nvPicPr>
          <p:cNvPr id="155" name="図 21" descr="図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630" y="5678858"/>
            <a:ext cx="4408740" cy="29017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6" name="ペーストされたムービー.png" descr="ペーストされたムービー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664" y="1492058"/>
            <a:ext cx="4098506" cy="91389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F8BCD32-B926-C125-5103-9FBDBFFE9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00" y="4252052"/>
            <a:ext cx="5812703" cy="109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正方形/長方形 29"/>
          <p:cNvSpPr/>
          <p:nvPr/>
        </p:nvSpPr>
        <p:spPr>
          <a:xfrm>
            <a:off x="51086" y="45267"/>
            <a:ext cx="6790098" cy="9053467"/>
          </a:xfrm>
          <a:prstGeom prst="rect">
            <a:avLst/>
          </a:prstGeom>
          <a:gradFill>
            <a:gsLst>
              <a:gs pos="10000">
                <a:srgbClr val="EE00B0"/>
              </a:gs>
              <a:gs pos="50000">
                <a:srgbClr val="6200E8"/>
              </a:gs>
              <a:gs pos="90000">
                <a:srgbClr val="0095E5"/>
              </a:gs>
            </a:gsLst>
            <a:lin ang="1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0" name="正方形/長方形 4"/>
          <p:cNvSpPr/>
          <p:nvPr/>
        </p:nvSpPr>
        <p:spPr>
          <a:xfrm>
            <a:off x="17134" y="0"/>
            <a:ext cx="6858001" cy="9144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65" name="グループ化 9"/>
          <p:cNvGrpSpPr/>
          <p:nvPr/>
        </p:nvGrpSpPr>
        <p:grpSpPr>
          <a:xfrm>
            <a:off x="0" y="-1"/>
            <a:ext cx="6865270" cy="9144002"/>
            <a:chOff x="0" y="0"/>
            <a:chExt cx="6865269" cy="9144001"/>
          </a:xfrm>
        </p:grpSpPr>
        <p:sp>
          <p:nvSpPr>
            <p:cNvPr id="161" name="正方形/長方形 5"/>
            <p:cNvSpPr/>
            <p:nvPr/>
          </p:nvSpPr>
          <p:spPr>
            <a:xfrm>
              <a:off x="0" y="-1"/>
              <a:ext cx="6858001" cy="432001"/>
            </a:xfrm>
            <a:prstGeom prst="rect">
              <a:avLst/>
            </a:prstGeom>
            <a:solidFill>
              <a:srgbClr val="F2AA84">
                <a:alpha val="10000"/>
              </a:srgbClr>
            </a:solidFill>
            <a:ln w="19050" cap="flat">
              <a:solidFill>
                <a:srgbClr val="80350E"/>
              </a:solidFill>
              <a:prstDash val="dash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2" name="正方形/長方形 6"/>
            <p:cNvSpPr/>
            <p:nvPr/>
          </p:nvSpPr>
          <p:spPr>
            <a:xfrm>
              <a:off x="0" y="8712000"/>
              <a:ext cx="6858001" cy="432000"/>
            </a:xfrm>
            <a:prstGeom prst="rect">
              <a:avLst/>
            </a:prstGeom>
            <a:solidFill>
              <a:srgbClr val="F2AA84">
                <a:alpha val="10000"/>
              </a:srgbClr>
            </a:solidFill>
            <a:ln w="19050" cap="flat">
              <a:solidFill>
                <a:srgbClr val="80350E"/>
              </a:solidFill>
              <a:prstDash val="dash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3" name="正方形/長方形 7"/>
            <p:cNvSpPr/>
            <p:nvPr/>
          </p:nvSpPr>
          <p:spPr>
            <a:xfrm>
              <a:off x="0" y="0"/>
              <a:ext cx="540001" cy="9144001"/>
            </a:xfrm>
            <a:prstGeom prst="rect">
              <a:avLst/>
            </a:prstGeom>
            <a:solidFill>
              <a:srgbClr val="F2AA84">
                <a:alpha val="10000"/>
              </a:srgbClr>
            </a:solidFill>
            <a:ln w="19050" cap="flat">
              <a:solidFill>
                <a:srgbClr val="80350E"/>
              </a:solidFill>
              <a:prstDash val="dash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4" name="正方形/長方形 8"/>
            <p:cNvSpPr/>
            <p:nvPr/>
          </p:nvSpPr>
          <p:spPr>
            <a:xfrm>
              <a:off x="6325269" y="-1"/>
              <a:ext cx="540001" cy="9144001"/>
            </a:xfrm>
            <a:prstGeom prst="rect">
              <a:avLst/>
            </a:prstGeom>
            <a:solidFill>
              <a:srgbClr val="F2AA84">
                <a:alpha val="10000"/>
              </a:srgbClr>
            </a:solidFill>
            <a:ln w="19050" cap="flat">
              <a:solidFill>
                <a:srgbClr val="80350E"/>
              </a:solidFill>
              <a:prstDash val="dash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66" name="正方形/長方形 12"/>
          <p:cNvSpPr/>
          <p:nvPr/>
        </p:nvSpPr>
        <p:spPr>
          <a:xfrm>
            <a:off x="554536" y="452468"/>
            <a:ext cx="5756195" cy="5400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7" name="正方形/長方形 14"/>
          <p:cNvSpPr/>
          <p:nvPr/>
        </p:nvSpPr>
        <p:spPr>
          <a:xfrm>
            <a:off x="554537" y="8661917"/>
            <a:ext cx="2592002" cy="5400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8" name="正方形/長方形 15"/>
          <p:cNvSpPr/>
          <p:nvPr/>
        </p:nvSpPr>
        <p:spPr>
          <a:xfrm>
            <a:off x="3734844" y="8661917"/>
            <a:ext cx="2592001" cy="5400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9" name="テキスト ボックス 16"/>
          <p:cNvSpPr txBox="1"/>
          <p:nvPr/>
        </p:nvSpPr>
        <p:spPr>
          <a:xfrm>
            <a:off x="3209546" y="8485377"/>
            <a:ext cx="484295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/>
          </a:lstStyle>
          <a:p>
            <a:r>
              <a:t>3</a:t>
            </a:r>
          </a:p>
        </p:txBody>
      </p:sp>
      <p:sp>
        <p:nvSpPr>
          <p:cNvPr id="170" name="楕円 13"/>
          <p:cNvSpPr/>
          <p:nvPr/>
        </p:nvSpPr>
        <p:spPr>
          <a:xfrm>
            <a:off x="566174" y="677901"/>
            <a:ext cx="204671" cy="204671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1" name="テキスト ボックス 30"/>
          <p:cNvSpPr txBox="1"/>
          <p:nvPr/>
        </p:nvSpPr>
        <p:spPr>
          <a:xfrm>
            <a:off x="816563" y="570900"/>
            <a:ext cx="2813096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 b="1">
                <a:latin typeface="JostRoman-SemiBold"/>
                <a:ea typeface="JostRoman-SemiBold"/>
                <a:cs typeface="JostRoman-SemiBold"/>
                <a:sym typeface="JostRoman-SemiBold"/>
              </a:defRPr>
            </a:lvl1pPr>
          </a:lstStyle>
          <a:p>
            <a:r>
              <a:rPr dirty="0"/>
              <a:t>5. </a:t>
            </a:r>
            <a:r>
              <a:rPr dirty="0" err="1"/>
              <a:t>Farbverlaufsfilament</a:t>
            </a:r>
            <a:r>
              <a:rPr dirty="0"/>
              <a:t> </a:t>
            </a:r>
          </a:p>
        </p:txBody>
      </p:sp>
      <p:sp>
        <p:nvSpPr>
          <p:cNvPr id="172" name="テキスト ボックス 32"/>
          <p:cNvSpPr txBox="1"/>
          <p:nvPr/>
        </p:nvSpPr>
        <p:spPr>
          <a:xfrm>
            <a:off x="721497" y="4547616"/>
            <a:ext cx="5550783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/>
            </a:lvl1pPr>
          </a:lstStyle>
          <a:p>
            <a:r>
              <a:rPr dirty="0" err="1"/>
              <a:t>Nachfolgend</a:t>
            </a:r>
            <a:r>
              <a:rPr dirty="0"/>
              <a:t> </a:t>
            </a:r>
            <a:r>
              <a:rPr dirty="0" err="1"/>
              <a:t>finden</a:t>
            </a:r>
            <a:r>
              <a:rPr dirty="0"/>
              <a:t> Sie die </a:t>
            </a:r>
            <a:r>
              <a:rPr dirty="0" err="1"/>
              <a:t>Modellkonfiguration</a:t>
            </a:r>
            <a:r>
              <a:rPr dirty="0"/>
              <a:t> für das </a:t>
            </a:r>
            <a:r>
              <a:rPr dirty="0" err="1"/>
              <a:t>Farbverlaufsfilament</a:t>
            </a:r>
            <a:r>
              <a:rPr dirty="0"/>
              <a:t>.</a:t>
            </a:r>
          </a:p>
        </p:txBody>
      </p:sp>
      <p:sp>
        <p:nvSpPr>
          <p:cNvPr id="174" name="テキスト ボックス 18"/>
          <p:cNvSpPr txBox="1"/>
          <p:nvPr/>
        </p:nvSpPr>
        <p:spPr>
          <a:xfrm>
            <a:off x="714228" y="950456"/>
            <a:ext cx="5558051" cy="2669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/>
            </a:pPr>
            <a:r>
              <a:rPr dirty="0"/>
              <a:t>Die </a:t>
            </a:r>
            <a:r>
              <a:rPr dirty="0" err="1"/>
              <a:t>Farbverlaufsfilament</a:t>
            </a:r>
            <a:r>
              <a:rPr dirty="0"/>
              <a:t> Serie </a:t>
            </a:r>
            <a:r>
              <a:rPr dirty="0" err="1"/>
              <a:t>bietet</a:t>
            </a:r>
            <a:r>
              <a:rPr dirty="0"/>
              <a:t> </a:t>
            </a:r>
            <a:r>
              <a:rPr dirty="0" err="1"/>
              <a:t>mehrere</a:t>
            </a:r>
            <a:r>
              <a:rPr dirty="0"/>
              <a:t> </a:t>
            </a:r>
            <a:r>
              <a:rPr dirty="0" err="1"/>
              <a:t>farbwechselnde</a:t>
            </a:r>
            <a:r>
              <a:rPr dirty="0"/>
              <a:t> Profile und </a:t>
            </a:r>
            <a:r>
              <a:rPr dirty="0" err="1"/>
              <a:t>Druckplatten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unterschiedlichen</a:t>
            </a:r>
            <a:r>
              <a:rPr dirty="0"/>
              <a:t> </a:t>
            </a:r>
            <a:r>
              <a:rPr dirty="0" err="1"/>
              <a:t>Zyklusanzahlen</a:t>
            </a:r>
            <a:r>
              <a:rPr dirty="0"/>
              <a:t>. Die Details </a:t>
            </a:r>
            <a:r>
              <a:rPr dirty="0" err="1"/>
              <a:t>variieren</a:t>
            </a:r>
            <a:r>
              <a:rPr dirty="0"/>
              <a:t> je </a:t>
            </a:r>
            <a:r>
              <a:rPr dirty="0" err="1"/>
              <a:t>nach</a:t>
            </a:r>
            <a:r>
              <a:rPr dirty="0"/>
              <a:t> Modell. Bitte </a:t>
            </a:r>
            <a:r>
              <a:rPr dirty="0" err="1"/>
              <a:t>beachten</a:t>
            </a:r>
            <a:r>
              <a:rPr dirty="0"/>
              <a:t> Sie </a:t>
            </a:r>
            <a:r>
              <a:rPr dirty="0" err="1"/>
              <a:t>daher</a:t>
            </a:r>
            <a:r>
              <a:rPr dirty="0"/>
              <a:t> die </a:t>
            </a:r>
            <a:r>
              <a:rPr dirty="0" err="1"/>
              <a:t>Beschreibung</a:t>
            </a:r>
            <a:r>
              <a:rPr dirty="0"/>
              <a:t> des </a:t>
            </a:r>
            <a:r>
              <a:rPr dirty="0" err="1"/>
              <a:t>jeweiligen</a:t>
            </a:r>
            <a:r>
              <a:rPr dirty="0"/>
              <a:t> </a:t>
            </a:r>
            <a:r>
              <a:rPr dirty="0" err="1"/>
              <a:t>Modells</a:t>
            </a:r>
            <a:r>
              <a:rPr dirty="0"/>
              <a:t>.</a:t>
            </a:r>
          </a:p>
          <a:p>
            <a:pPr>
              <a:defRPr sz="1000"/>
            </a:pPr>
            <a:endParaRPr dirty="0"/>
          </a:p>
          <a:p>
            <a:pPr marL="171450" indent="-171450">
              <a:buSzPct val="100000"/>
              <a:buFont typeface="Jost-Regular"/>
              <a:buChar char="•"/>
              <a:defRPr sz="1000"/>
            </a:pPr>
            <a:r>
              <a:rPr dirty="0" err="1"/>
              <a:t>Farbkurve</a:t>
            </a:r>
            <a:r>
              <a:rPr dirty="0"/>
              <a:t>: </a:t>
            </a:r>
            <a:r>
              <a:rPr dirty="0" err="1"/>
              <a:t>Einstellungen</a:t>
            </a:r>
            <a:r>
              <a:rPr dirty="0"/>
              <a:t> </a:t>
            </a:r>
            <a:r>
              <a:rPr dirty="0" err="1"/>
              <a:t>basierend</a:t>
            </a:r>
            <a:r>
              <a:rPr dirty="0"/>
              <a:t> auf </a:t>
            </a:r>
            <a:r>
              <a:rPr dirty="0" err="1"/>
              <a:t>Farbkombinationen</a:t>
            </a:r>
            <a:r>
              <a:rPr dirty="0"/>
              <a:t>. </a:t>
            </a:r>
            <a:r>
              <a:rPr dirty="0" err="1"/>
              <a:t>Diese</a:t>
            </a:r>
            <a:r>
              <a:rPr dirty="0"/>
              <a:t> Option </a:t>
            </a:r>
            <a:r>
              <a:rPr dirty="0" err="1"/>
              <a:t>ermöglicht</a:t>
            </a:r>
            <a:r>
              <a:rPr dirty="0"/>
              <a:t> es Ihnen, den </a:t>
            </a:r>
            <a:r>
              <a:rPr dirty="0" err="1"/>
              <a:t>optimalen</a:t>
            </a:r>
            <a:r>
              <a:rPr dirty="0"/>
              <a:t> </a:t>
            </a:r>
            <a:r>
              <a:rPr dirty="0" err="1"/>
              <a:t>Verlauf</a:t>
            </a:r>
            <a:r>
              <a:rPr dirty="0"/>
              <a:t> für </a:t>
            </a:r>
            <a:r>
              <a:rPr dirty="0" err="1"/>
              <a:t>jede</a:t>
            </a:r>
            <a:r>
              <a:rPr dirty="0"/>
              <a:t> </a:t>
            </a:r>
            <a:r>
              <a:rPr dirty="0" err="1"/>
              <a:t>Farbe</a:t>
            </a:r>
            <a:r>
              <a:rPr dirty="0"/>
              <a:t> </a:t>
            </a:r>
            <a:r>
              <a:rPr dirty="0" err="1"/>
              <a:t>auszuwählen</a:t>
            </a:r>
            <a:r>
              <a:rPr dirty="0"/>
              <a:t> – </a:t>
            </a:r>
            <a:r>
              <a:rPr dirty="0" err="1"/>
              <a:t>zum</a:t>
            </a:r>
            <a:r>
              <a:rPr dirty="0"/>
              <a:t> </a:t>
            </a:r>
            <a:r>
              <a:rPr dirty="0" err="1"/>
              <a:t>Beispiel</a:t>
            </a:r>
            <a:r>
              <a:rPr dirty="0"/>
              <a:t> „Lebendig“ für Cyan und Gelb </a:t>
            </a:r>
            <a:r>
              <a:rPr dirty="0" err="1"/>
              <a:t>oder</a:t>
            </a:r>
            <a:r>
              <a:rPr dirty="0"/>
              <a:t> „</a:t>
            </a:r>
            <a:r>
              <a:rPr dirty="0" err="1"/>
              <a:t>Kontrast</a:t>
            </a:r>
            <a:r>
              <a:rPr dirty="0"/>
              <a:t>“ für Weiß und Magenta.</a:t>
            </a:r>
          </a:p>
          <a:p>
            <a:pPr>
              <a:defRPr sz="600"/>
            </a:pPr>
            <a:endParaRPr dirty="0"/>
          </a:p>
          <a:p>
            <a:pPr marL="171450" indent="-171450">
              <a:buSzPct val="100000"/>
              <a:buFont typeface="Jost-Regular"/>
              <a:buChar char="•"/>
              <a:defRPr sz="1000"/>
            </a:pPr>
            <a:r>
              <a:rPr dirty="0" err="1"/>
              <a:t>Zyklusanzahl</a:t>
            </a:r>
            <a:r>
              <a:rPr dirty="0"/>
              <a:t>: Die Zahl, </a:t>
            </a:r>
            <a:r>
              <a:rPr dirty="0" err="1"/>
              <a:t>welche</a:t>
            </a:r>
            <a:r>
              <a:rPr dirty="0"/>
              <a:t> die </a:t>
            </a:r>
            <a:r>
              <a:rPr dirty="0" err="1"/>
              <a:t>Häufigkeit</a:t>
            </a:r>
            <a:r>
              <a:rPr dirty="0"/>
              <a:t> des </a:t>
            </a:r>
            <a:r>
              <a:rPr dirty="0" err="1"/>
              <a:t>Verlaufs</a:t>
            </a:r>
            <a:r>
              <a:rPr dirty="0"/>
              <a:t> </a:t>
            </a:r>
            <a:r>
              <a:rPr dirty="0" err="1"/>
              <a:t>bestimmt</a:t>
            </a:r>
            <a:r>
              <a:rPr dirty="0"/>
              <a:t>. Als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Zyklus</a:t>
            </a:r>
            <a:r>
              <a:rPr dirty="0"/>
              <a:t> </a:t>
            </a:r>
            <a:r>
              <a:rPr dirty="0" err="1"/>
              <a:t>zählt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vollständiger</a:t>
            </a:r>
            <a:r>
              <a:rPr dirty="0"/>
              <a:t> </a:t>
            </a:r>
            <a:r>
              <a:rPr dirty="0" err="1"/>
              <a:t>Durchlauf</a:t>
            </a:r>
            <a:r>
              <a:rPr dirty="0"/>
              <a:t>, in dem das Filament von A </a:t>
            </a:r>
            <a:r>
              <a:rPr dirty="0" err="1"/>
              <a:t>nach</a:t>
            </a:r>
            <a:r>
              <a:rPr dirty="0"/>
              <a:t> B </a:t>
            </a:r>
            <a:r>
              <a:rPr dirty="0" err="1"/>
              <a:t>nach</a:t>
            </a:r>
            <a:r>
              <a:rPr dirty="0"/>
              <a:t> A und </a:t>
            </a:r>
            <a:r>
              <a:rPr dirty="0" err="1"/>
              <a:t>wieder</a:t>
            </a:r>
            <a:r>
              <a:rPr dirty="0"/>
              <a:t> </a:t>
            </a:r>
            <a:r>
              <a:rPr dirty="0" err="1"/>
              <a:t>zurück</a:t>
            </a:r>
            <a:r>
              <a:rPr dirty="0"/>
              <a:t> </a:t>
            </a:r>
            <a:r>
              <a:rPr dirty="0" err="1"/>
              <a:t>wechselt</a:t>
            </a:r>
            <a:r>
              <a:rPr dirty="0"/>
              <a:t>.</a:t>
            </a:r>
          </a:p>
          <a:p>
            <a:pPr>
              <a:defRPr sz="1000"/>
            </a:pPr>
            <a:endParaRPr dirty="0"/>
          </a:p>
          <a:p>
            <a:pPr>
              <a:defRPr sz="1000"/>
            </a:pPr>
            <a:r>
              <a:rPr dirty="0" err="1"/>
              <a:t>Beispiel</a:t>
            </a:r>
            <a:r>
              <a:rPr dirty="0"/>
              <a:t>: Um </a:t>
            </a:r>
            <a:r>
              <a:rPr dirty="0" err="1"/>
              <a:t>ein</a:t>
            </a:r>
            <a:r>
              <a:rPr dirty="0"/>
              <a:t> schnell </a:t>
            </a:r>
            <a:r>
              <a:rPr dirty="0" err="1"/>
              <a:t>wechselndes</a:t>
            </a:r>
            <a:r>
              <a:rPr dirty="0"/>
              <a:t> </a:t>
            </a:r>
            <a:r>
              <a:rPr dirty="0" err="1"/>
              <a:t>Farbverlaufsfilament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Cyan und Magenta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erstellen</a:t>
            </a:r>
            <a:r>
              <a:rPr dirty="0"/>
              <a:t>, </a:t>
            </a:r>
            <a:r>
              <a:rPr dirty="0" err="1"/>
              <a:t>wählen</a:t>
            </a:r>
            <a:r>
              <a:rPr dirty="0"/>
              <a:t> Sie </a:t>
            </a:r>
            <a:r>
              <a:rPr dirty="0" err="1"/>
              <a:t>ein</a:t>
            </a:r>
            <a:r>
              <a:rPr dirty="0"/>
              <a:t> S4 Modell, </a:t>
            </a:r>
            <a:r>
              <a:rPr dirty="0" err="1"/>
              <a:t>entscheiden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für </a:t>
            </a:r>
            <a:r>
              <a:rPr dirty="0" err="1"/>
              <a:t>eine</a:t>
            </a:r>
            <a:r>
              <a:rPr dirty="0"/>
              <a:t> 4 </a:t>
            </a:r>
            <a:r>
              <a:rPr dirty="0" err="1"/>
              <a:t>Zyklus</a:t>
            </a:r>
            <a:r>
              <a:rPr dirty="0"/>
              <a:t> </a:t>
            </a:r>
            <a:r>
              <a:rPr dirty="0" err="1"/>
              <a:t>Druckplatte</a:t>
            </a:r>
            <a:r>
              <a:rPr dirty="0"/>
              <a:t> und </a:t>
            </a:r>
            <a:r>
              <a:rPr dirty="0" err="1"/>
              <a:t>nutzen</a:t>
            </a:r>
            <a:r>
              <a:rPr dirty="0"/>
              <a:t> </a:t>
            </a:r>
            <a:r>
              <a:rPr dirty="0" err="1"/>
              <a:t>aufgrund</a:t>
            </a:r>
            <a:r>
              <a:rPr dirty="0"/>
              <a:t> des </a:t>
            </a:r>
            <a:r>
              <a:rPr dirty="0" err="1"/>
              <a:t>hohen</a:t>
            </a:r>
            <a:r>
              <a:rPr dirty="0"/>
              <a:t> </a:t>
            </a:r>
            <a:r>
              <a:rPr dirty="0" err="1"/>
              <a:t>Farbkontrasts</a:t>
            </a:r>
            <a:r>
              <a:rPr dirty="0"/>
              <a:t> das </a:t>
            </a:r>
            <a:r>
              <a:rPr dirty="0" err="1"/>
              <a:t>Profil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der </a:t>
            </a:r>
            <a:r>
              <a:rPr dirty="0" err="1"/>
              <a:t>Kurve</a:t>
            </a:r>
            <a:r>
              <a:rPr dirty="0"/>
              <a:t> Lebendig.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19BFAA9-BAA9-A287-8B2F-5211E1A27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97" y="3305622"/>
            <a:ext cx="5818062" cy="111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D2653145-492D-9AEA-3B54-C14567956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027" y="4873452"/>
            <a:ext cx="5251946" cy="3665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正方形/長方形 29"/>
          <p:cNvSpPr/>
          <p:nvPr/>
        </p:nvSpPr>
        <p:spPr>
          <a:xfrm>
            <a:off x="51086" y="45267"/>
            <a:ext cx="6790098" cy="9053467"/>
          </a:xfrm>
          <a:prstGeom prst="rect">
            <a:avLst/>
          </a:prstGeom>
          <a:gradFill>
            <a:gsLst>
              <a:gs pos="10000">
                <a:srgbClr val="EE00B0"/>
              </a:gs>
              <a:gs pos="50000">
                <a:srgbClr val="6200E8"/>
              </a:gs>
              <a:gs pos="90000">
                <a:srgbClr val="0095E5"/>
              </a:gs>
            </a:gsLst>
            <a:lin ang="1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8" name="正方形/長方形 4"/>
          <p:cNvSpPr/>
          <p:nvPr/>
        </p:nvSpPr>
        <p:spPr>
          <a:xfrm>
            <a:off x="17051" y="5530"/>
            <a:ext cx="6858001" cy="9144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83" name="グループ化 9"/>
          <p:cNvGrpSpPr/>
          <p:nvPr/>
        </p:nvGrpSpPr>
        <p:grpSpPr>
          <a:xfrm>
            <a:off x="0" y="-1"/>
            <a:ext cx="6865270" cy="9144002"/>
            <a:chOff x="0" y="0"/>
            <a:chExt cx="6865269" cy="9144001"/>
          </a:xfrm>
        </p:grpSpPr>
        <p:sp>
          <p:nvSpPr>
            <p:cNvPr id="179" name="正方形/長方形 5"/>
            <p:cNvSpPr/>
            <p:nvPr/>
          </p:nvSpPr>
          <p:spPr>
            <a:xfrm>
              <a:off x="0" y="-1"/>
              <a:ext cx="6858001" cy="432001"/>
            </a:xfrm>
            <a:prstGeom prst="rect">
              <a:avLst/>
            </a:prstGeom>
            <a:solidFill>
              <a:srgbClr val="F2AA84">
                <a:alpha val="10000"/>
              </a:srgbClr>
            </a:solidFill>
            <a:ln w="19050" cap="flat">
              <a:solidFill>
                <a:srgbClr val="80350E"/>
              </a:solidFill>
              <a:prstDash val="dash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0" name="正方形/長方形 6"/>
            <p:cNvSpPr/>
            <p:nvPr/>
          </p:nvSpPr>
          <p:spPr>
            <a:xfrm>
              <a:off x="0" y="8712000"/>
              <a:ext cx="6858001" cy="432000"/>
            </a:xfrm>
            <a:prstGeom prst="rect">
              <a:avLst/>
            </a:prstGeom>
            <a:solidFill>
              <a:srgbClr val="F2AA84">
                <a:alpha val="10000"/>
              </a:srgbClr>
            </a:solidFill>
            <a:ln w="19050" cap="flat">
              <a:solidFill>
                <a:srgbClr val="80350E"/>
              </a:solidFill>
              <a:prstDash val="dash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1" name="正方形/長方形 7"/>
            <p:cNvSpPr/>
            <p:nvPr/>
          </p:nvSpPr>
          <p:spPr>
            <a:xfrm>
              <a:off x="0" y="0"/>
              <a:ext cx="540001" cy="9144001"/>
            </a:xfrm>
            <a:prstGeom prst="rect">
              <a:avLst/>
            </a:prstGeom>
            <a:solidFill>
              <a:srgbClr val="F2AA84">
                <a:alpha val="10000"/>
              </a:srgbClr>
            </a:solidFill>
            <a:ln w="19050" cap="flat">
              <a:solidFill>
                <a:srgbClr val="80350E"/>
              </a:solidFill>
              <a:prstDash val="dash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2" name="正方形/長方形 8"/>
            <p:cNvSpPr/>
            <p:nvPr/>
          </p:nvSpPr>
          <p:spPr>
            <a:xfrm>
              <a:off x="6325269" y="-1"/>
              <a:ext cx="540001" cy="9144001"/>
            </a:xfrm>
            <a:prstGeom prst="rect">
              <a:avLst/>
            </a:prstGeom>
            <a:solidFill>
              <a:srgbClr val="F2AA84">
                <a:alpha val="10000"/>
              </a:srgbClr>
            </a:solidFill>
            <a:ln w="19050" cap="flat">
              <a:solidFill>
                <a:srgbClr val="80350E"/>
              </a:solidFill>
              <a:prstDash val="dash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84" name="正方形/長方形 12"/>
          <p:cNvSpPr/>
          <p:nvPr/>
        </p:nvSpPr>
        <p:spPr>
          <a:xfrm>
            <a:off x="554536" y="452468"/>
            <a:ext cx="5756195" cy="5400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5" name="正方形/長方形 14"/>
          <p:cNvSpPr/>
          <p:nvPr/>
        </p:nvSpPr>
        <p:spPr>
          <a:xfrm>
            <a:off x="554537" y="8661917"/>
            <a:ext cx="2592002" cy="5400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6" name="正方形/長方形 15"/>
          <p:cNvSpPr/>
          <p:nvPr/>
        </p:nvSpPr>
        <p:spPr>
          <a:xfrm>
            <a:off x="3734844" y="8661917"/>
            <a:ext cx="2592001" cy="5400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7" name="テキスト ボックス 16"/>
          <p:cNvSpPr txBox="1"/>
          <p:nvPr/>
        </p:nvSpPr>
        <p:spPr>
          <a:xfrm>
            <a:off x="3209546" y="8511531"/>
            <a:ext cx="48429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/>
          </a:lstStyle>
          <a:p>
            <a:r>
              <a:rPr dirty="0"/>
              <a:t>4</a:t>
            </a:r>
          </a:p>
        </p:txBody>
      </p:sp>
      <p:sp>
        <p:nvSpPr>
          <p:cNvPr id="188" name="楕円 1"/>
          <p:cNvSpPr/>
          <p:nvPr/>
        </p:nvSpPr>
        <p:spPr>
          <a:xfrm>
            <a:off x="546347" y="817075"/>
            <a:ext cx="204671" cy="204671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9" name="テキスト ボックス 33"/>
          <p:cNvSpPr txBox="1"/>
          <p:nvPr/>
        </p:nvSpPr>
        <p:spPr>
          <a:xfrm>
            <a:off x="823834" y="772101"/>
            <a:ext cx="1865252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 b="1">
                <a:latin typeface="JostRoman-SemiBold"/>
                <a:ea typeface="JostRoman-SemiBold"/>
                <a:cs typeface="JostRoman-SemiBold"/>
                <a:sym typeface="JostRoman-SemiBold"/>
              </a:defRPr>
            </a:lvl1pPr>
          </a:lstStyle>
          <a:p>
            <a:r>
              <a:rPr dirty="0">
                <a:latin typeface="+mj-lt"/>
              </a:rPr>
              <a:t>6. Update </a:t>
            </a:r>
            <a:r>
              <a:rPr dirty="0" err="1">
                <a:latin typeface="+mj-lt"/>
              </a:rPr>
              <a:t>Historie</a:t>
            </a:r>
            <a:endParaRPr dirty="0">
              <a:latin typeface="+mj-lt"/>
            </a:endParaRPr>
          </a:p>
        </p:txBody>
      </p:sp>
      <p:sp>
        <p:nvSpPr>
          <p:cNvPr id="190" name="テキスト ボックス 34"/>
          <p:cNvSpPr txBox="1"/>
          <p:nvPr/>
        </p:nvSpPr>
        <p:spPr>
          <a:xfrm>
            <a:off x="684043" y="1115239"/>
            <a:ext cx="5558051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900"/>
            </a:lvl1pPr>
          </a:lstStyle>
          <a:p>
            <a:r>
              <a:rPr dirty="0">
                <a:latin typeface="+mj-lt"/>
              </a:rPr>
              <a:t>Ver.1.00  2026-09-01  Erste Version </a:t>
            </a:r>
            <a:r>
              <a:rPr dirty="0" err="1">
                <a:latin typeface="+mj-lt"/>
              </a:rPr>
              <a:t>veröffentlicht</a:t>
            </a:r>
            <a:endParaRPr dirty="0">
              <a:latin typeface="+mj-lt"/>
            </a:endParaRPr>
          </a:p>
        </p:txBody>
      </p:sp>
      <p:sp>
        <p:nvSpPr>
          <p:cNvPr id="3" name="テキスト ボックス 34">
            <a:extLst>
              <a:ext uri="{FF2B5EF4-FFF2-40B4-BE49-F238E27FC236}">
                <a16:creationId xmlns:a16="http://schemas.microsoft.com/office/drawing/2014/main" id="{428EAF54-F90C-9FE7-D2B3-BCDADCCF8091}"/>
              </a:ext>
            </a:extLst>
          </p:cNvPr>
          <p:cNvSpPr txBox="1"/>
          <p:nvPr/>
        </p:nvSpPr>
        <p:spPr>
          <a:xfrm>
            <a:off x="684043" y="1985257"/>
            <a:ext cx="5558051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900"/>
            </a:lvl1pPr>
          </a:lstStyle>
          <a:p>
            <a:r>
              <a:rPr lang="en-US" sz="1000" dirty="0" err="1">
                <a:latin typeface="+mj-lt"/>
              </a:rPr>
              <a:t>Nennung</a:t>
            </a:r>
            <a:r>
              <a:rPr lang="en-US" sz="1000" dirty="0">
                <a:latin typeface="+mj-lt"/>
              </a:rPr>
              <a:t> : </a:t>
            </a:r>
          </a:p>
          <a:p>
            <a:r>
              <a:rPr lang="en-US" sz="1000" dirty="0">
                <a:latin typeface="+mj-lt"/>
              </a:rPr>
              <a:t> Deutsche </a:t>
            </a:r>
            <a:r>
              <a:rPr lang="en-US" sz="1000" dirty="0" err="1">
                <a:latin typeface="+mj-lt"/>
              </a:rPr>
              <a:t>Übersetzung</a:t>
            </a:r>
            <a:r>
              <a:rPr lang="en-US" sz="1000" dirty="0">
                <a:latin typeface="+mj-lt"/>
              </a:rPr>
              <a:t> –Domenik</a:t>
            </a:r>
            <a:endParaRPr sz="1000" dirty="0">
              <a:latin typeface="+mj-lt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93C9B-3BE9-8BCA-DC0E-07BE3EA89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正方形/長方形 31">
            <a:extLst>
              <a:ext uri="{FF2B5EF4-FFF2-40B4-BE49-F238E27FC236}">
                <a16:creationId xmlns:a16="http://schemas.microsoft.com/office/drawing/2014/main" id="{DB8367BB-F6DF-650B-1E22-A347B5E349F2}"/>
              </a:ext>
            </a:extLst>
          </p:cNvPr>
          <p:cNvSpPr/>
          <p:nvPr/>
        </p:nvSpPr>
        <p:spPr>
          <a:xfrm>
            <a:off x="33951" y="45268"/>
            <a:ext cx="6790099" cy="9053465"/>
          </a:xfrm>
          <a:prstGeom prst="rect">
            <a:avLst/>
          </a:prstGeom>
          <a:gradFill>
            <a:gsLst>
              <a:gs pos="10000">
                <a:srgbClr val="EE00B0"/>
              </a:gs>
              <a:gs pos="50000">
                <a:srgbClr val="6200E8"/>
              </a:gs>
              <a:gs pos="90000">
                <a:srgbClr val="0095E5"/>
              </a:gs>
            </a:gsLst>
            <a:lin ang="1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" name="フリーフォーム: 図形 11">
            <a:extLst>
              <a:ext uri="{FF2B5EF4-FFF2-40B4-BE49-F238E27FC236}">
                <a16:creationId xmlns:a16="http://schemas.microsoft.com/office/drawing/2014/main" id="{E8A2B72B-57FF-3FC9-2C95-CFB6DC50C351}"/>
              </a:ext>
            </a:extLst>
          </p:cNvPr>
          <p:cNvSpPr/>
          <p:nvPr/>
        </p:nvSpPr>
        <p:spPr>
          <a:xfrm>
            <a:off x="0" y="9342"/>
            <a:ext cx="6858000" cy="9144000"/>
          </a:xfrm>
          <a:custGeom>
            <a:avLst/>
            <a:gdLst>
              <a:gd name="csX0" fmla="*/ 3734844 w 6858000"/>
              <a:gd name="csY0" fmla="*/ 8652575 h 9144000"/>
              <a:gd name="csX1" fmla="*/ 3734844 w 6858000"/>
              <a:gd name="csY1" fmla="*/ 8706576 h 9144000"/>
              <a:gd name="csX2" fmla="*/ 6326845 w 6858000"/>
              <a:gd name="csY2" fmla="*/ 8706576 h 9144000"/>
              <a:gd name="csX3" fmla="*/ 6326845 w 6858000"/>
              <a:gd name="csY3" fmla="*/ 8652575 h 9144000"/>
              <a:gd name="csX4" fmla="*/ 554537 w 6858000"/>
              <a:gd name="csY4" fmla="*/ 8652575 h 9144000"/>
              <a:gd name="csX5" fmla="*/ 554537 w 6858000"/>
              <a:gd name="csY5" fmla="*/ 8706576 h 9144000"/>
              <a:gd name="csX6" fmla="*/ 3146539 w 6858000"/>
              <a:gd name="csY6" fmla="*/ 8706576 h 9144000"/>
              <a:gd name="csX7" fmla="*/ 3146539 w 6858000"/>
              <a:gd name="csY7" fmla="*/ 8652575 h 9144000"/>
              <a:gd name="csX8" fmla="*/ 663431 w 6858000"/>
              <a:gd name="csY8" fmla="*/ 4354349 h 9144000"/>
              <a:gd name="csX9" fmla="*/ 561095 w 6858000"/>
              <a:gd name="csY9" fmla="*/ 4456685 h 9144000"/>
              <a:gd name="csX10" fmla="*/ 663431 w 6858000"/>
              <a:gd name="csY10" fmla="*/ 4559021 h 9144000"/>
              <a:gd name="csX11" fmla="*/ 765767 w 6858000"/>
              <a:gd name="csY11" fmla="*/ 4456685 h 9144000"/>
              <a:gd name="csX12" fmla="*/ 663431 w 6858000"/>
              <a:gd name="csY12" fmla="*/ 4354349 h 9144000"/>
              <a:gd name="csX13" fmla="*/ 668510 w 6858000"/>
              <a:gd name="csY13" fmla="*/ 3105328 h 9144000"/>
              <a:gd name="csX14" fmla="*/ 566174 w 6858000"/>
              <a:gd name="csY14" fmla="*/ 3207664 h 9144000"/>
              <a:gd name="csX15" fmla="*/ 668510 w 6858000"/>
              <a:gd name="csY15" fmla="*/ 3310000 h 9144000"/>
              <a:gd name="csX16" fmla="*/ 770846 w 6858000"/>
              <a:gd name="csY16" fmla="*/ 3207664 h 9144000"/>
              <a:gd name="csX17" fmla="*/ 668510 w 6858000"/>
              <a:gd name="csY17" fmla="*/ 3105328 h 9144000"/>
              <a:gd name="csX18" fmla="*/ 5871292 w 6858000"/>
              <a:gd name="csY18" fmla="*/ 2270638 h 9144000"/>
              <a:gd name="csX19" fmla="*/ 5854753 w 6858000"/>
              <a:gd name="csY19" fmla="*/ 2309743 h 9144000"/>
              <a:gd name="csX20" fmla="*/ 5814842 w 6858000"/>
              <a:gd name="csY20" fmla="*/ 2325941 h 9144000"/>
              <a:gd name="csX21" fmla="*/ 1050423 w 6858000"/>
              <a:gd name="csY21" fmla="*/ 2325941 h 9144000"/>
              <a:gd name="csX22" fmla="*/ 1010512 w 6858000"/>
              <a:gd name="csY22" fmla="*/ 2309743 h 9144000"/>
              <a:gd name="csX23" fmla="*/ 993974 w 6858000"/>
              <a:gd name="csY23" fmla="*/ 2270640 h 9144000"/>
              <a:gd name="csX24" fmla="*/ 993974 w 6858000"/>
              <a:gd name="csY24" fmla="*/ 2404227 h 9144000"/>
              <a:gd name="csX25" fmla="*/ 1186583 w 6858000"/>
              <a:gd name="csY25" fmla="*/ 2593125 h 9144000"/>
              <a:gd name="csX26" fmla="*/ 5678683 w 6858000"/>
              <a:gd name="csY26" fmla="*/ 2593125 h 9144000"/>
              <a:gd name="csX27" fmla="*/ 5871292 w 6858000"/>
              <a:gd name="csY27" fmla="*/ 2404228 h 9144000"/>
              <a:gd name="csX28" fmla="*/ 1186583 w 6858000"/>
              <a:gd name="csY28" fmla="*/ 432102 h 9144000"/>
              <a:gd name="csX29" fmla="*/ 993974 w 6858000"/>
              <a:gd name="csY29" fmla="*/ 621000 h 9144000"/>
              <a:gd name="csX30" fmla="*/ 993974 w 6858000"/>
              <a:gd name="csY30" fmla="*/ 762209 h 9144000"/>
              <a:gd name="csX31" fmla="*/ 1010513 w 6858000"/>
              <a:gd name="csY31" fmla="*/ 723104 h 9144000"/>
              <a:gd name="csX32" fmla="*/ 1050424 w 6858000"/>
              <a:gd name="csY32" fmla="*/ 706906 h 9144000"/>
              <a:gd name="csX33" fmla="*/ 5814844 w 6858000"/>
              <a:gd name="csY33" fmla="*/ 706906 h 9144000"/>
              <a:gd name="csX34" fmla="*/ 5854754 w 6858000"/>
              <a:gd name="csY34" fmla="*/ 723104 h 9144000"/>
              <a:gd name="csX35" fmla="*/ 5871292 w 6858000"/>
              <a:gd name="csY35" fmla="*/ 762207 h 9144000"/>
              <a:gd name="csX36" fmla="*/ 5871292 w 6858000"/>
              <a:gd name="csY36" fmla="*/ 621000 h 9144000"/>
              <a:gd name="csX37" fmla="*/ 5678683 w 6858000"/>
              <a:gd name="csY37" fmla="*/ 432102 h 9144000"/>
              <a:gd name="csX38" fmla="*/ 0 w 6858000"/>
              <a:gd name="csY38" fmla="*/ 0 h 9144000"/>
              <a:gd name="csX39" fmla="*/ 6858000 w 6858000"/>
              <a:gd name="csY39" fmla="*/ 0 h 9144000"/>
              <a:gd name="csX40" fmla="*/ 6858000 w 6858000"/>
              <a:gd name="csY40" fmla="*/ 9144000 h 9144000"/>
              <a:gd name="csX41" fmla="*/ 0 w 6858000"/>
              <a:gd name="csY41" fmla="*/ 9144000 h 914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6858000" h="9144000">
                <a:moveTo>
                  <a:pt x="3734844" y="8652575"/>
                </a:moveTo>
                <a:lnTo>
                  <a:pt x="3734844" y="8706576"/>
                </a:lnTo>
                <a:lnTo>
                  <a:pt x="6326845" y="8706576"/>
                </a:lnTo>
                <a:lnTo>
                  <a:pt x="6326845" y="8652575"/>
                </a:lnTo>
                <a:close/>
                <a:moveTo>
                  <a:pt x="554537" y="8652575"/>
                </a:moveTo>
                <a:lnTo>
                  <a:pt x="554537" y="8706576"/>
                </a:lnTo>
                <a:lnTo>
                  <a:pt x="3146539" y="8706576"/>
                </a:lnTo>
                <a:lnTo>
                  <a:pt x="3146539" y="8652575"/>
                </a:lnTo>
                <a:close/>
                <a:moveTo>
                  <a:pt x="663431" y="4354349"/>
                </a:moveTo>
                <a:cubicBezTo>
                  <a:pt x="606912" y="4354349"/>
                  <a:pt x="561095" y="4400166"/>
                  <a:pt x="561095" y="4456685"/>
                </a:cubicBezTo>
                <a:cubicBezTo>
                  <a:pt x="561095" y="4513204"/>
                  <a:pt x="606912" y="4559021"/>
                  <a:pt x="663431" y="4559021"/>
                </a:cubicBezTo>
                <a:cubicBezTo>
                  <a:pt x="719950" y="4559021"/>
                  <a:pt x="765767" y="4513204"/>
                  <a:pt x="765767" y="4456685"/>
                </a:cubicBezTo>
                <a:cubicBezTo>
                  <a:pt x="765767" y="4400166"/>
                  <a:pt x="719950" y="4354349"/>
                  <a:pt x="663431" y="4354349"/>
                </a:cubicBezTo>
                <a:close/>
                <a:moveTo>
                  <a:pt x="668510" y="3105328"/>
                </a:moveTo>
                <a:cubicBezTo>
                  <a:pt x="611991" y="3105328"/>
                  <a:pt x="566174" y="3151145"/>
                  <a:pt x="566174" y="3207664"/>
                </a:cubicBezTo>
                <a:cubicBezTo>
                  <a:pt x="566174" y="3264183"/>
                  <a:pt x="611991" y="3310000"/>
                  <a:pt x="668510" y="3310000"/>
                </a:cubicBezTo>
                <a:cubicBezTo>
                  <a:pt x="725029" y="3310000"/>
                  <a:pt x="770846" y="3264183"/>
                  <a:pt x="770846" y="3207664"/>
                </a:cubicBezTo>
                <a:cubicBezTo>
                  <a:pt x="770846" y="3151145"/>
                  <a:pt x="725029" y="3105328"/>
                  <a:pt x="668510" y="3105328"/>
                </a:cubicBezTo>
                <a:close/>
                <a:moveTo>
                  <a:pt x="5871292" y="2270638"/>
                </a:moveTo>
                <a:lnTo>
                  <a:pt x="5854753" y="2309743"/>
                </a:lnTo>
                <a:cubicBezTo>
                  <a:pt x="5844535" y="2319751"/>
                  <a:pt x="5830422" y="2325941"/>
                  <a:pt x="5814842" y="2325941"/>
                </a:cubicBezTo>
                <a:lnTo>
                  <a:pt x="1050423" y="2325941"/>
                </a:lnTo>
                <a:cubicBezTo>
                  <a:pt x="1034842" y="2325941"/>
                  <a:pt x="1020730" y="2319751"/>
                  <a:pt x="1010512" y="2309743"/>
                </a:cubicBezTo>
                <a:lnTo>
                  <a:pt x="993974" y="2270640"/>
                </a:lnTo>
                <a:lnTo>
                  <a:pt x="993974" y="2404227"/>
                </a:lnTo>
                <a:cubicBezTo>
                  <a:pt x="993974" y="2508558"/>
                  <a:pt x="1080231" y="2593125"/>
                  <a:pt x="1186583" y="2593125"/>
                </a:cubicBezTo>
                <a:lnTo>
                  <a:pt x="5678683" y="2593125"/>
                </a:lnTo>
                <a:cubicBezTo>
                  <a:pt x="5785035" y="2593125"/>
                  <a:pt x="5871292" y="2508559"/>
                  <a:pt x="5871292" y="2404228"/>
                </a:cubicBezTo>
                <a:close/>
                <a:moveTo>
                  <a:pt x="1186583" y="432102"/>
                </a:moveTo>
                <a:cubicBezTo>
                  <a:pt x="1080230" y="432102"/>
                  <a:pt x="993974" y="516669"/>
                  <a:pt x="993974" y="621000"/>
                </a:cubicBezTo>
                <a:lnTo>
                  <a:pt x="993974" y="762209"/>
                </a:lnTo>
                <a:lnTo>
                  <a:pt x="1010513" y="723104"/>
                </a:lnTo>
                <a:cubicBezTo>
                  <a:pt x="1020731" y="713096"/>
                  <a:pt x="1034843" y="706906"/>
                  <a:pt x="1050424" y="706906"/>
                </a:cubicBezTo>
                <a:lnTo>
                  <a:pt x="5814844" y="706906"/>
                </a:lnTo>
                <a:cubicBezTo>
                  <a:pt x="5830424" y="706906"/>
                  <a:pt x="5844537" y="713096"/>
                  <a:pt x="5854754" y="723104"/>
                </a:cubicBezTo>
                <a:lnTo>
                  <a:pt x="5871292" y="762207"/>
                </a:lnTo>
                <a:lnTo>
                  <a:pt x="5871292" y="621000"/>
                </a:lnTo>
                <a:cubicBezTo>
                  <a:pt x="5871292" y="516669"/>
                  <a:pt x="5785036" y="432102"/>
                  <a:pt x="5678683" y="432102"/>
                </a:cubicBezTo>
                <a:close/>
                <a:moveTo>
                  <a:pt x="0" y="0"/>
                </a:moveTo>
                <a:lnTo>
                  <a:pt x="6858000" y="0"/>
                </a:lnTo>
                <a:lnTo>
                  <a:pt x="6858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wrap="square" lIns="45719" rIns="45719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15" name="テキスト ボックス 16">
            <a:extLst>
              <a:ext uri="{FF2B5EF4-FFF2-40B4-BE49-F238E27FC236}">
                <a16:creationId xmlns:a16="http://schemas.microsoft.com/office/drawing/2014/main" id="{0D915364-D7C8-96A6-15B1-F19934A47D3C}"/>
              </a:ext>
            </a:extLst>
          </p:cNvPr>
          <p:cNvSpPr txBox="1"/>
          <p:nvPr/>
        </p:nvSpPr>
        <p:spPr>
          <a:xfrm>
            <a:off x="3209546" y="8485377"/>
            <a:ext cx="484295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/>
          </a:lstStyle>
          <a:p>
            <a:r>
              <a:t>1</a:t>
            </a:r>
          </a:p>
        </p:txBody>
      </p:sp>
      <p:sp>
        <p:nvSpPr>
          <p:cNvPr id="116" name="テキスト ボックス 1">
            <a:extLst>
              <a:ext uri="{FF2B5EF4-FFF2-40B4-BE49-F238E27FC236}">
                <a16:creationId xmlns:a16="http://schemas.microsoft.com/office/drawing/2014/main" id="{C9B07B58-8B3C-E714-B432-395E2E0BBBB3}"/>
              </a:ext>
            </a:extLst>
          </p:cNvPr>
          <p:cNvSpPr txBox="1"/>
          <p:nvPr/>
        </p:nvSpPr>
        <p:spPr>
          <a:xfrm>
            <a:off x="1507599" y="846314"/>
            <a:ext cx="4449293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3200">
                <a:latin typeface="JostRoman-Medium"/>
                <a:ea typeface="JostRoman-Medium"/>
                <a:cs typeface="JostRoman-Medium"/>
                <a:sym typeface="JostRoman-Medium"/>
              </a:defRPr>
            </a:pPr>
            <a:r>
              <a:rPr dirty="0">
                <a:latin typeface="Jost SemiBold" pitchFamily="2" charset="0"/>
                <a:ea typeface="Jost SemiBold" pitchFamily="2" charset="0"/>
              </a:rPr>
              <a:t>FlexChroma</a:t>
            </a:r>
            <a:r>
              <a:rPr dirty="0">
                <a:latin typeface="+mn-lt"/>
                <a:ea typeface="+mn-ea"/>
                <a:cs typeface="+mn-cs"/>
                <a:sym typeface="Jost-Regular"/>
              </a:rPr>
              <a:t> </a:t>
            </a:r>
            <a:r>
              <a:rPr dirty="0">
                <a:latin typeface="Jost Medium" pitchFamily="2" charset="0"/>
                <a:ea typeface="Jost Medium" pitchFamily="2" charset="0"/>
                <a:sym typeface="Jost-Regular"/>
              </a:rPr>
              <a:t>Tour-Guide</a:t>
            </a:r>
          </a:p>
        </p:txBody>
      </p:sp>
      <p:sp>
        <p:nvSpPr>
          <p:cNvPr id="118" name="テキスト ボックス 17">
            <a:extLst>
              <a:ext uri="{FF2B5EF4-FFF2-40B4-BE49-F238E27FC236}">
                <a16:creationId xmlns:a16="http://schemas.microsoft.com/office/drawing/2014/main" id="{D76CDE77-EFA7-C65B-A6F4-D54B3E2BE198}"/>
              </a:ext>
            </a:extLst>
          </p:cNvPr>
          <p:cNvSpPr txBox="1"/>
          <p:nvPr/>
        </p:nvSpPr>
        <p:spPr>
          <a:xfrm>
            <a:off x="816563" y="2995985"/>
            <a:ext cx="1530936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 b="1">
                <a:latin typeface="JostRoman-SemiBold"/>
                <a:ea typeface="JostRoman-SemiBold"/>
                <a:cs typeface="JostRoman-SemiBold"/>
                <a:sym typeface="JostRoman-SemiBold"/>
              </a:defRPr>
            </a:lvl1pPr>
          </a:lstStyle>
          <a:p>
            <a:r>
              <a:t>1. Einleitung</a:t>
            </a:r>
          </a:p>
        </p:txBody>
      </p:sp>
      <p:sp>
        <p:nvSpPr>
          <p:cNvPr id="119" name="テキスト ボックス 18">
            <a:extLst>
              <a:ext uri="{FF2B5EF4-FFF2-40B4-BE49-F238E27FC236}">
                <a16:creationId xmlns:a16="http://schemas.microsoft.com/office/drawing/2014/main" id="{A2E86BDF-BAB6-A60A-CFC3-7DA5945FF47C}"/>
              </a:ext>
            </a:extLst>
          </p:cNvPr>
          <p:cNvSpPr txBox="1"/>
          <p:nvPr/>
        </p:nvSpPr>
        <p:spPr>
          <a:xfrm>
            <a:off x="714228" y="3418925"/>
            <a:ext cx="5558051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 b="1">
                <a:latin typeface="JostRoman-Bold"/>
                <a:ea typeface="JostRoman-Bold"/>
                <a:cs typeface="JostRoman-Bold"/>
                <a:sym typeface="JostRoman-Bold"/>
              </a:defRPr>
            </a:pPr>
            <a:r>
              <a:rPr dirty="0">
                <a:latin typeface="Jost SemiBold" pitchFamily="2" charset="0"/>
                <a:ea typeface="Jost SemiBold" pitchFamily="2" charset="0"/>
              </a:rPr>
              <a:t>FlexChroma</a:t>
            </a:r>
            <a:r>
              <a:rPr b="0" dirty="0">
                <a:latin typeface="+mn-lt"/>
                <a:ea typeface="+mn-ea"/>
                <a:cs typeface="+mn-cs"/>
                <a:sym typeface="Jost-Regular"/>
              </a:rPr>
              <a:t> </a:t>
            </a:r>
            <a:r>
              <a:rPr b="0" dirty="0" err="1">
                <a:latin typeface="+mn-lt"/>
                <a:ea typeface="+mn-ea"/>
                <a:cs typeface="+mn-cs"/>
                <a:sym typeface="Jost-Regular"/>
              </a:rPr>
              <a:t>umfasst</a:t>
            </a:r>
            <a:r>
              <a:rPr b="0" dirty="0">
                <a:latin typeface="+mn-lt"/>
                <a:ea typeface="+mn-ea"/>
                <a:cs typeface="+mn-cs"/>
                <a:sym typeface="Jost-Regular"/>
              </a:rPr>
              <a:t> Modelle </a:t>
            </a:r>
            <a:r>
              <a:rPr b="0" dirty="0" err="1">
                <a:latin typeface="+mn-lt"/>
                <a:ea typeface="+mn-ea"/>
                <a:cs typeface="+mn-cs"/>
                <a:sym typeface="Jost-Regular"/>
              </a:rPr>
              <a:t>zur</a:t>
            </a:r>
            <a:r>
              <a:rPr b="0" dirty="0">
                <a:latin typeface="+mn-lt"/>
                <a:ea typeface="+mn-ea"/>
                <a:cs typeface="+mn-cs"/>
                <a:sym typeface="Jost-Regular"/>
              </a:rPr>
              <a:t> </a:t>
            </a:r>
            <a:r>
              <a:rPr b="0" dirty="0" err="1">
                <a:latin typeface="+mn-lt"/>
                <a:ea typeface="+mn-ea"/>
                <a:cs typeface="+mn-cs"/>
                <a:sym typeface="Jost-Regular"/>
              </a:rPr>
              <a:t>Herstellung</a:t>
            </a:r>
            <a:r>
              <a:rPr b="0" dirty="0">
                <a:latin typeface="+mn-lt"/>
                <a:ea typeface="+mn-ea"/>
                <a:cs typeface="+mn-cs"/>
                <a:sym typeface="Jost-Regular"/>
              </a:rPr>
              <a:t> </a:t>
            </a:r>
            <a:r>
              <a:rPr b="0" dirty="0" err="1">
                <a:latin typeface="+mn-lt"/>
                <a:ea typeface="+mn-ea"/>
                <a:cs typeface="+mn-cs"/>
                <a:sym typeface="Jost-Regular"/>
              </a:rPr>
              <a:t>eigener</a:t>
            </a:r>
            <a:r>
              <a:rPr b="0" dirty="0">
                <a:latin typeface="+mn-lt"/>
                <a:ea typeface="+mn-ea"/>
                <a:cs typeface="+mn-cs"/>
                <a:sym typeface="Jost-Regular"/>
              </a:rPr>
              <a:t> </a:t>
            </a:r>
            <a:r>
              <a:rPr b="0" dirty="0" err="1">
                <a:latin typeface="+mn-lt"/>
                <a:ea typeface="+mn-ea"/>
                <a:cs typeface="+mn-cs"/>
                <a:sym typeface="Jost-Regular"/>
              </a:rPr>
              <a:t>Filamente</a:t>
            </a:r>
            <a:r>
              <a:rPr b="0" dirty="0">
                <a:latin typeface="+mn-lt"/>
                <a:ea typeface="+mn-ea"/>
                <a:cs typeface="+mn-cs"/>
                <a:sym typeface="Jost-Regular"/>
              </a:rPr>
              <a:t> </a:t>
            </a:r>
            <a:r>
              <a:rPr b="0" dirty="0" err="1">
                <a:latin typeface="+mn-lt"/>
                <a:ea typeface="+mn-ea"/>
                <a:cs typeface="+mn-cs"/>
                <a:sym typeface="Jost-Regular"/>
              </a:rPr>
              <a:t>aus</a:t>
            </a:r>
            <a:r>
              <a:rPr b="0" dirty="0">
                <a:latin typeface="+mn-lt"/>
                <a:ea typeface="+mn-ea"/>
                <a:cs typeface="+mn-cs"/>
                <a:sym typeface="Jost-Regular"/>
              </a:rPr>
              <a:t> </a:t>
            </a:r>
            <a:r>
              <a:rPr b="0" dirty="0" err="1">
                <a:latin typeface="+mn-lt"/>
                <a:ea typeface="+mn-ea"/>
                <a:cs typeface="+mn-cs"/>
                <a:sym typeface="Jost-Regular"/>
              </a:rPr>
              <a:t>handelsüblichen</a:t>
            </a:r>
            <a:r>
              <a:rPr b="0" dirty="0">
                <a:latin typeface="+mn-lt"/>
                <a:ea typeface="+mn-ea"/>
                <a:cs typeface="+mn-cs"/>
                <a:sym typeface="Jost-Regular"/>
              </a:rPr>
              <a:t> </a:t>
            </a:r>
            <a:r>
              <a:rPr b="0" dirty="0" err="1">
                <a:latin typeface="+mn-lt"/>
                <a:ea typeface="+mn-ea"/>
                <a:cs typeface="+mn-cs"/>
                <a:sym typeface="Jost-Regular"/>
              </a:rPr>
              <a:t>Materialien</a:t>
            </a:r>
            <a:r>
              <a:rPr b="0" dirty="0">
                <a:latin typeface="+mn-lt"/>
                <a:ea typeface="+mn-ea"/>
                <a:cs typeface="+mn-cs"/>
                <a:sym typeface="Jost-Regular"/>
              </a:rPr>
              <a:t>. </a:t>
            </a:r>
          </a:p>
          <a:p>
            <a:pPr>
              <a:defRPr sz="1000"/>
            </a:pPr>
            <a:r>
              <a:rPr dirty="0"/>
              <a:t>Das System </a:t>
            </a:r>
            <a:r>
              <a:rPr dirty="0" err="1"/>
              <a:t>unterteilt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in </a:t>
            </a:r>
            <a:r>
              <a:rPr dirty="0" err="1"/>
              <a:t>verschiedene</a:t>
            </a:r>
            <a:r>
              <a:rPr dirty="0"/>
              <a:t> </a:t>
            </a:r>
            <a:r>
              <a:rPr dirty="0" err="1"/>
              <a:t>Serien</a:t>
            </a:r>
            <a:r>
              <a:rPr dirty="0"/>
              <a:t> für </a:t>
            </a:r>
            <a:r>
              <a:rPr dirty="0" err="1"/>
              <a:t>unterschiedliche</a:t>
            </a:r>
            <a:r>
              <a:rPr dirty="0"/>
              <a:t> </a:t>
            </a:r>
            <a:r>
              <a:rPr dirty="0" err="1"/>
              <a:t>Einsatzzwecke</a:t>
            </a:r>
            <a:r>
              <a:rPr dirty="0"/>
              <a:t>. </a:t>
            </a:r>
            <a:r>
              <a:rPr dirty="0" err="1"/>
              <a:t>Jede</a:t>
            </a:r>
            <a:r>
              <a:rPr dirty="0"/>
              <a:t> Serie </a:t>
            </a:r>
            <a:r>
              <a:rPr dirty="0" err="1"/>
              <a:t>bietet</a:t>
            </a:r>
            <a:r>
              <a:rPr dirty="0"/>
              <a:t> </a:t>
            </a:r>
            <a:r>
              <a:rPr dirty="0" err="1"/>
              <a:t>mehrere</a:t>
            </a:r>
            <a:r>
              <a:rPr dirty="0"/>
              <a:t> Modelle, Profile und </a:t>
            </a:r>
            <a:r>
              <a:rPr dirty="0" err="1"/>
              <a:t>Druckplatten</a:t>
            </a:r>
            <a:r>
              <a:rPr dirty="0"/>
              <a:t>, </a:t>
            </a:r>
            <a:r>
              <a:rPr dirty="0" err="1"/>
              <a:t>abgestimmt</a:t>
            </a:r>
            <a:r>
              <a:rPr dirty="0"/>
              <a:t> auf </a:t>
            </a:r>
            <a:r>
              <a:rPr dirty="0" err="1"/>
              <a:t>Größe</a:t>
            </a:r>
            <a:r>
              <a:rPr dirty="0"/>
              <a:t> und </a:t>
            </a:r>
            <a:r>
              <a:rPr dirty="0" err="1"/>
              <a:t>Anwendung</a:t>
            </a:r>
            <a:r>
              <a:rPr dirty="0"/>
              <a:t>.</a:t>
            </a:r>
          </a:p>
        </p:txBody>
      </p:sp>
      <p:sp>
        <p:nvSpPr>
          <p:cNvPr id="121" name="テキスト ボックス 20">
            <a:extLst>
              <a:ext uri="{FF2B5EF4-FFF2-40B4-BE49-F238E27FC236}">
                <a16:creationId xmlns:a16="http://schemas.microsoft.com/office/drawing/2014/main" id="{465F72B9-4CFC-E531-A452-E99357AC764F}"/>
              </a:ext>
            </a:extLst>
          </p:cNvPr>
          <p:cNvSpPr txBox="1"/>
          <p:nvPr/>
        </p:nvSpPr>
        <p:spPr>
          <a:xfrm>
            <a:off x="816563" y="4242466"/>
            <a:ext cx="3033713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 b="1">
                <a:latin typeface="JostRoman-SemiBold"/>
                <a:ea typeface="JostRoman-SemiBold"/>
                <a:cs typeface="JostRoman-SemiBold"/>
                <a:sym typeface="JostRoman-SemiBold"/>
              </a:defRPr>
            </a:lvl1pPr>
          </a:lstStyle>
          <a:p>
            <a:r>
              <a:t>2. Auswahl eines Modells</a:t>
            </a:r>
          </a:p>
        </p:txBody>
      </p:sp>
      <p:sp>
        <p:nvSpPr>
          <p:cNvPr id="122" name="テキスト ボックス 21">
            <a:extLst>
              <a:ext uri="{FF2B5EF4-FFF2-40B4-BE49-F238E27FC236}">
                <a16:creationId xmlns:a16="http://schemas.microsoft.com/office/drawing/2014/main" id="{3FC309F6-4E88-46EB-B269-CBE23329F449}"/>
              </a:ext>
            </a:extLst>
          </p:cNvPr>
          <p:cNvSpPr txBox="1"/>
          <p:nvPr/>
        </p:nvSpPr>
        <p:spPr>
          <a:xfrm>
            <a:off x="706959" y="4643889"/>
            <a:ext cx="5558052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/>
            </a:lvl1pPr>
          </a:lstStyle>
          <a:p>
            <a:r>
              <a:t>Folgen Sie zuerst diesem kurzen Auswahlprozess, um die richtigen Daten herunterzuladen und zu drucken.</a:t>
            </a:r>
          </a:p>
        </p:txBody>
      </p:sp>
      <p:sp>
        <p:nvSpPr>
          <p:cNvPr id="123" name="テキスト ボックス 24">
            <a:extLst>
              <a:ext uri="{FF2B5EF4-FFF2-40B4-BE49-F238E27FC236}">
                <a16:creationId xmlns:a16="http://schemas.microsoft.com/office/drawing/2014/main" id="{C5CBF040-442E-D025-4970-FEE7EAAB471E}"/>
              </a:ext>
            </a:extLst>
          </p:cNvPr>
          <p:cNvSpPr txBox="1"/>
          <p:nvPr/>
        </p:nvSpPr>
        <p:spPr>
          <a:xfrm>
            <a:off x="706958" y="6386023"/>
            <a:ext cx="556532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/>
            </a:lvl1pPr>
          </a:lstStyle>
          <a:p>
            <a:r>
              <a:rPr dirty="0" err="1"/>
              <a:t>Wählen</a:t>
            </a:r>
            <a:r>
              <a:rPr dirty="0"/>
              <a:t> Sie </a:t>
            </a:r>
            <a:r>
              <a:rPr dirty="0" err="1"/>
              <a:t>zuerst</a:t>
            </a:r>
            <a:r>
              <a:rPr dirty="0"/>
              <a:t> die </a:t>
            </a:r>
            <a:r>
              <a:rPr dirty="0" err="1"/>
              <a:t>gewünschte</a:t>
            </a:r>
            <a:r>
              <a:rPr dirty="0"/>
              <a:t> </a:t>
            </a:r>
            <a:r>
              <a:rPr dirty="0" err="1"/>
              <a:t>Filamentart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, </a:t>
            </a:r>
            <a:r>
              <a:rPr dirty="0" err="1"/>
              <a:t>wenn</a:t>
            </a:r>
            <a:r>
              <a:rPr dirty="0"/>
              <a:t> Sie </a:t>
            </a:r>
            <a:r>
              <a:rPr dirty="0" err="1"/>
              <a:t>sich</a:t>
            </a:r>
            <a:r>
              <a:rPr dirty="0"/>
              <a:t> für </a:t>
            </a:r>
            <a:r>
              <a:rPr dirty="0" err="1"/>
              <a:t>ein</a:t>
            </a:r>
            <a:r>
              <a:rPr dirty="0"/>
              <a:t> Modell </a:t>
            </a:r>
            <a:r>
              <a:rPr dirty="0" err="1"/>
              <a:t>entscheiden</a:t>
            </a:r>
            <a:r>
              <a:rPr dirty="0"/>
              <a:t>.</a:t>
            </a:r>
          </a:p>
        </p:txBody>
      </p:sp>
      <p:sp>
        <p:nvSpPr>
          <p:cNvPr id="124" name="テキスト ボックス 25">
            <a:extLst>
              <a:ext uri="{FF2B5EF4-FFF2-40B4-BE49-F238E27FC236}">
                <a16:creationId xmlns:a16="http://schemas.microsoft.com/office/drawing/2014/main" id="{E6C92513-B935-CC95-61F5-EBF7D52377A4}"/>
              </a:ext>
            </a:extLst>
          </p:cNvPr>
          <p:cNvSpPr txBox="1"/>
          <p:nvPr/>
        </p:nvSpPr>
        <p:spPr>
          <a:xfrm>
            <a:off x="816563" y="6696427"/>
            <a:ext cx="5462985" cy="161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buSzPct val="100000"/>
              <a:buAutoNum type="arabicPeriod"/>
              <a:defRPr sz="1000"/>
            </a:pPr>
            <a:r>
              <a:rPr dirty="0" err="1"/>
              <a:t>Wählen</a:t>
            </a:r>
            <a:r>
              <a:rPr dirty="0"/>
              <a:t> Sie </a:t>
            </a:r>
            <a:r>
              <a:rPr dirty="0" err="1"/>
              <a:t>eine</a:t>
            </a:r>
            <a:r>
              <a:rPr dirty="0"/>
              <a:t> Serie: </a:t>
            </a:r>
            <a:r>
              <a:rPr dirty="0" err="1"/>
              <a:t>Mischfilament</a:t>
            </a:r>
            <a:r>
              <a:rPr dirty="0"/>
              <a:t> für </a:t>
            </a:r>
            <a:r>
              <a:rPr dirty="0" err="1"/>
              <a:t>Mischfarben</a:t>
            </a:r>
            <a:r>
              <a:rPr dirty="0"/>
              <a:t>, </a:t>
            </a:r>
            <a:r>
              <a:rPr dirty="0" err="1"/>
              <a:t>Farbverlaufsfilament</a:t>
            </a:r>
            <a:r>
              <a:rPr dirty="0"/>
              <a:t> für </a:t>
            </a:r>
            <a:r>
              <a:rPr dirty="0" err="1"/>
              <a:t>Farbwechsel</a:t>
            </a:r>
            <a:r>
              <a:rPr dirty="0"/>
              <a:t>.</a:t>
            </a:r>
          </a:p>
          <a:p>
            <a:pPr marL="228600" indent="-228600">
              <a:buSzPct val="100000"/>
              <a:buAutoNum type="arabicPeriod"/>
              <a:defRPr sz="1000"/>
            </a:pPr>
            <a:r>
              <a:rPr dirty="0" err="1"/>
              <a:t>Wählen</a:t>
            </a:r>
            <a:r>
              <a:rPr dirty="0"/>
              <a:t> Sie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Modellgröße</a:t>
            </a:r>
            <a:r>
              <a:rPr dirty="0"/>
              <a:t>: </a:t>
            </a:r>
            <a:r>
              <a:rPr dirty="0" err="1"/>
              <a:t>Nutzen</a:t>
            </a:r>
            <a:r>
              <a:rPr dirty="0"/>
              <a:t> Sie </a:t>
            </a:r>
            <a:r>
              <a:rPr dirty="0" err="1"/>
              <a:t>ein</a:t>
            </a:r>
            <a:r>
              <a:rPr dirty="0"/>
              <a:t> S4-Modell für </a:t>
            </a:r>
            <a:r>
              <a:rPr dirty="0" err="1"/>
              <a:t>kleine</a:t>
            </a:r>
            <a:r>
              <a:rPr dirty="0"/>
              <a:t> </a:t>
            </a:r>
            <a:r>
              <a:rPr dirty="0" err="1"/>
              <a:t>Objekte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M1-Modell für </a:t>
            </a:r>
            <a:r>
              <a:rPr dirty="0" err="1"/>
              <a:t>größere</a:t>
            </a:r>
            <a:r>
              <a:rPr dirty="0"/>
              <a:t> </a:t>
            </a:r>
            <a:r>
              <a:rPr dirty="0" err="1"/>
              <a:t>Drucke</a:t>
            </a:r>
            <a:r>
              <a:rPr dirty="0"/>
              <a:t>, die </a:t>
            </a:r>
            <a:r>
              <a:rPr dirty="0" err="1"/>
              <a:t>etwa</a:t>
            </a:r>
            <a:r>
              <a:rPr dirty="0"/>
              <a:t> 70 g Filament </a:t>
            </a:r>
            <a:r>
              <a:rPr dirty="0" err="1"/>
              <a:t>benötigen</a:t>
            </a:r>
            <a:r>
              <a:rPr dirty="0"/>
              <a:t>.</a:t>
            </a:r>
          </a:p>
          <a:p>
            <a:pPr marL="228600" indent="-228600">
              <a:buSzPct val="100000"/>
              <a:buAutoNum type="arabicPeriod"/>
              <a:defRPr sz="1000"/>
            </a:pPr>
            <a:r>
              <a:rPr dirty="0" err="1"/>
              <a:t>Profil</a:t>
            </a:r>
            <a:r>
              <a:rPr dirty="0"/>
              <a:t> und </a:t>
            </a:r>
            <a:r>
              <a:rPr dirty="0" err="1"/>
              <a:t>Druckplatte</a:t>
            </a:r>
            <a:r>
              <a:rPr dirty="0"/>
              <a:t> </a:t>
            </a:r>
            <a:r>
              <a:rPr dirty="0" err="1"/>
              <a:t>auswählen</a:t>
            </a:r>
            <a:r>
              <a:rPr dirty="0"/>
              <a:t>: </a:t>
            </a:r>
            <a:r>
              <a:rPr dirty="0" err="1"/>
              <a:t>Entscheiden</a:t>
            </a:r>
            <a:r>
              <a:rPr dirty="0"/>
              <a:t> Sie </a:t>
            </a:r>
            <a:r>
              <a:rPr dirty="0" err="1"/>
              <a:t>sich</a:t>
            </a:r>
            <a:r>
              <a:rPr dirty="0"/>
              <a:t> für die </a:t>
            </a:r>
            <a:r>
              <a:rPr dirty="0" err="1"/>
              <a:t>Druckplatte</a:t>
            </a:r>
            <a:r>
              <a:rPr dirty="0"/>
              <a:t>, die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Ihrem</a:t>
            </a:r>
            <a:r>
              <a:rPr dirty="0"/>
              <a:t> </a:t>
            </a:r>
            <a:r>
              <a:rPr dirty="0" err="1"/>
              <a:t>gewünschten</a:t>
            </a:r>
            <a:r>
              <a:rPr dirty="0"/>
              <a:t> </a:t>
            </a:r>
            <a:r>
              <a:rPr dirty="0" err="1"/>
              <a:t>Mischungsverhältnis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Muster </a:t>
            </a:r>
            <a:r>
              <a:rPr dirty="0" err="1"/>
              <a:t>passt</a:t>
            </a:r>
            <a:r>
              <a:rPr dirty="0"/>
              <a:t>.</a:t>
            </a:r>
          </a:p>
          <a:p>
            <a:pPr marL="228600" indent="-228600">
              <a:buSzPct val="100000"/>
              <a:buAutoNum type="arabicPeriod"/>
              <a:defRPr sz="1000"/>
            </a:pPr>
            <a:r>
              <a:rPr dirty="0" err="1"/>
              <a:t>Filamente</a:t>
            </a:r>
            <a:r>
              <a:rPr dirty="0"/>
              <a:t> </a:t>
            </a:r>
            <a:r>
              <a:rPr dirty="0" err="1"/>
              <a:t>zuweisen</a:t>
            </a:r>
            <a:r>
              <a:rPr dirty="0"/>
              <a:t> und </a:t>
            </a:r>
            <a:r>
              <a:rPr dirty="0" err="1"/>
              <a:t>slicen</a:t>
            </a:r>
            <a:r>
              <a:rPr dirty="0"/>
              <a:t>: </a:t>
            </a:r>
            <a:r>
              <a:rPr dirty="0" err="1"/>
              <a:t>Nutzen</a:t>
            </a:r>
            <a:r>
              <a:rPr dirty="0"/>
              <a:t> Sie </a:t>
            </a:r>
            <a:r>
              <a:rPr dirty="0" err="1"/>
              <a:t>Filamente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identischem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ähnlichem</a:t>
            </a:r>
            <a:r>
              <a:rPr dirty="0"/>
              <a:t> Material, </a:t>
            </a:r>
            <a:r>
              <a:rPr dirty="0" err="1"/>
              <a:t>führen</a:t>
            </a:r>
            <a:r>
              <a:rPr dirty="0"/>
              <a:t> Sie die </a:t>
            </a:r>
            <a:r>
              <a:rPr dirty="0" err="1"/>
              <a:t>Zuweisung</a:t>
            </a:r>
            <a:r>
              <a:rPr dirty="0"/>
              <a:t> </a:t>
            </a:r>
            <a:r>
              <a:rPr dirty="0" err="1"/>
              <a:t>durch</a:t>
            </a:r>
            <a:r>
              <a:rPr dirty="0"/>
              <a:t>, </a:t>
            </a:r>
            <a:r>
              <a:rPr dirty="0" err="1"/>
              <a:t>slicen</a:t>
            </a:r>
            <a:r>
              <a:rPr dirty="0"/>
              <a:t> Sie das Modell und </a:t>
            </a:r>
            <a:r>
              <a:rPr dirty="0" err="1"/>
              <a:t>beachten</a:t>
            </a:r>
            <a:r>
              <a:rPr dirty="0"/>
              <a:t> Sie </a:t>
            </a:r>
            <a:r>
              <a:rPr dirty="0" err="1"/>
              <a:t>vor</a:t>
            </a:r>
            <a:r>
              <a:rPr dirty="0"/>
              <a:t> dem Druck die </a:t>
            </a:r>
            <a:r>
              <a:rPr dirty="0" err="1"/>
              <a:t>Druckhinweise</a:t>
            </a:r>
            <a:r>
              <a:rPr dirty="0"/>
              <a:t>.</a:t>
            </a:r>
          </a:p>
        </p:txBody>
      </p:sp>
      <p:sp>
        <p:nvSpPr>
          <p:cNvPr id="125" name="テキスト ボックス 26">
            <a:extLst>
              <a:ext uri="{FF2B5EF4-FFF2-40B4-BE49-F238E27FC236}">
                <a16:creationId xmlns:a16="http://schemas.microsoft.com/office/drawing/2014/main" id="{12FD37F0-7761-8A9A-42B9-E0742C229012}"/>
              </a:ext>
            </a:extLst>
          </p:cNvPr>
          <p:cNvSpPr txBox="1"/>
          <p:nvPr/>
        </p:nvSpPr>
        <p:spPr>
          <a:xfrm>
            <a:off x="816562" y="8157903"/>
            <a:ext cx="537256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latin typeface="JostRoman-Light"/>
                <a:ea typeface="JostRoman-Light"/>
                <a:cs typeface="JostRoman-Light"/>
                <a:sym typeface="JostRoman-Light"/>
              </a:defRPr>
            </a:pPr>
            <a:r>
              <a:rPr dirty="0"/>
              <a:t>*</a:t>
            </a:r>
            <a:r>
              <a:rPr dirty="0" err="1"/>
              <a:t>Hinweis</a:t>
            </a:r>
            <a:r>
              <a:rPr dirty="0"/>
              <a:t>: Der </a:t>
            </a:r>
            <a:r>
              <a:rPr dirty="0" err="1"/>
              <a:t>Begriff</a:t>
            </a:r>
            <a:r>
              <a:rPr dirty="0"/>
              <a:t> „</a:t>
            </a:r>
            <a:r>
              <a:rPr dirty="0" err="1"/>
              <a:t>Profil</a:t>
            </a:r>
            <a:r>
              <a:rPr dirty="0"/>
              <a:t>“ </a:t>
            </a:r>
            <a:r>
              <a:rPr dirty="0" err="1"/>
              <a:t>steht</a:t>
            </a:r>
            <a:r>
              <a:rPr dirty="0"/>
              <a:t> in </a:t>
            </a:r>
            <a:r>
              <a:rPr dirty="0">
                <a:latin typeface="Jost SemiBold" pitchFamily="2" charset="0"/>
                <a:ea typeface="Jost SemiBold" pitchFamily="2" charset="0"/>
              </a:rPr>
              <a:t>FlexChroma</a:t>
            </a:r>
            <a:r>
              <a:rPr dirty="0"/>
              <a:t> für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Einteilung</a:t>
            </a:r>
            <a:r>
              <a:rPr dirty="0"/>
              <a:t> </a:t>
            </a:r>
            <a:r>
              <a:rPr dirty="0" err="1"/>
              <a:t>nach</a:t>
            </a:r>
            <a:r>
              <a:rPr dirty="0"/>
              <a:t> </a:t>
            </a:r>
            <a:r>
              <a:rPr dirty="0" err="1"/>
              <a:t>Verwendungszweck</a:t>
            </a:r>
            <a:r>
              <a:rPr dirty="0"/>
              <a:t>, nicht für </a:t>
            </a:r>
            <a:r>
              <a:rPr dirty="0" err="1"/>
              <a:t>abweichende</a:t>
            </a:r>
            <a:r>
              <a:rPr dirty="0"/>
              <a:t> </a:t>
            </a:r>
            <a:r>
              <a:rPr dirty="0" err="1"/>
              <a:t>Druckeinstellungen</a:t>
            </a:r>
            <a:r>
              <a:rPr dirty="0"/>
              <a:t>.</a:t>
            </a:r>
          </a:p>
        </p:txBody>
      </p:sp>
      <p:sp>
        <p:nvSpPr>
          <p:cNvPr id="132" name="テキスト ボックス 30">
            <a:extLst>
              <a:ext uri="{FF2B5EF4-FFF2-40B4-BE49-F238E27FC236}">
                <a16:creationId xmlns:a16="http://schemas.microsoft.com/office/drawing/2014/main" id="{82043691-E551-40E7-543E-A06D1DA319DC}"/>
              </a:ext>
            </a:extLst>
          </p:cNvPr>
          <p:cNvSpPr txBox="1"/>
          <p:nvPr/>
        </p:nvSpPr>
        <p:spPr>
          <a:xfrm>
            <a:off x="1934144" y="1459500"/>
            <a:ext cx="307231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/>
            </a:lvl1pPr>
          </a:lstStyle>
          <a:p>
            <a:r>
              <a:rPr dirty="0"/>
              <a:t>- </a:t>
            </a:r>
            <a:r>
              <a:rPr dirty="0">
                <a:latin typeface="Jost SemiBold" pitchFamily="2" charset="0"/>
                <a:ea typeface="Jost SemiBold" pitchFamily="2" charset="0"/>
              </a:rPr>
              <a:t>FlexChroma</a:t>
            </a:r>
            <a:r>
              <a:rPr dirty="0"/>
              <a:t> </a:t>
            </a:r>
            <a:r>
              <a:rPr dirty="0" err="1">
                <a:latin typeface="Jost" pitchFamily="2" charset="0"/>
                <a:ea typeface="Jost" pitchFamily="2" charset="0"/>
              </a:rPr>
              <a:t>Dokumentenarchiv</a:t>
            </a:r>
            <a:r>
              <a:rPr dirty="0"/>
              <a:t> -</a:t>
            </a:r>
          </a:p>
        </p:txBody>
      </p:sp>
      <p:sp>
        <p:nvSpPr>
          <p:cNvPr id="133" name="テキスト ボックス 33">
            <a:extLst>
              <a:ext uri="{FF2B5EF4-FFF2-40B4-BE49-F238E27FC236}">
                <a16:creationId xmlns:a16="http://schemas.microsoft.com/office/drawing/2014/main" id="{E444E9E8-9BED-83F3-3507-1FD7F7AF7B54}"/>
              </a:ext>
            </a:extLst>
          </p:cNvPr>
          <p:cNvSpPr txBox="1"/>
          <p:nvPr/>
        </p:nvSpPr>
        <p:spPr>
          <a:xfrm>
            <a:off x="2657017" y="1806153"/>
            <a:ext cx="1543966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/>
            </a:lvl1pPr>
          </a:lstStyle>
          <a:p>
            <a:r>
              <a:rPr dirty="0"/>
              <a:t>Ver.1.00  2026.9.1</a:t>
            </a:r>
          </a:p>
        </p:txBody>
      </p:sp>
      <p:pic>
        <p:nvPicPr>
          <p:cNvPr id="134" name="FlexChroma-icon3.png" descr="FlexChroma-icon3.png">
            <a:extLst>
              <a:ext uri="{FF2B5EF4-FFF2-40B4-BE49-F238E27FC236}">
                <a16:creationId xmlns:a16="http://schemas.microsoft.com/office/drawing/2014/main" id="{C9405ADB-56E4-E4C0-B790-D1B432573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72" y="877017"/>
            <a:ext cx="484295" cy="466866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0996FAAE-7061-99CB-76FF-3D4138B86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01" y="5093007"/>
            <a:ext cx="5813043" cy="1099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974584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5C8B7-8474-6382-68B0-B75938FC9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正方形/長方形 1">
            <a:extLst>
              <a:ext uri="{FF2B5EF4-FFF2-40B4-BE49-F238E27FC236}">
                <a16:creationId xmlns:a16="http://schemas.microsoft.com/office/drawing/2014/main" id="{75B9A09D-F0CD-DF18-B4E1-7C64831AA409}"/>
              </a:ext>
            </a:extLst>
          </p:cNvPr>
          <p:cNvSpPr/>
          <p:nvPr/>
        </p:nvSpPr>
        <p:spPr>
          <a:xfrm>
            <a:off x="33951" y="45268"/>
            <a:ext cx="6790099" cy="9053465"/>
          </a:xfrm>
          <a:prstGeom prst="rect">
            <a:avLst/>
          </a:prstGeom>
          <a:gradFill>
            <a:gsLst>
              <a:gs pos="10000">
                <a:srgbClr val="EE00B0"/>
              </a:gs>
              <a:gs pos="50000">
                <a:srgbClr val="6200E8"/>
              </a:gs>
              <a:gs pos="90000">
                <a:srgbClr val="0095E5"/>
              </a:gs>
            </a:gsLst>
            <a:lin ang="1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EB4251B7-B9EC-3E92-8BA4-1D71B8963A29}"/>
              </a:ext>
            </a:extLst>
          </p:cNvPr>
          <p:cNvSpPr/>
          <p:nvPr/>
        </p:nvSpPr>
        <p:spPr>
          <a:xfrm>
            <a:off x="7825" y="0"/>
            <a:ext cx="6858001" cy="9144000"/>
          </a:xfrm>
          <a:custGeom>
            <a:avLst/>
            <a:gdLst>
              <a:gd name="csX0" fmla="*/ 3727019 w 6858001"/>
              <a:gd name="csY0" fmla="*/ 8661917 h 9144000"/>
              <a:gd name="csX1" fmla="*/ 3727019 w 6858001"/>
              <a:gd name="csY1" fmla="*/ 8715918 h 9144000"/>
              <a:gd name="csX2" fmla="*/ 6319020 w 6858001"/>
              <a:gd name="csY2" fmla="*/ 8715918 h 9144000"/>
              <a:gd name="csX3" fmla="*/ 6319020 w 6858001"/>
              <a:gd name="csY3" fmla="*/ 8661917 h 9144000"/>
              <a:gd name="csX4" fmla="*/ 546712 w 6858001"/>
              <a:gd name="csY4" fmla="*/ 8661917 h 9144000"/>
              <a:gd name="csX5" fmla="*/ 546712 w 6858001"/>
              <a:gd name="csY5" fmla="*/ 8715918 h 9144000"/>
              <a:gd name="csX6" fmla="*/ 3138714 w 6858001"/>
              <a:gd name="csY6" fmla="*/ 8715918 h 9144000"/>
              <a:gd name="csX7" fmla="*/ 3138714 w 6858001"/>
              <a:gd name="csY7" fmla="*/ 8661917 h 9144000"/>
              <a:gd name="csX8" fmla="*/ 660685 w 6858001"/>
              <a:gd name="csY8" fmla="*/ 2534513 h 9144000"/>
              <a:gd name="csX9" fmla="*/ 558349 w 6858001"/>
              <a:gd name="csY9" fmla="*/ 2636849 h 9144000"/>
              <a:gd name="csX10" fmla="*/ 660685 w 6858001"/>
              <a:gd name="csY10" fmla="*/ 2739185 h 9144000"/>
              <a:gd name="csX11" fmla="*/ 763021 w 6858001"/>
              <a:gd name="csY11" fmla="*/ 2636849 h 9144000"/>
              <a:gd name="csX12" fmla="*/ 660685 w 6858001"/>
              <a:gd name="csY12" fmla="*/ 2534513 h 9144000"/>
              <a:gd name="csX13" fmla="*/ 660685 w 6858001"/>
              <a:gd name="csY13" fmla="*/ 655549 h 9144000"/>
              <a:gd name="csX14" fmla="*/ 558349 w 6858001"/>
              <a:gd name="csY14" fmla="*/ 757885 h 9144000"/>
              <a:gd name="csX15" fmla="*/ 660685 w 6858001"/>
              <a:gd name="csY15" fmla="*/ 860221 h 9144000"/>
              <a:gd name="csX16" fmla="*/ 763021 w 6858001"/>
              <a:gd name="csY16" fmla="*/ 757885 h 9144000"/>
              <a:gd name="csX17" fmla="*/ 660685 w 6858001"/>
              <a:gd name="csY17" fmla="*/ 655549 h 9144000"/>
              <a:gd name="csX18" fmla="*/ 546711 w 6858001"/>
              <a:gd name="csY18" fmla="*/ 452468 h 9144000"/>
              <a:gd name="csX19" fmla="*/ 546711 w 6858001"/>
              <a:gd name="csY19" fmla="*/ 506469 h 9144000"/>
              <a:gd name="csX20" fmla="*/ 6302906 w 6858001"/>
              <a:gd name="csY20" fmla="*/ 506469 h 9144000"/>
              <a:gd name="csX21" fmla="*/ 6302906 w 6858001"/>
              <a:gd name="csY21" fmla="*/ 452468 h 9144000"/>
              <a:gd name="csX22" fmla="*/ 0 w 6858001"/>
              <a:gd name="csY22" fmla="*/ 0 h 9144000"/>
              <a:gd name="csX23" fmla="*/ 6858001 w 6858001"/>
              <a:gd name="csY23" fmla="*/ 0 h 9144000"/>
              <a:gd name="csX24" fmla="*/ 6858001 w 6858001"/>
              <a:gd name="csY24" fmla="*/ 9144000 h 9144000"/>
              <a:gd name="csX25" fmla="*/ 0 w 6858001"/>
              <a:gd name="csY25" fmla="*/ 9144000 h 914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6858001" h="9144000">
                <a:moveTo>
                  <a:pt x="3727019" y="8661917"/>
                </a:moveTo>
                <a:lnTo>
                  <a:pt x="3727019" y="8715918"/>
                </a:lnTo>
                <a:lnTo>
                  <a:pt x="6319020" y="8715918"/>
                </a:lnTo>
                <a:lnTo>
                  <a:pt x="6319020" y="8661917"/>
                </a:lnTo>
                <a:close/>
                <a:moveTo>
                  <a:pt x="546712" y="8661917"/>
                </a:moveTo>
                <a:lnTo>
                  <a:pt x="546712" y="8715918"/>
                </a:lnTo>
                <a:lnTo>
                  <a:pt x="3138714" y="8715918"/>
                </a:lnTo>
                <a:lnTo>
                  <a:pt x="3138714" y="8661917"/>
                </a:lnTo>
                <a:close/>
                <a:moveTo>
                  <a:pt x="660685" y="2534513"/>
                </a:moveTo>
                <a:cubicBezTo>
                  <a:pt x="604166" y="2534513"/>
                  <a:pt x="558349" y="2580330"/>
                  <a:pt x="558349" y="2636849"/>
                </a:cubicBezTo>
                <a:cubicBezTo>
                  <a:pt x="558349" y="2693368"/>
                  <a:pt x="604166" y="2739185"/>
                  <a:pt x="660685" y="2739185"/>
                </a:cubicBezTo>
                <a:cubicBezTo>
                  <a:pt x="717204" y="2739185"/>
                  <a:pt x="763021" y="2693368"/>
                  <a:pt x="763021" y="2636849"/>
                </a:cubicBezTo>
                <a:cubicBezTo>
                  <a:pt x="763021" y="2580330"/>
                  <a:pt x="717204" y="2534513"/>
                  <a:pt x="660685" y="2534513"/>
                </a:cubicBezTo>
                <a:close/>
                <a:moveTo>
                  <a:pt x="660685" y="655549"/>
                </a:moveTo>
                <a:cubicBezTo>
                  <a:pt x="604166" y="655549"/>
                  <a:pt x="558349" y="701366"/>
                  <a:pt x="558349" y="757885"/>
                </a:cubicBezTo>
                <a:cubicBezTo>
                  <a:pt x="558349" y="814404"/>
                  <a:pt x="604166" y="860221"/>
                  <a:pt x="660685" y="860221"/>
                </a:cubicBezTo>
                <a:cubicBezTo>
                  <a:pt x="717204" y="860221"/>
                  <a:pt x="763021" y="814404"/>
                  <a:pt x="763021" y="757885"/>
                </a:cubicBezTo>
                <a:cubicBezTo>
                  <a:pt x="763021" y="701366"/>
                  <a:pt x="717204" y="655549"/>
                  <a:pt x="660685" y="655549"/>
                </a:cubicBezTo>
                <a:close/>
                <a:moveTo>
                  <a:pt x="546711" y="452468"/>
                </a:moveTo>
                <a:lnTo>
                  <a:pt x="546711" y="506469"/>
                </a:lnTo>
                <a:lnTo>
                  <a:pt x="6302906" y="506469"/>
                </a:lnTo>
                <a:lnTo>
                  <a:pt x="6302906" y="452468"/>
                </a:lnTo>
                <a:close/>
                <a:moveTo>
                  <a:pt x="0" y="0"/>
                </a:moveTo>
                <a:lnTo>
                  <a:pt x="6858001" y="0"/>
                </a:lnTo>
                <a:lnTo>
                  <a:pt x="6858001" y="914400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wrap="square" lIns="45719" rIns="45719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7" name="テキスト ボックス 16">
            <a:extLst>
              <a:ext uri="{FF2B5EF4-FFF2-40B4-BE49-F238E27FC236}">
                <a16:creationId xmlns:a16="http://schemas.microsoft.com/office/drawing/2014/main" id="{784ABDA9-F1B4-3A6D-A196-61383CAEDF23}"/>
              </a:ext>
            </a:extLst>
          </p:cNvPr>
          <p:cNvSpPr txBox="1"/>
          <p:nvPr/>
        </p:nvSpPr>
        <p:spPr>
          <a:xfrm>
            <a:off x="3209546" y="8485377"/>
            <a:ext cx="484295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/>
          </a:lstStyle>
          <a:p>
            <a:r>
              <a:t>2</a:t>
            </a:r>
          </a:p>
        </p:txBody>
      </p:sp>
      <p:sp>
        <p:nvSpPr>
          <p:cNvPr id="150" name="テキスト ボックス 2">
            <a:extLst>
              <a:ext uri="{FF2B5EF4-FFF2-40B4-BE49-F238E27FC236}">
                <a16:creationId xmlns:a16="http://schemas.microsoft.com/office/drawing/2014/main" id="{92F6294C-72F6-6C9C-08F8-682DE857AADB}"/>
              </a:ext>
            </a:extLst>
          </p:cNvPr>
          <p:cNvSpPr txBox="1"/>
          <p:nvPr/>
        </p:nvSpPr>
        <p:spPr>
          <a:xfrm>
            <a:off x="816563" y="546516"/>
            <a:ext cx="2373057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 b="1">
                <a:latin typeface="JostRoman-SemiBold"/>
                <a:ea typeface="JostRoman-SemiBold"/>
                <a:cs typeface="JostRoman-SemiBold"/>
                <a:sym typeface="JostRoman-SemiBold"/>
              </a:defRPr>
            </a:lvl1pPr>
          </a:lstStyle>
          <a:p>
            <a:r>
              <a:rPr dirty="0"/>
              <a:t>3. FlexChroma HUB</a:t>
            </a:r>
          </a:p>
        </p:txBody>
      </p:sp>
      <p:sp>
        <p:nvSpPr>
          <p:cNvPr id="151" name="テキスト ボックス 10">
            <a:extLst>
              <a:ext uri="{FF2B5EF4-FFF2-40B4-BE49-F238E27FC236}">
                <a16:creationId xmlns:a16="http://schemas.microsoft.com/office/drawing/2014/main" id="{99B88456-7497-76A0-F46B-B3B4CCEF5598}"/>
              </a:ext>
            </a:extLst>
          </p:cNvPr>
          <p:cNvSpPr txBox="1"/>
          <p:nvPr/>
        </p:nvSpPr>
        <p:spPr>
          <a:xfrm>
            <a:off x="714228" y="886688"/>
            <a:ext cx="5558051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/>
            </a:pPr>
            <a:r>
              <a:rPr dirty="0"/>
              <a:t>Der </a:t>
            </a:r>
            <a:r>
              <a:rPr dirty="0">
                <a:latin typeface="Jost SemiBold" pitchFamily="2" charset="0"/>
                <a:ea typeface="Jost SemiBold" pitchFamily="2" charset="0"/>
              </a:rPr>
              <a:t>FlexChroma</a:t>
            </a:r>
            <a:r>
              <a:rPr dirty="0"/>
              <a:t>-Hub </a:t>
            </a:r>
            <a:r>
              <a:rPr dirty="0" err="1"/>
              <a:t>ist</a:t>
            </a:r>
            <a:r>
              <a:rPr dirty="0"/>
              <a:t> der </a:t>
            </a:r>
            <a:r>
              <a:rPr dirty="0" err="1"/>
              <a:t>zentrale</a:t>
            </a:r>
            <a:r>
              <a:rPr dirty="0"/>
              <a:t> </a:t>
            </a:r>
            <a:r>
              <a:rPr dirty="0" err="1"/>
              <a:t>Einstiegspunkt</a:t>
            </a:r>
            <a:r>
              <a:rPr dirty="0"/>
              <a:t> auf MakerWorld und </a:t>
            </a:r>
            <a:r>
              <a:rPr dirty="0" err="1"/>
              <a:t>bietet</a:t>
            </a:r>
            <a:r>
              <a:rPr dirty="0"/>
              <a:t> </a:t>
            </a:r>
            <a:r>
              <a:rPr dirty="0" err="1"/>
              <a:t>Zugang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allen</a:t>
            </a:r>
            <a:r>
              <a:rPr dirty="0"/>
              <a:t> </a:t>
            </a:r>
            <a:r>
              <a:rPr dirty="0" err="1"/>
              <a:t>Serien</a:t>
            </a:r>
            <a:r>
              <a:rPr dirty="0"/>
              <a:t> und </a:t>
            </a:r>
            <a:r>
              <a:rPr dirty="0" err="1"/>
              <a:t>externen</a:t>
            </a:r>
            <a:r>
              <a:rPr dirty="0"/>
              <a:t> </a:t>
            </a:r>
            <a:r>
              <a:rPr dirty="0" err="1"/>
              <a:t>Portalen</a:t>
            </a:r>
            <a:r>
              <a:rPr dirty="0"/>
              <a:t>. </a:t>
            </a:r>
            <a:r>
              <a:rPr b="1" dirty="0">
                <a:latin typeface="JostRoman-Bold"/>
                <a:ea typeface="JostRoman-Bold"/>
                <a:cs typeface="JostRoman-Bold"/>
                <a:sym typeface="JostRoman-Bold"/>
              </a:rPr>
              <a:t>Wenn Sie </a:t>
            </a:r>
            <a:r>
              <a:rPr b="1" dirty="0" err="1">
                <a:latin typeface="JostRoman-Bold"/>
                <a:ea typeface="JostRoman-Bold"/>
                <a:cs typeface="JostRoman-Bold"/>
                <a:sym typeface="JostRoman-Bold"/>
              </a:rPr>
              <a:t>sich</a:t>
            </a:r>
            <a:r>
              <a:rPr b="1" dirty="0">
                <a:latin typeface="JostRoman-Bold"/>
                <a:ea typeface="JostRoman-Bold"/>
                <a:cs typeface="JostRoman-Bold"/>
                <a:sym typeface="JostRoman-Bold"/>
              </a:rPr>
              <a:t> </a:t>
            </a:r>
            <a:r>
              <a:rPr b="1" dirty="0" err="1">
                <a:latin typeface="JostRoman-Bold"/>
                <a:ea typeface="JostRoman-Bold"/>
                <a:cs typeface="JostRoman-Bold"/>
                <a:sym typeface="JostRoman-Bold"/>
              </a:rPr>
              <a:t>unsicher</a:t>
            </a:r>
            <a:r>
              <a:rPr b="1" dirty="0">
                <a:latin typeface="JostRoman-Bold"/>
                <a:ea typeface="JostRoman-Bold"/>
                <a:cs typeface="JostRoman-Bold"/>
                <a:sym typeface="JostRoman-Bold"/>
              </a:rPr>
              <a:t> </a:t>
            </a:r>
            <a:r>
              <a:rPr b="1" dirty="0" err="1">
                <a:latin typeface="JostRoman-Bold"/>
                <a:ea typeface="JostRoman-Bold"/>
                <a:cs typeface="JostRoman-Bold"/>
                <a:sym typeface="JostRoman-Bold"/>
              </a:rPr>
              <a:t>sind</a:t>
            </a:r>
            <a:r>
              <a:rPr b="1" dirty="0">
                <a:latin typeface="JostRoman-Bold"/>
                <a:ea typeface="JostRoman-Bold"/>
                <a:cs typeface="JostRoman-Bold"/>
                <a:sym typeface="JostRoman-Bold"/>
              </a:rPr>
              <a:t>, wo Sie </a:t>
            </a:r>
            <a:r>
              <a:rPr b="1" dirty="0" err="1">
                <a:latin typeface="JostRoman-Bold"/>
                <a:ea typeface="JostRoman-Bold"/>
                <a:cs typeface="JostRoman-Bold"/>
                <a:sym typeface="JostRoman-Bold"/>
              </a:rPr>
              <a:t>beginnen</a:t>
            </a:r>
            <a:r>
              <a:rPr b="1" dirty="0">
                <a:latin typeface="JostRoman-Bold"/>
                <a:ea typeface="JostRoman-Bold"/>
                <a:cs typeface="JostRoman-Bold"/>
                <a:sym typeface="JostRoman-Bold"/>
              </a:rPr>
              <a:t> </a:t>
            </a:r>
            <a:r>
              <a:rPr b="1" dirty="0" err="1">
                <a:latin typeface="JostRoman-Bold"/>
                <a:ea typeface="JostRoman-Bold"/>
                <a:cs typeface="JostRoman-Bold"/>
                <a:sym typeface="JostRoman-Bold"/>
              </a:rPr>
              <a:t>sollen</a:t>
            </a:r>
            <a:r>
              <a:rPr b="1" dirty="0">
                <a:latin typeface="JostRoman-Bold"/>
                <a:ea typeface="JostRoman-Bold"/>
                <a:cs typeface="JostRoman-Bold"/>
                <a:sym typeface="JostRoman-Bold"/>
              </a:rPr>
              <a:t>, </a:t>
            </a:r>
            <a:r>
              <a:rPr b="1" dirty="0" err="1">
                <a:latin typeface="JostRoman-Bold"/>
                <a:ea typeface="JostRoman-Bold"/>
                <a:cs typeface="JostRoman-Bold"/>
                <a:sym typeface="JostRoman-Bold"/>
              </a:rPr>
              <a:t>öffnen</a:t>
            </a:r>
            <a:r>
              <a:rPr b="1" dirty="0">
                <a:latin typeface="JostRoman-Bold"/>
                <a:ea typeface="JostRoman-Bold"/>
                <a:cs typeface="JostRoman-Bold"/>
                <a:sym typeface="JostRoman-Bold"/>
              </a:rPr>
              <a:t> Sie am </a:t>
            </a:r>
            <a:r>
              <a:rPr b="1" dirty="0" err="1">
                <a:latin typeface="JostRoman-Bold"/>
                <a:ea typeface="JostRoman-Bold"/>
                <a:cs typeface="JostRoman-Bold"/>
                <a:sym typeface="JostRoman-Bold"/>
              </a:rPr>
              <a:t>besten</a:t>
            </a:r>
            <a:r>
              <a:rPr b="1" dirty="0">
                <a:latin typeface="JostRoman-Bold"/>
                <a:ea typeface="JostRoman-Bold"/>
                <a:cs typeface="JostRoman-Bold"/>
                <a:sym typeface="JostRoman-Bold"/>
              </a:rPr>
              <a:t> </a:t>
            </a:r>
            <a:r>
              <a:rPr b="1" dirty="0" err="1">
                <a:latin typeface="JostRoman-Bold"/>
                <a:ea typeface="JostRoman-Bold"/>
                <a:cs typeface="JostRoman-Bold"/>
                <a:sym typeface="JostRoman-Bold"/>
              </a:rPr>
              <a:t>zuerst</a:t>
            </a:r>
            <a:r>
              <a:rPr b="1" dirty="0">
                <a:latin typeface="JostRoman-Bold"/>
                <a:ea typeface="JostRoman-Bold"/>
                <a:cs typeface="JostRoman-Bold"/>
                <a:sym typeface="JostRoman-Bold"/>
              </a:rPr>
              <a:t> dieses Modell.</a:t>
            </a:r>
          </a:p>
        </p:txBody>
      </p:sp>
      <p:sp>
        <p:nvSpPr>
          <p:cNvPr id="152" name="テキスト ボックス 11">
            <a:extLst>
              <a:ext uri="{FF2B5EF4-FFF2-40B4-BE49-F238E27FC236}">
                <a16:creationId xmlns:a16="http://schemas.microsoft.com/office/drawing/2014/main" id="{FC983AA2-A123-525C-3402-6C17EE284E0B}"/>
              </a:ext>
            </a:extLst>
          </p:cNvPr>
          <p:cNvSpPr txBox="1"/>
          <p:nvPr/>
        </p:nvSpPr>
        <p:spPr>
          <a:xfrm>
            <a:off x="816564" y="2439572"/>
            <a:ext cx="200646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 b="1">
                <a:latin typeface="JostRoman-SemiBold"/>
                <a:ea typeface="JostRoman-SemiBold"/>
                <a:cs typeface="JostRoman-SemiBold"/>
                <a:sym typeface="JostRoman-SemiBold"/>
              </a:defRPr>
            </a:lvl1pPr>
          </a:lstStyle>
          <a:p>
            <a:r>
              <a:t>4. Mischfilament</a:t>
            </a:r>
          </a:p>
        </p:txBody>
      </p:sp>
      <p:sp>
        <p:nvSpPr>
          <p:cNvPr id="153" name="テキスト ボックス 22">
            <a:extLst>
              <a:ext uri="{FF2B5EF4-FFF2-40B4-BE49-F238E27FC236}">
                <a16:creationId xmlns:a16="http://schemas.microsoft.com/office/drawing/2014/main" id="{4DEDC911-F6D4-7D86-FB0B-008033A6195D}"/>
              </a:ext>
            </a:extLst>
          </p:cNvPr>
          <p:cNvSpPr txBox="1"/>
          <p:nvPr/>
        </p:nvSpPr>
        <p:spPr>
          <a:xfrm>
            <a:off x="714228" y="2819223"/>
            <a:ext cx="5550784" cy="1400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/>
            </a:pPr>
            <a:r>
              <a:rPr dirty="0"/>
              <a:t>Die </a:t>
            </a:r>
            <a:r>
              <a:rPr dirty="0" err="1"/>
              <a:t>Mischfilament</a:t>
            </a:r>
            <a:r>
              <a:rPr dirty="0"/>
              <a:t> Serie </a:t>
            </a:r>
            <a:r>
              <a:rPr dirty="0" err="1"/>
              <a:t>bildet</a:t>
            </a:r>
            <a:r>
              <a:rPr dirty="0"/>
              <a:t> das </a:t>
            </a:r>
            <a:r>
              <a:rPr dirty="0" err="1"/>
              <a:t>grundlegendste</a:t>
            </a:r>
            <a:r>
              <a:rPr dirty="0"/>
              <a:t> </a:t>
            </a:r>
            <a:r>
              <a:rPr dirty="0" err="1"/>
              <a:t>Sortiment</a:t>
            </a:r>
            <a:r>
              <a:rPr dirty="0"/>
              <a:t> von </a:t>
            </a:r>
            <a:r>
              <a:rPr dirty="0">
                <a:latin typeface="Jost SemiBold" pitchFamily="2" charset="0"/>
                <a:ea typeface="Jost SemiBold" pitchFamily="2" charset="0"/>
              </a:rPr>
              <a:t>FlexChroma</a:t>
            </a:r>
            <a:r>
              <a:rPr dirty="0"/>
              <a:t>. Sie </a:t>
            </a:r>
            <a:r>
              <a:rPr dirty="0" err="1"/>
              <a:t>ermöglicht</a:t>
            </a:r>
            <a:r>
              <a:rPr dirty="0"/>
              <a:t> es Ihnen, </a:t>
            </a:r>
            <a:r>
              <a:rPr dirty="0" err="1"/>
              <a:t>zwei</a:t>
            </a:r>
            <a:r>
              <a:rPr dirty="0"/>
              <a:t> </a:t>
            </a:r>
            <a:r>
              <a:rPr dirty="0" err="1"/>
              <a:t>Filamente</a:t>
            </a:r>
            <a:r>
              <a:rPr dirty="0"/>
              <a:t> in </a:t>
            </a:r>
            <a:r>
              <a:rPr dirty="0" err="1"/>
              <a:t>verschiedenen</a:t>
            </a:r>
            <a:r>
              <a:rPr dirty="0"/>
              <a:t> </a:t>
            </a:r>
            <a:r>
              <a:rPr dirty="0" err="1"/>
              <a:t>Verhältnissen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mischen</a:t>
            </a:r>
            <a:r>
              <a:rPr dirty="0"/>
              <a:t>, um </a:t>
            </a:r>
            <a:r>
              <a:rPr dirty="0" err="1"/>
              <a:t>Ihre</a:t>
            </a:r>
            <a:r>
              <a:rPr dirty="0"/>
              <a:t> </a:t>
            </a:r>
            <a:r>
              <a:rPr dirty="0" err="1"/>
              <a:t>eigene</a:t>
            </a:r>
            <a:r>
              <a:rPr dirty="0"/>
              <a:t> </a:t>
            </a:r>
            <a:r>
              <a:rPr dirty="0" err="1"/>
              <a:t>individuelle</a:t>
            </a:r>
            <a:r>
              <a:rPr dirty="0"/>
              <a:t> </a:t>
            </a:r>
            <a:r>
              <a:rPr dirty="0" err="1"/>
              <a:t>Farbe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kreieren</a:t>
            </a:r>
            <a:r>
              <a:rPr dirty="0"/>
              <a:t>. </a:t>
            </a:r>
          </a:p>
          <a:p>
            <a:pPr>
              <a:defRPr sz="1000" b="1">
                <a:latin typeface="JostRoman-Bold"/>
                <a:ea typeface="JostRoman-Bold"/>
                <a:cs typeface="JostRoman-Bold"/>
                <a:sym typeface="JostRoman-Bold"/>
              </a:defRPr>
            </a:pPr>
            <a:r>
              <a:rPr dirty="0" err="1"/>
              <a:t>Jedes</a:t>
            </a:r>
            <a:r>
              <a:rPr dirty="0"/>
              <a:t> Modell </a:t>
            </a:r>
            <a:r>
              <a:rPr dirty="0" err="1"/>
              <a:t>deckt</a:t>
            </a:r>
            <a:r>
              <a:rPr dirty="0"/>
              <a:t> </a:t>
            </a:r>
            <a:r>
              <a:rPr dirty="0" err="1"/>
              <a:t>dabei</a:t>
            </a:r>
            <a:r>
              <a:rPr dirty="0"/>
              <a:t> </a:t>
            </a:r>
            <a:r>
              <a:rPr dirty="0" err="1"/>
              <a:t>Mischungsverhältnisse</a:t>
            </a:r>
            <a:r>
              <a:rPr dirty="0"/>
              <a:t> von 50 % bis 99,5 % ab. Für </a:t>
            </a:r>
            <a:r>
              <a:rPr dirty="0" err="1"/>
              <a:t>Werte</a:t>
            </a:r>
            <a:r>
              <a:rPr dirty="0"/>
              <a:t> </a:t>
            </a:r>
            <a:r>
              <a:rPr dirty="0" err="1"/>
              <a:t>unter</a:t>
            </a:r>
            <a:r>
              <a:rPr dirty="0"/>
              <a:t> 50 % </a:t>
            </a:r>
            <a:r>
              <a:rPr dirty="0" err="1"/>
              <a:t>tauschen</a:t>
            </a:r>
            <a:r>
              <a:rPr dirty="0"/>
              <a:t> Sie </a:t>
            </a:r>
            <a:r>
              <a:rPr dirty="0" err="1"/>
              <a:t>einfach</a:t>
            </a:r>
            <a:r>
              <a:rPr dirty="0"/>
              <a:t> Filament A und Filament B </a:t>
            </a:r>
            <a:r>
              <a:rPr dirty="0" err="1"/>
              <a:t>aus.</a:t>
            </a:r>
            <a:endParaRPr dirty="0"/>
          </a:p>
          <a:p>
            <a:pPr>
              <a:defRPr sz="500" b="1">
                <a:latin typeface="JostRoman-Bold"/>
                <a:ea typeface="JostRoman-Bold"/>
                <a:cs typeface="JostRoman-Bold"/>
                <a:sym typeface="JostRoman-Bold"/>
              </a:defRPr>
            </a:pPr>
            <a:endParaRPr dirty="0"/>
          </a:p>
          <a:p>
            <a:pPr>
              <a:defRPr sz="1000"/>
            </a:pPr>
            <a:r>
              <a:rPr dirty="0" err="1"/>
              <a:t>Beispiel</a:t>
            </a:r>
            <a:r>
              <a:rPr dirty="0"/>
              <a:t>: Um </a:t>
            </a:r>
            <a:r>
              <a:rPr dirty="0" err="1"/>
              <a:t>ein</a:t>
            </a:r>
            <a:r>
              <a:rPr dirty="0"/>
              <a:t> Filament </a:t>
            </a:r>
            <a:r>
              <a:rPr dirty="0" err="1"/>
              <a:t>mit</a:t>
            </a:r>
            <a:r>
              <a:rPr dirty="0"/>
              <a:t> 25 % Cyan </a:t>
            </a:r>
            <a:r>
              <a:rPr dirty="0" err="1"/>
              <a:t>gemischt</a:t>
            </a:r>
            <a:r>
              <a:rPr dirty="0"/>
              <a:t> in Gelb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erstellen</a:t>
            </a:r>
            <a:r>
              <a:rPr dirty="0"/>
              <a:t>, </a:t>
            </a:r>
            <a:r>
              <a:rPr dirty="0" err="1"/>
              <a:t>lesen</a:t>
            </a:r>
            <a:r>
              <a:rPr dirty="0"/>
              <a:t> Sie den Wert der </a:t>
            </a:r>
            <a:r>
              <a:rPr dirty="0" err="1"/>
              <a:t>Druckplatte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Verhältnis</a:t>
            </a:r>
            <a:r>
              <a:rPr dirty="0"/>
              <a:t> von Filament A ab, </a:t>
            </a:r>
            <a:r>
              <a:rPr dirty="0" err="1"/>
              <a:t>interpretieren</a:t>
            </a:r>
            <a:r>
              <a:rPr dirty="0"/>
              <a:t> </a:t>
            </a:r>
            <a:r>
              <a:rPr dirty="0" err="1"/>
              <a:t>diesen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75 % Gelb und </a:t>
            </a:r>
            <a:r>
              <a:rPr dirty="0" err="1"/>
              <a:t>slicen</a:t>
            </a:r>
            <a:r>
              <a:rPr dirty="0"/>
              <a:t> das Modell </a:t>
            </a:r>
            <a:r>
              <a:rPr dirty="0" err="1"/>
              <a:t>entsprechend</a:t>
            </a:r>
            <a:r>
              <a:rPr dirty="0"/>
              <a:t>.</a:t>
            </a:r>
          </a:p>
        </p:txBody>
      </p:sp>
      <p:sp>
        <p:nvSpPr>
          <p:cNvPr id="154" name="テキスト ボックス 23">
            <a:extLst>
              <a:ext uri="{FF2B5EF4-FFF2-40B4-BE49-F238E27FC236}">
                <a16:creationId xmlns:a16="http://schemas.microsoft.com/office/drawing/2014/main" id="{1D3CE8A8-32C8-466B-03DA-E93BBBE737F8}"/>
              </a:ext>
            </a:extLst>
          </p:cNvPr>
          <p:cNvSpPr txBox="1"/>
          <p:nvPr/>
        </p:nvSpPr>
        <p:spPr>
          <a:xfrm>
            <a:off x="717862" y="5392072"/>
            <a:ext cx="5550783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/>
            </a:lvl1pPr>
          </a:lstStyle>
          <a:p>
            <a:r>
              <a:t>Nachfolgend finden Sie die Modellkonfiguration für das Mischfilament.</a:t>
            </a:r>
          </a:p>
        </p:txBody>
      </p:sp>
      <p:pic>
        <p:nvPicPr>
          <p:cNvPr id="155" name="図 21" descr="図 21">
            <a:extLst>
              <a:ext uri="{FF2B5EF4-FFF2-40B4-BE49-F238E27FC236}">
                <a16:creationId xmlns:a16="http://schemas.microsoft.com/office/drawing/2014/main" id="{FCF3C4FC-2999-D6A1-FA94-F559C6655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630" y="5663618"/>
            <a:ext cx="4408740" cy="29017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6" name="ペーストされたムービー.png" descr="ペーストされたムービー.png">
            <a:extLst>
              <a:ext uri="{FF2B5EF4-FFF2-40B4-BE49-F238E27FC236}">
                <a16:creationId xmlns:a16="http://schemas.microsoft.com/office/drawing/2014/main" id="{72172A1C-8B13-2EEA-1971-951F089B0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664" y="1492058"/>
            <a:ext cx="4098506" cy="91389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EBED3F9-C934-970A-251D-5244A4063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00" y="4252052"/>
            <a:ext cx="5812703" cy="109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21082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F7990-FC31-4160-B5BE-33485D4CF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正方形/長方形 29">
            <a:extLst>
              <a:ext uri="{FF2B5EF4-FFF2-40B4-BE49-F238E27FC236}">
                <a16:creationId xmlns:a16="http://schemas.microsoft.com/office/drawing/2014/main" id="{76CBF687-85F7-65A3-42D8-114954417083}"/>
              </a:ext>
            </a:extLst>
          </p:cNvPr>
          <p:cNvSpPr/>
          <p:nvPr/>
        </p:nvSpPr>
        <p:spPr>
          <a:xfrm>
            <a:off x="51086" y="45267"/>
            <a:ext cx="6790098" cy="9053467"/>
          </a:xfrm>
          <a:prstGeom prst="rect">
            <a:avLst/>
          </a:prstGeom>
          <a:gradFill>
            <a:gsLst>
              <a:gs pos="10000">
                <a:srgbClr val="EE00B0"/>
              </a:gs>
              <a:gs pos="50000">
                <a:srgbClr val="6200E8"/>
              </a:gs>
              <a:gs pos="90000">
                <a:srgbClr val="0095E5"/>
              </a:gs>
            </a:gsLst>
            <a:lin ang="1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D1168AD2-EB7E-AA66-BAE6-FB389058FACC}"/>
              </a:ext>
            </a:extLst>
          </p:cNvPr>
          <p:cNvSpPr/>
          <p:nvPr/>
        </p:nvSpPr>
        <p:spPr>
          <a:xfrm>
            <a:off x="16816" y="-24384"/>
            <a:ext cx="6858001" cy="9144000"/>
          </a:xfrm>
          <a:custGeom>
            <a:avLst/>
            <a:gdLst>
              <a:gd name="csX0" fmla="*/ 3718028 w 6858001"/>
              <a:gd name="csY0" fmla="*/ 8686301 h 9144000"/>
              <a:gd name="csX1" fmla="*/ 3718028 w 6858001"/>
              <a:gd name="csY1" fmla="*/ 8740302 h 9144000"/>
              <a:gd name="csX2" fmla="*/ 6310029 w 6858001"/>
              <a:gd name="csY2" fmla="*/ 8740302 h 9144000"/>
              <a:gd name="csX3" fmla="*/ 6310029 w 6858001"/>
              <a:gd name="csY3" fmla="*/ 8686301 h 9144000"/>
              <a:gd name="csX4" fmla="*/ 537721 w 6858001"/>
              <a:gd name="csY4" fmla="*/ 8686301 h 9144000"/>
              <a:gd name="csX5" fmla="*/ 537721 w 6858001"/>
              <a:gd name="csY5" fmla="*/ 8740302 h 9144000"/>
              <a:gd name="csX6" fmla="*/ 3129723 w 6858001"/>
              <a:gd name="csY6" fmla="*/ 8740302 h 9144000"/>
              <a:gd name="csX7" fmla="*/ 3129723 w 6858001"/>
              <a:gd name="csY7" fmla="*/ 8686301 h 9144000"/>
              <a:gd name="csX8" fmla="*/ 651694 w 6858001"/>
              <a:gd name="csY8" fmla="*/ 702285 h 9144000"/>
              <a:gd name="csX9" fmla="*/ 549358 w 6858001"/>
              <a:gd name="csY9" fmla="*/ 804621 h 9144000"/>
              <a:gd name="csX10" fmla="*/ 651694 w 6858001"/>
              <a:gd name="csY10" fmla="*/ 906957 h 9144000"/>
              <a:gd name="csX11" fmla="*/ 754030 w 6858001"/>
              <a:gd name="csY11" fmla="*/ 804621 h 9144000"/>
              <a:gd name="csX12" fmla="*/ 651694 w 6858001"/>
              <a:gd name="csY12" fmla="*/ 702285 h 9144000"/>
              <a:gd name="csX13" fmla="*/ 537720 w 6858001"/>
              <a:gd name="csY13" fmla="*/ 476852 h 9144000"/>
              <a:gd name="csX14" fmla="*/ 537720 w 6858001"/>
              <a:gd name="csY14" fmla="*/ 530853 h 9144000"/>
              <a:gd name="csX15" fmla="*/ 6293915 w 6858001"/>
              <a:gd name="csY15" fmla="*/ 530853 h 9144000"/>
              <a:gd name="csX16" fmla="*/ 6293915 w 6858001"/>
              <a:gd name="csY16" fmla="*/ 476852 h 9144000"/>
              <a:gd name="csX17" fmla="*/ 0 w 6858001"/>
              <a:gd name="csY17" fmla="*/ 0 h 9144000"/>
              <a:gd name="csX18" fmla="*/ 6858001 w 6858001"/>
              <a:gd name="csY18" fmla="*/ 0 h 9144000"/>
              <a:gd name="csX19" fmla="*/ 6858001 w 6858001"/>
              <a:gd name="csY19" fmla="*/ 9144000 h 9144000"/>
              <a:gd name="csX20" fmla="*/ 0 w 6858001"/>
              <a:gd name="csY20" fmla="*/ 9144000 h 914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6858001" h="9144000">
                <a:moveTo>
                  <a:pt x="3718028" y="8686301"/>
                </a:moveTo>
                <a:lnTo>
                  <a:pt x="3718028" y="8740302"/>
                </a:lnTo>
                <a:lnTo>
                  <a:pt x="6310029" y="8740302"/>
                </a:lnTo>
                <a:lnTo>
                  <a:pt x="6310029" y="8686301"/>
                </a:lnTo>
                <a:close/>
                <a:moveTo>
                  <a:pt x="537721" y="8686301"/>
                </a:moveTo>
                <a:lnTo>
                  <a:pt x="537721" y="8740302"/>
                </a:lnTo>
                <a:lnTo>
                  <a:pt x="3129723" y="8740302"/>
                </a:lnTo>
                <a:lnTo>
                  <a:pt x="3129723" y="8686301"/>
                </a:lnTo>
                <a:close/>
                <a:moveTo>
                  <a:pt x="651694" y="702285"/>
                </a:moveTo>
                <a:cubicBezTo>
                  <a:pt x="595175" y="702285"/>
                  <a:pt x="549358" y="748102"/>
                  <a:pt x="549358" y="804621"/>
                </a:cubicBezTo>
                <a:cubicBezTo>
                  <a:pt x="549358" y="861140"/>
                  <a:pt x="595175" y="906957"/>
                  <a:pt x="651694" y="906957"/>
                </a:cubicBezTo>
                <a:cubicBezTo>
                  <a:pt x="708213" y="906957"/>
                  <a:pt x="754030" y="861140"/>
                  <a:pt x="754030" y="804621"/>
                </a:cubicBezTo>
                <a:cubicBezTo>
                  <a:pt x="754030" y="748102"/>
                  <a:pt x="708213" y="702285"/>
                  <a:pt x="651694" y="702285"/>
                </a:cubicBezTo>
                <a:close/>
                <a:moveTo>
                  <a:pt x="537720" y="476852"/>
                </a:moveTo>
                <a:lnTo>
                  <a:pt x="537720" y="530853"/>
                </a:lnTo>
                <a:lnTo>
                  <a:pt x="6293915" y="530853"/>
                </a:lnTo>
                <a:lnTo>
                  <a:pt x="6293915" y="476852"/>
                </a:lnTo>
                <a:close/>
                <a:moveTo>
                  <a:pt x="0" y="0"/>
                </a:moveTo>
                <a:lnTo>
                  <a:pt x="6858001" y="0"/>
                </a:lnTo>
                <a:lnTo>
                  <a:pt x="6858001" y="914400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wrap="square" lIns="45719" rIns="45719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9" name="テキスト ボックス 16">
            <a:extLst>
              <a:ext uri="{FF2B5EF4-FFF2-40B4-BE49-F238E27FC236}">
                <a16:creationId xmlns:a16="http://schemas.microsoft.com/office/drawing/2014/main" id="{191A636B-8154-D84F-E822-0CF8A52508AA}"/>
              </a:ext>
            </a:extLst>
          </p:cNvPr>
          <p:cNvSpPr txBox="1"/>
          <p:nvPr/>
        </p:nvSpPr>
        <p:spPr>
          <a:xfrm>
            <a:off x="3194306" y="8485377"/>
            <a:ext cx="484295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/>
          </a:lstStyle>
          <a:p>
            <a:r>
              <a:rPr dirty="0"/>
              <a:t>3</a:t>
            </a:r>
          </a:p>
        </p:txBody>
      </p:sp>
      <p:sp>
        <p:nvSpPr>
          <p:cNvPr id="171" name="テキスト ボックス 30">
            <a:extLst>
              <a:ext uri="{FF2B5EF4-FFF2-40B4-BE49-F238E27FC236}">
                <a16:creationId xmlns:a16="http://schemas.microsoft.com/office/drawing/2014/main" id="{1A1BC54F-26FF-7F5E-7713-5B0DE197343A}"/>
              </a:ext>
            </a:extLst>
          </p:cNvPr>
          <p:cNvSpPr txBox="1"/>
          <p:nvPr/>
        </p:nvSpPr>
        <p:spPr>
          <a:xfrm>
            <a:off x="816563" y="570900"/>
            <a:ext cx="2813096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 b="1">
                <a:latin typeface="JostRoman-SemiBold"/>
                <a:ea typeface="JostRoman-SemiBold"/>
                <a:cs typeface="JostRoman-SemiBold"/>
                <a:sym typeface="JostRoman-SemiBold"/>
              </a:defRPr>
            </a:lvl1pPr>
          </a:lstStyle>
          <a:p>
            <a:r>
              <a:rPr dirty="0"/>
              <a:t>5. </a:t>
            </a:r>
            <a:r>
              <a:rPr dirty="0" err="1"/>
              <a:t>Farbverlaufsfilament</a:t>
            </a:r>
            <a:r>
              <a:rPr dirty="0"/>
              <a:t> </a:t>
            </a:r>
          </a:p>
        </p:txBody>
      </p:sp>
      <p:sp>
        <p:nvSpPr>
          <p:cNvPr id="172" name="テキスト ボックス 32">
            <a:extLst>
              <a:ext uri="{FF2B5EF4-FFF2-40B4-BE49-F238E27FC236}">
                <a16:creationId xmlns:a16="http://schemas.microsoft.com/office/drawing/2014/main" id="{5113D10C-7B88-EA2B-C85A-47EA5C6D0671}"/>
              </a:ext>
            </a:extLst>
          </p:cNvPr>
          <p:cNvSpPr txBox="1"/>
          <p:nvPr/>
        </p:nvSpPr>
        <p:spPr>
          <a:xfrm>
            <a:off x="721497" y="4547616"/>
            <a:ext cx="5550783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/>
            </a:lvl1pPr>
          </a:lstStyle>
          <a:p>
            <a:r>
              <a:rPr dirty="0" err="1"/>
              <a:t>Nachfolgend</a:t>
            </a:r>
            <a:r>
              <a:rPr dirty="0"/>
              <a:t> </a:t>
            </a:r>
            <a:r>
              <a:rPr dirty="0" err="1"/>
              <a:t>finden</a:t>
            </a:r>
            <a:r>
              <a:rPr dirty="0"/>
              <a:t> Sie die </a:t>
            </a:r>
            <a:r>
              <a:rPr dirty="0" err="1"/>
              <a:t>Modellkonfiguration</a:t>
            </a:r>
            <a:r>
              <a:rPr dirty="0"/>
              <a:t> für das </a:t>
            </a:r>
            <a:r>
              <a:rPr dirty="0" err="1"/>
              <a:t>Farbverlaufsfilament</a:t>
            </a:r>
            <a:r>
              <a:rPr dirty="0"/>
              <a:t>.</a:t>
            </a:r>
          </a:p>
        </p:txBody>
      </p:sp>
      <p:sp>
        <p:nvSpPr>
          <p:cNvPr id="174" name="テキスト ボックス 18">
            <a:extLst>
              <a:ext uri="{FF2B5EF4-FFF2-40B4-BE49-F238E27FC236}">
                <a16:creationId xmlns:a16="http://schemas.microsoft.com/office/drawing/2014/main" id="{137E6AE8-9544-E7E5-3C67-39AADC090622}"/>
              </a:ext>
            </a:extLst>
          </p:cNvPr>
          <p:cNvSpPr txBox="1"/>
          <p:nvPr/>
        </p:nvSpPr>
        <p:spPr>
          <a:xfrm>
            <a:off x="714228" y="950456"/>
            <a:ext cx="5558051" cy="2669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/>
            </a:pPr>
            <a:r>
              <a:rPr dirty="0"/>
              <a:t>Die </a:t>
            </a:r>
            <a:r>
              <a:rPr dirty="0" err="1"/>
              <a:t>Farbverlaufsfilament</a:t>
            </a:r>
            <a:r>
              <a:rPr dirty="0"/>
              <a:t> Serie </a:t>
            </a:r>
            <a:r>
              <a:rPr dirty="0" err="1"/>
              <a:t>bietet</a:t>
            </a:r>
            <a:r>
              <a:rPr dirty="0"/>
              <a:t> </a:t>
            </a:r>
            <a:r>
              <a:rPr dirty="0" err="1"/>
              <a:t>mehrere</a:t>
            </a:r>
            <a:r>
              <a:rPr dirty="0"/>
              <a:t> </a:t>
            </a:r>
            <a:r>
              <a:rPr dirty="0" err="1"/>
              <a:t>farbwechselnde</a:t>
            </a:r>
            <a:r>
              <a:rPr dirty="0"/>
              <a:t> Profile und </a:t>
            </a:r>
            <a:r>
              <a:rPr dirty="0" err="1"/>
              <a:t>Druckplatten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unterschiedlichen</a:t>
            </a:r>
            <a:r>
              <a:rPr dirty="0"/>
              <a:t> </a:t>
            </a:r>
            <a:r>
              <a:rPr dirty="0" err="1"/>
              <a:t>Zyklusanzahlen</a:t>
            </a:r>
            <a:r>
              <a:rPr dirty="0"/>
              <a:t>. Die Details </a:t>
            </a:r>
            <a:r>
              <a:rPr dirty="0" err="1"/>
              <a:t>variieren</a:t>
            </a:r>
            <a:r>
              <a:rPr dirty="0"/>
              <a:t> je </a:t>
            </a:r>
            <a:r>
              <a:rPr dirty="0" err="1"/>
              <a:t>nach</a:t>
            </a:r>
            <a:r>
              <a:rPr dirty="0"/>
              <a:t> Modell. Bitte </a:t>
            </a:r>
            <a:r>
              <a:rPr dirty="0" err="1"/>
              <a:t>beachten</a:t>
            </a:r>
            <a:r>
              <a:rPr dirty="0"/>
              <a:t> Sie </a:t>
            </a:r>
            <a:r>
              <a:rPr dirty="0" err="1"/>
              <a:t>daher</a:t>
            </a:r>
            <a:r>
              <a:rPr dirty="0"/>
              <a:t> die </a:t>
            </a:r>
            <a:r>
              <a:rPr dirty="0" err="1"/>
              <a:t>Beschreibung</a:t>
            </a:r>
            <a:r>
              <a:rPr dirty="0"/>
              <a:t> des </a:t>
            </a:r>
            <a:r>
              <a:rPr dirty="0" err="1"/>
              <a:t>jeweiligen</a:t>
            </a:r>
            <a:r>
              <a:rPr dirty="0"/>
              <a:t> </a:t>
            </a:r>
            <a:r>
              <a:rPr dirty="0" err="1"/>
              <a:t>Modells</a:t>
            </a:r>
            <a:r>
              <a:rPr dirty="0"/>
              <a:t>.</a:t>
            </a:r>
          </a:p>
          <a:p>
            <a:pPr>
              <a:defRPr sz="1000"/>
            </a:pPr>
            <a:endParaRPr dirty="0"/>
          </a:p>
          <a:p>
            <a:pPr marL="171450" indent="-171450">
              <a:buSzPct val="100000"/>
              <a:buFont typeface="Jost-Regular"/>
              <a:buChar char="•"/>
              <a:defRPr sz="1000"/>
            </a:pPr>
            <a:r>
              <a:rPr dirty="0" err="1"/>
              <a:t>Farbkurve</a:t>
            </a:r>
            <a:r>
              <a:rPr dirty="0"/>
              <a:t>: </a:t>
            </a:r>
            <a:r>
              <a:rPr dirty="0" err="1"/>
              <a:t>Einstellungen</a:t>
            </a:r>
            <a:r>
              <a:rPr dirty="0"/>
              <a:t> </a:t>
            </a:r>
            <a:r>
              <a:rPr dirty="0" err="1"/>
              <a:t>basierend</a:t>
            </a:r>
            <a:r>
              <a:rPr dirty="0"/>
              <a:t> auf </a:t>
            </a:r>
            <a:r>
              <a:rPr dirty="0" err="1"/>
              <a:t>Farbkombinationen</a:t>
            </a:r>
            <a:r>
              <a:rPr dirty="0"/>
              <a:t>. </a:t>
            </a:r>
            <a:r>
              <a:rPr dirty="0" err="1"/>
              <a:t>Diese</a:t>
            </a:r>
            <a:r>
              <a:rPr dirty="0"/>
              <a:t> Option </a:t>
            </a:r>
            <a:r>
              <a:rPr dirty="0" err="1"/>
              <a:t>ermöglicht</a:t>
            </a:r>
            <a:r>
              <a:rPr dirty="0"/>
              <a:t> es Ihnen, den </a:t>
            </a:r>
            <a:r>
              <a:rPr dirty="0" err="1"/>
              <a:t>optimalen</a:t>
            </a:r>
            <a:r>
              <a:rPr dirty="0"/>
              <a:t> </a:t>
            </a:r>
            <a:r>
              <a:rPr dirty="0" err="1"/>
              <a:t>Verlauf</a:t>
            </a:r>
            <a:r>
              <a:rPr dirty="0"/>
              <a:t> für </a:t>
            </a:r>
            <a:r>
              <a:rPr dirty="0" err="1"/>
              <a:t>jede</a:t>
            </a:r>
            <a:r>
              <a:rPr dirty="0"/>
              <a:t> </a:t>
            </a:r>
            <a:r>
              <a:rPr dirty="0" err="1"/>
              <a:t>Farbe</a:t>
            </a:r>
            <a:r>
              <a:rPr dirty="0"/>
              <a:t> </a:t>
            </a:r>
            <a:r>
              <a:rPr dirty="0" err="1"/>
              <a:t>auszuwählen</a:t>
            </a:r>
            <a:r>
              <a:rPr dirty="0"/>
              <a:t> – </a:t>
            </a:r>
            <a:r>
              <a:rPr dirty="0" err="1"/>
              <a:t>zum</a:t>
            </a:r>
            <a:r>
              <a:rPr dirty="0"/>
              <a:t> </a:t>
            </a:r>
            <a:r>
              <a:rPr dirty="0" err="1"/>
              <a:t>Beispiel</a:t>
            </a:r>
            <a:r>
              <a:rPr dirty="0"/>
              <a:t> „Lebendig“ für Cyan und Gelb </a:t>
            </a:r>
            <a:r>
              <a:rPr dirty="0" err="1"/>
              <a:t>oder</a:t>
            </a:r>
            <a:r>
              <a:rPr dirty="0"/>
              <a:t> „</a:t>
            </a:r>
            <a:r>
              <a:rPr dirty="0" err="1"/>
              <a:t>Kontrast</a:t>
            </a:r>
            <a:r>
              <a:rPr dirty="0"/>
              <a:t>“ für Weiß und Magenta.</a:t>
            </a:r>
          </a:p>
          <a:p>
            <a:pPr>
              <a:defRPr sz="600"/>
            </a:pPr>
            <a:endParaRPr dirty="0"/>
          </a:p>
          <a:p>
            <a:pPr marL="171450" indent="-171450">
              <a:buSzPct val="100000"/>
              <a:buFont typeface="Jost-Regular"/>
              <a:buChar char="•"/>
              <a:defRPr sz="1000"/>
            </a:pPr>
            <a:r>
              <a:rPr dirty="0" err="1"/>
              <a:t>Zyklusanzahl</a:t>
            </a:r>
            <a:r>
              <a:rPr dirty="0"/>
              <a:t>: Die Zahl, </a:t>
            </a:r>
            <a:r>
              <a:rPr dirty="0" err="1"/>
              <a:t>welche</a:t>
            </a:r>
            <a:r>
              <a:rPr dirty="0"/>
              <a:t> die </a:t>
            </a:r>
            <a:r>
              <a:rPr dirty="0" err="1"/>
              <a:t>Häufigkeit</a:t>
            </a:r>
            <a:r>
              <a:rPr dirty="0"/>
              <a:t> des </a:t>
            </a:r>
            <a:r>
              <a:rPr dirty="0" err="1"/>
              <a:t>Verlaufs</a:t>
            </a:r>
            <a:r>
              <a:rPr dirty="0"/>
              <a:t> </a:t>
            </a:r>
            <a:r>
              <a:rPr dirty="0" err="1"/>
              <a:t>bestimmt</a:t>
            </a:r>
            <a:r>
              <a:rPr dirty="0"/>
              <a:t>. Als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Zyklus</a:t>
            </a:r>
            <a:r>
              <a:rPr dirty="0"/>
              <a:t> </a:t>
            </a:r>
            <a:r>
              <a:rPr dirty="0" err="1"/>
              <a:t>zählt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vollständiger</a:t>
            </a:r>
            <a:r>
              <a:rPr dirty="0"/>
              <a:t> </a:t>
            </a:r>
            <a:r>
              <a:rPr dirty="0" err="1"/>
              <a:t>Durchlauf</a:t>
            </a:r>
            <a:r>
              <a:rPr dirty="0"/>
              <a:t>, in dem das Filament von A </a:t>
            </a:r>
            <a:r>
              <a:rPr dirty="0" err="1"/>
              <a:t>nach</a:t>
            </a:r>
            <a:r>
              <a:rPr dirty="0"/>
              <a:t> B </a:t>
            </a:r>
            <a:r>
              <a:rPr dirty="0" err="1"/>
              <a:t>nach</a:t>
            </a:r>
            <a:r>
              <a:rPr dirty="0"/>
              <a:t> A und </a:t>
            </a:r>
            <a:r>
              <a:rPr dirty="0" err="1"/>
              <a:t>wieder</a:t>
            </a:r>
            <a:r>
              <a:rPr dirty="0"/>
              <a:t> </a:t>
            </a:r>
            <a:r>
              <a:rPr dirty="0" err="1"/>
              <a:t>zurück</a:t>
            </a:r>
            <a:r>
              <a:rPr dirty="0"/>
              <a:t> </a:t>
            </a:r>
            <a:r>
              <a:rPr dirty="0" err="1"/>
              <a:t>wechselt</a:t>
            </a:r>
            <a:r>
              <a:rPr dirty="0"/>
              <a:t>.</a:t>
            </a:r>
          </a:p>
          <a:p>
            <a:pPr>
              <a:defRPr sz="1000"/>
            </a:pPr>
            <a:endParaRPr dirty="0"/>
          </a:p>
          <a:p>
            <a:pPr>
              <a:defRPr sz="1000"/>
            </a:pPr>
            <a:r>
              <a:rPr dirty="0" err="1"/>
              <a:t>Beispiel</a:t>
            </a:r>
            <a:r>
              <a:rPr dirty="0"/>
              <a:t>: Um </a:t>
            </a:r>
            <a:r>
              <a:rPr dirty="0" err="1"/>
              <a:t>ein</a:t>
            </a:r>
            <a:r>
              <a:rPr dirty="0"/>
              <a:t> schnell </a:t>
            </a:r>
            <a:r>
              <a:rPr dirty="0" err="1"/>
              <a:t>wechselndes</a:t>
            </a:r>
            <a:r>
              <a:rPr dirty="0"/>
              <a:t> </a:t>
            </a:r>
            <a:r>
              <a:rPr dirty="0" err="1"/>
              <a:t>Farbverlaufsfilament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Cyan und Magenta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erstellen</a:t>
            </a:r>
            <a:r>
              <a:rPr dirty="0"/>
              <a:t>, </a:t>
            </a:r>
            <a:r>
              <a:rPr dirty="0" err="1"/>
              <a:t>wählen</a:t>
            </a:r>
            <a:r>
              <a:rPr dirty="0"/>
              <a:t> Sie </a:t>
            </a:r>
            <a:r>
              <a:rPr dirty="0" err="1"/>
              <a:t>ein</a:t>
            </a:r>
            <a:r>
              <a:rPr dirty="0"/>
              <a:t> S4 Modell, </a:t>
            </a:r>
            <a:r>
              <a:rPr dirty="0" err="1"/>
              <a:t>entscheiden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für </a:t>
            </a:r>
            <a:r>
              <a:rPr dirty="0" err="1"/>
              <a:t>eine</a:t>
            </a:r>
            <a:r>
              <a:rPr dirty="0"/>
              <a:t> 4 </a:t>
            </a:r>
            <a:r>
              <a:rPr dirty="0" err="1"/>
              <a:t>Zyklus</a:t>
            </a:r>
            <a:r>
              <a:rPr dirty="0"/>
              <a:t> </a:t>
            </a:r>
            <a:r>
              <a:rPr dirty="0" err="1"/>
              <a:t>Druckplatte</a:t>
            </a:r>
            <a:r>
              <a:rPr dirty="0"/>
              <a:t> und </a:t>
            </a:r>
            <a:r>
              <a:rPr dirty="0" err="1"/>
              <a:t>nutzen</a:t>
            </a:r>
            <a:r>
              <a:rPr dirty="0"/>
              <a:t> </a:t>
            </a:r>
            <a:r>
              <a:rPr dirty="0" err="1"/>
              <a:t>aufgrund</a:t>
            </a:r>
            <a:r>
              <a:rPr dirty="0"/>
              <a:t> des </a:t>
            </a:r>
            <a:r>
              <a:rPr dirty="0" err="1"/>
              <a:t>hohen</a:t>
            </a:r>
            <a:r>
              <a:rPr dirty="0"/>
              <a:t> </a:t>
            </a:r>
            <a:r>
              <a:rPr dirty="0" err="1"/>
              <a:t>Farbkontrasts</a:t>
            </a:r>
            <a:r>
              <a:rPr dirty="0"/>
              <a:t> das </a:t>
            </a:r>
            <a:r>
              <a:rPr dirty="0" err="1"/>
              <a:t>Profil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der </a:t>
            </a:r>
            <a:r>
              <a:rPr dirty="0" err="1"/>
              <a:t>Kurve</a:t>
            </a:r>
            <a:r>
              <a:rPr dirty="0"/>
              <a:t> Lebendig.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2CBAABB-F109-CE7D-31DD-F5051C376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97" y="3305622"/>
            <a:ext cx="5818062" cy="111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35B71BF1-727B-33C3-4D4C-3C0DA7AFA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027" y="4873452"/>
            <a:ext cx="5251946" cy="3665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202906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80327-9469-24FE-80F0-3CA7C09B6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正方形/長方形 29">
            <a:extLst>
              <a:ext uri="{FF2B5EF4-FFF2-40B4-BE49-F238E27FC236}">
                <a16:creationId xmlns:a16="http://schemas.microsoft.com/office/drawing/2014/main" id="{6BD72277-B50B-1435-4296-365527F8AEC7}"/>
              </a:ext>
            </a:extLst>
          </p:cNvPr>
          <p:cNvSpPr/>
          <p:nvPr/>
        </p:nvSpPr>
        <p:spPr>
          <a:xfrm>
            <a:off x="51086" y="45267"/>
            <a:ext cx="6790098" cy="9053467"/>
          </a:xfrm>
          <a:prstGeom prst="rect">
            <a:avLst/>
          </a:prstGeom>
          <a:gradFill>
            <a:gsLst>
              <a:gs pos="10000">
                <a:srgbClr val="EE00B0"/>
              </a:gs>
              <a:gs pos="50000">
                <a:srgbClr val="6200E8"/>
              </a:gs>
              <a:gs pos="90000">
                <a:srgbClr val="0095E5"/>
              </a:gs>
            </a:gsLst>
            <a:lin ang="1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C5ADF236-4A27-8B20-F573-DA3E4F548CE7}"/>
              </a:ext>
            </a:extLst>
          </p:cNvPr>
          <p:cNvSpPr/>
          <p:nvPr/>
        </p:nvSpPr>
        <p:spPr>
          <a:xfrm>
            <a:off x="17051" y="5530"/>
            <a:ext cx="6858001" cy="9144001"/>
          </a:xfrm>
          <a:custGeom>
            <a:avLst/>
            <a:gdLst>
              <a:gd name="csX0" fmla="*/ 3717793 w 6858001"/>
              <a:gd name="csY0" fmla="*/ 8656387 h 9144001"/>
              <a:gd name="csX1" fmla="*/ 3717793 w 6858001"/>
              <a:gd name="csY1" fmla="*/ 8710388 h 9144001"/>
              <a:gd name="csX2" fmla="*/ 6309794 w 6858001"/>
              <a:gd name="csY2" fmla="*/ 8710388 h 9144001"/>
              <a:gd name="csX3" fmla="*/ 6309794 w 6858001"/>
              <a:gd name="csY3" fmla="*/ 8656387 h 9144001"/>
              <a:gd name="csX4" fmla="*/ 537486 w 6858001"/>
              <a:gd name="csY4" fmla="*/ 8656387 h 9144001"/>
              <a:gd name="csX5" fmla="*/ 537486 w 6858001"/>
              <a:gd name="csY5" fmla="*/ 8710388 h 9144001"/>
              <a:gd name="csX6" fmla="*/ 3129488 w 6858001"/>
              <a:gd name="csY6" fmla="*/ 8710388 h 9144001"/>
              <a:gd name="csX7" fmla="*/ 3129488 w 6858001"/>
              <a:gd name="csY7" fmla="*/ 8656387 h 9144001"/>
              <a:gd name="csX8" fmla="*/ 631632 w 6858001"/>
              <a:gd name="csY8" fmla="*/ 811545 h 9144001"/>
              <a:gd name="csX9" fmla="*/ 529296 w 6858001"/>
              <a:gd name="csY9" fmla="*/ 913881 h 9144001"/>
              <a:gd name="csX10" fmla="*/ 631632 w 6858001"/>
              <a:gd name="csY10" fmla="*/ 1016217 h 9144001"/>
              <a:gd name="csX11" fmla="*/ 733968 w 6858001"/>
              <a:gd name="csY11" fmla="*/ 913881 h 9144001"/>
              <a:gd name="csX12" fmla="*/ 631632 w 6858001"/>
              <a:gd name="csY12" fmla="*/ 811545 h 9144001"/>
              <a:gd name="csX13" fmla="*/ 537485 w 6858001"/>
              <a:gd name="csY13" fmla="*/ 446938 h 9144001"/>
              <a:gd name="csX14" fmla="*/ 537485 w 6858001"/>
              <a:gd name="csY14" fmla="*/ 500939 h 9144001"/>
              <a:gd name="csX15" fmla="*/ 6293680 w 6858001"/>
              <a:gd name="csY15" fmla="*/ 500939 h 9144001"/>
              <a:gd name="csX16" fmla="*/ 6293680 w 6858001"/>
              <a:gd name="csY16" fmla="*/ 446938 h 9144001"/>
              <a:gd name="csX17" fmla="*/ 0 w 6858001"/>
              <a:gd name="csY17" fmla="*/ 0 h 9144001"/>
              <a:gd name="csX18" fmla="*/ 6858001 w 6858001"/>
              <a:gd name="csY18" fmla="*/ 0 h 9144001"/>
              <a:gd name="csX19" fmla="*/ 6858001 w 6858001"/>
              <a:gd name="csY19" fmla="*/ 9144001 h 9144001"/>
              <a:gd name="csX20" fmla="*/ 0 w 6858001"/>
              <a:gd name="csY20" fmla="*/ 9144001 h 91440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6858001" h="9144001">
                <a:moveTo>
                  <a:pt x="3717793" y="8656387"/>
                </a:moveTo>
                <a:lnTo>
                  <a:pt x="3717793" y="8710388"/>
                </a:lnTo>
                <a:lnTo>
                  <a:pt x="6309794" y="8710388"/>
                </a:lnTo>
                <a:lnTo>
                  <a:pt x="6309794" y="8656387"/>
                </a:lnTo>
                <a:close/>
                <a:moveTo>
                  <a:pt x="537486" y="8656387"/>
                </a:moveTo>
                <a:lnTo>
                  <a:pt x="537486" y="8710388"/>
                </a:lnTo>
                <a:lnTo>
                  <a:pt x="3129488" y="8710388"/>
                </a:lnTo>
                <a:lnTo>
                  <a:pt x="3129488" y="8656387"/>
                </a:lnTo>
                <a:close/>
                <a:moveTo>
                  <a:pt x="631632" y="811545"/>
                </a:moveTo>
                <a:cubicBezTo>
                  <a:pt x="575113" y="811545"/>
                  <a:pt x="529296" y="857362"/>
                  <a:pt x="529296" y="913881"/>
                </a:cubicBezTo>
                <a:cubicBezTo>
                  <a:pt x="529296" y="970400"/>
                  <a:pt x="575113" y="1016217"/>
                  <a:pt x="631632" y="1016217"/>
                </a:cubicBezTo>
                <a:cubicBezTo>
                  <a:pt x="688151" y="1016217"/>
                  <a:pt x="733968" y="970400"/>
                  <a:pt x="733968" y="913881"/>
                </a:cubicBezTo>
                <a:cubicBezTo>
                  <a:pt x="733968" y="857362"/>
                  <a:pt x="688151" y="811545"/>
                  <a:pt x="631632" y="811545"/>
                </a:cubicBezTo>
                <a:close/>
                <a:moveTo>
                  <a:pt x="537485" y="446938"/>
                </a:moveTo>
                <a:lnTo>
                  <a:pt x="537485" y="500939"/>
                </a:lnTo>
                <a:lnTo>
                  <a:pt x="6293680" y="500939"/>
                </a:lnTo>
                <a:lnTo>
                  <a:pt x="6293680" y="446938"/>
                </a:lnTo>
                <a:close/>
                <a:moveTo>
                  <a:pt x="0" y="0"/>
                </a:moveTo>
                <a:lnTo>
                  <a:pt x="6858001" y="0"/>
                </a:lnTo>
                <a:lnTo>
                  <a:pt x="6858001" y="9144001"/>
                </a:lnTo>
                <a:lnTo>
                  <a:pt x="0" y="9144001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wrap="square" lIns="45719" rIns="45719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b="1"/>
          </a:p>
        </p:txBody>
      </p:sp>
      <p:sp>
        <p:nvSpPr>
          <p:cNvPr id="187" name="テキスト ボックス 16">
            <a:extLst>
              <a:ext uri="{FF2B5EF4-FFF2-40B4-BE49-F238E27FC236}">
                <a16:creationId xmlns:a16="http://schemas.microsoft.com/office/drawing/2014/main" id="{79C717FF-486D-5135-6F40-4E74484AFC88}"/>
              </a:ext>
            </a:extLst>
          </p:cNvPr>
          <p:cNvSpPr txBox="1"/>
          <p:nvPr/>
        </p:nvSpPr>
        <p:spPr>
          <a:xfrm>
            <a:off x="3209546" y="8511531"/>
            <a:ext cx="48429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/>
          </a:lstStyle>
          <a:p>
            <a:r>
              <a:rPr dirty="0"/>
              <a:t>4</a:t>
            </a:r>
          </a:p>
        </p:txBody>
      </p:sp>
      <p:sp>
        <p:nvSpPr>
          <p:cNvPr id="189" name="テキスト ボックス 33">
            <a:extLst>
              <a:ext uri="{FF2B5EF4-FFF2-40B4-BE49-F238E27FC236}">
                <a16:creationId xmlns:a16="http://schemas.microsoft.com/office/drawing/2014/main" id="{44154982-DCE0-1E6F-2C06-F1F161FE10F5}"/>
              </a:ext>
            </a:extLst>
          </p:cNvPr>
          <p:cNvSpPr txBox="1"/>
          <p:nvPr/>
        </p:nvSpPr>
        <p:spPr>
          <a:xfrm>
            <a:off x="823834" y="772101"/>
            <a:ext cx="1865252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 b="1">
                <a:latin typeface="JostRoman-SemiBold"/>
                <a:ea typeface="JostRoman-SemiBold"/>
                <a:cs typeface="JostRoman-SemiBold"/>
                <a:sym typeface="JostRoman-SemiBold"/>
              </a:defRPr>
            </a:lvl1pPr>
          </a:lstStyle>
          <a:p>
            <a:r>
              <a:rPr dirty="0">
                <a:latin typeface="+mj-lt"/>
              </a:rPr>
              <a:t>6. Update </a:t>
            </a:r>
            <a:r>
              <a:rPr dirty="0" err="1">
                <a:latin typeface="+mj-lt"/>
              </a:rPr>
              <a:t>Historie</a:t>
            </a:r>
            <a:endParaRPr dirty="0">
              <a:latin typeface="+mj-lt"/>
            </a:endParaRPr>
          </a:p>
        </p:txBody>
      </p:sp>
      <p:sp>
        <p:nvSpPr>
          <p:cNvPr id="190" name="テキスト ボックス 34">
            <a:extLst>
              <a:ext uri="{FF2B5EF4-FFF2-40B4-BE49-F238E27FC236}">
                <a16:creationId xmlns:a16="http://schemas.microsoft.com/office/drawing/2014/main" id="{930F3AD8-7BA6-AA24-8D34-A50C6555B586}"/>
              </a:ext>
            </a:extLst>
          </p:cNvPr>
          <p:cNvSpPr txBox="1"/>
          <p:nvPr/>
        </p:nvSpPr>
        <p:spPr>
          <a:xfrm>
            <a:off x="684043" y="1115239"/>
            <a:ext cx="5558051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900"/>
            </a:lvl1pPr>
          </a:lstStyle>
          <a:p>
            <a:r>
              <a:rPr dirty="0">
                <a:latin typeface="+mj-lt"/>
              </a:rPr>
              <a:t>Ver.1.00  2026-09-01  Erste Version </a:t>
            </a:r>
            <a:r>
              <a:rPr dirty="0" err="1">
                <a:latin typeface="+mj-lt"/>
              </a:rPr>
              <a:t>veröffentlicht</a:t>
            </a:r>
            <a:endParaRPr dirty="0">
              <a:latin typeface="+mj-lt"/>
            </a:endParaRPr>
          </a:p>
        </p:txBody>
      </p:sp>
      <p:sp>
        <p:nvSpPr>
          <p:cNvPr id="3" name="テキスト ボックス 34">
            <a:extLst>
              <a:ext uri="{FF2B5EF4-FFF2-40B4-BE49-F238E27FC236}">
                <a16:creationId xmlns:a16="http://schemas.microsoft.com/office/drawing/2014/main" id="{508EA612-37A6-81BD-ABBB-3A1CAF9A02B7}"/>
              </a:ext>
            </a:extLst>
          </p:cNvPr>
          <p:cNvSpPr txBox="1"/>
          <p:nvPr/>
        </p:nvSpPr>
        <p:spPr>
          <a:xfrm>
            <a:off x="684043" y="1985257"/>
            <a:ext cx="5558051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900"/>
            </a:lvl1pPr>
          </a:lstStyle>
          <a:p>
            <a:r>
              <a:rPr lang="en-US" sz="1000" dirty="0" err="1">
                <a:latin typeface="+mj-lt"/>
              </a:rPr>
              <a:t>Nennung</a:t>
            </a:r>
            <a:r>
              <a:rPr lang="en-US" sz="1000" dirty="0">
                <a:latin typeface="+mj-lt"/>
              </a:rPr>
              <a:t> : </a:t>
            </a:r>
          </a:p>
          <a:p>
            <a:r>
              <a:rPr lang="en-US" sz="1000" dirty="0">
                <a:latin typeface="+mj-lt"/>
              </a:rPr>
              <a:t> Deutsche </a:t>
            </a:r>
            <a:r>
              <a:rPr lang="en-US" sz="1000" dirty="0" err="1">
                <a:latin typeface="+mj-lt"/>
              </a:rPr>
              <a:t>Übersetzung</a:t>
            </a:r>
            <a:r>
              <a:rPr lang="en-US" sz="1000" dirty="0">
                <a:latin typeface="+mj-lt"/>
              </a:rPr>
              <a:t> –Domenik</a:t>
            </a:r>
            <a:endParaRPr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2457137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テーマ">
  <a:themeElements>
    <a:clrScheme name="Office テーマ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テーマ">
      <a:majorFont>
        <a:latin typeface="Jost-Regular"/>
        <a:ea typeface="Jost-Regular"/>
        <a:cs typeface="Jost-Regular"/>
      </a:majorFont>
      <a:minorFont>
        <a:latin typeface="Jost-Regular"/>
        <a:ea typeface="Jost-Regular"/>
        <a:cs typeface="Jost-Regular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Jost-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Jost-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 テーマ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テーマ">
      <a:majorFont>
        <a:latin typeface="Jost-Regular"/>
        <a:ea typeface="Jost-Regular"/>
        <a:cs typeface="Jost-Regular"/>
      </a:majorFont>
      <a:minorFont>
        <a:latin typeface="Jost-Regular"/>
        <a:ea typeface="Jost-Regular"/>
        <a:cs typeface="Jost-Regular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Jost-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Jost-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1067</Words>
  <Application>Microsoft Office PowerPoint</Application>
  <PresentationFormat>画面に合わせる (4:3)</PresentationFormat>
  <Paragraphs>79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Jost-Regular</vt:lpstr>
      <vt:lpstr>JostRoman-Bold</vt:lpstr>
      <vt:lpstr>Jost</vt:lpstr>
      <vt:lpstr>Jost Medium</vt:lpstr>
      <vt:lpstr>Jost SemiBold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MAKOTO YAZAKI (矢﨑 誠)</cp:lastModifiedBy>
  <cp:revision>4</cp:revision>
  <cp:lastPrinted>2026-09-16T06:59:50Z</cp:lastPrinted>
  <dcterms:modified xsi:type="dcterms:W3CDTF">2026-09-16T07:00:05Z</dcterms:modified>
</cp:coreProperties>
</file>