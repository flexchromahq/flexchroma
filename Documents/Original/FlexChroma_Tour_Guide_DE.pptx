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6858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Jost-Regular"/>
      </a:defRPr>
    </a:lvl1pPr>
    <a:lvl2pPr indent="228600" defTabSz="457200" latinLnBrk="0">
      <a:defRPr sz="1200">
        <a:latin typeface="+mn-lt"/>
        <a:ea typeface="+mn-ea"/>
        <a:cs typeface="+mn-cs"/>
        <a:sym typeface="Jost-Regular"/>
      </a:defRPr>
    </a:lvl2pPr>
    <a:lvl3pPr indent="457200" defTabSz="457200" latinLnBrk="0">
      <a:defRPr sz="1200">
        <a:latin typeface="+mn-lt"/>
        <a:ea typeface="+mn-ea"/>
        <a:cs typeface="+mn-cs"/>
        <a:sym typeface="Jost-Regular"/>
      </a:defRPr>
    </a:lvl3pPr>
    <a:lvl4pPr indent="685800" defTabSz="457200" latinLnBrk="0">
      <a:defRPr sz="1200">
        <a:latin typeface="+mn-lt"/>
        <a:ea typeface="+mn-ea"/>
        <a:cs typeface="+mn-cs"/>
        <a:sym typeface="Jost-Regular"/>
      </a:defRPr>
    </a:lvl4pPr>
    <a:lvl5pPr indent="914400" defTabSz="457200" latinLnBrk="0">
      <a:defRPr sz="1200">
        <a:latin typeface="+mn-lt"/>
        <a:ea typeface="+mn-ea"/>
        <a:cs typeface="+mn-cs"/>
        <a:sym typeface="Jost-Regular"/>
      </a:defRPr>
    </a:lvl5pPr>
    <a:lvl6pPr indent="1143000" defTabSz="457200" latinLnBrk="0">
      <a:defRPr sz="1200">
        <a:latin typeface="+mn-lt"/>
        <a:ea typeface="+mn-ea"/>
        <a:cs typeface="+mn-cs"/>
        <a:sym typeface="Jost-Regular"/>
      </a:defRPr>
    </a:lvl6pPr>
    <a:lvl7pPr indent="1371600" defTabSz="457200" latinLnBrk="0">
      <a:defRPr sz="1200">
        <a:latin typeface="+mn-lt"/>
        <a:ea typeface="+mn-ea"/>
        <a:cs typeface="+mn-cs"/>
        <a:sym typeface="Jost-Regular"/>
      </a:defRPr>
    </a:lvl7pPr>
    <a:lvl8pPr indent="1600200" defTabSz="457200" latinLnBrk="0">
      <a:defRPr sz="1200">
        <a:latin typeface="+mn-lt"/>
        <a:ea typeface="+mn-ea"/>
        <a:cs typeface="+mn-cs"/>
        <a:sym typeface="Jost-Regular"/>
      </a:defRPr>
    </a:lvl8pPr>
    <a:lvl9pPr indent="1828800" defTabSz="457200" latinLnBrk="0">
      <a:defRPr sz="1200">
        <a:latin typeface="+mn-lt"/>
        <a:ea typeface="+mn-ea"/>
        <a:cs typeface="+mn-cs"/>
        <a:sym typeface="Jost-Regular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テキスト"/>
          <p:cNvSpPr txBox="1"/>
          <p:nvPr>
            <p:ph type="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pPr/>
            <a:r>
              <a:t>タイトルテキスト</a:t>
            </a:r>
          </a:p>
        </p:txBody>
      </p:sp>
      <p:sp>
        <p:nvSpPr>
          <p:cNvPr id="12" name="本文レベル1…"/>
          <p:cNvSpPr txBox="1"/>
          <p:nvPr>
            <p:ph type="body" sz="quarter" idx="1"/>
          </p:nvPr>
        </p:nvSpPr>
        <p:spPr>
          <a:xfrm>
            <a:off x="857250" y="4802716"/>
            <a:ext cx="5143500" cy="2207684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800"/>
            </a:lvl1pPr>
            <a:lvl2pPr marL="0" indent="342900" algn="ctr">
              <a:buSzTx/>
              <a:buFontTx/>
              <a:buNone/>
              <a:defRPr sz="1800"/>
            </a:lvl2pPr>
            <a:lvl3pPr marL="0" indent="685800" algn="ctr">
              <a:buSzTx/>
              <a:buFontTx/>
              <a:buNone/>
              <a:defRPr sz="1800"/>
            </a:lvl3pPr>
            <a:lvl4pPr marL="0" indent="1028700" algn="ctr">
              <a:buSzTx/>
              <a:buFontTx/>
              <a:buNone/>
              <a:defRPr sz="1800"/>
            </a:lvl4pPr>
            <a:lvl5pPr marL="0" indent="1371600" algn="ctr">
              <a:buSzTx/>
              <a:buFontTx/>
              <a:buNone/>
              <a:defRPr sz="1800"/>
            </a:lvl5pPr>
          </a:lstStyle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13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タイトルテキスト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タイトルテキスト</a:t>
            </a:r>
          </a:p>
        </p:txBody>
      </p:sp>
      <p:sp>
        <p:nvSpPr>
          <p:cNvPr id="21" name="本文レベル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2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タイトルテキスト"/>
          <p:cNvSpPr txBox="1"/>
          <p:nvPr>
            <p:ph type="title"/>
          </p:nvPr>
        </p:nvSpPr>
        <p:spPr>
          <a:xfrm>
            <a:off x="467916" y="2279652"/>
            <a:ext cx="5915026" cy="3803650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pPr/>
            <a:r>
              <a:t>タイトルテキスト</a:t>
            </a:r>
          </a:p>
        </p:txBody>
      </p:sp>
      <p:sp>
        <p:nvSpPr>
          <p:cNvPr id="30" name="本文レベル1…"/>
          <p:cNvSpPr txBox="1"/>
          <p:nvPr>
            <p:ph type="body" sz="quarter" idx="1"/>
          </p:nvPr>
        </p:nvSpPr>
        <p:spPr>
          <a:xfrm>
            <a:off x="467916" y="6119286"/>
            <a:ext cx="5915026" cy="2000250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31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タイトルテキスト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タイトルテキスト</a:t>
            </a:r>
          </a:p>
        </p:txBody>
      </p:sp>
      <p:sp>
        <p:nvSpPr>
          <p:cNvPr id="39" name="本文レベル1…"/>
          <p:cNvSpPr txBox="1"/>
          <p:nvPr>
            <p:ph type="body" sz="half" idx="1"/>
          </p:nvPr>
        </p:nvSpPr>
        <p:spPr>
          <a:xfrm>
            <a:off x="471487" y="2434166"/>
            <a:ext cx="2914651" cy="5801785"/>
          </a:xfrm>
          <a:prstGeom prst="rect">
            <a:avLst/>
          </a:prstGeom>
        </p:spPr>
        <p:txBody>
          <a:bodyPr/>
          <a:lstStyle/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0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タイトルテキスト"/>
          <p:cNvSpPr txBox="1"/>
          <p:nvPr>
            <p:ph type="title"/>
          </p:nvPr>
        </p:nvSpPr>
        <p:spPr>
          <a:xfrm>
            <a:off x="472381" y="486835"/>
            <a:ext cx="5915026" cy="1767418"/>
          </a:xfrm>
          <a:prstGeom prst="rect">
            <a:avLst/>
          </a:prstGeom>
        </p:spPr>
        <p:txBody>
          <a:bodyPr/>
          <a:lstStyle/>
          <a:p>
            <a:pPr/>
            <a:r>
              <a:t>タイトルテキスト</a:t>
            </a:r>
          </a:p>
        </p:txBody>
      </p:sp>
      <p:sp>
        <p:nvSpPr>
          <p:cNvPr id="48" name="本文レベル1…"/>
          <p:cNvSpPr txBox="1"/>
          <p:nvPr>
            <p:ph type="body" sz="quarter" idx="1"/>
          </p:nvPr>
        </p:nvSpPr>
        <p:spPr>
          <a:xfrm>
            <a:off x="472381" y="2241550"/>
            <a:ext cx="2901256" cy="109855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lvl1pPr>
            <a:lvl2pPr marL="0" indent="34290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lvl2pPr>
            <a:lvl3pPr marL="0" indent="68580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lvl3pPr>
            <a:lvl4pPr marL="0" indent="102870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lvl4pPr>
            <a:lvl5pPr marL="0" indent="137160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lvl5pPr>
          </a:lstStyle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3471862" y="2241550"/>
            <a:ext cx="2915544" cy="10985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1800">
                <a:latin typeface="JostRoman-Bold"/>
                <a:ea typeface="JostRoman-Bold"/>
                <a:cs typeface="JostRoman-Bold"/>
                <a:sym typeface="JostRoman-Bold"/>
              </a:defRPr>
            </a:pPr>
          </a:p>
        </p:txBody>
      </p:sp>
      <p:sp>
        <p:nvSpPr>
          <p:cNvPr id="50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タイトルテキスト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タイトルテキスト</a:t>
            </a:r>
          </a:p>
        </p:txBody>
      </p:sp>
      <p:sp>
        <p:nvSpPr>
          <p:cNvPr id="58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タイトルテキスト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タイトルテキスト</a:t>
            </a:r>
          </a:p>
        </p:txBody>
      </p:sp>
      <p:sp>
        <p:nvSpPr>
          <p:cNvPr id="73" name="本文レベル1…"/>
          <p:cNvSpPr txBox="1"/>
          <p:nvPr>
            <p:ph type="body" sz="half" idx="1"/>
          </p:nvPr>
        </p:nvSpPr>
        <p:spPr>
          <a:xfrm>
            <a:off x="2915542" y="1316568"/>
            <a:ext cx="3471864" cy="649816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</a:p>
        </p:txBody>
      </p:sp>
      <p:sp>
        <p:nvSpPr>
          <p:cNvPr id="75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タイトルテキスト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タイトルテキスト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2915542" y="1316568"/>
            <a:ext cx="3471864" cy="64981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本文レベル1…"/>
          <p:cNvSpPr txBox="1"/>
          <p:nvPr>
            <p:ph type="body" sz="quarter" idx="1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85" name="スライド番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テキスト"/>
          <p:cNvSpPr txBox="1"/>
          <p:nvPr>
            <p:ph type="title"/>
          </p:nvPr>
        </p:nvSpPr>
        <p:spPr>
          <a:xfrm>
            <a:off x="471487" y="486835"/>
            <a:ext cx="5915026" cy="1767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タイトルテキスト</a:t>
            </a:r>
          </a:p>
        </p:txBody>
      </p:sp>
      <p:sp>
        <p:nvSpPr>
          <p:cNvPr id="3" name="本文レベル1…"/>
          <p:cNvSpPr txBox="1"/>
          <p:nvPr>
            <p:ph type="body" idx="1"/>
          </p:nvPr>
        </p:nvSpPr>
        <p:spPr>
          <a:xfrm>
            <a:off x="471487" y="2434166"/>
            <a:ext cx="5915026" cy="5801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" name="スライド番号"/>
          <p:cNvSpPr txBox="1"/>
          <p:nvPr>
            <p:ph type="sldNum" sz="quarter" idx="2"/>
          </p:nvPr>
        </p:nvSpPr>
        <p:spPr>
          <a:xfrm>
            <a:off x="6162357" y="8590282"/>
            <a:ext cx="224156" cy="2565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3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b="0" baseline="0" cap="none" i="0" spc="0" strike="noStrike" sz="2100" u="none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正方形/長方形 3"/>
          <p:cNvSpPr/>
          <p:nvPr/>
        </p:nvSpPr>
        <p:spPr>
          <a:xfrm>
            <a:off x="33951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正方形/長方形 4"/>
          <p:cNvSpPr/>
          <p:nvPr/>
        </p:nvSpPr>
        <p:spPr>
          <a:xfrm>
            <a:off x="16974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00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96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97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98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99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01" name="正方形/長方形 12"/>
          <p:cNvSpPr/>
          <p:nvPr/>
        </p:nvSpPr>
        <p:spPr>
          <a:xfrm>
            <a:off x="539999" y="431999"/>
            <a:ext cx="5785269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2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正方形/長方形 31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正方形/長方形 4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12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08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9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0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1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13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1</a:t>
            </a:r>
          </a:p>
        </p:txBody>
      </p:sp>
      <p:sp>
        <p:nvSpPr>
          <p:cNvPr id="116" name="テキスト ボックス 1"/>
          <p:cNvSpPr txBox="1"/>
          <p:nvPr/>
        </p:nvSpPr>
        <p:spPr>
          <a:xfrm>
            <a:off x="1599039" y="846314"/>
            <a:ext cx="4226358" cy="675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latin typeface="JostRoman-Medium"/>
                <a:ea typeface="JostRoman-Medium"/>
                <a:cs typeface="JostRoman-Medium"/>
                <a:sym typeface="JostRoman-Medium"/>
              </a:defRPr>
            </a:pPr>
            <a:r>
              <a:t>FlexChroma</a:t>
            </a:r>
            <a:r>
              <a:rPr>
                <a:latin typeface="+mn-lt"/>
                <a:ea typeface="+mn-ea"/>
                <a:cs typeface="+mn-cs"/>
                <a:sym typeface="Jost-Regular"/>
              </a:rPr>
              <a:t> Tour-Guide</a:t>
            </a:r>
          </a:p>
        </p:txBody>
      </p:sp>
      <p:sp>
        <p:nvSpPr>
          <p:cNvPr id="117" name="楕円 13"/>
          <p:cNvSpPr/>
          <p:nvPr/>
        </p:nvSpPr>
        <p:spPr>
          <a:xfrm>
            <a:off x="566174" y="2834254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テキスト ボックス 17"/>
          <p:cNvSpPr txBox="1"/>
          <p:nvPr/>
        </p:nvSpPr>
        <p:spPr>
          <a:xfrm>
            <a:off x="816563" y="2715569"/>
            <a:ext cx="153093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1. Einleitung</a:t>
            </a:r>
          </a:p>
        </p:txBody>
      </p:sp>
      <p:sp>
        <p:nvSpPr>
          <p:cNvPr id="119" name="テキスト ボックス 18"/>
          <p:cNvSpPr txBox="1"/>
          <p:nvPr/>
        </p:nvSpPr>
        <p:spPr>
          <a:xfrm>
            <a:off x="714228" y="3138509"/>
            <a:ext cx="555805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000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FlexChroma</a:t>
            </a:r>
            <a:r>
              <a:rPr b="0">
                <a:latin typeface="+mn-lt"/>
                <a:ea typeface="+mn-ea"/>
                <a:cs typeface="+mn-cs"/>
                <a:sym typeface="Jost-Regular"/>
              </a:rPr>
              <a:t> umfasst Modelle zur Herstellung eigener Filamente aus handelsüblichen Materialien. </a:t>
            </a:r>
            <a:endParaRPr b="0">
              <a:latin typeface="+mn-lt"/>
              <a:ea typeface="+mn-ea"/>
              <a:cs typeface="+mn-cs"/>
              <a:sym typeface="Jost-Regular"/>
            </a:endParaRPr>
          </a:p>
          <a:p>
            <a:pPr>
              <a:defRPr sz="1000"/>
            </a:pPr>
            <a:r>
              <a:t>Das System unterteilt sich in verschiedene Serien für unterschiedliche Einsatzzwecke. Jede Serie bietet mehrere Modelle, Profile und Druckplatten, abgestimmt auf Größe und Anwendung.</a:t>
            </a:r>
          </a:p>
        </p:txBody>
      </p:sp>
      <p:sp>
        <p:nvSpPr>
          <p:cNvPr id="120" name="楕円 19"/>
          <p:cNvSpPr/>
          <p:nvPr/>
        </p:nvSpPr>
        <p:spPr>
          <a:xfrm>
            <a:off x="561095" y="4083275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テキスト ボックス 20"/>
          <p:cNvSpPr txBox="1"/>
          <p:nvPr/>
        </p:nvSpPr>
        <p:spPr>
          <a:xfrm>
            <a:off x="816563" y="3962050"/>
            <a:ext cx="3033713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2. Auswahl eines Modells</a:t>
            </a:r>
          </a:p>
        </p:txBody>
      </p:sp>
      <p:sp>
        <p:nvSpPr>
          <p:cNvPr id="122" name="テキスト ボックス 21"/>
          <p:cNvSpPr txBox="1"/>
          <p:nvPr/>
        </p:nvSpPr>
        <p:spPr>
          <a:xfrm>
            <a:off x="706959" y="4363473"/>
            <a:ext cx="555805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Folgen Sie zuerst diesem kurzen Auswahlprozess, um die richtigen Daten herunterzuladen und zu drucken.</a:t>
            </a:r>
          </a:p>
        </p:txBody>
      </p:sp>
      <p:sp>
        <p:nvSpPr>
          <p:cNvPr id="123" name="テキスト ボックス 24"/>
          <p:cNvSpPr txBox="1"/>
          <p:nvPr/>
        </p:nvSpPr>
        <p:spPr>
          <a:xfrm>
            <a:off x="706958" y="6105607"/>
            <a:ext cx="55653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Wählen Sie zuerst die gewünschte Filamentart aus, wenn Sie sich für ein Modell entscheiden.</a:t>
            </a:r>
          </a:p>
        </p:txBody>
      </p:sp>
      <p:sp>
        <p:nvSpPr>
          <p:cNvPr id="124" name="テキスト ボックス 25"/>
          <p:cNvSpPr txBox="1"/>
          <p:nvPr/>
        </p:nvSpPr>
        <p:spPr>
          <a:xfrm>
            <a:off x="816563" y="6428203"/>
            <a:ext cx="5462985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buSzPct val="100000"/>
              <a:buAutoNum type="arabicPeriod" startAt="1"/>
              <a:defRPr sz="1000"/>
            </a:pPr>
            <a:r>
              <a:t>Wählen Sie eine Serie: Mischfilament für Mischfarben, Farbverlaufsfilament für Farbwechsel.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Wählen Sie eine Modellgröße: Nutzen Sie ein S4-Modell für kleine Objekte oder ein M1-Modell für größere Drucke, die etwa 70 g Filament benötigen.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Profil und Druckplatte auswählen: Entscheiden Sie sich für die Druckplatte, die zu Ihrem gewünschten Mischungsverhältnis oder Muster passt.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Filamente zuweisen und slicen: Nutzen Sie Filamente mit identischem oder ähnlichem Material, führen Sie die Zuweisung durch, slicen Sie das Modell und beachten Sie vor dem Druck die Druckhinweise.</a:t>
            </a:r>
          </a:p>
        </p:txBody>
      </p:sp>
      <p:sp>
        <p:nvSpPr>
          <p:cNvPr id="125" name="テキスト ボックス 26"/>
          <p:cNvSpPr txBox="1"/>
          <p:nvPr/>
        </p:nvSpPr>
        <p:spPr>
          <a:xfrm>
            <a:off x="816562" y="8206671"/>
            <a:ext cx="537256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latin typeface="JostRoman-Light"/>
                <a:ea typeface="JostRoman-Light"/>
                <a:cs typeface="JostRoman-Light"/>
                <a:sym typeface="JostRoman-Light"/>
              </a:defRPr>
            </a:pPr>
            <a:r>
              <a:t>*</a:t>
            </a:r>
            <a:r>
              <a:t>Hinweis: Der Begriff „Profil“ steht in FlexChroma für eine Einteilung nach Verwendungszweck, nicht für abweichende Druckeinstellungen.</a:t>
            </a:r>
          </a:p>
        </p:txBody>
      </p:sp>
      <p:grpSp>
        <p:nvGrpSpPr>
          <p:cNvPr id="128" name="グループ化 22"/>
          <p:cNvGrpSpPr/>
          <p:nvPr/>
        </p:nvGrpSpPr>
        <p:grpSpPr>
          <a:xfrm>
            <a:off x="1042025" y="441444"/>
            <a:ext cx="4781217" cy="377794"/>
            <a:chOff x="0" y="0"/>
            <a:chExt cx="4781215" cy="377792"/>
          </a:xfrm>
        </p:grpSpPr>
        <p:sp>
          <p:nvSpPr>
            <p:cNvPr id="126" name="四角形: 上の 2 つの角を丸める 2"/>
            <p:cNvSpPr/>
            <p:nvPr/>
          </p:nvSpPr>
          <p:spPr>
            <a:xfrm>
              <a:off x="0" y="-1"/>
              <a:ext cx="4781214" cy="3777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853" y="0"/>
                  </a:moveTo>
                  <a:lnTo>
                    <a:pt x="20747" y="0"/>
                  </a:lnTo>
                  <a:cubicBezTo>
                    <a:pt x="2121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382" y="0"/>
                    <a:pt x="853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27" name="四角形: 上の 2 つの角を丸める 3"/>
            <p:cNvSpPr/>
            <p:nvPr/>
          </p:nvSpPr>
          <p:spPr>
            <a:xfrm>
              <a:off x="-1" y="267182"/>
              <a:ext cx="4781217" cy="110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0" y="0"/>
                  </a:moveTo>
                  <a:lnTo>
                    <a:pt x="21350" y="0"/>
                  </a:lnTo>
                  <a:cubicBezTo>
                    <a:pt x="2148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112" y="0"/>
                    <a:pt x="250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grpSp>
        <p:nvGrpSpPr>
          <p:cNvPr id="131" name="グループ化 23"/>
          <p:cNvGrpSpPr/>
          <p:nvPr/>
        </p:nvGrpSpPr>
        <p:grpSpPr>
          <a:xfrm>
            <a:off x="1042024" y="2224672"/>
            <a:ext cx="4781217" cy="377794"/>
            <a:chOff x="0" y="0"/>
            <a:chExt cx="4781215" cy="377792"/>
          </a:xfrm>
        </p:grpSpPr>
        <p:sp>
          <p:nvSpPr>
            <p:cNvPr id="129" name="四角形: 上の 2 つの角を丸める 27"/>
            <p:cNvSpPr/>
            <p:nvPr/>
          </p:nvSpPr>
          <p:spPr>
            <a:xfrm rot="10800000">
              <a:off x="1" y="0"/>
              <a:ext cx="4781214" cy="3777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853" y="0"/>
                  </a:moveTo>
                  <a:lnTo>
                    <a:pt x="20747" y="0"/>
                  </a:lnTo>
                  <a:cubicBezTo>
                    <a:pt x="2121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382" y="0"/>
                    <a:pt x="853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0" name="四角形: 上の 2 つの角を丸める 29"/>
            <p:cNvSpPr/>
            <p:nvPr/>
          </p:nvSpPr>
          <p:spPr>
            <a:xfrm rot="10800000">
              <a:off x="-1" y="0"/>
              <a:ext cx="4781217" cy="110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50" y="0"/>
                  </a:moveTo>
                  <a:lnTo>
                    <a:pt x="21350" y="0"/>
                  </a:lnTo>
                  <a:cubicBezTo>
                    <a:pt x="2148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112" y="0"/>
                    <a:pt x="250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32" name="テキスト ボックス 30"/>
          <p:cNvSpPr txBox="1"/>
          <p:nvPr/>
        </p:nvSpPr>
        <p:spPr>
          <a:xfrm>
            <a:off x="1934144" y="1459500"/>
            <a:ext cx="2970886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/>
            </a:lvl1pPr>
          </a:lstStyle>
          <a:p>
            <a:pPr/>
            <a:r>
              <a:t>- FlexChroma Dokumentenarchiv -</a:t>
            </a:r>
          </a:p>
        </p:txBody>
      </p:sp>
      <p:sp>
        <p:nvSpPr>
          <p:cNvPr id="133" name="テキスト ボックス 33"/>
          <p:cNvSpPr txBox="1"/>
          <p:nvPr/>
        </p:nvSpPr>
        <p:spPr>
          <a:xfrm>
            <a:off x="2657017" y="1806153"/>
            <a:ext cx="1543966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/>
            </a:lvl1pPr>
          </a:lstStyle>
          <a:p>
            <a:pPr/>
            <a:r>
              <a:t>Ver.1.00  2026.9.1</a:t>
            </a:r>
          </a:p>
        </p:txBody>
      </p:sp>
      <p:pic>
        <p:nvPicPr>
          <p:cNvPr id="134" name="FlexChroma-icon3.png" descr="FlexChroma-icon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62623" y="950702"/>
            <a:ext cx="484295" cy="466866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25255" y="4916473"/>
            <a:ext cx="6188663" cy="11290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正方形/長方形 1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正方形/長方形 4"/>
          <p:cNvSpPr/>
          <p:nvPr/>
        </p:nvSpPr>
        <p:spPr>
          <a:xfrm>
            <a:off x="7268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3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39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0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1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2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44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7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2</a:t>
            </a:r>
          </a:p>
        </p:txBody>
      </p:sp>
      <p:sp>
        <p:nvSpPr>
          <p:cNvPr id="148" name="楕円 13"/>
          <p:cNvSpPr/>
          <p:nvPr/>
        </p:nvSpPr>
        <p:spPr>
          <a:xfrm>
            <a:off x="566174" y="667741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楕円 19"/>
          <p:cNvSpPr/>
          <p:nvPr/>
        </p:nvSpPr>
        <p:spPr>
          <a:xfrm>
            <a:off x="566174" y="2571089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テキスト ボックス 2"/>
          <p:cNvSpPr txBox="1"/>
          <p:nvPr/>
        </p:nvSpPr>
        <p:spPr>
          <a:xfrm>
            <a:off x="816563" y="546516"/>
            <a:ext cx="2373057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3. FlexChroma HUB</a:t>
            </a:r>
          </a:p>
        </p:txBody>
      </p:sp>
      <p:sp>
        <p:nvSpPr>
          <p:cNvPr id="151" name="テキスト ボックス 10"/>
          <p:cNvSpPr txBox="1"/>
          <p:nvPr/>
        </p:nvSpPr>
        <p:spPr>
          <a:xfrm>
            <a:off x="714228" y="886688"/>
            <a:ext cx="555805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Der FlexChroma-Hub ist der zentrale Einstiegspunkt auf MakerWorld und bietet Zugang zu allen Serien und externen Portalen. </a:t>
            </a:r>
            <a:r>
              <a:rPr b="1">
                <a:latin typeface="JostRoman-Bold"/>
                <a:ea typeface="JostRoman-Bold"/>
                <a:cs typeface="JostRoman-Bold"/>
                <a:sym typeface="JostRoman-Bold"/>
              </a:rPr>
              <a:t>Wenn Sie sich unsicher sind, wo Sie beginnen sollen, öffnen Sie am besten zuerst dieses Modell.</a:t>
            </a:r>
          </a:p>
        </p:txBody>
      </p:sp>
      <p:sp>
        <p:nvSpPr>
          <p:cNvPr id="152" name="テキスト ボックス 11"/>
          <p:cNvSpPr txBox="1"/>
          <p:nvPr/>
        </p:nvSpPr>
        <p:spPr>
          <a:xfrm>
            <a:off x="816564" y="2439572"/>
            <a:ext cx="200646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4. Mischfilament</a:t>
            </a:r>
          </a:p>
        </p:txBody>
      </p:sp>
      <p:sp>
        <p:nvSpPr>
          <p:cNvPr id="153" name="テキスト ボックス 22"/>
          <p:cNvSpPr txBox="1"/>
          <p:nvPr/>
        </p:nvSpPr>
        <p:spPr>
          <a:xfrm>
            <a:off x="714228" y="2819223"/>
            <a:ext cx="5550784" cy="170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Mischfilament Serie bildet das grundlegendste Sortiment von FlexChroma. Sie ermöglicht es Ihnen, zwei Filamente in verschiedenen Verhältnissen zu mischen, um Ihre eigene individuelle Farbe zu kreieren. </a:t>
            </a:r>
          </a:p>
          <a:p>
            <a:pPr>
              <a:defRPr b="1" sz="1000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Jedes Modell deckt dabei Mischungsverhältnisse von 50 % bis 99,5 % ab. Für Werte unter 50 % tauschen Sie einfach Filament A und Filament B aus.</a:t>
            </a:r>
          </a:p>
          <a:p>
            <a:pPr>
              <a:defRPr b="1" sz="500">
                <a:latin typeface="JostRoman-Bold"/>
                <a:ea typeface="JostRoman-Bold"/>
                <a:cs typeface="JostRoman-Bold"/>
                <a:sym typeface="JostRoman-Bold"/>
              </a:defRPr>
            </a:pPr>
          </a:p>
          <a:p>
            <a:pPr>
              <a:defRPr sz="1000"/>
            </a:pPr>
            <a:r>
              <a:t>Beispiel: Um ein Filament mit 25 % Cyan gemischt in Gelb zu erstellen, lesen Sie den Wert der Druckplatte als Verhältnis von Filament A ab, interpretieren diesen als 75 % Gelb und slicen das Modell entsprechend.</a:t>
            </a:r>
          </a:p>
        </p:txBody>
      </p:sp>
      <p:sp>
        <p:nvSpPr>
          <p:cNvPr id="154" name="テキスト ボックス 23"/>
          <p:cNvSpPr txBox="1"/>
          <p:nvPr/>
        </p:nvSpPr>
        <p:spPr>
          <a:xfrm>
            <a:off x="717862" y="5392072"/>
            <a:ext cx="5550783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Nachfolgend finden Sie die Modellkonfiguration für das Mischfilament.</a:t>
            </a:r>
          </a:p>
        </p:txBody>
      </p:sp>
      <p:pic>
        <p:nvPicPr>
          <p:cNvPr id="155" name="図 21" descr="図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4630" y="5678858"/>
            <a:ext cx="4408740" cy="2901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04664" y="1565210"/>
            <a:ext cx="4098506" cy="913899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ペーストされたムービー.png" descr="ペーストされたムービー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4000" y="4571288"/>
            <a:ext cx="6069986" cy="8193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正方形/長方形 4"/>
          <p:cNvSpPr/>
          <p:nvPr/>
        </p:nvSpPr>
        <p:spPr>
          <a:xfrm>
            <a:off x="17134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65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61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2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3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4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66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7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3</a:t>
            </a:r>
          </a:p>
        </p:txBody>
      </p:sp>
      <p:sp>
        <p:nvSpPr>
          <p:cNvPr id="170" name="楕円 13"/>
          <p:cNvSpPr/>
          <p:nvPr/>
        </p:nvSpPr>
        <p:spPr>
          <a:xfrm>
            <a:off x="566174" y="677901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テキスト ボックス 30"/>
          <p:cNvSpPr txBox="1"/>
          <p:nvPr/>
        </p:nvSpPr>
        <p:spPr>
          <a:xfrm>
            <a:off x="816563" y="546516"/>
            <a:ext cx="281309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5. Farbverlaufsfilament </a:t>
            </a:r>
          </a:p>
        </p:txBody>
      </p:sp>
      <p:sp>
        <p:nvSpPr>
          <p:cNvPr id="172" name="テキスト ボックス 32"/>
          <p:cNvSpPr txBox="1"/>
          <p:nvPr/>
        </p:nvSpPr>
        <p:spPr>
          <a:xfrm>
            <a:off x="721497" y="4572000"/>
            <a:ext cx="5550783" cy="28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Nachfolgend finden Sie die Modellkonfiguration für das Farbverlaufsfilament.</a:t>
            </a:r>
          </a:p>
        </p:txBody>
      </p:sp>
      <p:pic>
        <p:nvPicPr>
          <p:cNvPr id="173" name="図 3" descr="図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07622" y="4877620"/>
            <a:ext cx="5250025" cy="3684063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テキスト ボックス 18"/>
          <p:cNvSpPr txBox="1"/>
          <p:nvPr/>
        </p:nvSpPr>
        <p:spPr>
          <a:xfrm>
            <a:off x="714228" y="950456"/>
            <a:ext cx="5558051" cy="266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Farbverlaufsfilament Serie bietet mehrere farbwechselnde Profile und Druckplatten mit unterschiedlichen Zyklusanzahlen. Die Details variieren je nach Modell. Bitte beachten Sie daher die Beschreibung des jeweiligen Modells.</a:t>
            </a:r>
          </a:p>
          <a:p>
            <a:pPr>
              <a:defRPr sz="1000"/>
            </a:pPr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Farbkurve: Einstellungen basierend auf Farbkombinationen. Diese Option ermöglicht es Ihnen, den optimalen Verlauf für jede Farbe auszuwählen – zum Beispiel „Lebendig“ für Cyan und Gelb oder „Kontrast“ für Weiß und Magenta.</a:t>
            </a:r>
          </a:p>
          <a:p>
            <a:pPr>
              <a:defRPr sz="600"/>
            </a:pPr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Zyklusanzahl: Die Zahl, welche die Häufigkeit des Verlaufs bestimmt. Als ein Zyklus zählt ein vollständiger Durchlauf, in dem das Filament von A nach B nach A und wieder zurück wechselt.</a:t>
            </a:r>
          </a:p>
          <a:p>
            <a:pPr>
              <a:defRPr sz="1000"/>
            </a:pPr>
          </a:p>
          <a:p>
            <a:pPr>
              <a:defRPr sz="1000"/>
            </a:pPr>
            <a:r>
              <a:t>Beispiel: Um ein schnell wechselndes Farbverlaufsfilament mit Cyan und Magenta zu erstellen, wählen Sie ein S4 Modell, entscheiden sich für eine 4 Zyklus Druckplatte und nutzen aufgrund des hohen Farbkontrasts das Profil mit der Kurve Lebendig.</a:t>
            </a:r>
          </a:p>
        </p:txBody>
      </p:sp>
      <p:pic>
        <p:nvPicPr>
          <p:cNvPr id="175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6311" y="3702891"/>
            <a:ext cx="6219648" cy="85851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正方形/長方形 4"/>
          <p:cNvSpPr/>
          <p:nvPr/>
        </p:nvSpPr>
        <p:spPr>
          <a:xfrm>
            <a:off x="17051" y="5530"/>
            <a:ext cx="6858001" cy="9144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3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79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0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1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84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7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4</a:t>
            </a:r>
          </a:p>
        </p:txBody>
      </p:sp>
      <p:sp>
        <p:nvSpPr>
          <p:cNvPr id="188" name="楕円 1"/>
          <p:cNvSpPr/>
          <p:nvPr/>
        </p:nvSpPr>
        <p:spPr>
          <a:xfrm>
            <a:off x="546347" y="817075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9" name="テキスト ボックス 33"/>
          <p:cNvSpPr txBox="1"/>
          <p:nvPr/>
        </p:nvSpPr>
        <p:spPr>
          <a:xfrm>
            <a:off x="823834" y="784293"/>
            <a:ext cx="180455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6. Update Historie</a:t>
            </a:r>
          </a:p>
        </p:txBody>
      </p:sp>
      <p:sp>
        <p:nvSpPr>
          <p:cNvPr id="190" name="テキスト ボックス 34"/>
          <p:cNvSpPr txBox="1"/>
          <p:nvPr/>
        </p:nvSpPr>
        <p:spPr>
          <a:xfrm>
            <a:off x="684043" y="1115239"/>
            <a:ext cx="55580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pPr/>
            <a:r>
              <a:t>Ver.1.00  2026-09-01  Erste Version veröffentlicht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正方形/長方形 31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正方形/長方形 4"/>
          <p:cNvSpPr/>
          <p:nvPr/>
        </p:nvSpPr>
        <p:spPr>
          <a:xfrm>
            <a:off x="-7269" y="0"/>
            <a:ext cx="6872538" cy="9144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close/>
                <a:moveTo>
                  <a:pt x="1764" y="20589"/>
                </a:moveTo>
                <a:lnTo>
                  <a:pt x="9927" y="20589"/>
                </a:lnTo>
                <a:lnTo>
                  <a:pt x="9927" y="20461"/>
                </a:lnTo>
                <a:lnTo>
                  <a:pt x="1764" y="20461"/>
                </a:lnTo>
                <a:close/>
                <a:moveTo>
                  <a:pt x="11780" y="20461"/>
                </a:moveTo>
                <a:lnTo>
                  <a:pt x="11780" y="20589"/>
                </a:lnTo>
                <a:lnTo>
                  <a:pt x="19944" y="20589"/>
                </a:lnTo>
                <a:lnTo>
                  <a:pt x="19944" y="20461"/>
                </a:lnTo>
                <a:close/>
                <a:moveTo>
                  <a:pt x="1879" y="9716"/>
                </a:moveTo>
                <a:cubicBezTo>
                  <a:pt x="1753" y="9811"/>
                  <a:pt x="1753" y="9964"/>
                  <a:pt x="1879" y="10058"/>
                </a:cubicBezTo>
                <a:cubicBezTo>
                  <a:pt x="2005" y="10153"/>
                  <a:pt x="2209" y="10153"/>
                  <a:pt x="2335" y="10058"/>
                </a:cubicBezTo>
                <a:cubicBezTo>
                  <a:pt x="2460" y="9964"/>
                  <a:pt x="2460" y="9811"/>
                  <a:pt x="2335" y="9716"/>
                </a:cubicBezTo>
                <a:cubicBezTo>
                  <a:pt x="2209" y="9622"/>
                  <a:pt x="2005" y="9622"/>
                  <a:pt x="1879" y="9716"/>
                </a:cubicBezTo>
                <a:close/>
                <a:moveTo>
                  <a:pt x="1895" y="6766"/>
                </a:moveTo>
                <a:cubicBezTo>
                  <a:pt x="1769" y="6860"/>
                  <a:pt x="1769" y="7013"/>
                  <a:pt x="1895" y="7108"/>
                </a:cubicBezTo>
                <a:cubicBezTo>
                  <a:pt x="2021" y="7202"/>
                  <a:pt x="2225" y="7202"/>
                  <a:pt x="2351" y="7108"/>
                </a:cubicBezTo>
                <a:cubicBezTo>
                  <a:pt x="2476" y="7013"/>
                  <a:pt x="2476" y="6860"/>
                  <a:pt x="2351" y="6766"/>
                </a:cubicBezTo>
                <a:cubicBezTo>
                  <a:pt x="2225" y="6671"/>
                  <a:pt x="2021" y="6671"/>
                  <a:pt x="1895" y="6766"/>
                </a:cubicBezTo>
                <a:close/>
                <a:moveTo>
                  <a:pt x="18184" y="5516"/>
                </a:moveTo>
                <a:lnTo>
                  <a:pt x="3473" y="5516"/>
                </a:lnTo>
                <a:cubicBezTo>
                  <a:pt x="3377" y="5516"/>
                  <a:pt x="3299" y="5458"/>
                  <a:pt x="3299" y="5386"/>
                </a:cubicBezTo>
                <a:lnTo>
                  <a:pt x="3299" y="5701"/>
                </a:lnTo>
                <a:cubicBezTo>
                  <a:pt x="3299" y="5948"/>
                  <a:pt x="3565" y="6148"/>
                  <a:pt x="3894" y="6148"/>
                </a:cubicBezTo>
                <a:lnTo>
                  <a:pt x="17763" y="6148"/>
                </a:lnTo>
                <a:cubicBezTo>
                  <a:pt x="18092" y="6148"/>
                  <a:pt x="18358" y="5948"/>
                  <a:pt x="18358" y="5701"/>
                </a:cubicBezTo>
                <a:lnTo>
                  <a:pt x="18358" y="5386"/>
                </a:lnTo>
                <a:cubicBezTo>
                  <a:pt x="18358" y="5458"/>
                  <a:pt x="18280" y="5516"/>
                  <a:pt x="18184" y="5516"/>
                </a:cubicBezTo>
                <a:close/>
                <a:moveTo>
                  <a:pt x="3299" y="5264"/>
                </a:moveTo>
                <a:lnTo>
                  <a:pt x="3299" y="5255"/>
                </a:lnTo>
                <a:lnTo>
                  <a:pt x="3299" y="5255"/>
                </a:lnTo>
                <a:close/>
                <a:moveTo>
                  <a:pt x="3299" y="1489"/>
                </a:moveTo>
                <a:lnTo>
                  <a:pt x="3299" y="1835"/>
                </a:lnTo>
                <a:cubicBezTo>
                  <a:pt x="3299" y="1762"/>
                  <a:pt x="3377" y="1704"/>
                  <a:pt x="3473" y="1704"/>
                </a:cubicBezTo>
                <a:lnTo>
                  <a:pt x="18184" y="1704"/>
                </a:lnTo>
                <a:cubicBezTo>
                  <a:pt x="18280" y="1704"/>
                  <a:pt x="18358" y="1762"/>
                  <a:pt x="18358" y="1835"/>
                </a:cubicBezTo>
                <a:lnTo>
                  <a:pt x="18358" y="1489"/>
                </a:lnTo>
                <a:cubicBezTo>
                  <a:pt x="18358" y="1243"/>
                  <a:pt x="18092" y="1043"/>
                  <a:pt x="17763" y="1043"/>
                </a:cubicBezTo>
                <a:lnTo>
                  <a:pt x="3894" y="1043"/>
                </a:lnTo>
                <a:cubicBezTo>
                  <a:pt x="3565" y="1043"/>
                  <a:pt x="3299" y="1243"/>
                  <a:pt x="3299" y="1489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1</a:t>
            </a:r>
          </a:p>
        </p:txBody>
      </p:sp>
      <p:sp>
        <p:nvSpPr>
          <p:cNvPr id="195" name="テキスト ボックス 1"/>
          <p:cNvSpPr txBox="1"/>
          <p:nvPr/>
        </p:nvSpPr>
        <p:spPr>
          <a:xfrm>
            <a:off x="1599039" y="846314"/>
            <a:ext cx="4226358" cy="675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latin typeface="JostRoman-Medium"/>
                <a:ea typeface="JostRoman-Medium"/>
                <a:cs typeface="JostRoman-Medium"/>
                <a:sym typeface="JostRoman-Medium"/>
              </a:defRPr>
            </a:pPr>
            <a:r>
              <a:t>FlexChroma</a:t>
            </a:r>
            <a:r>
              <a:rPr>
                <a:latin typeface="+mn-lt"/>
                <a:ea typeface="+mn-ea"/>
                <a:cs typeface="+mn-cs"/>
                <a:sym typeface="Jost-Regular"/>
              </a:rPr>
              <a:t> Tour-Guide</a:t>
            </a:r>
          </a:p>
        </p:txBody>
      </p:sp>
      <p:sp>
        <p:nvSpPr>
          <p:cNvPr id="196" name="テキスト ボックス 17"/>
          <p:cNvSpPr txBox="1"/>
          <p:nvPr/>
        </p:nvSpPr>
        <p:spPr>
          <a:xfrm>
            <a:off x="816563" y="2715569"/>
            <a:ext cx="153093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1. Einleitung</a:t>
            </a:r>
          </a:p>
        </p:txBody>
      </p:sp>
      <p:sp>
        <p:nvSpPr>
          <p:cNvPr id="197" name="テキスト ボックス 18"/>
          <p:cNvSpPr txBox="1"/>
          <p:nvPr/>
        </p:nvSpPr>
        <p:spPr>
          <a:xfrm>
            <a:off x="714228" y="3138509"/>
            <a:ext cx="555805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000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FlexChroma</a:t>
            </a:r>
            <a:r>
              <a:rPr b="0">
                <a:latin typeface="+mn-lt"/>
                <a:ea typeface="+mn-ea"/>
                <a:cs typeface="+mn-cs"/>
                <a:sym typeface="Jost-Regular"/>
              </a:rPr>
              <a:t> umfasst Modelle zur Herstellung eigener Filamente aus handelsüblichen Materialien. </a:t>
            </a:r>
            <a:endParaRPr b="0">
              <a:latin typeface="+mn-lt"/>
              <a:ea typeface="+mn-ea"/>
              <a:cs typeface="+mn-cs"/>
              <a:sym typeface="Jost-Regular"/>
            </a:endParaRPr>
          </a:p>
          <a:p>
            <a:pPr>
              <a:defRPr sz="1000"/>
            </a:pPr>
            <a:r>
              <a:t>Das System unterteilt sich in verschiedene Serien für unterschiedliche Einsatzzwecke. Jede Serie bietet mehrere Modelle, Profile und Druckplatten, abgestimmt auf Größe und Anwendung.</a:t>
            </a:r>
          </a:p>
        </p:txBody>
      </p:sp>
      <p:sp>
        <p:nvSpPr>
          <p:cNvPr id="198" name="テキスト ボックス 20"/>
          <p:cNvSpPr txBox="1"/>
          <p:nvPr/>
        </p:nvSpPr>
        <p:spPr>
          <a:xfrm>
            <a:off x="816563" y="3962050"/>
            <a:ext cx="3033713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2. Auswahl eines Modells</a:t>
            </a:r>
          </a:p>
        </p:txBody>
      </p:sp>
      <p:sp>
        <p:nvSpPr>
          <p:cNvPr id="199" name="テキスト ボックス 21"/>
          <p:cNvSpPr txBox="1"/>
          <p:nvPr/>
        </p:nvSpPr>
        <p:spPr>
          <a:xfrm>
            <a:off x="706959" y="4363473"/>
            <a:ext cx="555805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Folgen Sie zuerst diesem kurzen Auswahlprozess, um die richtigen Daten herunterzuladen und zu drucken.</a:t>
            </a:r>
          </a:p>
        </p:txBody>
      </p:sp>
      <p:sp>
        <p:nvSpPr>
          <p:cNvPr id="200" name="テキスト ボックス 24"/>
          <p:cNvSpPr txBox="1"/>
          <p:nvPr/>
        </p:nvSpPr>
        <p:spPr>
          <a:xfrm>
            <a:off x="706958" y="6105607"/>
            <a:ext cx="55653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Wählen Sie zuerst die gewünschte Filamentart aus, wenn Sie sich für ein Modell entscheiden.</a:t>
            </a:r>
          </a:p>
        </p:txBody>
      </p:sp>
      <p:sp>
        <p:nvSpPr>
          <p:cNvPr id="201" name="テキスト ボックス 25"/>
          <p:cNvSpPr txBox="1"/>
          <p:nvPr/>
        </p:nvSpPr>
        <p:spPr>
          <a:xfrm>
            <a:off x="816563" y="6453603"/>
            <a:ext cx="5462985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buSzPct val="100000"/>
              <a:buAutoNum type="arabicPeriod" startAt="1"/>
              <a:defRPr sz="1000"/>
            </a:pPr>
            <a:r>
              <a:t>Wählen Sie eine Serie: Mischfilament für Mischfarben, Farbverlaufsfilament für Farbwechsel.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Wählen Sie eine Modellgröße: Nutzen Sie ein S4-Modell für kleine Objekte oder ein M1-Modell für größere Drucke, die etwa 70 g Filament benötigen.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Profil und Druckplatte auswählen: Entscheiden Sie sich für die Druckplatte, die zu Ihrem gewünschten Mischungsverhältnis oder Muster passt.</a:t>
            </a:r>
          </a:p>
          <a:p>
            <a:pPr marL="228600" indent="-228600">
              <a:buSzPct val="100000"/>
              <a:buAutoNum type="arabicPeriod" startAt="1"/>
              <a:defRPr sz="1000"/>
            </a:pPr>
            <a:r>
              <a:t>Filamente zuweisen und slicen: Nutzen Sie Filamente mit identischem oder ähnlichem Material, führen Sie die Zuweisung durch, slicen Sie das Modell und beachten Sie vor dem Druck die Druckhinweise.</a:t>
            </a:r>
          </a:p>
        </p:txBody>
      </p:sp>
      <p:sp>
        <p:nvSpPr>
          <p:cNvPr id="202" name="テキスト ボックス 26"/>
          <p:cNvSpPr txBox="1"/>
          <p:nvPr/>
        </p:nvSpPr>
        <p:spPr>
          <a:xfrm>
            <a:off x="816562" y="8168571"/>
            <a:ext cx="537256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latin typeface="JostRoman-Light"/>
                <a:ea typeface="JostRoman-Light"/>
                <a:cs typeface="JostRoman-Light"/>
                <a:sym typeface="JostRoman-Light"/>
              </a:defRPr>
            </a:pPr>
            <a:r>
              <a:t>*</a:t>
            </a:r>
            <a:r>
              <a:t>Hinweis: Der Begriff „Profil“ steht in FlexChroma für eine Einteilung nach Verwendungszweck, nicht für abweichende Druckeinstellungen.</a:t>
            </a:r>
          </a:p>
        </p:txBody>
      </p:sp>
      <p:sp>
        <p:nvSpPr>
          <p:cNvPr id="203" name="テキスト ボックス 30"/>
          <p:cNvSpPr txBox="1"/>
          <p:nvPr/>
        </p:nvSpPr>
        <p:spPr>
          <a:xfrm>
            <a:off x="1966250" y="1436866"/>
            <a:ext cx="2970886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/>
            </a:lvl1pPr>
          </a:lstStyle>
          <a:p>
            <a:pPr/>
            <a:r>
              <a:t>- FlexChroma Dokumentenarchiv -</a:t>
            </a:r>
          </a:p>
        </p:txBody>
      </p:sp>
      <p:sp>
        <p:nvSpPr>
          <p:cNvPr id="204" name="テキスト ボックス 33"/>
          <p:cNvSpPr txBox="1"/>
          <p:nvPr/>
        </p:nvSpPr>
        <p:spPr>
          <a:xfrm>
            <a:off x="2608122" y="1853185"/>
            <a:ext cx="1543966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/>
            </a:lvl1pPr>
          </a:lstStyle>
          <a:p>
            <a:pPr/>
            <a:r>
              <a:t>Ver.1.00  2026.9.1</a:t>
            </a:r>
          </a:p>
        </p:txBody>
      </p:sp>
      <p:pic>
        <p:nvPicPr>
          <p:cNvPr id="205" name="FlexChroma-icon3.png" descr="FlexChroma-icon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62623" y="950702"/>
            <a:ext cx="484295" cy="4668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25255" y="4916473"/>
            <a:ext cx="6188663" cy="11290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正方形/長方形 1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正方形/長方形 4"/>
          <p:cNvSpPr/>
          <p:nvPr/>
        </p:nvSpPr>
        <p:spPr>
          <a:xfrm>
            <a:off x="-7269" y="0"/>
            <a:ext cx="6872538" cy="9144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close/>
                <a:moveTo>
                  <a:pt x="1766" y="20461"/>
                </a:moveTo>
                <a:lnTo>
                  <a:pt x="1766" y="20589"/>
                </a:lnTo>
                <a:lnTo>
                  <a:pt x="9912" y="20589"/>
                </a:lnTo>
                <a:lnTo>
                  <a:pt x="9912" y="20461"/>
                </a:lnTo>
                <a:close/>
                <a:moveTo>
                  <a:pt x="11761" y="20461"/>
                </a:moveTo>
                <a:lnTo>
                  <a:pt x="11761" y="20589"/>
                </a:lnTo>
                <a:lnTo>
                  <a:pt x="19908" y="20589"/>
                </a:lnTo>
                <a:lnTo>
                  <a:pt x="19908" y="20461"/>
                </a:lnTo>
                <a:close/>
                <a:moveTo>
                  <a:pt x="1897" y="6144"/>
                </a:moveTo>
                <a:cubicBezTo>
                  <a:pt x="1771" y="6239"/>
                  <a:pt x="1771" y="6392"/>
                  <a:pt x="1897" y="6486"/>
                </a:cubicBezTo>
                <a:cubicBezTo>
                  <a:pt x="2022" y="6581"/>
                  <a:pt x="2226" y="6581"/>
                  <a:pt x="2351" y="6486"/>
                </a:cubicBezTo>
                <a:cubicBezTo>
                  <a:pt x="2477" y="6392"/>
                  <a:pt x="2477" y="6239"/>
                  <a:pt x="2351" y="6144"/>
                </a:cubicBezTo>
                <a:cubicBezTo>
                  <a:pt x="2226" y="6050"/>
                  <a:pt x="2022" y="6050"/>
                  <a:pt x="1897" y="6144"/>
                </a:cubicBezTo>
                <a:close/>
                <a:moveTo>
                  <a:pt x="1897" y="1648"/>
                </a:moveTo>
                <a:cubicBezTo>
                  <a:pt x="1771" y="1743"/>
                  <a:pt x="1771" y="1896"/>
                  <a:pt x="1897" y="1990"/>
                </a:cubicBezTo>
                <a:cubicBezTo>
                  <a:pt x="2022" y="2084"/>
                  <a:pt x="2226" y="2084"/>
                  <a:pt x="2351" y="1990"/>
                </a:cubicBezTo>
                <a:cubicBezTo>
                  <a:pt x="2477" y="1896"/>
                  <a:pt x="2477" y="1743"/>
                  <a:pt x="2351" y="1648"/>
                </a:cubicBezTo>
                <a:cubicBezTo>
                  <a:pt x="2226" y="1554"/>
                  <a:pt x="2022" y="1554"/>
                  <a:pt x="1897" y="1648"/>
                </a:cubicBezTo>
                <a:close/>
                <a:moveTo>
                  <a:pt x="1766" y="1196"/>
                </a:moveTo>
                <a:lnTo>
                  <a:pt x="19857" y="1196"/>
                </a:lnTo>
                <a:lnTo>
                  <a:pt x="19857" y="1069"/>
                </a:lnTo>
                <a:lnTo>
                  <a:pt x="1766" y="1069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2</a:t>
            </a:r>
          </a:p>
        </p:txBody>
      </p:sp>
      <p:sp>
        <p:nvSpPr>
          <p:cNvPr id="211" name="テキスト ボックス 2"/>
          <p:cNvSpPr txBox="1"/>
          <p:nvPr/>
        </p:nvSpPr>
        <p:spPr>
          <a:xfrm>
            <a:off x="816563" y="546516"/>
            <a:ext cx="2373057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3. FlexChroma HUB</a:t>
            </a:r>
          </a:p>
        </p:txBody>
      </p:sp>
      <p:sp>
        <p:nvSpPr>
          <p:cNvPr id="212" name="テキスト ボックス 10"/>
          <p:cNvSpPr txBox="1"/>
          <p:nvPr/>
        </p:nvSpPr>
        <p:spPr>
          <a:xfrm>
            <a:off x="714228" y="886688"/>
            <a:ext cx="555805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Der FlexChroma-Hub ist der zentrale Einstiegspunkt auf MakerWorld und bietet Zugang zu allen Serien und externen Portalen. </a:t>
            </a:r>
            <a:r>
              <a:rPr b="1">
                <a:latin typeface="JostRoman-Bold"/>
                <a:ea typeface="JostRoman-Bold"/>
                <a:cs typeface="JostRoman-Bold"/>
                <a:sym typeface="JostRoman-Bold"/>
              </a:rPr>
              <a:t>Wenn Sie sich unsicher sind, wo Sie beginnen sollen, öffnen Sie am besten zuerst dieses Modell.</a:t>
            </a:r>
          </a:p>
        </p:txBody>
      </p:sp>
      <p:sp>
        <p:nvSpPr>
          <p:cNvPr id="213" name="テキスト ボックス 11"/>
          <p:cNvSpPr txBox="1"/>
          <p:nvPr/>
        </p:nvSpPr>
        <p:spPr>
          <a:xfrm>
            <a:off x="816564" y="2439572"/>
            <a:ext cx="200646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4. Mischfilament</a:t>
            </a:r>
          </a:p>
        </p:txBody>
      </p:sp>
      <p:sp>
        <p:nvSpPr>
          <p:cNvPr id="214" name="テキスト ボックス 22"/>
          <p:cNvSpPr txBox="1"/>
          <p:nvPr/>
        </p:nvSpPr>
        <p:spPr>
          <a:xfrm>
            <a:off x="714228" y="2819223"/>
            <a:ext cx="5550784" cy="170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Mischfilament Serie bildet das grundlegendste Sortiment von FlexChroma. Sie ermöglicht es Ihnen, zwei Filamente in verschiedenen Verhältnissen zu mischen, um Ihre eigene individuelle Farbe zu kreieren. </a:t>
            </a:r>
          </a:p>
          <a:p>
            <a:pPr>
              <a:defRPr b="1" sz="1000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Jedes Modell deckt dabei Mischungsverhältnisse von 50 % bis 99,5 % ab. Für Werte unter 50 % tauschen Sie einfach Filament A und Filament B aus.</a:t>
            </a:r>
          </a:p>
          <a:p>
            <a:pPr>
              <a:defRPr b="1" sz="500">
                <a:latin typeface="JostRoman-Bold"/>
                <a:ea typeface="JostRoman-Bold"/>
                <a:cs typeface="JostRoman-Bold"/>
                <a:sym typeface="JostRoman-Bold"/>
              </a:defRPr>
            </a:pPr>
          </a:p>
          <a:p>
            <a:pPr>
              <a:defRPr sz="1000"/>
            </a:pPr>
            <a:r>
              <a:t>Beispiel: Um ein Filament mit 25 % Cyan gemischt in Gelb zu erstellen, lesen Sie den Wert der Druckplatte als Verhältnis von Filament A ab, interpretieren diesen als 75 % Gelb und slicen das Modell entsprechend.</a:t>
            </a:r>
          </a:p>
        </p:txBody>
      </p:sp>
      <p:sp>
        <p:nvSpPr>
          <p:cNvPr id="215" name="テキスト ボックス 23"/>
          <p:cNvSpPr txBox="1"/>
          <p:nvPr/>
        </p:nvSpPr>
        <p:spPr>
          <a:xfrm>
            <a:off x="717862" y="5392072"/>
            <a:ext cx="5550783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Nachfolgend finden Sie die Modellkonfiguration für das Mischfilament.</a:t>
            </a:r>
          </a:p>
        </p:txBody>
      </p:sp>
      <p:pic>
        <p:nvPicPr>
          <p:cNvPr id="216" name="図 21" descr="図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24630" y="5678858"/>
            <a:ext cx="4408740" cy="2901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04664" y="1565210"/>
            <a:ext cx="4098506" cy="91389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ペーストされたムービー.png" descr="ペーストされたムービー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4000" y="4571288"/>
            <a:ext cx="6069986" cy="8193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3</a:t>
            </a:r>
          </a:p>
        </p:txBody>
      </p:sp>
      <p:sp>
        <p:nvSpPr>
          <p:cNvPr id="222" name="正方形/長方形 4"/>
          <p:cNvSpPr/>
          <p:nvPr/>
        </p:nvSpPr>
        <p:spPr>
          <a:xfrm>
            <a:off x="17134" y="0"/>
            <a:ext cx="6858001" cy="9144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close/>
                <a:moveTo>
                  <a:pt x="1693" y="20461"/>
                </a:moveTo>
                <a:lnTo>
                  <a:pt x="1693" y="20589"/>
                </a:lnTo>
                <a:lnTo>
                  <a:pt x="9856" y="20589"/>
                </a:lnTo>
                <a:lnTo>
                  <a:pt x="9856" y="20461"/>
                </a:lnTo>
                <a:close/>
                <a:moveTo>
                  <a:pt x="11709" y="20461"/>
                </a:moveTo>
                <a:lnTo>
                  <a:pt x="11709" y="20589"/>
                </a:lnTo>
                <a:lnTo>
                  <a:pt x="19873" y="20589"/>
                </a:lnTo>
                <a:lnTo>
                  <a:pt x="19873" y="20461"/>
                </a:lnTo>
                <a:close/>
                <a:moveTo>
                  <a:pt x="1824" y="1672"/>
                </a:moveTo>
                <a:cubicBezTo>
                  <a:pt x="1698" y="1767"/>
                  <a:pt x="1698" y="1920"/>
                  <a:pt x="1824" y="2014"/>
                </a:cubicBezTo>
                <a:cubicBezTo>
                  <a:pt x="1950" y="2108"/>
                  <a:pt x="2154" y="2108"/>
                  <a:pt x="2279" y="2014"/>
                </a:cubicBezTo>
                <a:cubicBezTo>
                  <a:pt x="2405" y="1920"/>
                  <a:pt x="2405" y="1767"/>
                  <a:pt x="2279" y="1672"/>
                </a:cubicBezTo>
                <a:cubicBezTo>
                  <a:pt x="2154" y="1578"/>
                  <a:pt x="1950" y="1578"/>
                  <a:pt x="1824" y="1672"/>
                </a:cubicBezTo>
                <a:close/>
                <a:moveTo>
                  <a:pt x="1693" y="1069"/>
                </a:moveTo>
                <a:lnTo>
                  <a:pt x="1693" y="1196"/>
                </a:lnTo>
                <a:lnTo>
                  <a:pt x="19822" y="1196"/>
                </a:lnTo>
                <a:lnTo>
                  <a:pt x="19822" y="1069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テキスト ボックス 30"/>
          <p:cNvSpPr txBox="1"/>
          <p:nvPr/>
        </p:nvSpPr>
        <p:spPr>
          <a:xfrm>
            <a:off x="816563" y="546516"/>
            <a:ext cx="281309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5. Farbverlaufsfilament </a:t>
            </a:r>
          </a:p>
        </p:txBody>
      </p:sp>
      <p:sp>
        <p:nvSpPr>
          <p:cNvPr id="224" name="テキスト ボックス 32"/>
          <p:cNvSpPr txBox="1"/>
          <p:nvPr/>
        </p:nvSpPr>
        <p:spPr>
          <a:xfrm>
            <a:off x="721497" y="4572000"/>
            <a:ext cx="5550783" cy="28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pPr/>
            <a:r>
              <a:t>Nachfolgend finden Sie die Modellkonfiguration für das Farbverlaufsfilament.</a:t>
            </a:r>
          </a:p>
        </p:txBody>
      </p:sp>
      <p:pic>
        <p:nvPicPr>
          <p:cNvPr id="225" name="図 3" descr="図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07622" y="4877620"/>
            <a:ext cx="5250025" cy="3684063"/>
          </a:xfrm>
          <a:prstGeom prst="rect">
            <a:avLst/>
          </a:prstGeom>
          <a:ln w="12700">
            <a:miter lim="400000"/>
          </a:ln>
        </p:spPr>
      </p:pic>
      <p:sp>
        <p:nvSpPr>
          <p:cNvPr id="226" name="テキスト ボックス 18"/>
          <p:cNvSpPr txBox="1"/>
          <p:nvPr/>
        </p:nvSpPr>
        <p:spPr>
          <a:xfrm>
            <a:off x="714228" y="950456"/>
            <a:ext cx="5558051" cy="266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Farbverlaufsfilament Serie bietet mehrere farbwechselnde Profile und Druckplatten mit unterschiedlichen Zyklusanzahlen. Die Details variieren je nach Modell. Bitte beachten Sie daher die Beschreibung des jeweiligen Modells.</a:t>
            </a:r>
          </a:p>
          <a:p>
            <a:pPr>
              <a:defRPr sz="1000"/>
            </a:pPr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Farbkurve: Einstellungen basierend auf Farbkombinationen. Diese Option ermöglicht es Ihnen, den optimalen Verlauf für jede Farbe auszuwählen – zum Beispiel „Lebendig“ für Cyan und Gelb oder „Kontrast“ für Weiß und Magenta.</a:t>
            </a:r>
          </a:p>
          <a:p>
            <a:pPr>
              <a:defRPr sz="600"/>
            </a:pPr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Zyklusanzahl: Die Zahl, welche die Häufigkeit des Verlaufs bestimmt. Als ein Zyklus zählt ein vollständiger Durchlauf, in dem das Filament von A nach B nach A und wieder zurück wechselt.</a:t>
            </a:r>
          </a:p>
          <a:p>
            <a:pPr>
              <a:defRPr sz="1000"/>
            </a:pPr>
          </a:p>
          <a:p>
            <a:pPr>
              <a:defRPr sz="1000"/>
            </a:pPr>
            <a:r>
              <a:t>Beispiel: Um ein schnell wechselndes Farbverlaufsfilament mit Cyan und Magenta zu erstellen, wählen Sie ein S4 Modell, entscheiden sich für eine 4 Zyklus Druckplatte und nutzen aufgrund des hohen Farbkontrasts das Profil mit der Kurve Lebendig.</a:t>
            </a:r>
          </a:p>
        </p:txBody>
      </p:sp>
      <p:pic>
        <p:nvPicPr>
          <p:cNvPr id="227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6311" y="3702891"/>
            <a:ext cx="6219648" cy="85851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pPr/>
            <a:r>
              <a:t>4</a:t>
            </a:r>
          </a:p>
        </p:txBody>
      </p:sp>
      <p:sp>
        <p:nvSpPr>
          <p:cNvPr id="231" name="正方形/長方形 4"/>
          <p:cNvSpPr/>
          <p:nvPr/>
        </p:nvSpPr>
        <p:spPr>
          <a:xfrm>
            <a:off x="17051" y="5530"/>
            <a:ext cx="6858001" cy="9144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close/>
                <a:moveTo>
                  <a:pt x="1693" y="20448"/>
                </a:moveTo>
                <a:lnTo>
                  <a:pt x="1693" y="20576"/>
                </a:lnTo>
                <a:lnTo>
                  <a:pt x="9857" y="20576"/>
                </a:lnTo>
                <a:lnTo>
                  <a:pt x="9857" y="20448"/>
                </a:lnTo>
                <a:close/>
                <a:moveTo>
                  <a:pt x="11710" y="20448"/>
                </a:moveTo>
                <a:lnTo>
                  <a:pt x="11710" y="20576"/>
                </a:lnTo>
                <a:lnTo>
                  <a:pt x="19873" y="20576"/>
                </a:lnTo>
                <a:lnTo>
                  <a:pt x="19873" y="20448"/>
                </a:lnTo>
                <a:close/>
                <a:moveTo>
                  <a:pt x="1761" y="1988"/>
                </a:moveTo>
                <a:cubicBezTo>
                  <a:pt x="1636" y="2082"/>
                  <a:pt x="1636" y="2235"/>
                  <a:pt x="1761" y="2330"/>
                </a:cubicBezTo>
                <a:cubicBezTo>
                  <a:pt x="1887" y="2424"/>
                  <a:pt x="2091" y="2424"/>
                  <a:pt x="2217" y="2330"/>
                </a:cubicBezTo>
                <a:cubicBezTo>
                  <a:pt x="2343" y="2235"/>
                  <a:pt x="2343" y="2082"/>
                  <a:pt x="2217" y="1988"/>
                </a:cubicBezTo>
                <a:cubicBezTo>
                  <a:pt x="2091" y="1893"/>
                  <a:pt x="1887" y="1893"/>
                  <a:pt x="1761" y="1988"/>
                </a:cubicBezTo>
                <a:close/>
                <a:moveTo>
                  <a:pt x="1693" y="1056"/>
                </a:moveTo>
                <a:lnTo>
                  <a:pt x="1693" y="1183"/>
                </a:lnTo>
                <a:lnTo>
                  <a:pt x="19823" y="1183"/>
                </a:lnTo>
                <a:lnTo>
                  <a:pt x="19823" y="1056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テキスト ボックス 33"/>
          <p:cNvSpPr txBox="1"/>
          <p:nvPr/>
        </p:nvSpPr>
        <p:spPr>
          <a:xfrm>
            <a:off x="823834" y="784293"/>
            <a:ext cx="180455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600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pPr/>
            <a:r>
              <a:t>6. Update Historie</a:t>
            </a:r>
          </a:p>
        </p:txBody>
      </p:sp>
      <p:sp>
        <p:nvSpPr>
          <p:cNvPr id="233" name="テキスト ボックス 34"/>
          <p:cNvSpPr txBox="1"/>
          <p:nvPr/>
        </p:nvSpPr>
        <p:spPr>
          <a:xfrm>
            <a:off x="684043" y="1115239"/>
            <a:ext cx="55580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pPr/>
            <a:r>
              <a:t>Ver.1.00  2026-09-01  Erste Version veröffentlicht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テーマ">
  <a:themeElements>
    <a:clrScheme name="Office テーマ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テーマ">
      <a:majorFont>
        <a:latin typeface="Jost-Regular"/>
        <a:ea typeface="Jost-Regular"/>
        <a:cs typeface="Jost-Regular"/>
      </a:majorFont>
      <a:minorFont>
        <a:latin typeface="Jost-Regular"/>
        <a:ea typeface="Jost-Regular"/>
        <a:cs typeface="Jost-Regular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テーマ">
  <a:themeElements>
    <a:clrScheme name="Office テーマ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テーマ">
      <a:majorFont>
        <a:latin typeface="Jost-Regular"/>
        <a:ea typeface="Jost-Regular"/>
        <a:cs typeface="Jost-Regular"/>
      </a:majorFont>
      <a:minorFont>
        <a:latin typeface="Jost-Regular"/>
        <a:ea typeface="Jost-Regular"/>
        <a:cs typeface="Jost-Regular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