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58" r:id="rId4"/>
    <p:sldId id="259" r:id="rId5"/>
    <p:sldId id="260" r:id="rId6"/>
    <p:sldId id="261" r:id="rId7"/>
    <p:sldId id="262" r:id="rId8"/>
  </p:sldIdLst>
  <p:sldSz cx="6858000" cy="9144000" type="screen4x3"/>
  <p:notesSz cx="7104063" cy="102346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95E5"/>
    <a:srgbClr val="6200E8"/>
    <a:srgbClr val="EE00B0"/>
    <a:srgbClr val="0086D6"/>
    <a:srgbClr val="FF00FF"/>
    <a:srgbClr val="AE00F4"/>
    <a:srgbClr val="5800E1"/>
    <a:srgbClr val="EC00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178" autoAdjust="0"/>
    <p:restoredTop sz="94660"/>
  </p:normalViewPr>
  <p:slideViewPr>
    <p:cSldViewPr snapToGrid="0">
      <p:cViewPr varScale="1">
        <p:scale>
          <a:sx n="142" d="100"/>
          <a:sy n="142" d="100"/>
        </p:scale>
        <p:origin x="5246" y="11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496484"/>
            <a:ext cx="5829300" cy="3183467"/>
          </a:xfrm>
        </p:spPr>
        <p:txBody>
          <a:bodyPr anchor="b"/>
          <a:lstStyle>
            <a:lvl1pPr algn="ctr">
              <a:defRPr sz="4500"/>
            </a:lvl1pPr>
          </a:lstStyle>
          <a:p>
            <a:r>
              <a:rPr lang="ja-JP" altLang="en-US"/>
              <a:t>マスター タイトルの書式設定</a:t>
            </a:r>
            <a:endParaRPr lang="en-US" dirty="0"/>
          </a:p>
        </p:txBody>
      </p:sp>
      <p:sp>
        <p:nvSpPr>
          <p:cNvPr id="3" name="Subtitle 2"/>
          <p:cNvSpPr>
            <a:spLocks noGrp="1"/>
          </p:cNvSpPr>
          <p:nvPr>
            <p:ph type="subTitle" idx="1"/>
          </p:nvPr>
        </p:nvSpPr>
        <p:spPr>
          <a:xfrm>
            <a:off x="857250" y="4802717"/>
            <a:ext cx="5143500" cy="220768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2026/8/8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32419368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2026/8/8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1255561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467916" y="2279653"/>
            <a:ext cx="5915025" cy="3803649"/>
          </a:xfrm>
        </p:spPr>
        <p:txBody>
          <a:bodyPr anchor="b"/>
          <a:lstStyle>
            <a:lvl1pPr>
              <a:defRPr sz="45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467916" y="6119286"/>
            <a:ext cx="5915025" cy="2000249"/>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2026/8/8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2448264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471488" y="2434167"/>
            <a:ext cx="2914650" cy="5801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3471863" y="2434167"/>
            <a:ext cx="2914650" cy="5801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2026/8/8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075338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472381" y="486836"/>
            <a:ext cx="5915025" cy="1767417"/>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472381" y="2241551"/>
            <a:ext cx="2901255"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ja-JP" altLang="en-US"/>
              <a:t>マスター テキストの書式設定</a:t>
            </a:r>
          </a:p>
        </p:txBody>
      </p:sp>
      <p:sp>
        <p:nvSpPr>
          <p:cNvPr id="4" name="Content Placeholder 3"/>
          <p:cNvSpPr>
            <a:spLocks noGrp="1"/>
          </p:cNvSpPr>
          <p:nvPr>
            <p:ph sz="half" idx="2"/>
          </p:nvPr>
        </p:nvSpPr>
        <p:spPr>
          <a:xfrm>
            <a:off x="472381" y="3340100"/>
            <a:ext cx="2901255" cy="4912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3471863" y="2241551"/>
            <a:ext cx="2915543"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ja-JP" altLang="en-US"/>
              <a:t>マスター テキストの書式設定</a:t>
            </a:r>
          </a:p>
        </p:txBody>
      </p:sp>
      <p:sp>
        <p:nvSpPr>
          <p:cNvPr id="6" name="Content Placeholder 5"/>
          <p:cNvSpPr>
            <a:spLocks noGrp="1"/>
          </p:cNvSpPr>
          <p:nvPr>
            <p:ph sz="quarter" idx="4"/>
          </p:nvPr>
        </p:nvSpPr>
        <p:spPr>
          <a:xfrm>
            <a:off x="3471863" y="3340100"/>
            <a:ext cx="2915543" cy="4912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71132294-360C-4425-B294-91EF6E97A591}" type="datetimeFigureOut">
              <a:rPr kumimoji="1" lang="ja-JP" altLang="en-US" smtClean="0"/>
              <a:t>2026/8/8</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585400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71132294-360C-4425-B294-91EF6E97A591}" type="datetimeFigureOut">
              <a:rPr kumimoji="1" lang="ja-JP" altLang="en-US" smtClean="0"/>
              <a:t>2026/8/8</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376062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1132294-360C-4425-B294-91EF6E97A591}" type="datetimeFigureOut">
              <a:rPr kumimoji="1" lang="ja-JP" altLang="en-US" smtClean="0"/>
              <a:t>2026/8/8</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0484558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ja-JP" altLang="en-US"/>
              <a:t>マスター タイトルの書式設定</a:t>
            </a:r>
            <a:endParaRPr lang="en-US" dirty="0"/>
          </a:p>
        </p:txBody>
      </p:sp>
      <p:sp>
        <p:nvSpPr>
          <p:cNvPr id="3" name="Content Placeholder 2"/>
          <p:cNvSpPr>
            <a:spLocks noGrp="1"/>
          </p:cNvSpPr>
          <p:nvPr>
            <p:ph idx="1"/>
          </p:nvPr>
        </p:nvSpPr>
        <p:spPr>
          <a:xfrm>
            <a:off x="2915543" y="1316569"/>
            <a:ext cx="3471863" cy="6498167"/>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2026/8/8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0017639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2915543" y="1316569"/>
            <a:ext cx="3471863" cy="6498167"/>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2026/8/8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860671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2026/8/8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2870933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486834"/>
            <a:ext cx="1478756" cy="7749117"/>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471488" y="486834"/>
            <a:ext cx="4350544" cy="7749117"/>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2026/8/8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1072397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486836"/>
            <a:ext cx="5915025" cy="1767417"/>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471488" y="2434167"/>
            <a:ext cx="5915025" cy="5801784"/>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471488" y="8475136"/>
            <a:ext cx="1543050" cy="486833"/>
          </a:xfrm>
          <a:prstGeom prst="rect">
            <a:avLst/>
          </a:prstGeom>
        </p:spPr>
        <p:txBody>
          <a:bodyPr vert="horz" lIns="91440" tIns="45720" rIns="91440" bIns="45720" rtlCol="0" anchor="ctr"/>
          <a:lstStyle>
            <a:lvl1pPr algn="l">
              <a:defRPr sz="900">
                <a:solidFill>
                  <a:schemeClr val="tx1">
                    <a:tint val="82000"/>
                  </a:schemeClr>
                </a:solidFill>
              </a:defRPr>
            </a:lvl1pPr>
          </a:lstStyle>
          <a:p>
            <a:fld id="{71132294-360C-4425-B294-91EF6E97A591}" type="datetimeFigureOut">
              <a:rPr kumimoji="1" lang="ja-JP" altLang="en-US" smtClean="0"/>
              <a:t>2026/8/8</a:t>
            </a:fld>
            <a:endParaRPr kumimoji="1" lang="ja-JP" altLang="en-US"/>
          </a:p>
        </p:txBody>
      </p:sp>
      <p:sp>
        <p:nvSpPr>
          <p:cNvPr id="5" name="Footer Placeholder 4"/>
          <p:cNvSpPr>
            <a:spLocks noGrp="1"/>
          </p:cNvSpPr>
          <p:nvPr>
            <p:ph type="ftr" sz="quarter" idx="3"/>
          </p:nvPr>
        </p:nvSpPr>
        <p:spPr>
          <a:xfrm>
            <a:off x="2271713" y="8475136"/>
            <a:ext cx="2314575" cy="48683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4843463" y="8475136"/>
            <a:ext cx="1543050" cy="486833"/>
          </a:xfrm>
          <a:prstGeom prst="rect">
            <a:avLst/>
          </a:prstGeom>
        </p:spPr>
        <p:txBody>
          <a:bodyPr vert="horz" lIns="91440" tIns="45720" rIns="91440" bIns="45720" rtlCol="0" anchor="ctr"/>
          <a:lstStyle>
            <a:lvl1pPr algn="r">
              <a:defRPr sz="900">
                <a:solidFill>
                  <a:schemeClr val="tx1">
                    <a:tint val="82000"/>
                  </a:schemeClr>
                </a:solidFill>
              </a:defRPr>
            </a:lvl1p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94419485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en-US"/>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emf"/><Relationship Id="rId1" Type="http://schemas.openxmlformats.org/officeDocument/2006/relationships/slideLayout" Target="../slideLayouts/slideLayout1.xml"/><Relationship Id="rId4" Type="http://schemas.openxmlformats.org/officeDocument/2006/relationships/image" Target="../media/image4.em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image" Target="../media/image9.emf"/><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5AA41A86-A2F3-1D06-7116-45400082F3B6}"/>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97CD271A-34A9-3E4B-032F-15C70AF19889}"/>
              </a:ext>
            </a:extLst>
          </p:cNvPr>
          <p:cNvSpPr/>
          <p:nvPr/>
        </p:nvSpPr>
        <p:spPr>
          <a:xfrm>
            <a:off x="16975"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73915448-3941-BA60-2C94-241A97D6CAC9}"/>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552EEC23-A78A-14A0-56DD-8CB91A02DD2F}"/>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733F6922-5537-D3C9-1E45-625FD880C031}"/>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F3EA9AD3-66B2-9EA5-5711-3C6A318F5512}"/>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705123BF-B9A2-835D-6FE4-689D9F62F382}"/>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D340CDC6-D787-7B25-2307-F3BA1042D402}"/>
              </a:ext>
            </a:extLst>
          </p:cNvPr>
          <p:cNvSpPr/>
          <p:nvPr/>
        </p:nvSpPr>
        <p:spPr>
          <a:xfrm>
            <a:off x="539999" y="431999"/>
            <a:ext cx="5785269"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FF25BF82-13EE-2D0B-D376-F101E332C733}"/>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F8BCCC25-0C62-4E5D-0486-3F637C4A1C59}"/>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5CFE29C1-D44C-58E2-5EDB-51A8D3EC840E}"/>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Tree>
    <p:extLst>
      <p:ext uri="{BB962C8B-B14F-4D97-AF65-F5344CB8AC3E}">
        <p14:creationId xmlns:p14="http://schemas.microsoft.com/office/powerpoint/2010/main" val="2457412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540A8-5932-22C2-7D48-A0EA57C305DB}"/>
            </a:ext>
          </a:extLst>
        </p:cNvPr>
        <p:cNvGrpSpPr/>
        <p:nvPr/>
      </p:nvGrpSpPr>
      <p:grpSpPr>
        <a:xfrm>
          <a:off x="0" y="0"/>
          <a:ext cx="0" cy="0"/>
          <a:chOff x="0" y="0"/>
          <a:chExt cx="0" cy="0"/>
        </a:xfrm>
      </p:grpSpPr>
      <p:sp>
        <p:nvSpPr>
          <p:cNvPr id="32" name="正方形/長方形 31">
            <a:extLst>
              <a:ext uri="{FF2B5EF4-FFF2-40B4-BE49-F238E27FC236}">
                <a16:creationId xmlns:a16="http://schemas.microsoft.com/office/drawing/2014/main" id="{CD9029B2-D1D6-26F4-0BA3-DE439C520D10}"/>
              </a:ext>
            </a:extLst>
          </p:cNvPr>
          <p:cNvSpPr/>
          <p:nvPr/>
        </p:nvSpPr>
        <p:spPr>
          <a:xfrm>
            <a:off x="0" y="0"/>
            <a:ext cx="6858000" cy="9144000"/>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7B3C0006-8C0E-711B-ECD8-45CF7F1D1609}"/>
              </a:ext>
            </a:extLst>
          </p:cNvPr>
          <p:cNvSpPr/>
          <p:nvPr/>
        </p:nvSpPr>
        <p:spPr>
          <a:xfrm>
            <a:off x="7269"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9C59FD50-8143-8A52-2646-26C8BDBFFDD3}"/>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46770B46-C072-DF34-BD8D-2065F41808D5}"/>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C3E27AFA-EFCD-0428-55DA-15697DE6456A}"/>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C16363EA-88CD-F1FE-3650-7B24149569AE}"/>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6E68F704-A898-98C2-EE85-8B817126B2F6}"/>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正方形/長方形 14">
            <a:extLst>
              <a:ext uri="{FF2B5EF4-FFF2-40B4-BE49-F238E27FC236}">
                <a16:creationId xmlns:a16="http://schemas.microsoft.com/office/drawing/2014/main" id="{2F960D99-6370-5724-453C-20AA9AC92D12}"/>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708601A0-5532-E890-C737-AF5B225E91D8}"/>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2CCFBEBF-78FF-8FF9-3487-B087FB4F1A56}"/>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
        <p:nvSpPr>
          <p:cNvPr id="2" name="テキスト ボックス 1">
            <a:extLst>
              <a:ext uri="{FF2B5EF4-FFF2-40B4-BE49-F238E27FC236}">
                <a16:creationId xmlns:a16="http://schemas.microsoft.com/office/drawing/2014/main" id="{AB06514E-2962-A9E0-36A8-FFA8ABD714B3}"/>
              </a:ext>
            </a:extLst>
          </p:cNvPr>
          <p:cNvSpPr txBox="1"/>
          <p:nvPr/>
        </p:nvSpPr>
        <p:spPr>
          <a:xfrm>
            <a:off x="1002539" y="840586"/>
            <a:ext cx="4908331" cy="584775"/>
          </a:xfrm>
          <a:prstGeom prst="rect">
            <a:avLst/>
          </a:prstGeom>
          <a:noFill/>
        </p:spPr>
        <p:txBody>
          <a:bodyPr wrap="none" rtlCol="0">
            <a:spAutoFit/>
          </a:bodyPr>
          <a:lstStyle/>
          <a:p>
            <a:r>
              <a:rPr lang="en-US" altLang="ja-JP" sz="3200" b="1"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en-US" altLang="ja-JP" sz="3200" b="1" dirty="0">
                <a:latin typeface="IBM Plex Sans JP" panose="020B0503050203000203" pitchFamily="50" charset="-128"/>
                <a:ea typeface="IBM Plex Sans JP" panose="020B0503050203000203" pitchFamily="50" charset="-128"/>
              </a:rPr>
              <a:t> </a:t>
            </a:r>
            <a:r>
              <a:rPr lang="ja-JP" altLang="en-US" sz="2800" b="1" dirty="0">
                <a:latin typeface="IBM Plex Sans JP" panose="020B0503050203000203" pitchFamily="50" charset="-128"/>
                <a:ea typeface="IBM Plex Sans JP" panose="020B0503050203000203" pitchFamily="50" charset="-128"/>
              </a:rPr>
              <a:t>ツアーガイド</a:t>
            </a:r>
            <a:endParaRPr kumimoji="1" lang="ja-JP" altLang="en-US" sz="3200" b="1" dirty="0">
              <a:latin typeface="IBM Plex Sans JP" panose="020B0503050203000203" pitchFamily="50" charset="-128"/>
              <a:ea typeface="IBM Plex Sans JP" panose="020B0503050203000203" pitchFamily="50" charset="-128"/>
            </a:endParaRPr>
          </a:p>
        </p:txBody>
      </p:sp>
      <p:sp>
        <p:nvSpPr>
          <p:cNvPr id="14" name="楕円 13">
            <a:extLst>
              <a:ext uri="{FF2B5EF4-FFF2-40B4-BE49-F238E27FC236}">
                <a16:creationId xmlns:a16="http://schemas.microsoft.com/office/drawing/2014/main" id="{86E89BA8-E7B2-7AB3-7267-37838D435E76}"/>
              </a:ext>
            </a:extLst>
          </p:cNvPr>
          <p:cNvSpPr/>
          <p:nvPr/>
        </p:nvSpPr>
        <p:spPr>
          <a:xfrm>
            <a:off x="566175" y="2883225"/>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CB797E49-CA37-4B2A-5187-03EC3007B3C7}"/>
              </a:ext>
            </a:extLst>
          </p:cNvPr>
          <p:cNvSpPr txBox="1"/>
          <p:nvPr/>
        </p:nvSpPr>
        <p:spPr>
          <a:xfrm>
            <a:off x="770844" y="2815340"/>
            <a:ext cx="1516762"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1. </a:t>
            </a:r>
            <a:r>
              <a:rPr lang="ja-JP" altLang="en-US" sz="2000" dirty="0">
                <a:latin typeface="IBM Plex Sans JP SemiBold" panose="020B0703050203000203" pitchFamily="50" charset="-128"/>
                <a:ea typeface="IBM Plex Sans JP SemiBold" panose="020B0703050203000203" pitchFamily="50" charset="-128"/>
              </a:rPr>
              <a:t>はじめに</a:t>
            </a:r>
            <a:endParaRPr kumimoji="1" lang="ja-JP" altLang="en-US" sz="2000" b="1" dirty="0">
              <a:latin typeface="IBM Plex Sans JP SemiBold" panose="020B0703050203000203" pitchFamily="50" charset="-128"/>
              <a:ea typeface="IBM Plex Sans JP SemiBold" panose="020B0703050203000203" pitchFamily="50" charset="-128"/>
            </a:endParaRPr>
          </a:p>
        </p:txBody>
      </p:sp>
      <p:sp>
        <p:nvSpPr>
          <p:cNvPr id="19" name="テキスト ボックス 18">
            <a:extLst>
              <a:ext uri="{FF2B5EF4-FFF2-40B4-BE49-F238E27FC236}">
                <a16:creationId xmlns:a16="http://schemas.microsoft.com/office/drawing/2014/main" id="{0E5F4AF3-4FAB-E906-2281-AF56CB9A9F5F}"/>
              </a:ext>
            </a:extLst>
          </p:cNvPr>
          <p:cNvSpPr txBox="1"/>
          <p:nvPr/>
        </p:nvSpPr>
        <p:spPr>
          <a:xfrm>
            <a:off x="668508" y="3238280"/>
            <a:ext cx="5649491" cy="861774"/>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cs typeface="Segoe UI Semibold" panose="020B0702040204020203" pitchFamily="34" charset="0"/>
              </a:rPr>
              <a:t>FlexChroma™</a:t>
            </a:r>
            <a:r>
              <a:rPr lang="ja-JP" altLang="ja-JP" sz="1000" dirty="0">
                <a:latin typeface="IBM Plex Sans JP" panose="020B0503050203000203" pitchFamily="50" charset="-128"/>
                <a:ea typeface="IBM Plex Sans JP" panose="020B0503050203000203" pitchFamily="50" charset="-128"/>
              </a:rPr>
              <a:t>は、市販のフィラメントを組み合わせて「フィラメントそのもの」を生み出すためのモデルです。</a:t>
            </a:r>
          </a:p>
          <a:p>
            <a:r>
              <a:rPr lang="ja-JP" altLang="ja-JP" sz="1000" dirty="0">
                <a:latin typeface="IBM Plex Sans JP" panose="020B0503050203000203" pitchFamily="50" charset="-128"/>
                <a:ea typeface="IBM Plex Sans JP" panose="020B0503050203000203" pitchFamily="50" charset="-128"/>
              </a:rPr>
              <a:t>様々な目的のシリーズから構成されており、各シリーズにはサイズなどの違いによってモデル、プロファイル、プレートごとに異なるフィラメントモデルを提供します。</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0" name="楕円 19">
            <a:extLst>
              <a:ext uri="{FF2B5EF4-FFF2-40B4-BE49-F238E27FC236}">
                <a16:creationId xmlns:a16="http://schemas.microsoft.com/office/drawing/2014/main" id="{64F690EF-7932-B480-4E0E-878C474B7FC9}"/>
              </a:ext>
            </a:extLst>
          </p:cNvPr>
          <p:cNvSpPr/>
          <p:nvPr/>
        </p:nvSpPr>
        <p:spPr>
          <a:xfrm>
            <a:off x="566175" y="4203603"/>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FDE03A10-2964-5391-2223-CBCA00D23411}"/>
              </a:ext>
            </a:extLst>
          </p:cNvPr>
          <p:cNvSpPr txBox="1"/>
          <p:nvPr/>
        </p:nvSpPr>
        <p:spPr>
          <a:xfrm>
            <a:off x="770844" y="4135718"/>
            <a:ext cx="228620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2. </a:t>
            </a:r>
            <a:r>
              <a:rPr lang="ja-JP" altLang="en-US" sz="2000" dirty="0">
                <a:latin typeface="IBM Plex Sans JP SemiBold" panose="020B0703050203000203" pitchFamily="50" charset="-128"/>
                <a:ea typeface="IBM Plex Sans JP SemiBold" panose="020B0703050203000203" pitchFamily="50" charset="-128"/>
              </a:rPr>
              <a:t>モデル選定方法</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22" name="テキスト ボックス 21">
            <a:extLst>
              <a:ext uri="{FF2B5EF4-FFF2-40B4-BE49-F238E27FC236}">
                <a16:creationId xmlns:a16="http://schemas.microsoft.com/office/drawing/2014/main" id="{B96C8996-A004-2B6F-419A-B5C7EEF88FAF}"/>
              </a:ext>
            </a:extLst>
          </p:cNvPr>
          <p:cNvSpPr txBox="1"/>
          <p:nvPr/>
        </p:nvSpPr>
        <p:spPr>
          <a:xfrm>
            <a:off x="661239" y="4511386"/>
            <a:ext cx="5649492" cy="553998"/>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簡易的なモデル選定手順をお見せします。まずは</a:t>
            </a:r>
            <a:r>
              <a:rPr lang="en-US" altLang="ja-JP" sz="1000" dirty="0">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で</a:t>
            </a:r>
            <a:r>
              <a:rPr lang="en-US" altLang="ja-JP" sz="1000" dirty="0">
                <a:latin typeface="IBM Plex Sans JP" panose="020B0503050203000203" pitchFamily="50" charset="-128"/>
                <a:ea typeface="IBM Plex Sans JP" panose="020B0503050203000203" pitchFamily="50" charset="-128"/>
              </a:rPr>
              <a:t>FlexChroma HUB</a:t>
            </a:r>
            <a:r>
              <a:rPr lang="ja-JP" altLang="ja-JP" sz="1000" dirty="0">
                <a:latin typeface="IBM Plex Sans JP" panose="020B0503050203000203" pitchFamily="50" charset="-128"/>
                <a:ea typeface="IBM Plex Sans JP" panose="020B0503050203000203" pitchFamily="50" charset="-128"/>
              </a:rPr>
              <a:t>を開いてください。その後に下記フローに従って適切なデータをダウンロードし、印刷してください。</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5" name="テキスト ボックス 24">
            <a:extLst>
              <a:ext uri="{FF2B5EF4-FFF2-40B4-BE49-F238E27FC236}">
                <a16:creationId xmlns:a16="http://schemas.microsoft.com/office/drawing/2014/main" id="{EBF7D3BD-1EF8-AC81-756A-94B848B80E13}"/>
              </a:ext>
            </a:extLst>
          </p:cNvPr>
          <p:cNvSpPr txBox="1"/>
          <p:nvPr/>
        </p:nvSpPr>
        <p:spPr>
          <a:xfrm>
            <a:off x="661238" y="6206196"/>
            <a:ext cx="5656761" cy="400110"/>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モデル選定においてはどの様なフィラメントが欲しいか？を考えま</a:t>
            </a:r>
            <a:r>
              <a:rPr lang="ja-JP" altLang="en-US" sz="1000" dirty="0">
                <a:latin typeface="IBM Plex Sans JP" panose="020B0503050203000203" pitchFamily="50" charset="-128"/>
                <a:ea typeface="IBM Plex Sans JP" panose="020B0503050203000203" pitchFamily="50" charset="-128"/>
              </a:rPr>
              <a:t>しょう</a:t>
            </a:r>
            <a:r>
              <a:rPr lang="ja-JP" altLang="ja-JP" sz="1000" dirty="0">
                <a:latin typeface="IBM Plex Sans JP" panose="020B0503050203000203" pitchFamily="50" charset="-128"/>
                <a:ea typeface="IBM Plex Sans JP" panose="020B0503050203000203" pitchFamily="50" charset="-128"/>
              </a:rPr>
              <a:t>。下記１～５の手順によって最適なデータを探</a:t>
            </a:r>
            <a:r>
              <a:rPr lang="ja-JP" altLang="en-US" sz="1000" dirty="0">
                <a:latin typeface="IBM Plex Sans JP" panose="020B0503050203000203" pitchFamily="50" charset="-128"/>
                <a:ea typeface="IBM Plex Sans JP" panose="020B0503050203000203" pitchFamily="50" charset="-128"/>
              </a:rPr>
              <a:t>すことができます</a:t>
            </a:r>
            <a:r>
              <a:rPr lang="ja-JP" altLang="ja-JP" sz="1000" dirty="0">
                <a:latin typeface="IBM Plex Sans JP" panose="020B0503050203000203" pitchFamily="50" charset="-128"/>
                <a:ea typeface="IBM Plex Sans JP" panose="020B0503050203000203" pitchFamily="50" charset="-128"/>
              </a:rPr>
              <a:t>。</a:t>
            </a:r>
          </a:p>
        </p:txBody>
      </p:sp>
      <p:sp>
        <p:nvSpPr>
          <p:cNvPr id="26" name="テキスト ボックス 25">
            <a:extLst>
              <a:ext uri="{FF2B5EF4-FFF2-40B4-BE49-F238E27FC236}">
                <a16:creationId xmlns:a16="http://schemas.microsoft.com/office/drawing/2014/main" id="{F1B3E5E8-6526-8E6B-29D9-D104B66A6233}"/>
              </a:ext>
            </a:extLst>
          </p:cNvPr>
          <p:cNvSpPr txBox="1"/>
          <p:nvPr/>
        </p:nvSpPr>
        <p:spPr>
          <a:xfrm>
            <a:off x="756306" y="6650049"/>
            <a:ext cx="5554425" cy="1615827"/>
          </a:xfrm>
          <a:prstGeom prst="rect">
            <a:avLst/>
          </a:prstGeom>
          <a:noFill/>
        </p:spPr>
        <p:txBody>
          <a:bodyPr wrap="square" rtlCol="0">
            <a:spAutoFit/>
          </a:bodyPr>
          <a:lstStyle/>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最初に</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を選択します。中間色が欲しいのであれば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、グラデーションフィラメントが欲しければ</a:t>
            </a:r>
            <a:r>
              <a:rPr lang="en-US" altLang="ja-JP" sz="900" dirty="0">
                <a:latin typeface="IBM Plex Sans JP" panose="020B0503050203000203" pitchFamily="50" charset="-128"/>
                <a:ea typeface="IBM Plex Sans JP" panose="020B0503050203000203" pitchFamily="50" charset="-128"/>
              </a:rPr>
              <a:t>Gradient Filament</a:t>
            </a:r>
            <a:r>
              <a:rPr lang="ja-JP" altLang="ja-JP" sz="900" dirty="0">
                <a:latin typeface="IBM Plex Sans JP" panose="020B0503050203000203" pitchFamily="50" charset="-128"/>
                <a:ea typeface="IBM Plex Sans JP" panose="020B0503050203000203" pitchFamily="50" charset="-128"/>
              </a:rPr>
              <a:t>と言った様に。</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を選択します。フィラメントの量がどれくらい必要かを考えて、それに合った</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を選択します。例えば</a:t>
            </a:r>
            <a:r>
              <a:rPr lang="en-US" altLang="ja-JP" sz="900" dirty="0">
                <a:latin typeface="IBM Plex Sans JP" panose="020B0503050203000203" pitchFamily="50" charset="-128"/>
                <a:ea typeface="IBM Plex Sans JP" panose="020B0503050203000203" pitchFamily="50" charset="-128"/>
              </a:rPr>
              <a:t>3Dbenchy</a:t>
            </a:r>
            <a:r>
              <a:rPr lang="ja-JP" altLang="ja-JP" sz="900" dirty="0">
                <a:latin typeface="IBM Plex Sans JP" panose="020B0503050203000203" pitchFamily="50" charset="-128"/>
                <a:ea typeface="IBM Plex Sans JP" panose="020B0503050203000203" pitchFamily="50" charset="-128"/>
              </a:rPr>
              <a:t>を作る程度であれば</a:t>
            </a:r>
            <a:r>
              <a:rPr lang="en-US" altLang="ja-JP" sz="900" dirty="0">
                <a:latin typeface="IBM Plex Sans JP" panose="020B0503050203000203" pitchFamily="50" charset="-128"/>
                <a:ea typeface="IBM Plex Sans JP" panose="020B0503050203000203" pitchFamily="50" charset="-128"/>
              </a:rPr>
              <a:t>S4 Model</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70g</a:t>
            </a:r>
            <a:r>
              <a:rPr lang="ja-JP" altLang="ja-JP" sz="900" dirty="0">
                <a:latin typeface="IBM Plex Sans JP" panose="020B0503050203000203" pitchFamily="50" charset="-128"/>
                <a:ea typeface="IBM Plex Sans JP" panose="020B0503050203000203" pitchFamily="50" charset="-128"/>
              </a:rPr>
              <a:t>近い大きなモデルを作るのであれば</a:t>
            </a:r>
            <a:r>
              <a:rPr lang="en-US" altLang="ja-JP" sz="900" dirty="0">
                <a:latin typeface="IBM Plex Sans JP" panose="020B0503050203000203" pitchFamily="50" charset="-128"/>
                <a:ea typeface="IBM Plex Sans JP" panose="020B0503050203000203" pitchFamily="50" charset="-128"/>
              </a:rPr>
              <a:t>M1 Model</a:t>
            </a:r>
            <a:r>
              <a:rPr lang="ja-JP" altLang="ja-JP" sz="900" dirty="0">
                <a:latin typeface="IBM Plex Sans JP" panose="020B0503050203000203" pitchFamily="50" charset="-128"/>
                <a:ea typeface="IBM Plex Sans JP" panose="020B0503050203000203" pitchFamily="50" charset="-128"/>
              </a:rPr>
              <a:t>と言う具合です。</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を選びます。</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によって異なる分け方で</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ごとにフィラメントのデータがあります。例えば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で９８％混色比のモデルであれば、</a:t>
            </a:r>
            <a:r>
              <a:rPr lang="en-US" altLang="ja-JP" sz="900" dirty="0">
                <a:latin typeface="IBM Plex Sans JP" panose="020B0503050203000203" pitchFamily="50" charset="-128"/>
                <a:ea typeface="IBM Plex Sans JP" panose="020B0503050203000203" pitchFamily="50" charset="-128"/>
              </a:rPr>
              <a:t>Detail Profile</a:t>
            </a:r>
            <a:r>
              <a:rPr lang="ja-JP" altLang="ja-JP" sz="900" dirty="0">
                <a:latin typeface="IBM Plex Sans JP" panose="020B0503050203000203" pitchFamily="50" charset="-128"/>
                <a:ea typeface="IBM Plex Sans JP" panose="020B0503050203000203" pitchFamily="50" charset="-128"/>
              </a:rPr>
              <a:t>の中の</a:t>
            </a:r>
            <a:r>
              <a:rPr lang="en-US" altLang="ja-JP" sz="900" dirty="0">
                <a:latin typeface="IBM Plex Sans JP" panose="020B0503050203000203" pitchFamily="50" charset="-128"/>
                <a:ea typeface="IBM Plex Sans JP" panose="020B0503050203000203" pitchFamily="50" charset="-128"/>
              </a:rPr>
              <a:t>98pct</a:t>
            </a:r>
            <a:r>
              <a:rPr lang="ja-JP" altLang="ja-JP" sz="900" dirty="0">
                <a:latin typeface="IBM Plex Sans JP" panose="020B0503050203000203" pitchFamily="50" charset="-128"/>
                <a:ea typeface="IBM Plex Sans JP" panose="020B0503050203000203" pitchFamily="50" charset="-128"/>
              </a:rPr>
              <a:t>プレートを選びます。</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使うフィラメントを選びます。素材が同じもしくは近い</a:t>
            </a:r>
            <a:r>
              <a:rPr lang="en-US" altLang="ja-JP" sz="900" dirty="0">
                <a:latin typeface="IBM Plex Sans JP" panose="020B0503050203000203" pitchFamily="50" charset="-128"/>
                <a:ea typeface="IBM Plex Sans JP" panose="020B0503050203000203" pitchFamily="50" charset="-128"/>
              </a:rPr>
              <a:t>(PLA Basic</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 Matte</a:t>
            </a:r>
            <a:r>
              <a:rPr lang="ja-JP" altLang="ja-JP" sz="900" dirty="0">
                <a:latin typeface="IBM Plex Sans JP" panose="020B0503050203000203" pitchFamily="50" charset="-128"/>
                <a:ea typeface="IBM Plex Sans JP" panose="020B0503050203000203" pitchFamily="50" charset="-128"/>
              </a:rPr>
              <a:t>の様な</a:t>
            </a:r>
            <a:r>
              <a:rPr lang="en-US" altLang="ja-JP" sz="900" dirty="0">
                <a:latin typeface="IBM Plex Sans JP" panose="020B0503050203000203" pitchFamily="50" charset="-128"/>
                <a:ea typeface="IBM Plex Sans JP" panose="020B0503050203000203" pitchFamily="50" charset="-128"/>
              </a:rPr>
              <a:t>)</a:t>
            </a:r>
            <a:r>
              <a:rPr lang="ja-JP" altLang="ja-JP" sz="900" dirty="0">
                <a:latin typeface="IBM Plex Sans JP" panose="020B0503050203000203" pitchFamily="50" charset="-128"/>
                <a:ea typeface="IBM Plex Sans JP" panose="020B0503050203000203" pitchFamily="50" charset="-128"/>
              </a:rPr>
              <a:t>フィラメントを用意しましょう。選んだフィラメントを割り当てて、スライスしましょう。説明文に書かれている印刷時の注意点をよく読んでから印刷して下さい。</a:t>
            </a:r>
          </a:p>
        </p:txBody>
      </p:sp>
      <p:sp>
        <p:nvSpPr>
          <p:cNvPr id="27" name="テキスト ボックス 26">
            <a:extLst>
              <a:ext uri="{FF2B5EF4-FFF2-40B4-BE49-F238E27FC236}">
                <a16:creationId xmlns:a16="http://schemas.microsoft.com/office/drawing/2014/main" id="{E5EE1833-E36C-633A-2CB5-AC9A3262046E}"/>
              </a:ext>
            </a:extLst>
          </p:cNvPr>
          <p:cNvSpPr txBox="1"/>
          <p:nvPr/>
        </p:nvSpPr>
        <p:spPr>
          <a:xfrm>
            <a:off x="656136" y="8285815"/>
            <a:ext cx="5680304" cy="223138"/>
          </a:xfrm>
          <a:prstGeom prst="rect">
            <a:avLst/>
          </a:prstGeom>
          <a:noFill/>
        </p:spPr>
        <p:txBody>
          <a:bodyPr wrap="square" rtlCol="0">
            <a:spAutoFit/>
          </a:bodyPr>
          <a:lstStyle/>
          <a:p>
            <a:r>
              <a:rPr lang="ja-JP" altLang="ja-JP" sz="800" dirty="0">
                <a:latin typeface="IBM Plex Sans JP Light" panose="020B0403050203000203" pitchFamily="50" charset="-128"/>
                <a:ea typeface="IBM Plex Sans JP Light" panose="020B0403050203000203" pitchFamily="50" charset="-128"/>
              </a:rPr>
              <a:t>※</a:t>
            </a:r>
            <a:r>
              <a:rPr lang="en-US" altLang="ja-JP" sz="800" dirty="0">
                <a:latin typeface="IBM Plex Sans JP Light" panose="020B0403050203000203" pitchFamily="50" charset="-128"/>
                <a:ea typeface="IBM Plex Sans JP Light" panose="020B0403050203000203" pitchFamily="50" charset="-128"/>
              </a:rPr>
              <a:t>FlexChroma</a:t>
            </a:r>
            <a:r>
              <a:rPr lang="ja-JP" altLang="ja-JP" sz="800" dirty="0">
                <a:latin typeface="IBM Plex Sans JP Light" panose="020B0403050203000203" pitchFamily="50" charset="-128"/>
                <a:ea typeface="IBM Plex Sans JP Light" panose="020B0403050203000203" pitchFamily="50" charset="-128"/>
              </a:rPr>
              <a:t>における</a:t>
            </a:r>
            <a:r>
              <a:rPr lang="en-US" altLang="ja-JP" sz="800" dirty="0">
                <a:latin typeface="IBM Plex Sans JP Light" panose="020B0403050203000203" pitchFamily="50" charset="-128"/>
                <a:ea typeface="IBM Plex Sans JP Light" panose="020B0403050203000203" pitchFamily="50" charset="-128"/>
              </a:rPr>
              <a:t>Profile</a:t>
            </a:r>
            <a:r>
              <a:rPr lang="ja-JP" altLang="ja-JP" sz="800" dirty="0">
                <a:latin typeface="IBM Plex Sans JP Light" panose="020B0403050203000203" pitchFamily="50" charset="-128"/>
                <a:ea typeface="IBM Plex Sans JP Light" panose="020B0403050203000203" pitchFamily="50" charset="-128"/>
              </a:rPr>
              <a:t>は印刷設定の違いではありません。各</a:t>
            </a:r>
            <a:r>
              <a:rPr lang="en-US" altLang="ja-JP" sz="800" dirty="0">
                <a:latin typeface="IBM Plex Sans JP Light" panose="020B0403050203000203" pitchFamily="50" charset="-128"/>
                <a:ea typeface="IBM Plex Sans JP Light" panose="020B0403050203000203" pitchFamily="50" charset="-128"/>
              </a:rPr>
              <a:t>Series</a:t>
            </a:r>
            <a:r>
              <a:rPr lang="ja-JP" altLang="ja-JP" sz="800" dirty="0">
                <a:latin typeface="IBM Plex Sans JP Light" panose="020B0403050203000203" pitchFamily="50" charset="-128"/>
                <a:ea typeface="IBM Plex Sans JP Light" panose="020B0403050203000203" pitchFamily="50" charset="-128"/>
              </a:rPr>
              <a:t>内で「目的別の分類」を表しています。</a:t>
            </a:r>
          </a:p>
        </p:txBody>
      </p:sp>
      <p:pic>
        <p:nvPicPr>
          <p:cNvPr id="33" name="図 32">
            <a:extLst>
              <a:ext uri="{FF2B5EF4-FFF2-40B4-BE49-F238E27FC236}">
                <a16:creationId xmlns:a16="http://schemas.microsoft.com/office/drawing/2014/main" id="{373E7CFB-7ECE-1E91-69A3-DE952354F20A}"/>
              </a:ext>
            </a:extLst>
          </p:cNvPr>
          <p:cNvPicPr>
            <a:picLocks noChangeAspect="1"/>
          </p:cNvPicPr>
          <p:nvPr/>
        </p:nvPicPr>
        <p:blipFill>
          <a:blip r:embed="rId2"/>
          <a:stretch>
            <a:fillRect/>
          </a:stretch>
        </p:blipFill>
        <p:spPr>
          <a:xfrm>
            <a:off x="551490" y="4987005"/>
            <a:ext cx="5759241" cy="1144558"/>
          </a:xfrm>
          <a:prstGeom prst="rect">
            <a:avLst/>
          </a:prstGeom>
        </p:spPr>
      </p:pic>
      <p:grpSp>
        <p:nvGrpSpPr>
          <p:cNvPr id="23" name="グループ化 22">
            <a:extLst>
              <a:ext uri="{FF2B5EF4-FFF2-40B4-BE49-F238E27FC236}">
                <a16:creationId xmlns:a16="http://schemas.microsoft.com/office/drawing/2014/main" id="{8F15D30C-9810-6554-3F9D-C666664BC62E}"/>
              </a:ext>
            </a:extLst>
          </p:cNvPr>
          <p:cNvGrpSpPr/>
          <p:nvPr/>
        </p:nvGrpSpPr>
        <p:grpSpPr>
          <a:xfrm>
            <a:off x="1042026" y="441445"/>
            <a:ext cx="4781214" cy="377792"/>
            <a:chOff x="1042026" y="430737"/>
            <a:chExt cx="4781214" cy="377792"/>
          </a:xfrm>
        </p:grpSpPr>
        <p:sp>
          <p:nvSpPr>
            <p:cNvPr id="3" name="四角形: 上の 2 つの角を丸める 2">
              <a:extLst>
                <a:ext uri="{FF2B5EF4-FFF2-40B4-BE49-F238E27FC236}">
                  <a16:creationId xmlns:a16="http://schemas.microsoft.com/office/drawing/2014/main" id="{3A18D7FF-2AB7-9784-CFCF-AD9569D61BBD}"/>
                </a:ext>
              </a:extLst>
            </p:cNvPr>
            <p:cNvSpPr/>
            <p:nvPr/>
          </p:nvSpPr>
          <p:spPr>
            <a:xfrm>
              <a:off x="1042026" y="430737"/>
              <a:ext cx="4781214" cy="377792"/>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上の 2 つの角を丸める 3">
              <a:extLst>
                <a:ext uri="{FF2B5EF4-FFF2-40B4-BE49-F238E27FC236}">
                  <a16:creationId xmlns:a16="http://schemas.microsoft.com/office/drawing/2014/main" id="{A7264CEB-0E02-D992-7F98-46154D03A20F}"/>
                </a:ext>
              </a:extLst>
            </p:cNvPr>
            <p:cNvSpPr/>
            <p:nvPr/>
          </p:nvSpPr>
          <p:spPr>
            <a:xfrm>
              <a:off x="1042026" y="697920"/>
              <a:ext cx="4781214" cy="110609"/>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4" name="グループ化 23">
            <a:extLst>
              <a:ext uri="{FF2B5EF4-FFF2-40B4-BE49-F238E27FC236}">
                <a16:creationId xmlns:a16="http://schemas.microsoft.com/office/drawing/2014/main" id="{1E64D689-16FA-4459-27D6-5C841CAA4722}"/>
              </a:ext>
            </a:extLst>
          </p:cNvPr>
          <p:cNvGrpSpPr/>
          <p:nvPr/>
        </p:nvGrpSpPr>
        <p:grpSpPr>
          <a:xfrm rot="10800000">
            <a:off x="1042026" y="2224673"/>
            <a:ext cx="4781214" cy="377792"/>
            <a:chOff x="1042026" y="430737"/>
            <a:chExt cx="4781214" cy="377792"/>
          </a:xfrm>
        </p:grpSpPr>
        <p:sp>
          <p:nvSpPr>
            <p:cNvPr id="28" name="四角形: 上の 2 つの角を丸める 27">
              <a:extLst>
                <a:ext uri="{FF2B5EF4-FFF2-40B4-BE49-F238E27FC236}">
                  <a16:creationId xmlns:a16="http://schemas.microsoft.com/office/drawing/2014/main" id="{F8DF8492-C361-427B-2DE1-AE4499E917C5}"/>
                </a:ext>
              </a:extLst>
            </p:cNvPr>
            <p:cNvSpPr/>
            <p:nvPr/>
          </p:nvSpPr>
          <p:spPr>
            <a:xfrm>
              <a:off x="1042026" y="430737"/>
              <a:ext cx="4781214" cy="377792"/>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B525C316-F63D-33F0-D18C-D441893CBA9D}"/>
                </a:ext>
              </a:extLst>
            </p:cNvPr>
            <p:cNvSpPr/>
            <p:nvPr/>
          </p:nvSpPr>
          <p:spPr>
            <a:xfrm>
              <a:off x="1042026" y="697920"/>
              <a:ext cx="4781214" cy="110609"/>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1" name="テキスト ボックス 30">
            <a:extLst>
              <a:ext uri="{FF2B5EF4-FFF2-40B4-BE49-F238E27FC236}">
                <a16:creationId xmlns:a16="http://schemas.microsoft.com/office/drawing/2014/main" id="{15D7F160-5868-F96D-EF8B-282D37A34400}"/>
              </a:ext>
            </a:extLst>
          </p:cNvPr>
          <p:cNvSpPr txBox="1"/>
          <p:nvPr/>
        </p:nvSpPr>
        <p:spPr>
          <a:xfrm>
            <a:off x="1515655" y="1444411"/>
            <a:ext cx="3879588" cy="338554"/>
          </a:xfrm>
          <a:prstGeom prst="rect">
            <a:avLst/>
          </a:prstGeom>
          <a:noFill/>
        </p:spPr>
        <p:txBody>
          <a:bodyPr wrap="none" rtlCol="0">
            <a:spAutoFit/>
          </a:bodyPr>
          <a:lstStyle/>
          <a:p>
            <a:r>
              <a:rPr lang="en-US" altLang="ja-JP" sz="1600" dirty="0">
                <a:latin typeface="IBM Plex Sans JP" panose="020B0503050203000203" pitchFamily="50" charset="-128"/>
                <a:ea typeface="IBM Plex Sans JP" panose="020B0503050203000203" pitchFamily="50" charset="-128"/>
              </a:rPr>
              <a:t>- </a:t>
            </a:r>
            <a:r>
              <a:rPr lang="en-US" altLang="ja-JP" sz="16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en-US" sz="1600" dirty="0">
                <a:latin typeface="IBM Plex Sans JP" panose="020B0503050203000203" pitchFamily="50" charset="-128"/>
                <a:ea typeface="IBM Plex Sans JP" panose="020B0503050203000203" pitchFamily="50" charset="-128"/>
              </a:rPr>
              <a:t>のモデルを探してみよう</a:t>
            </a:r>
            <a:r>
              <a:rPr lang="en-US" altLang="ja-JP" sz="1600" dirty="0">
                <a:latin typeface="IBM Plex Sans JP" panose="020B0503050203000203" pitchFamily="50" charset="-128"/>
                <a:ea typeface="IBM Plex Sans JP" panose="020B0503050203000203" pitchFamily="50" charset="-128"/>
              </a:rPr>
              <a:t> -</a:t>
            </a:r>
            <a:endParaRPr kumimoji="1" lang="ja-JP" altLang="en-US" sz="16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CCF6AA1D-A904-DA76-F915-872BDAEB9106}"/>
              </a:ext>
            </a:extLst>
          </p:cNvPr>
          <p:cNvSpPr txBox="1"/>
          <p:nvPr/>
        </p:nvSpPr>
        <p:spPr>
          <a:xfrm>
            <a:off x="2381276" y="1883364"/>
            <a:ext cx="1952779" cy="307777"/>
          </a:xfrm>
          <a:prstGeom prst="rect">
            <a:avLst/>
          </a:prstGeom>
          <a:noFill/>
        </p:spPr>
        <p:txBody>
          <a:bodyPr wrap="none" rtlCol="0">
            <a:spAutoFit/>
          </a:bodyPr>
          <a:lstStyle/>
          <a:p>
            <a:r>
              <a:rPr lang="en-US" altLang="ja-JP" sz="1400" dirty="0">
                <a:latin typeface="IBM Plex Sans JP" panose="020B0503050203000203" pitchFamily="50" charset="-128"/>
                <a:ea typeface="IBM Plex Sans JP" panose="020B0503050203000203" pitchFamily="50" charset="-128"/>
              </a:rPr>
              <a:t>Ver.1.10  2026.7.22</a:t>
            </a:r>
            <a:endParaRPr kumimoji="1" lang="ja-JP" altLang="en-US" sz="1400" dirty="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33552732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0173C-59A2-2037-D73D-0E215B3139A4}"/>
            </a:ext>
          </a:extLst>
        </p:cNvPr>
        <p:cNvGrpSpPr/>
        <p:nvPr/>
      </p:nvGrpSpPr>
      <p:grpSpPr>
        <a:xfrm>
          <a:off x="0" y="0"/>
          <a:ext cx="0" cy="0"/>
          <a:chOff x="0" y="0"/>
          <a:chExt cx="0" cy="0"/>
        </a:xfrm>
      </p:grpSpPr>
      <p:sp>
        <p:nvSpPr>
          <p:cNvPr id="2" name="正方形/長方形 1">
            <a:extLst>
              <a:ext uri="{FF2B5EF4-FFF2-40B4-BE49-F238E27FC236}">
                <a16:creationId xmlns:a16="http://schemas.microsoft.com/office/drawing/2014/main" id="{10A76A69-7EBA-24AD-3805-2A372CFEEAE8}"/>
              </a:ext>
            </a:extLst>
          </p:cNvPr>
          <p:cNvSpPr/>
          <p:nvPr/>
        </p:nvSpPr>
        <p:spPr>
          <a:xfrm>
            <a:off x="0" y="0"/>
            <a:ext cx="6858000" cy="9144000"/>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5B787233-FA7E-25C9-AFC8-77DD3B8699E6}"/>
              </a:ext>
            </a:extLst>
          </p:cNvPr>
          <p:cNvSpPr/>
          <p:nvPr/>
        </p:nvSpPr>
        <p:spPr>
          <a:xfrm>
            <a:off x="7269"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5EE023F3-4FCC-103D-2599-E4E8CA7BF60A}"/>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824B2131-6CC4-0BFA-B748-D810A3423268}"/>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A4011FAB-63C2-178C-29DE-33DA96F47618}"/>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42F3C5EA-2AFD-33E4-549C-0F84BFE77136}"/>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F3FA60BD-81FF-4E70-C88D-182A05D73C49}"/>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0F94DBC3-EEDB-BBD1-A314-ABB30EC10D4A}"/>
              </a:ext>
            </a:extLst>
          </p:cNvPr>
          <p:cNvSpPr/>
          <p:nvPr/>
        </p:nvSpPr>
        <p:spPr>
          <a:xfrm>
            <a:off x="554537" y="452468"/>
            <a:ext cx="5756193"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F47E6663-8146-0675-09E7-BA77AF348350}"/>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C95B28A9-13D1-5C87-BC7B-361DB6DEDF54}"/>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465E0D04-137D-61B6-CDB3-C9B389BF921F}"/>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2</a:t>
            </a:r>
            <a:endParaRPr kumimoji="1" lang="ja-JP" altLang="en-US" dirty="0"/>
          </a:p>
        </p:txBody>
      </p:sp>
      <p:sp>
        <p:nvSpPr>
          <p:cNvPr id="14" name="楕円 13">
            <a:extLst>
              <a:ext uri="{FF2B5EF4-FFF2-40B4-BE49-F238E27FC236}">
                <a16:creationId xmlns:a16="http://schemas.microsoft.com/office/drawing/2014/main" id="{598BECD0-FE21-7197-76A9-A35DBF75C26D}"/>
              </a:ext>
            </a:extLst>
          </p:cNvPr>
          <p:cNvSpPr/>
          <p:nvPr/>
        </p:nvSpPr>
        <p:spPr>
          <a:xfrm>
            <a:off x="566175" y="677902"/>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楕円 19">
            <a:extLst>
              <a:ext uri="{FF2B5EF4-FFF2-40B4-BE49-F238E27FC236}">
                <a16:creationId xmlns:a16="http://schemas.microsoft.com/office/drawing/2014/main" id="{1228AC35-8F16-7C9A-87A7-5D5AF44B4A45}"/>
              </a:ext>
            </a:extLst>
          </p:cNvPr>
          <p:cNvSpPr/>
          <p:nvPr/>
        </p:nvSpPr>
        <p:spPr>
          <a:xfrm>
            <a:off x="566175" y="2510638"/>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BE721B25-AF01-358E-3AF5-DD53E680BEA4}"/>
              </a:ext>
            </a:extLst>
          </p:cNvPr>
          <p:cNvSpPr txBox="1"/>
          <p:nvPr/>
        </p:nvSpPr>
        <p:spPr>
          <a:xfrm>
            <a:off x="770844" y="610017"/>
            <a:ext cx="2613216"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3. FlexChroma HUB</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1" name="テキスト ボックス 10">
            <a:extLst>
              <a:ext uri="{FF2B5EF4-FFF2-40B4-BE49-F238E27FC236}">
                <a16:creationId xmlns:a16="http://schemas.microsoft.com/office/drawing/2014/main" id="{A4E1C011-7C36-5F21-4954-43ED394E75BA}"/>
              </a:ext>
            </a:extLst>
          </p:cNvPr>
          <p:cNvSpPr txBox="1"/>
          <p:nvPr/>
        </p:nvSpPr>
        <p:spPr>
          <a:xfrm>
            <a:off x="668508" y="950188"/>
            <a:ext cx="5649491" cy="553998"/>
          </a:xfrm>
          <a:prstGeom prst="rect">
            <a:avLst/>
          </a:prstGeom>
          <a:noFill/>
        </p:spPr>
        <p:txBody>
          <a:bodyPr wrap="square" rtlCol="0">
            <a:spAutoFit/>
          </a:bodyPr>
          <a:lstStyle/>
          <a:p>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 HUB </a:t>
            </a:r>
            <a:r>
              <a:rPr lang="ja-JP" altLang="en-US" sz="1000" dirty="0">
                <a:latin typeface="IBM Plex Sans JP" panose="020B0503050203000203" pitchFamily="50" charset="-128"/>
                <a:ea typeface="IBM Plex Sans JP" panose="020B0503050203000203" pitchFamily="50" charset="-128"/>
                <a:cs typeface="Segoe UI Semibold" panose="020B0702040204020203" pitchFamily="34" charset="0"/>
              </a:rPr>
              <a:t>は</a:t>
            </a:r>
            <a:r>
              <a:rPr lang="en-US" altLang="ja-JP" sz="1000" dirty="0">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における全てのシリーズや外部ポータルへの入口です。</a:t>
            </a:r>
            <a:r>
              <a:rPr lang="ja-JP" altLang="ja-JP" sz="1000" b="1" dirty="0">
                <a:latin typeface="IBM Plex Sans JP" panose="020B0503050203000203" pitchFamily="50" charset="-128"/>
                <a:ea typeface="IBM Plex Sans JP" panose="020B0503050203000203" pitchFamily="50" charset="-128"/>
              </a:rPr>
              <a:t>迷ったらまずここを開いてください。</a:t>
            </a:r>
            <a:endParaRPr lang="ja-JP" altLang="ja-JP" sz="1000" dirty="0">
              <a:latin typeface="IBM Plex Sans JP" panose="020B0503050203000203" pitchFamily="50" charset="-128"/>
              <a:ea typeface="IBM Plex Sans JP" panose="020B0503050203000203" pitchFamily="50" charset="-128"/>
            </a:endParaRP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12" name="テキスト ボックス 11">
            <a:extLst>
              <a:ext uri="{FF2B5EF4-FFF2-40B4-BE49-F238E27FC236}">
                <a16:creationId xmlns:a16="http://schemas.microsoft.com/office/drawing/2014/main" id="{C2FB48DC-10F4-2185-6930-78B6977A0BD2}"/>
              </a:ext>
            </a:extLst>
          </p:cNvPr>
          <p:cNvSpPr txBox="1"/>
          <p:nvPr/>
        </p:nvSpPr>
        <p:spPr>
          <a:xfrm>
            <a:off x="770844" y="2440080"/>
            <a:ext cx="2379177"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4. Blend Filament</a:t>
            </a:r>
            <a:endParaRPr kumimoji="1" lang="ja-JP" altLang="en-US" sz="2800" b="1" dirty="0">
              <a:latin typeface="IBM Plex Sans JP SemiBold" panose="020B0703050203000203" pitchFamily="50" charset="-128"/>
              <a:ea typeface="IBM Plex Sans JP SemiBold" panose="020B0703050203000203" pitchFamily="50" charset="-128"/>
            </a:endParaRPr>
          </a:p>
        </p:txBody>
      </p:sp>
      <p:sp>
        <p:nvSpPr>
          <p:cNvPr id="23" name="テキスト ボックス 22">
            <a:extLst>
              <a:ext uri="{FF2B5EF4-FFF2-40B4-BE49-F238E27FC236}">
                <a16:creationId xmlns:a16="http://schemas.microsoft.com/office/drawing/2014/main" id="{83844719-2CDC-AB32-6FBF-9DC0B5690794}"/>
              </a:ext>
            </a:extLst>
          </p:cNvPr>
          <p:cNvSpPr txBox="1"/>
          <p:nvPr/>
        </p:nvSpPr>
        <p:spPr>
          <a:xfrm>
            <a:off x="668509" y="2819731"/>
            <a:ext cx="5642222" cy="1323439"/>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シリーズは</a:t>
            </a:r>
            <a:r>
              <a:rPr lang="en-US" altLang="ja-JP" sz="1000" dirty="0">
                <a:latin typeface="IBM Plex Sans JP" panose="020B0503050203000203" pitchFamily="50" charset="-128"/>
                <a:ea typeface="IBM Plex Sans JP" panose="020B0503050203000203" pitchFamily="50" charset="-128"/>
              </a:rPr>
              <a:t>FlexChroma</a:t>
            </a:r>
            <a:r>
              <a:rPr lang="ja-JP" altLang="ja-JP" sz="1000" dirty="0">
                <a:latin typeface="IBM Plex Sans JP" panose="020B0503050203000203" pitchFamily="50" charset="-128"/>
                <a:ea typeface="IBM Plex Sans JP" panose="020B0503050203000203" pitchFamily="50" charset="-128"/>
              </a:rPr>
              <a:t>の最も基礎的なシリーズです。</a:t>
            </a:r>
            <a:r>
              <a:rPr lang="en-US" altLang="ja-JP" sz="1000" dirty="0">
                <a:latin typeface="IBM Plex Sans JP" panose="020B0503050203000203" pitchFamily="50" charset="-128"/>
                <a:ea typeface="IBM Plex Sans JP" panose="020B0503050203000203" pitchFamily="50" charset="-128"/>
              </a:rPr>
              <a:t>2</a:t>
            </a:r>
            <a:r>
              <a:rPr lang="ja-JP" altLang="ja-JP" sz="1000" dirty="0">
                <a:latin typeface="IBM Plex Sans JP" panose="020B0503050203000203" pitchFamily="50" charset="-128"/>
                <a:ea typeface="IBM Plex Sans JP" panose="020B0503050203000203" pitchFamily="50" charset="-128"/>
              </a:rPr>
              <a:t>つのフィラメントを様々な混合比で混ぜ合わせ、あなただけの新しい色を作ることが出来ます。各モデルは</a:t>
            </a:r>
            <a:r>
              <a:rPr lang="en-US" altLang="ja-JP" sz="1000" dirty="0">
                <a:latin typeface="IBM Plex Sans JP" panose="020B0503050203000203" pitchFamily="50" charset="-128"/>
                <a:ea typeface="IBM Plex Sans JP" panose="020B0503050203000203" pitchFamily="50" charset="-128"/>
              </a:rPr>
              <a:t>50</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99.5%</a:t>
            </a:r>
            <a:r>
              <a:rPr lang="ja-JP" altLang="ja-JP" sz="1000" dirty="0">
                <a:latin typeface="IBM Plex Sans JP" panose="020B0503050203000203" pitchFamily="50" charset="-128"/>
                <a:ea typeface="IBM Plex Sans JP" panose="020B0503050203000203" pitchFamily="50" charset="-128"/>
              </a:rPr>
              <a:t>までの混色比</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をもっていますが、</a:t>
            </a:r>
            <a:r>
              <a:rPr lang="en-US" altLang="ja-JP" sz="1000" b="1" dirty="0">
                <a:latin typeface="IBM Plex Sans JP" panose="020B0503050203000203" pitchFamily="50" charset="-128"/>
                <a:ea typeface="IBM Plex Sans JP" panose="020B0503050203000203" pitchFamily="50" charset="-128"/>
              </a:rPr>
              <a:t>50</a:t>
            </a:r>
            <a:r>
              <a:rPr lang="ja-JP" altLang="ja-JP" sz="1000" b="1" dirty="0">
                <a:latin typeface="IBM Plex Sans JP" panose="020B0503050203000203" pitchFamily="50" charset="-128"/>
                <a:ea typeface="IBM Plex Sans JP" panose="020B0503050203000203" pitchFamily="50" charset="-128"/>
              </a:rPr>
              <a:t>％未満の混色比についてはフィラメント</a:t>
            </a:r>
            <a:r>
              <a:rPr lang="en-US" altLang="ja-JP" sz="1000" b="1" dirty="0">
                <a:latin typeface="IBM Plex Sans JP" panose="020B0503050203000203" pitchFamily="50" charset="-128"/>
                <a:ea typeface="IBM Plex Sans JP" panose="020B0503050203000203" pitchFamily="50" charset="-128"/>
              </a:rPr>
              <a:t>A/B</a:t>
            </a:r>
            <a:r>
              <a:rPr lang="ja-JP" altLang="ja-JP" sz="1000" b="1" dirty="0">
                <a:latin typeface="IBM Plex Sans JP" panose="020B0503050203000203" pitchFamily="50" charset="-128"/>
                <a:ea typeface="IBM Plex Sans JP" panose="020B0503050203000203" pitchFamily="50" charset="-128"/>
              </a:rPr>
              <a:t>を入れ替えることで得ることが出来ます。</a:t>
            </a:r>
            <a:endParaRPr lang="ja-JP" altLang="ja-JP" sz="1000" dirty="0">
              <a:latin typeface="IBM Plex Sans JP" panose="020B0503050203000203" pitchFamily="50" charset="-128"/>
              <a:ea typeface="IBM Plex Sans JP" panose="020B0503050203000203" pitchFamily="50" charset="-128"/>
            </a:endParaRPr>
          </a:p>
          <a:p>
            <a:r>
              <a:rPr lang="en-US" altLang="ja-JP" sz="1000" dirty="0">
                <a:latin typeface="IBM Plex Sans JP" panose="020B0503050203000203" pitchFamily="50" charset="-128"/>
                <a:ea typeface="IBM Plex Sans JP" panose="020B0503050203000203" pitchFamily="50" charset="-128"/>
              </a:rPr>
              <a:t> </a:t>
            </a:r>
            <a:endParaRPr lang="ja-JP" altLang="ja-JP" sz="10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以下はイエローにシアンを</a:t>
            </a:r>
            <a:r>
              <a:rPr lang="en-US" altLang="ja-JP" sz="1000" dirty="0">
                <a:latin typeface="IBM Plex Sans JP" panose="020B0503050203000203" pitchFamily="50" charset="-128"/>
                <a:ea typeface="IBM Plex Sans JP" panose="020B0503050203000203" pitchFamily="50" charset="-128"/>
              </a:rPr>
              <a:t>25%</a:t>
            </a:r>
            <a:r>
              <a:rPr lang="ja-JP" altLang="ja-JP" sz="1000" dirty="0">
                <a:latin typeface="IBM Plex Sans JP" panose="020B0503050203000203" pitchFamily="50" charset="-128"/>
                <a:ea typeface="IBM Plex Sans JP" panose="020B0503050203000203" pitchFamily="50" charset="-128"/>
              </a:rPr>
              <a:t>混ぜた</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en-US" altLang="ja-JP" sz="1000" dirty="0">
                <a:latin typeface="IBM Plex Sans JP" panose="020B0503050203000203" pitchFamily="50" charset="-128"/>
                <a:ea typeface="IBM Plex Sans JP" panose="020B0503050203000203" pitchFamily="50" charset="-128"/>
              </a:rPr>
              <a:t>Plate</a:t>
            </a:r>
            <a:r>
              <a:rPr lang="ja-JP" altLang="ja-JP" sz="1000" dirty="0">
                <a:latin typeface="IBM Plex Sans JP" panose="020B0503050203000203" pitchFamily="50" charset="-128"/>
                <a:ea typeface="IBM Plex Sans JP" panose="020B0503050203000203" pitchFamily="50" charset="-128"/>
              </a:rPr>
              <a:t>に記載されている数値はフィラメント</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の割合です。そのためこの例ではイエローを</a:t>
            </a:r>
            <a:r>
              <a:rPr lang="en-US" altLang="ja-JP" sz="1000" dirty="0">
                <a:latin typeface="IBM Plex Sans JP" panose="020B0503050203000203" pitchFamily="50" charset="-128"/>
                <a:ea typeface="IBM Plex Sans JP" panose="020B0503050203000203" pitchFamily="50" charset="-128"/>
              </a:rPr>
              <a:t>75%</a:t>
            </a:r>
            <a:r>
              <a:rPr lang="ja-JP" altLang="ja-JP" sz="1000" dirty="0">
                <a:latin typeface="IBM Plex Sans JP" panose="020B0503050203000203" pitchFamily="50" charset="-128"/>
                <a:ea typeface="IBM Plex Sans JP" panose="020B0503050203000203" pitchFamily="50" charset="-128"/>
              </a:rPr>
              <a:t>にすると読み替えて、スライスまでのの設定を選びます。</a:t>
            </a:r>
          </a:p>
        </p:txBody>
      </p:sp>
      <p:sp>
        <p:nvSpPr>
          <p:cNvPr id="24" name="テキスト ボックス 23">
            <a:extLst>
              <a:ext uri="{FF2B5EF4-FFF2-40B4-BE49-F238E27FC236}">
                <a16:creationId xmlns:a16="http://schemas.microsoft.com/office/drawing/2014/main" id="{2FB90F5E-7734-F19F-FF8C-E8AC00A4C515}"/>
              </a:ext>
            </a:extLst>
          </p:cNvPr>
          <p:cNvSpPr txBox="1"/>
          <p:nvPr/>
        </p:nvSpPr>
        <p:spPr>
          <a:xfrm>
            <a:off x="668508" y="5070646"/>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のモデル構成です。</a:t>
            </a:r>
          </a:p>
        </p:txBody>
      </p:sp>
      <p:pic>
        <p:nvPicPr>
          <p:cNvPr id="26" name="図 25">
            <a:extLst>
              <a:ext uri="{FF2B5EF4-FFF2-40B4-BE49-F238E27FC236}">
                <a16:creationId xmlns:a16="http://schemas.microsoft.com/office/drawing/2014/main" id="{23874BB3-E688-0DEB-EE2D-8445FA682C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0844" y="5337242"/>
            <a:ext cx="5264196" cy="3270393"/>
          </a:xfrm>
          <a:prstGeom prst="rect">
            <a:avLst/>
          </a:prstGeom>
          <a:noFill/>
          <a:extLst>
            <a:ext uri="{909E8E84-426E-40DD-AFC4-6F175D3DCCD1}">
              <a14:hiddenFill xmlns:a14="http://schemas.microsoft.com/office/drawing/2010/main">
                <a:solidFill>
                  <a:srgbClr val="FFFFFF"/>
                </a:solidFill>
              </a14:hiddenFill>
            </a:ext>
          </a:extLst>
        </p:spPr>
      </p:pic>
      <p:pic>
        <p:nvPicPr>
          <p:cNvPr id="27" name="図 26">
            <a:extLst>
              <a:ext uri="{FF2B5EF4-FFF2-40B4-BE49-F238E27FC236}">
                <a16:creationId xmlns:a16="http://schemas.microsoft.com/office/drawing/2014/main" id="{EBD6A209-2D06-7463-8165-69E2412B2F21}"/>
              </a:ext>
            </a:extLst>
          </p:cNvPr>
          <p:cNvPicPr>
            <a:picLocks noChangeAspect="1"/>
          </p:cNvPicPr>
          <p:nvPr/>
        </p:nvPicPr>
        <p:blipFill>
          <a:blip r:embed="rId3"/>
          <a:stretch>
            <a:fillRect/>
          </a:stretch>
        </p:blipFill>
        <p:spPr>
          <a:xfrm>
            <a:off x="709884" y="4161494"/>
            <a:ext cx="5325156" cy="831813"/>
          </a:xfrm>
          <a:prstGeom prst="rect">
            <a:avLst/>
          </a:prstGeom>
        </p:spPr>
      </p:pic>
      <p:pic>
        <p:nvPicPr>
          <p:cNvPr id="28" name="図 27">
            <a:extLst>
              <a:ext uri="{FF2B5EF4-FFF2-40B4-BE49-F238E27FC236}">
                <a16:creationId xmlns:a16="http://schemas.microsoft.com/office/drawing/2014/main" id="{1382655B-80C9-15F1-61E0-4D073DBA166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747" r="2095" b="10009"/>
          <a:stretch>
            <a:fillRect/>
          </a:stretch>
        </p:blipFill>
        <p:spPr bwMode="auto">
          <a:xfrm>
            <a:off x="1091915" y="1338219"/>
            <a:ext cx="4561094" cy="10147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789787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23065-C738-1975-C61A-347A71E91131}"/>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76991F79-EF9D-214D-22CC-3EE4375C1316}"/>
              </a:ext>
            </a:extLst>
          </p:cNvPr>
          <p:cNvSpPr/>
          <p:nvPr/>
        </p:nvSpPr>
        <p:spPr>
          <a:xfrm>
            <a:off x="51086"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ADCDB3DB-81C6-2500-386E-779A7602240D}"/>
              </a:ext>
            </a:extLst>
          </p:cNvPr>
          <p:cNvSpPr/>
          <p:nvPr/>
        </p:nvSpPr>
        <p:spPr>
          <a:xfrm>
            <a:off x="17051" y="5531"/>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6809260A-E3A9-A10F-64B4-276376DBA937}"/>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1013BF5E-61A6-7F01-BF6F-0C6BB497C24C}"/>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981A98E8-4943-C462-95B6-FEF1CE8411FB}"/>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7634534E-96BD-2796-50AA-D46B14258839}"/>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98BDDABE-AF21-FAFC-C17E-390C8B630108}"/>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C31BB991-A1A7-FAE2-CB87-73D2777505EE}"/>
              </a:ext>
            </a:extLst>
          </p:cNvPr>
          <p:cNvSpPr/>
          <p:nvPr/>
        </p:nvSpPr>
        <p:spPr>
          <a:xfrm>
            <a:off x="554537" y="452468"/>
            <a:ext cx="5756193"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33AFA6C5-4BF2-A033-32A4-BECDD4F86FD4}"/>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0B6597B8-6C80-13D9-C7AF-67EB68F224A8}"/>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AF623625-2DCF-7634-93D4-9344D0B367F8}"/>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3</a:t>
            </a:r>
            <a:endParaRPr kumimoji="1" lang="ja-JP" altLang="en-US" dirty="0"/>
          </a:p>
        </p:txBody>
      </p:sp>
      <p:sp>
        <p:nvSpPr>
          <p:cNvPr id="14" name="楕円 13">
            <a:extLst>
              <a:ext uri="{FF2B5EF4-FFF2-40B4-BE49-F238E27FC236}">
                <a16:creationId xmlns:a16="http://schemas.microsoft.com/office/drawing/2014/main" id="{7D25B49B-E1C7-7FE3-F262-C6D12AEF1C2E}"/>
              </a:ext>
            </a:extLst>
          </p:cNvPr>
          <p:cNvSpPr/>
          <p:nvPr/>
        </p:nvSpPr>
        <p:spPr>
          <a:xfrm>
            <a:off x="566175" y="677902"/>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楕円 1">
            <a:extLst>
              <a:ext uri="{FF2B5EF4-FFF2-40B4-BE49-F238E27FC236}">
                <a16:creationId xmlns:a16="http://schemas.microsoft.com/office/drawing/2014/main" id="{F98466EE-556B-7D77-6461-4135277DD2E2}"/>
              </a:ext>
            </a:extLst>
          </p:cNvPr>
          <p:cNvSpPr/>
          <p:nvPr/>
        </p:nvSpPr>
        <p:spPr>
          <a:xfrm>
            <a:off x="546348" y="7885537"/>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48078D51-1E2C-A979-AB68-98E18890C6F1}"/>
              </a:ext>
            </a:extLst>
          </p:cNvPr>
          <p:cNvSpPr txBox="1"/>
          <p:nvPr/>
        </p:nvSpPr>
        <p:spPr>
          <a:xfrm>
            <a:off x="770844" y="610017"/>
            <a:ext cx="273985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5. Gradient Filament</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32" name="テキスト ボックス 31">
            <a:extLst>
              <a:ext uri="{FF2B5EF4-FFF2-40B4-BE49-F238E27FC236}">
                <a16:creationId xmlns:a16="http://schemas.microsoft.com/office/drawing/2014/main" id="{F974243A-BE39-3111-BDC0-1688AF9439B9}"/>
              </a:ext>
            </a:extLst>
          </p:cNvPr>
          <p:cNvSpPr txBox="1"/>
          <p:nvPr/>
        </p:nvSpPr>
        <p:spPr>
          <a:xfrm>
            <a:off x="668508" y="1032957"/>
            <a:ext cx="5649491" cy="1661993"/>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シリーズは色の組み合わせに合わせた複数のカーブ</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とプレートごとにサイクル数が違うモデルを持っています。詳細は各モデルの説明文をご確認ください。</a:t>
            </a:r>
          </a:p>
          <a:p>
            <a:r>
              <a:rPr lang="en-US" altLang="ja-JP" sz="600" dirty="0">
                <a:latin typeface="IBM Plex Sans JP" panose="020B0503050203000203" pitchFamily="50" charset="-128"/>
                <a:ea typeface="IBM Plex Sans JP" panose="020B0503050203000203" pitchFamily="50" charset="-128"/>
              </a:rPr>
              <a:t> </a:t>
            </a:r>
          </a:p>
          <a:p>
            <a:pPr marL="171450" indent="-171450">
              <a:buFont typeface="Arial" panose="020B0604020202020204" pitchFamily="34" charset="0"/>
              <a:buChar char="•"/>
            </a:pPr>
            <a:r>
              <a:rPr lang="ja-JP" altLang="ja-JP" sz="900" dirty="0">
                <a:latin typeface="IBM Plex Sans JP" panose="020B0503050203000203" pitchFamily="50" charset="-128"/>
                <a:ea typeface="IBM Plex Sans JP" panose="020B0503050203000203" pitchFamily="50" charset="-128"/>
              </a:rPr>
              <a:t>カラーカーブ：色の組み合わせに応じた設定。シアンとイエローならば</a:t>
            </a:r>
            <a:r>
              <a:rPr lang="en-US" altLang="ja-JP" sz="900" dirty="0">
                <a:latin typeface="IBM Plex Sans JP" panose="020B0503050203000203" pitchFamily="50" charset="-128"/>
                <a:ea typeface="IBM Plex Sans JP" panose="020B0503050203000203" pitchFamily="50" charset="-128"/>
              </a:rPr>
              <a:t>Vivid</a:t>
            </a:r>
            <a:r>
              <a:rPr lang="ja-JP" altLang="ja-JP" sz="900" dirty="0">
                <a:latin typeface="IBM Plex Sans JP" panose="020B0503050203000203" pitchFamily="50" charset="-128"/>
                <a:ea typeface="IBM Plex Sans JP" panose="020B0503050203000203" pitchFamily="50" charset="-128"/>
              </a:rPr>
              <a:t>、白とマゼンタならば</a:t>
            </a:r>
            <a:r>
              <a:rPr lang="en-US" altLang="ja-JP" sz="900" dirty="0">
                <a:latin typeface="IBM Plex Sans JP" panose="020B0503050203000203" pitchFamily="50" charset="-128"/>
                <a:ea typeface="IBM Plex Sans JP" panose="020B0503050203000203" pitchFamily="50" charset="-128"/>
              </a:rPr>
              <a:t>Contrast</a:t>
            </a:r>
            <a:r>
              <a:rPr lang="ja-JP" altLang="ja-JP" sz="900" dirty="0">
                <a:latin typeface="IBM Plex Sans JP" panose="020B0503050203000203" pitchFamily="50" charset="-128"/>
                <a:ea typeface="IBM Plex Sans JP" panose="020B0503050203000203" pitchFamily="50" charset="-128"/>
              </a:rPr>
              <a:t>と言う風に色に応じた最適なグラデーションを選ぶための項目。</a:t>
            </a:r>
          </a:p>
          <a:p>
            <a:pPr marL="171450" indent="-171450">
              <a:buFont typeface="Arial" panose="020B0604020202020204" pitchFamily="34" charset="0"/>
              <a:buChar char="•"/>
            </a:pPr>
            <a:r>
              <a:rPr lang="ja-JP" altLang="ja-JP" sz="900" dirty="0">
                <a:latin typeface="IBM Plex Sans JP" panose="020B0503050203000203" pitchFamily="50" charset="-128"/>
                <a:ea typeface="IBM Plex Sans JP" panose="020B0503050203000203" pitchFamily="50" charset="-128"/>
              </a:rPr>
              <a:t>サイクル数：グラデーションの頻度を変える数。サイクル数はフィラメントが</a:t>
            </a:r>
            <a:r>
              <a:rPr lang="en-US" altLang="ja-JP" sz="900" dirty="0">
                <a:latin typeface="IBM Plex Sans JP" panose="020B0503050203000203" pitchFamily="50" charset="-128"/>
                <a:ea typeface="IBM Plex Sans JP" panose="020B0503050203000203" pitchFamily="50" charset="-128"/>
              </a:rPr>
              <a:t>A</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B</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A</a:t>
            </a:r>
            <a:r>
              <a:rPr lang="ja-JP" altLang="ja-JP" sz="900" dirty="0">
                <a:latin typeface="IBM Plex Sans JP" panose="020B0503050203000203" pitchFamily="50" charset="-128"/>
                <a:ea typeface="IBM Plex Sans JP" panose="020B0503050203000203" pitchFamily="50" charset="-128"/>
              </a:rPr>
              <a:t>と変化して戻ることを</a:t>
            </a:r>
            <a:r>
              <a:rPr lang="en-US" altLang="ja-JP" sz="900" dirty="0">
                <a:latin typeface="IBM Plex Sans JP" panose="020B0503050203000203" pitchFamily="50" charset="-128"/>
                <a:ea typeface="IBM Plex Sans JP" panose="020B0503050203000203" pitchFamily="50" charset="-128"/>
              </a:rPr>
              <a:t>1</a:t>
            </a:r>
            <a:r>
              <a:rPr lang="ja-JP" altLang="ja-JP" sz="900" dirty="0">
                <a:latin typeface="IBM Plex Sans JP" panose="020B0503050203000203" pitchFamily="50" charset="-128"/>
                <a:ea typeface="IBM Plex Sans JP" panose="020B0503050203000203" pitchFamily="50" charset="-128"/>
              </a:rPr>
              <a:t>回と数える。</a:t>
            </a:r>
          </a:p>
          <a:p>
            <a:endParaRPr lang="ja-JP" altLang="ja-JP" sz="6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以下はシアンとマゼンタの速い周期の</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ja-JP" altLang="ja-JP" sz="1000" dirty="0">
                <a:latin typeface="IBM Plex Sans JP" panose="020B0503050203000203" pitchFamily="50" charset="-128"/>
                <a:ea typeface="IBM Plex Sans JP" panose="020B0503050203000203" pitchFamily="50" charset="-128"/>
              </a:rPr>
              <a:t>周期はモデルサイズとサイクル数に影響されます。そのため、</a:t>
            </a:r>
            <a:r>
              <a:rPr lang="en-US" altLang="ja-JP" sz="1000" dirty="0">
                <a:latin typeface="IBM Plex Sans JP" panose="020B0503050203000203" pitchFamily="50" charset="-128"/>
                <a:ea typeface="IBM Plex Sans JP" panose="020B0503050203000203" pitchFamily="50" charset="-128"/>
              </a:rPr>
              <a:t>S4</a:t>
            </a:r>
            <a:r>
              <a:rPr lang="ja-JP" altLang="ja-JP" sz="1000" dirty="0">
                <a:latin typeface="IBM Plex Sans JP" panose="020B0503050203000203" pitchFamily="50" charset="-128"/>
                <a:ea typeface="IBM Plex Sans JP" panose="020B0503050203000203" pitchFamily="50" charset="-128"/>
              </a:rPr>
              <a:t>のモデルを選び、サイクル数は</a:t>
            </a:r>
            <a:r>
              <a:rPr lang="en-US" altLang="ja-JP" sz="1000" dirty="0">
                <a:latin typeface="IBM Plex Sans JP" panose="020B0503050203000203" pitchFamily="50" charset="-128"/>
                <a:ea typeface="IBM Plex Sans JP" panose="020B0503050203000203" pitchFamily="50" charset="-128"/>
              </a:rPr>
              <a:t>4</a:t>
            </a:r>
            <a:r>
              <a:rPr lang="ja-JP" altLang="ja-JP" sz="1000" dirty="0">
                <a:latin typeface="IBM Plex Sans JP" panose="020B0503050203000203" pitchFamily="50" charset="-128"/>
                <a:ea typeface="IBM Plex Sans JP" panose="020B0503050203000203" pitchFamily="50" charset="-128"/>
              </a:rPr>
              <a:t>サイクルを選ぶこととします。また、色相の離れた組合せなので</a:t>
            </a:r>
            <a:r>
              <a:rPr lang="en-US" altLang="ja-JP" sz="1000" dirty="0">
                <a:latin typeface="IBM Plex Sans JP" panose="020B0503050203000203" pitchFamily="50" charset="-128"/>
                <a:ea typeface="IBM Plex Sans JP" panose="020B0503050203000203" pitchFamily="50" charset="-128"/>
              </a:rPr>
              <a:t>Vivid</a:t>
            </a:r>
            <a:r>
              <a:rPr lang="ja-JP" altLang="ja-JP" sz="1000" dirty="0">
                <a:latin typeface="IBM Plex Sans JP" panose="020B0503050203000203" pitchFamily="50" charset="-128"/>
                <a:ea typeface="IBM Plex Sans JP" panose="020B0503050203000203" pitchFamily="50" charset="-128"/>
              </a:rPr>
              <a:t>カーブを選びます。</a:t>
            </a:r>
            <a:endParaRPr kumimoji="1" lang="ja-JP" altLang="en-US" sz="1000" b="1" dirty="0">
              <a:latin typeface="IBM Plex Sans JP" panose="020B0503050203000203" pitchFamily="50" charset="-128"/>
              <a:ea typeface="IBM Plex Sans JP" panose="020B0503050203000203" pitchFamily="50" charset="-128"/>
            </a:endParaRPr>
          </a:p>
        </p:txBody>
      </p:sp>
      <p:sp>
        <p:nvSpPr>
          <p:cNvPr id="33" name="テキスト ボックス 32">
            <a:extLst>
              <a:ext uri="{FF2B5EF4-FFF2-40B4-BE49-F238E27FC236}">
                <a16:creationId xmlns:a16="http://schemas.microsoft.com/office/drawing/2014/main" id="{117BFD2F-556D-35B9-3D3B-9934FD82183A}"/>
              </a:ext>
            </a:extLst>
          </p:cNvPr>
          <p:cNvSpPr txBox="1"/>
          <p:nvPr/>
        </p:nvSpPr>
        <p:spPr>
          <a:xfrm>
            <a:off x="675778" y="3595963"/>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のモデル構成です。</a:t>
            </a:r>
            <a:endParaRPr lang="en-US" altLang="ja-JP" sz="1000" dirty="0">
              <a:latin typeface="IBM Plex Sans JP" panose="020B0503050203000203" pitchFamily="50" charset="-128"/>
              <a:ea typeface="IBM Plex Sans JP" panose="020B0503050203000203" pitchFamily="50" charset="-128"/>
            </a:endParaRPr>
          </a:p>
        </p:txBody>
      </p:sp>
      <p:sp>
        <p:nvSpPr>
          <p:cNvPr id="11" name="テキスト ボックス 10">
            <a:extLst>
              <a:ext uri="{FF2B5EF4-FFF2-40B4-BE49-F238E27FC236}">
                <a16:creationId xmlns:a16="http://schemas.microsoft.com/office/drawing/2014/main" id="{8295621D-77A4-4C3D-77F0-77CF7222FE7C}"/>
              </a:ext>
            </a:extLst>
          </p:cNvPr>
          <p:cNvSpPr txBox="1"/>
          <p:nvPr/>
        </p:nvSpPr>
        <p:spPr>
          <a:xfrm>
            <a:off x="778114" y="7851411"/>
            <a:ext cx="1250663" cy="338554"/>
          </a:xfrm>
          <a:prstGeom prst="rect">
            <a:avLst/>
          </a:prstGeom>
          <a:noFill/>
        </p:spPr>
        <p:txBody>
          <a:bodyPr wrap="none" rtlCol="0">
            <a:spAutoFit/>
          </a:bodyPr>
          <a:lstStyle/>
          <a:p>
            <a:r>
              <a:rPr lang="en-US" altLang="ja-JP" sz="1600" dirty="0">
                <a:latin typeface="IBM Plex Sans JP SemiBold" panose="020B0703050203000203" pitchFamily="50" charset="-128"/>
                <a:ea typeface="IBM Plex Sans JP SemiBold" panose="020B0703050203000203" pitchFamily="50" charset="-128"/>
              </a:rPr>
              <a:t>6.</a:t>
            </a:r>
            <a:r>
              <a:rPr lang="ja-JP" altLang="en-US" sz="1600" dirty="0">
                <a:latin typeface="IBM Plex Sans JP SemiBold" panose="020B0703050203000203" pitchFamily="50" charset="-128"/>
                <a:ea typeface="IBM Plex Sans JP SemiBold" panose="020B0703050203000203" pitchFamily="50" charset="-128"/>
              </a:rPr>
              <a:t> 更新履歴</a:t>
            </a:r>
            <a:endParaRPr kumimoji="1" lang="ja-JP" altLang="en-US" b="1" dirty="0">
              <a:latin typeface="IBM Plex Sans JP SemiBold" panose="020B0703050203000203" pitchFamily="50" charset="-128"/>
              <a:ea typeface="IBM Plex Sans JP SemiBold" panose="020B0703050203000203" pitchFamily="50" charset="-128"/>
            </a:endParaRPr>
          </a:p>
        </p:txBody>
      </p:sp>
      <p:sp>
        <p:nvSpPr>
          <p:cNvPr id="18" name="テキスト ボックス 17">
            <a:extLst>
              <a:ext uri="{FF2B5EF4-FFF2-40B4-BE49-F238E27FC236}">
                <a16:creationId xmlns:a16="http://schemas.microsoft.com/office/drawing/2014/main" id="{C2FCADE2-31D3-C4D5-5AFC-36AECFFCF62D}"/>
              </a:ext>
            </a:extLst>
          </p:cNvPr>
          <p:cNvSpPr txBox="1"/>
          <p:nvPr/>
        </p:nvSpPr>
        <p:spPr>
          <a:xfrm>
            <a:off x="638323" y="8189977"/>
            <a:ext cx="5649491" cy="507831"/>
          </a:xfrm>
          <a:prstGeom prst="rect">
            <a:avLst/>
          </a:prstGeom>
          <a:noFill/>
        </p:spPr>
        <p:txBody>
          <a:bodyPr wrap="square" rtlCol="0">
            <a:spAutoFit/>
          </a:bodyPr>
          <a:lstStyle/>
          <a:p>
            <a:r>
              <a:rPr lang="en-US" altLang="ja-JP" sz="900" dirty="0">
                <a:latin typeface="IBM Plex Sans JP" panose="020B0503050203000203" pitchFamily="50" charset="-128"/>
                <a:ea typeface="IBM Plex Sans JP" panose="020B0503050203000203" pitchFamily="50" charset="-128"/>
              </a:rPr>
              <a:t>Ver.1.00  2026-07-02  </a:t>
            </a:r>
            <a:r>
              <a:rPr lang="ja-JP" altLang="en-US" sz="900" dirty="0">
                <a:latin typeface="IBM Plex Sans JP" panose="020B0503050203000203" pitchFamily="50" charset="-128"/>
                <a:ea typeface="IBM Plex Sans JP" panose="020B0503050203000203" pitchFamily="50" charset="-128"/>
              </a:rPr>
              <a:t>初版発行</a:t>
            </a:r>
            <a:endParaRPr lang="en-US" altLang="ja-JP" sz="900" dirty="0">
              <a:latin typeface="IBM Plex Sans JP" panose="020B0503050203000203" pitchFamily="50" charset="-128"/>
              <a:ea typeface="IBM Plex Sans JP" panose="020B0503050203000203" pitchFamily="50" charset="-128"/>
            </a:endParaRPr>
          </a:p>
          <a:p>
            <a:r>
              <a:rPr lang="en-US" altLang="ja-JP" sz="900" dirty="0">
                <a:latin typeface="IBM Plex Sans JP" panose="020B0503050203000203" pitchFamily="50" charset="-128"/>
                <a:ea typeface="IBM Plex Sans JP" panose="020B0503050203000203" pitchFamily="50" charset="-128"/>
              </a:rPr>
              <a:t>Ver.1.10  2026-07-22  </a:t>
            </a:r>
            <a:r>
              <a:rPr lang="ja-JP" altLang="en-US" sz="900" dirty="0">
                <a:latin typeface="IBM Plex Sans JP" panose="020B0503050203000203" pitchFamily="50" charset="-128"/>
                <a:ea typeface="IBM Plex Sans JP" panose="020B0503050203000203" pitchFamily="50" charset="-128"/>
              </a:rPr>
              <a:t>統一デザイン反映</a:t>
            </a:r>
            <a:endParaRPr lang="en-US" altLang="ja-JP" sz="900" dirty="0">
              <a:latin typeface="IBM Plex Sans JP" panose="020B0503050203000203" pitchFamily="50" charset="-128"/>
              <a:ea typeface="IBM Plex Sans JP" panose="020B0503050203000203" pitchFamily="50" charset="-128"/>
            </a:endParaRPr>
          </a:p>
          <a:p>
            <a:endParaRPr kumimoji="1" lang="ja-JP" altLang="en-US" sz="900" b="1" dirty="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37501890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7F66-0A0B-6622-A328-4A7360C8DA39}"/>
            </a:ext>
          </a:extLst>
        </p:cNvPr>
        <p:cNvGrpSpPr/>
        <p:nvPr/>
      </p:nvGrpSpPr>
      <p:grpSpPr>
        <a:xfrm>
          <a:off x="0" y="0"/>
          <a:ext cx="0" cy="0"/>
          <a:chOff x="0" y="0"/>
          <a:chExt cx="0" cy="0"/>
        </a:xfrm>
      </p:grpSpPr>
      <p:sp>
        <p:nvSpPr>
          <p:cNvPr id="32" name="正方形/長方形 31">
            <a:extLst>
              <a:ext uri="{FF2B5EF4-FFF2-40B4-BE49-F238E27FC236}">
                <a16:creationId xmlns:a16="http://schemas.microsoft.com/office/drawing/2014/main" id="{4FE2919F-4F03-BDC6-637C-54F859753550}"/>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フリーフォーム: 図形 37">
            <a:extLst>
              <a:ext uri="{FF2B5EF4-FFF2-40B4-BE49-F238E27FC236}">
                <a16:creationId xmlns:a16="http://schemas.microsoft.com/office/drawing/2014/main" id="{D504B6B1-8153-95A1-10E9-DE35F2B8C185}"/>
              </a:ext>
            </a:extLst>
          </p:cNvPr>
          <p:cNvSpPr/>
          <p:nvPr/>
        </p:nvSpPr>
        <p:spPr>
          <a:xfrm>
            <a:off x="0" y="0"/>
            <a:ext cx="6865269" cy="9144000"/>
          </a:xfrm>
          <a:custGeom>
            <a:avLst/>
            <a:gdLst>
              <a:gd name="connsiteX0" fmla="*/ 3734844 w 6865269"/>
              <a:gd name="connsiteY0" fmla="*/ 8661917 h 9144000"/>
              <a:gd name="connsiteX1" fmla="*/ 3734844 w 6865269"/>
              <a:gd name="connsiteY1" fmla="*/ 8715917 h 9144000"/>
              <a:gd name="connsiteX2" fmla="*/ 6326844 w 6865269"/>
              <a:gd name="connsiteY2" fmla="*/ 8715917 h 9144000"/>
              <a:gd name="connsiteX3" fmla="*/ 6326844 w 6865269"/>
              <a:gd name="connsiteY3" fmla="*/ 8661917 h 9144000"/>
              <a:gd name="connsiteX4" fmla="*/ 554538 w 6865269"/>
              <a:gd name="connsiteY4" fmla="*/ 8661917 h 9144000"/>
              <a:gd name="connsiteX5" fmla="*/ 554538 w 6865269"/>
              <a:gd name="connsiteY5" fmla="*/ 8715917 h 9144000"/>
              <a:gd name="connsiteX6" fmla="*/ 3146538 w 6865269"/>
              <a:gd name="connsiteY6" fmla="*/ 8715917 h 9144000"/>
              <a:gd name="connsiteX7" fmla="*/ 3146538 w 6865269"/>
              <a:gd name="connsiteY7" fmla="*/ 8661917 h 9144000"/>
              <a:gd name="connsiteX8" fmla="*/ 668510 w 6865269"/>
              <a:gd name="connsiteY8" fmla="*/ 4203603 h 9144000"/>
              <a:gd name="connsiteX9" fmla="*/ 566175 w 6865269"/>
              <a:gd name="connsiteY9" fmla="*/ 4305938 h 9144000"/>
              <a:gd name="connsiteX10" fmla="*/ 668510 w 6865269"/>
              <a:gd name="connsiteY10" fmla="*/ 4408273 h 9144000"/>
              <a:gd name="connsiteX11" fmla="*/ 770845 w 6865269"/>
              <a:gd name="connsiteY11" fmla="*/ 4305938 h 9144000"/>
              <a:gd name="connsiteX12" fmla="*/ 668510 w 6865269"/>
              <a:gd name="connsiteY12" fmla="*/ 4203603 h 9144000"/>
              <a:gd name="connsiteX13" fmla="*/ 668510 w 6865269"/>
              <a:gd name="connsiteY13" fmla="*/ 2883225 h 9144000"/>
              <a:gd name="connsiteX14" fmla="*/ 566175 w 6865269"/>
              <a:gd name="connsiteY14" fmla="*/ 2985560 h 9144000"/>
              <a:gd name="connsiteX15" fmla="*/ 668510 w 6865269"/>
              <a:gd name="connsiteY15" fmla="*/ 3087895 h 9144000"/>
              <a:gd name="connsiteX16" fmla="*/ 770845 w 6865269"/>
              <a:gd name="connsiteY16" fmla="*/ 2985560 h 9144000"/>
              <a:gd name="connsiteX17" fmla="*/ 668510 w 6865269"/>
              <a:gd name="connsiteY17" fmla="*/ 2883225 h 9144000"/>
              <a:gd name="connsiteX18" fmla="*/ 5823240 w 6865269"/>
              <a:gd name="connsiteY18" fmla="*/ 2279977 h 9144000"/>
              <a:gd name="connsiteX19" fmla="*/ 5767935 w 6865269"/>
              <a:gd name="connsiteY19" fmla="*/ 2335282 h 9144000"/>
              <a:gd name="connsiteX20" fmla="*/ 1097330 w 6865269"/>
              <a:gd name="connsiteY20" fmla="*/ 2335282 h 9144000"/>
              <a:gd name="connsiteX21" fmla="*/ 1058223 w 6865269"/>
              <a:gd name="connsiteY21" fmla="*/ 2319083 h 9144000"/>
              <a:gd name="connsiteX22" fmla="*/ 1042026 w 6865269"/>
              <a:gd name="connsiteY22" fmla="*/ 2279979 h 9144000"/>
              <a:gd name="connsiteX23" fmla="*/ 1042026 w 6865269"/>
              <a:gd name="connsiteY23" fmla="*/ 2413569 h 9144000"/>
              <a:gd name="connsiteX24" fmla="*/ 1230922 w 6865269"/>
              <a:gd name="connsiteY24" fmla="*/ 2602465 h 9144000"/>
              <a:gd name="connsiteX25" fmla="*/ 5634344 w 6865269"/>
              <a:gd name="connsiteY25" fmla="*/ 2602465 h 9144000"/>
              <a:gd name="connsiteX26" fmla="*/ 5823240 w 6865269"/>
              <a:gd name="connsiteY26" fmla="*/ 2413569 h 9144000"/>
              <a:gd name="connsiteX27" fmla="*/ 1230922 w 6865269"/>
              <a:gd name="connsiteY27" fmla="*/ 441445 h 9144000"/>
              <a:gd name="connsiteX28" fmla="*/ 1042026 w 6865269"/>
              <a:gd name="connsiteY28" fmla="*/ 630341 h 9144000"/>
              <a:gd name="connsiteX29" fmla="*/ 1042026 w 6865269"/>
              <a:gd name="connsiteY29" fmla="*/ 763933 h 9144000"/>
              <a:gd name="connsiteX30" fmla="*/ 1097331 w 6865269"/>
              <a:gd name="connsiteY30" fmla="*/ 708628 h 9144000"/>
              <a:gd name="connsiteX31" fmla="*/ 5767936 w 6865269"/>
              <a:gd name="connsiteY31" fmla="*/ 708628 h 9144000"/>
              <a:gd name="connsiteX32" fmla="*/ 5807043 w 6865269"/>
              <a:gd name="connsiteY32" fmla="*/ 724827 h 9144000"/>
              <a:gd name="connsiteX33" fmla="*/ 5823240 w 6865269"/>
              <a:gd name="connsiteY33" fmla="*/ 763931 h 9144000"/>
              <a:gd name="connsiteX34" fmla="*/ 5823240 w 6865269"/>
              <a:gd name="connsiteY34" fmla="*/ 630341 h 9144000"/>
              <a:gd name="connsiteX35" fmla="*/ 5634344 w 6865269"/>
              <a:gd name="connsiteY35" fmla="*/ 441445 h 9144000"/>
              <a:gd name="connsiteX36" fmla="*/ 0 w 6865269"/>
              <a:gd name="connsiteY36" fmla="*/ 0 h 9144000"/>
              <a:gd name="connsiteX37" fmla="*/ 6865269 w 6865269"/>
              <a:gd name="connsiteY37" fmla="*/ 0 h 9144000"/>
              <a:gd name="connsiteX38" fmla="*/ 6865269 w 6865269"/>
              <a:gd name="connsiteY38" fmla="*/ 9144000 h 9144000"/>
              <a:gd name="connsiteX39" fmla="*/ 0 w 6865269"/>
              <a:gd name="connsiteY39"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6865269" h="9144000">
                <a:moveTo>
                  <a:pt x="3734844" y="8661917"/>
                </a:moveTo>
                <a:lnTo>
                  <a:pt x="3734844" y="8715917"/>
                </a:lnTo>
                <a:lnTo>
                  <a:pt x="6326844" y="8715917"/>
                </a:lnTo>
                <a:lnTo>
                  <a:pt x="6326844" y="8661917"/>
                </a:lnTo>
                <a:close/>
                <a:moveTo>
                  <a:pt x="554538" y="8661917"/>
                </a:moveTo>
                <a:lnTo>
                  <a:pt x="554538" y="8715917"/>
                </a:lnTo>
                <a:lnTo>
                  <a:pt x="3146538" y="8715917"/>
                </a:lnTo>
                <a:lnTo>
                  <a:pt x="3146538" y="8661917"/>
                </a:lnTo>
                <a:close/>
                <a:moveTo>
                  <a:pt x="668510" y="4203603"/>
                </a:moveTo>
                <a:cubicBezTo>
                  <a:pt x="611992" y="4203603"/>
                  <a:pt x="566175" y="4249420"/>
                  <a:pt x="566175" y="4305938"/>
                </a:cubicBezTo>
                <a:cubicBezTo>
                  <a:pt x="566175" y="4362456"/>
                  <a:pt x="611992" y="4408273"/>
                  <a:pt x="668510" y="4408273"/>
                </a:cubicBezTo>
                <a:cubicBezTo>
                  <a:pt x="725028" y="4408273"/>
                  <a:pt x="770845" y="4362456"/>
                  <a:pt x="770845" y="4305938"/>
                </a:cubicBezTo>
                <a:cubicBezTo>
                  <a:pt x="770845" y="4249420"/>
                  <a:pt x="725028" y="4203603"/>
                  <a:pt x="668510" y="4203603"/>
                </a:cubicBezTo>
                <a:close/>
                <a:moveTo>
                  <a:pt x="668510" y="2883225"/>
                </a:moveTo>
                <a:cubicBezTo>
                  <a:pt x="611992" y="2883225"/>
                  <a:pt x="566175" y="2929042"/>
                  <a:pt x="566175" y="2985560"/>
                </a:cubicBezTo>
                <a:cubicBezTo>
                  <a:pt x="566175" y="3042078"/>
                  <a:pt x="611992" y="3087895"/>
                  <a:pt x="668510" y="3087895"/>
                </a:cubicBezTo>
                <a:cubicBezTo>
                  <a:pt x="725028" y="3087895"/>
                  <a:pt x="770845" y="3042078"/>
                  <a:pt x="770845" y="2985560"/>
                </a:cubicBezTo>
                <a:cubicBezTo>
                  <a:pt x="770845" y="2929042"/>
                  <a:pt x="725028" y="2883225"/>
                  <a:pt x="668510" y="2883225"/>
                </a:cubicBezTo>
                <a:close/>
                <a:moveTo>
                  <a:pt x="5823240" y="2279977"/>
                </a:moveTo>
                <a:cubicBezTo>
                  <a:pt x="5823240" y="2310521"/>
                  <a:pt x="5798479" y="2335282"/>
                  <a:pt x="5767935" y="2335282"/>
                </a:cubicBezTo>
                <a:lnTo>
                  <a:pt x="1097330" y="2335282"/>
                </a:lnTo>
                <a:cubicBezTo>
                  <a:pt x="1082058" y="2335282"/>
                  <a:pt x="1068232" y="2329092"/>
                  <a:pt x="1058223" y="2319083"/>
                </a:cubicBezTo>
                <a:lnTo>
                  <a:pt x="1042026" y="2279979"/>
                </a:lnTo>
                <a:lnTo>
                  <a:pt x="1042026" y="2413569"/>
                </a:lnTo>
                <a:cubicBezTo>
                  <a:pt x="1042026" y="2517893"/>
                  <a:pt x="1126598" y="2602465"/>
                  <a:pt x="1230922" y="2602465"/>
                </a:cubicBezTo>
                <a:lnTo>
                  <a:pt x="5634344" y="2602465"/>
                </a:lnTo>
                <a:cubicBezTo>
                  <a:pt x="5738668" y="2602465"/>
                  <a:pt x="5823240" y="2517893"/>
                  <a:pt x="5823240" y="2413569"/>
                </a:cubicBezTo>
                <a:close/>
                <a:moveTo>
                  <a:pt x="1230922" y="441445"/>
                </a:moveTo>
                <a:cubicBezTo>
                  <a:pt x="1126598" y="441445"/>
                  <a:pt x="1042026" y="526017"/>
                  <a:pt x="1042026" y="630341"/>
                </a:cubicBezTo>
                <a:lnTo>
                  <a:pt x="1042026" y="763933"/>
                </a:lnTo>
                <a:cubicBezTo>
                  <a:pt x="1042026" y="733389"/>
                  <a:pt x="1066787" y="708628"/>
                  <a:pt x="1097331" y="708628"/>
                </a:cubicBezTo>
                <a:lnTo>
                  <a:pt x="5767936" y="708628"/>
                </a:lnTo>
                <a:cubicBezTo>
                  <a:pt x="5783208" y="708628"/>
                  <a:pt x="5797034" y="714818"/>
                  <a:pt x="5807043" y="724827"/>
                </a:cubicBezTo>
                <a:lnTo>
                  <a:pt x="5823240" y="763931"/>
                </a:lnTo>
                <a:lnTo>
                  <a:pt x="5823240" y="630341"/>
                </a:lnTo>
                <a:cubicBezTo>
                  <a:pt x="5823240" y="526017"/>
                  <a:pt x="5738668" y="441445"/>
                  <a:pt x="5634344" y="441445"/>
                </a:cubicBezTo>
                <a:close/>
                <a:moveTo>
                  <a:pt x="0" y="0"/>
                </a:moveTo>
                <a:lnTo>
                  <a:pt x="6865269" y="0"/>
                </a:lnTo>
                <a:lnTo>
                  <a:pt x="6865269"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17" name="テキスト ボックス 16">
            <a:extLst>
              <a:ext uri="{FF2B5EF4-FFF2-40B4-BE49-F238E27FC236}">
                <a16:creationId xmlns:a16="http://schemas.microsoft.com/office/drawing/2014/main" id="{23F7FDBC-2462-02EF-781D-CFB88D37BD65}"/>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
        <p:nvSpPr>
          <p:cNvPr id="2" name="テキスト ボックス 1">
            <a:extLst>
              <a:ext uri="{FF2B5EF4-FFF2-40B4-BE49-F238E27FC236}">
                <a16:creationId xmlns:a16="http://schemas.microsoft.com/office/drawing/2014/main" id="{1C010116-E0FC-A1C3-A27C-4DE97F719290}"/>
              </a:ext>
            </a:extLst>
          </p:cNvPr>
          <p:cNvSpPr txBox="1"/>
          <p:nvPr/>
        </p:nvSpPr>
        <p:spPr>
          <a:xfrm>
            <a:off x="1035747" y="836225"/>
            <a:ext cx="4643835" cy="584775"/>
          </a:xfrm>
          <a:prstGeom prst="rect">
            <a:avLst/>
          </a:prstGeom>
          <a:noFill/>
        </p:spPr>
        <p:txBody>
          <a:bodyPr wrap="none" rtlCol="0">
            <a:spAutoFit/>
          </a:bodyPr>
          <a:lstStyle/>
          <a:p>
            <a:r>
              <a:rPr lang="en-US" altLang="ja-JP" sz="3200" b="1"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en-US" altLang="ja-JP" sz="3200" b="1" dirty="0">
                <a:latin typeface="IBM Plex Sans JP" panose="020B0503050203000203" pitchFamily="50" charset="-128"/>
                <a:ea typeface="IBM Plex Sans JP" panose="020B0503050203000203" pitchFamily="50" charset="-128"/>
              </a:rPr>
              <a:t> </a:t>
            </a:r>
            <a:r>
              <a:rPr lang="ja-JP" altLang="en-US" sz="2800" b="1" dirty="0">
                <a:latin typeface="IBM Plex Sans JP" panose="020B0503050203000203" pitchFamily="50" charset="-128"/>
                <a:ea typeface="IBM Plex Sans JP" panose="020B0503050203000203" pitchFamily="50" charset="-128"/>
              </a:rPr>
              <a:t>ツアーガイド</a:t>
            </a:r>
            <a:endParaRPr kumimoji="1" lang="ja-JP" altLang="en-US" sz="3200" b="1" dirty="0">
              <a:latin typeface="IBM Plex Sans JP" panose="020B0503050203000203" pitchFamily="50" charset="-128"/>
              <a:ea typeface="IBM Plex Sans JP" panose="020B0503050203000203" pitchFamily="50" charset="-128"/>
            </a:endParaRPr>
          </a:p>
        </p:txBody>
      </p:sp>
      <p:sp>
        <p:nvSpPr>
          <p:cNvPr id="18" name="テキスト ボックス 17">
            <a:extLst>
              <a:ext uri="{FF2B5EF4-FFF2-40B4-BE49-F238E27FC236}">
                <a16:creationId xmlns:a16="http://schemas.microsoft.com/office/drawing/2014/main" id="{1EAE5B37-A0A8-8DB3-058E-FE219EFB5C21}"/>
              </a:ext>
            </a:extLst>
          </p:cNvPr>
          <p:cNvSpPr txBox="1"/>
          <p:nvPr/>
        </p:nvSpPr>
        <p:spPr>
          <a:xfrm>
            <a:off x="770844" y="2815340"/>
            <a:ext cx="1516762"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1. </a:t>
            </a:r>
            <a:r>
              <a:rPr lang="ja-JP" altLang="en-US" sz="2000" dirty="0">
                <a:latin typeface="IBM Plex Sans JP SemiBold" panose="020B0703050203000203" pitchFamily="50" charset="-128"/>
                <a:ea typeface="IBM Plex Sans JP SemiBold" panose="020B0703050203000203" pitchFamily="50" charset="-128"/>
              </a:rPr>
              <a:t>はじめに</a:t>
            </a:r>
            <a:endParaRPr kumimoji="1" lang="ja-JP" altLang="en-US" sz="2000" b="1" dirty="0">
              <a:latin typeface="IBM Plex Sans JP SemiBold" panose="020B0703050203000203" pitchFamily="50" charset="-128"/>
              <a:ea typeface="IBM Plex Sans JP SemiBold" panose="020B0703050203000203" pitchFamily="50" charset="-128"/>
            </a:endParaRPr>
          </a:p>
        </p:txBody>
      </p:sp>
      <p:sp>
        <p:nvSpPr>
          <p:cNvPr id="19" name="テキスト ボックス 18">
            <a:extLst>
              <a:ext uri="{FF2B5EF4-FFF2-40B4-BE49-F238E27FC236}">
                <a16:creationId xmlns:a16="http://schemas.microsoft.com/office/drawing/2014/main" id="{8B277155-F6B4-006F-3D15-7E80ED29E848}"/>
              </a:ext>
            </a:extLst>
          </p:cNvPr>
          <p:cNvSpPr txBox="1"/>
          <p:nvPr/>
        </p:nvSpPr>
        <p:spPr>
          <a:xfrm>
            <a:off x="668508" y="3238280"/>
            <a:ext cx="5649491" cy="861774"/>
          </a:xfrm>
          <a:prstGeom prst="rect">
            <a:avLst/>
          </a:prstGeom>
          <a:noFill/>
        </p:spPr>
        <p:txBody>
          <a:bodyPr wrap="square" rtlCol="0">
            <a:spAutoFit/>
          </a:bodyPr>
          <a:lstStyle/>
          <a:p>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ja-JP" sz="1000" dirty="0">
                <a:latin typeface="IBM Plex Sans JP" panose="020B0503050203000203" pitchFamily="50" charset="-128"/>
                <a:ea typeface="IBM Plex Sans JP" panose="020B0503050203000203" pitchFamily="50" charset="-128"/>
              </a:rPr>
              <a:t>は、市販のフィラメントを組み合わせて「フィラメントそのもの」を生み出すためのモデルです。</a:t>
            </a:r>
          </a:p>
          <a:p>
            <a:r>
              <a:rPr lang="ja-JP" altLang="ja-JP" sz="1000" dirty="0">
                <a:latin typeface="IBM Plex Sans JP" panose="020B0503050203000203" pitchFamily="50" charset="-128"/>
                <a:ea typeface="IBM Plex Sans JP" panose="020B0503050203000203" pitchFamily="50" charset="-128"/>
              </a:rPr>
              <a:t>様々な目的のシリーズから構成されており、各シリーズにはサイズなどの違いによってモデル、プロファイル、プレートごとに異なるフィラメントモデルを提供します。</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1" name="テキスト ボックス 20">
            <a:extLst>
              <a:ext uri="{FF2B5EF4-FFF2-40B4-BE49-F238E27FC236}">
                <a16:creationId xmlns:a16="http://schemas.microsoft.com/office/drawing/2014/main" id="{54DA55D2-2B5C-9AD6-980D-12AA6565179D}"/>
              </a:ext>
            </a:extLst>
          </p:cNvPr>
          <p:cNvSpPr txBox="1"/>
          <p:nvPr/>
        </p:nvSpPr>
        <p:spPr>
          <a:xfrm>
            <a:off x="770844" y="4135718"/>
            <a:ext cx="228620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2. </a:t>
            </a:r>
            <a:r>
              <a:rPr lang="ja-JP" altLang="en-US" sz="2000" dirty="0">
                <a:latin typeface="IBM Plex Sans JP SemiBold" panose="020B0703050203000203" pitchFamily="50" charset="-128"/>
                <a:ea typeface="IBM Plex Sans JP SemiBold" panose="020B0703050203000203" pitchFamily="50" charset="-128"/>
              </a:rPr>
              <a:t>モデル選定方法</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22" name="テキスト ボックス 21">
            <a:extLst>
              <a:ext uri="{FF2B5EF4-FFF2-40B4-BE49-F238E27FC236}">
                <a16:creationId xmlns:a16="http://schemas.microsoft.com/office/drawing/2014/main" id="{9892ABBA-C6BB-6533-C8B6-AF950E500E64}"/>
              </a:ext>
            </a:extLst>
          </p:cNvPr>
          <p:cNvSpPr txBox="1"/>
          <p:nvPr/>
        </p:nvSpPr>
        <p:spPr>
          <a:xfrm>
            <a:off x="661239" y="4538281"/>
            <a:ext cx="5649492" cy="553998"/>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簡易的なモデル選定手順をお見せします。まずは</a:t>
            </a:r>
            <a:r>
              <a:rPr lang="en-US" altLang="ja-JP" sz="1000" dirty="0">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で</a:t>
            </a:r>
            <a:r>
              <a:rPr lang="en-US" altLang="ja-JP" sz="1000" b="1" dirty="0">
                <a:latin typeface="IBM Plex Sans JP" panose="020B0503050203000203" pitchFamily="50" charset="-128"/>
                <a:ea typeface="IBM Plex Sans JP" panose="020B0503050203000203" pitchFamily="50" charset="-128"/>
              </a:rPr>
              <a:t>FlexChroma HUB</a:t>
            </a:r>
            <a:r>
              <a:rPr lang="ja-JP" altLang="ja-JP" sz="1000" dirty="0">
                <a:latin typeface="IBM Plex Sans JP" panose="020B0503050203000203" pitchFamily="50" charset="-128"/>
                <a:ea typeface="IBM Plex Sans JP" panose="020B0503050203000203" pitchFamily="50" charset="-128"/>
              </a:rPr>
              <a:t>を開いてください。その後に下記フローに従って適切なデータをダウンロードし、印刷してください。</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5" name="テキスト ボックス 24">
            <a:extLst>
              <a:ext uri="{FF2B5EF4-FFF2-40B4-BE49-F238E27FC236}">
                <a16:creationId xmlns:a16="http://schemas.microsoft.com/office/drawing/2014/main" id="{2BD9B259-385D-72AB-BC12-A39347742A8E}"/>
              </a:ext>
            </a:extLst>
          </p:cNvPr>
          <p:cNvSpPr txBox="1"/>
          <p:nvPr/>
        </p:nvSpPr>
        <p:spPr>
          <a:xfrm>
            <a:off x="661238" y="6206196"/>
            <a:ext cx="5656761" cy="400110"/>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モデル選定においてはどの様なフィラメントが欲しいか？を考えま</a:t>
            </a:r>
            <a:r>
              <a:rPr lang="ja-JP" altLang="en-US" sz="1000" dirty="0">
                <a:latin typeface="IBM Plex Sans JP" panose="020B0503050203000203" pitchFamily="50" charset="-128"/>
                <a:ea typeface="IBM Plex Sans JP" panose="020B0503050203000203" pitchFamily="50" charset="-128"/>
              </a:rPr>
              <a:t>しょう</a:t>
            </a:r>
            <a:r>
              <a:rPr lang="ja-JP" altLang="ja-JP" sz="1000" dirty="0">
                <a:latin typeface="IBM Plex Sans JP" panose="020B0503050203000203" pitchFamily="50" charset="-128"/>
                <a:ea typeface="IBM Plex Sans JP" panose="020B0503050203000203" pitchFamily="50" charset="-128"/>
              </a:rPr>
              <a:t>。下記１～５の手順によって最適なデータを探</a:t>
            </a:r>
            <a:r>
              <a:rPr lang="ja-JP" altLang="en-US" sz="1000" dirty="0">
                <a:latin typeface="IBM Plex Sans JP" panose="020B0503050203000203" pitchFamily="50" charset="-128"/>
                <a:ea typeface="IBM Plex Sans JP" panose="020B0503050203000203" pitchFamily="50" charset="-128"/>
              </a:rPr>
              <a:t>すことができます</a:t>
            </a:r>
            <a:r>
              <a:rPr lang="ja-JP" altLang="ja-JP" sz="1000" dirty="0">
                <a:latin typeface="IBM Plex Sans JP" panose="020B0503050203000203" pitchFamily="50" charset="-128"/>
                <a:ea typeface="IBM Plex Sans JP" panose="020B0503050203000203" pitchFamily="50" charset="-128"/>
              </a:rPr>
              <a:t>。</a:t>
            </a:r>
          </a:p>
        </p:txBody>
      </p:sp>
      <p:sp>
        <p:nvSpPr>
          <p:cNvPr id="26" name="テキスト ボックス 25">
            <a:extLst>
              <a:ext uri="{FF2B5EF4-FFF2-40B4-BE49-F238E27FC236}">
                <a16:creationId xmlns:a16="http://schemas.microsoft.com/office/drawing/2014/main" id="{0B7448FA-4B3E-BB8D-CDAF-DE6157C9F664}"/>
              </a:ext>
            </a:extLst>
          </p:cNvPr>
          <p:cNvSpPr txBox="1"/>
          <p:nvPr/>
        </p:nvSpPr>
        <p:spPr>
          <a:xfrm>
            <a:off x="756306" y="6676943"/>
            <a:ext cx="5554425" cy="1615829"/>
          </a:xfrm>
          <a:prstGeom prst="rect">
            <a:avLst/>
          </a:prstGeom>
          <a:noFill/>
        </p:spPr>
        <p:txBody>
          <a:bodyPr wrap="square" rtlCol="0">
            <a:spAutoFit/>
          </a:bodyPr>
          <a:lstStyle/>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最初に</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を選択します。中間色が欲しいのであれば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、グラデーションフィラメントが欲しければ</a:t>
            </a:r>
            <a:r>
              <a:rPr lang="en-US" altLang="ja-JP" sz="900" dirty="0">
                <a:latin typeface="IBM Plex Sans JP" panose="020B0503050203000203" pitchFamily="50" charset="-128"/>
                <a:ea typeface="IBM Plex Sans JP" panose="020B0503050203000203" pitchFamily="50" charset="-128"/>
              </a:rPr>
              <a:t>Gradient Filament</a:t>
            </a:r>
            <a:r>
              <a:rPr lang="ja-JP" altLang="ja-JP" sz="900" dirty="0">
                <a:latin typeface="IBM Plex Sans JP" panose="020B0503050203000203" pitchFamily="50" charset="-128"/>
                <a:ea typeface="IBM Plex Sans JP" panose="020B0503050203000203" pitchFamily="50" charset="-128"/>
              </a:rPr>
              <a:t>と言った様に。</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を選択します。フィラメントの量がどれくらい必要かを考えて、それに合った</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を選択します。例えば</a:t>
            </a:r>
            <a:r>
              <a:rPr lang="en-US" altLang="ja-JP" sz="900" dirty="0">
                <a:latin typeface="IBM Plex Sans JP" panose="020B0503050203000203" pitchFamily="50" charset="-128"/>
                <a:ea typeface="IBM Plex Sans JP" panose="020B0503050203000203" pitchFamily="50" charset="-128"/>
              </a:rPr>
              <a:t>3Dbenchy</a:t>
            </a:r>
            <a:r>
              <a:rPr lang="ja-JP" altLang="ja-JP" sz="900" dirty="0">
                <a:latin typeface="IBM Plex Sans JP" panose="020B0503050203000203" pitchFamily="50" charset="-128"/>
                <a:ea typeface="IBM Plex Sans JP" panose="020B0503050203000203" pitchFamily="50" charset="-128"/>
              </a:rPr>
              <a:t>を作る程度であれば</a:t>
            </a:r>
            <a:r>
              <a:rPr lang="en-US" altLang="ja-JP" sz="900" dirty="0">
                <a:latin typeface="IBM Plex Sans JP" panose="020B0503050203000203" pitchFamily="50" charset="-128"/>
                <a:ea typeface="IBM Plex Sans JP" panose="020B0503050203000203" pitchFamily="50" charset="-128"/>
              </a:rPr>
              <a:t>S4 Model</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70g</a:t>
            </a:r>
            <a:r>
              <a:rPr lang="ja-JP" altLang="ja-JP" sz="900" dirty="0">
                <a:latin typeface="IBM Plex Sans JP" panose="020B0503050203000203" pitchFamily="50" charset="-128"/>
                <a:ea typeface="IBM Plex Sans JP" panose="020B0503050203000203" pitchFamily="50" charset="-128"/>
              </a:rPr>
              <a:t>近い大きなモデルを作るのであれば</a:t>
            </a:r>
            <a:r>
              <a:rPr lang="en-US" altLang="ja-JP" sz="900" dirty="0">
                <a:latin typeface="IBM Plex Sans JP" panose="020B0503050203000203" pitchFamily="50" charset="-128"/>
                <a:ea typeface="IBM Plex Sans JP" panose="020B0503050203000203" pitchFamily="50" charset="-128"/>
              </a:rPr>
              <a:t>M1 Model</a:t>
            </a:r>
            <a:r>
              <a:rPr lang="ja-JP" altLang="ja-JP" sz="900" dirty="0">
                <a:latin typeface="IBM Plex Sans JP" panose="020B0503050203000203" pitchFamily="50" charset="-128"/>
                <a:ea typeface="IBM Plex Sans JP" panose="020B0503050203000203" pitchFamily="50" charset="-128"/>
              </a:rPr>
              <a:t>と言う具合です。</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を選びます。</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によって異なる分け方で</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ごとにフィラメントのデータがあります。例えば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で９８％混色比のモデルであれば、</a:t>
            </a:r>
            <a:r>
              <a:rPr lang="en-US" altLang="ja-JP" sz="900" dirty="0">
                <a:latin typeface="IBM Plex Sans JP" panose="020B0503050203000203" pitchFamily="50" charset="-128"/>
                <a:ea typeface="IBM Plex Sans JP" panose="020B0503050203000203" pitchFamily="50" charset="-128"/>
              </a:rPr>
              <a:t>Detail Profile</a:t>
            </a:r>
            <a:r>
              <a:rPr lang="ja-JP" altLang="ja-JP" sz="900" dirty="0">
                <a:latin typeface="IBM Plex Sans JP" panose="020B0503050203000203" pitchFamily="50" charset="-128"/>
                <a:ea typeface="IBM Plex Sans JP" panose="020B0503050203000203" pitchFamily="50" charset="-128"/>
              </a:rPr>
              <a:t>の中の</a:t>
            </a:r>
            <a:r>
              <a:rPr lang="en-US" altLang="ja-JP" sz="900" dirty="0">
                <a:latin typeface="IBM Plex Sans JP" panose="020B0503050203000203" pitchFamily="50" charset="-128"/>
                <a:ea typeface="IBM Plex Sans JP" panose="020B0503050203000203" pitchFamily="50" charset="-128"/>
              </a:rPr>
              <a:t>98pct</a:t>
            </a:r>
            <a:r>
              <a:rPr lang="ja-JP" altLang="ja-JP" sz="900" dirty="0">
                <a:latin typeface="IBM Plex Sans JP" panose="020B0503050203000203" pitchFamily="50" charset="-128"/>
                <a:ea typeface="IBM Plex Sans JP" panose="020B0503050203000203" pitchFamily="50" charset="-128"/>
              </a:rPr>
              <a:t>プレートを選びます。</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使うフィラメントを選びます。素材が同じもしくは近い</a:t>
            </a:r>
            <a:r>
              <a:rPr lang="en-US" altLang="ja-JP" sz="900" dirty="0">
                <a:latin typeface="IBM Plex Sans JP" panose="020B0503050203000203" pitchFamily="50" charset="-128"/>
                <a:ea typeface="IBM Plex Sans JP" panose="020B0503050203000203" pitchFamily="50" charset="-128"/>
              </a:rPr>
              <a:t>(PLA Basic</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 Matte</a:t>
            </a:r>
            <a:r>
              <a:rPr lang="ja-JP" altLang="ja-JP" sz="900" dirty="0">
                <a:latin typeface="IBM Plex Sans JP" panose="020B0503050203000203" pitchFamily="50" charset="-128"/>
                <a:ea typeface="IBM Plex Sans JP" panose="020B0503050203000203" pitchFamily="50" charset="-128"/>
              </a:rPr>
              <a:t>の様な</a:t>
            </a:r>
            <a:r>
              <a:rPr lang="en-US" altLang="ja-JP" sz="900" dirty="0">
                <a:latin typeface="IBM Plex Sans JP" panose="020B0503050203000203" pitchFamily="50" charset="-128"/>
                <a:ea typeface="IBM Plex Sans JP" panose="020B0503050203000203" pitchFamily="50" charset="-128"/>
              </a:rPr>
              <a:t>)</a:t>
            </a:r>
            <a:r>
              <a:rPr lang="ja-JP" altLang="ja-JP" sz="900" dirty="0">
                <a:latin typeface="IBM Plex Sans JP" panose="020B0503050203000203" pitchFamily="50" charset="-128"/>
                <a:ea typeface="IBM Plex Sans JP" panose="020B0503050203000203" pitchFamily="50" charset="-128"/>
              </a:rPr>
              <a:t>フィラメントを用意しましょう。選んだフィラメントを割り当てて、スライスしましょう。説明文に書かれている印刷時の注意点をよく読んでから印刷して下さい。</a:t>
            </a:r>
          </a:p>
        </p:txBody>
      </p:sp>
      <p:sp>
        <p:nvSpPr>
          <p:cNvPr id="27" name="テキスト ボックス 26">
            <a:extLst>
              <a:ext uri="{FF2B5EF4-FFF2-40B4-BE49-F238E27FC236}">
                <a16:creationId xmlns:a16="http://schemas.microsoft.com/office/drawing/2014/main" id="{C0F92284-90E6-0D1E-94B4-EE18257CE7CE}"/>
              </a:ext>
            </a:extLst>
          </p:cNvPr>
          <p:cNvSpPr txBox="1"/>
          <p:nvPr/>
        </p:nvSpPr>
        <p:spPr>
          <a:xfrm>
            <a:off x="688410" y="8345835"/>
            <a:ext cx="5680304" cy="167647"/>
          </a:xfrm>
          <a:prstGeom prst="rect">
            <a:avLst/>
          </a:prstGeom>
          <a:noFill/>
        </p:spPr>
        <p:txBody>
          <a:bodyPr wrap="square" rtlCol="0">
            <a:spAutoFit/>
          </a:bodyPr>
          <a:lstStyle/>
          <a:p>
            <a:r>
              <a:rPr lang="ja-JP" altLang="ja-JP" sz="800" dirty="0">
                <a:latin typeface="IBM Plex Sans JP Light" panose="020B0403050203000203" pitchFamily="50" charset="-128"/>
                <a:ea typeface="IBM Plex Sans JP Light" panose="020B0403050203000203" pitchFamily="50" charset="-128"/>
              </a:rPr>
              <a:t>※</a:t>
            </a:r>
            <a:r>
              <a:rPr lang="en-US" altLang="ja-JP" sz="800" dirty="0">
                <a:latin typeface="IBM Plex Sans JP Light" panose="020B0403050203000203" pitchFamily="50" charset="-128"/>
                <a:ea typeface="IBM Plex Sans JP Light" panose="020B0403050203000203" pitchFamily="50" charset="-128"/>
              </a:rPr>
              <a:t>FlexChroma</a:t>
            </a:r>
            <a:r>
              <a:rPr lang="ja-JP" altLang="ja-JP" sz="800" dirty="0">
                <a:latin typeface="IBM Plex Sans JP Light" panose="020B0403050203000203" pitchFamily="50" charset="-128"/>
                <a:ea typeface="IBM Plex Sans JP Light" panose="020B0403050203000203" pitchFamily="50" charset="-128"/>
              </a:rPr>
              <a:t>における</a:t>
            </a:r>
            <a:r>
              <a:rPr lang="en-US" altLang="ja-JP" sz="800" dirty="0">
                <a:latin typeface="IBM Plex Sans JP Light" panose="020B0403050203000203" pitchFamily="50" charset="-128"/>
                <a:ea typeface="IBM Plex Sans JP Light" panose="020B0403050203000203" pitchFamily="50" charset="-128"/>
              </a:rPr>
              <a:t>Profile</a:t>
            </a:r>
            <a:r>
              <a:rPr lang="ja-JP" altLang="ja-JP" sz="800" dirty="0">
                <a:latin typeface="IBM Plex Sans JP Light" panose="020B0403050203000203" pitchFamily="50" charset="-128"/>
                <a:ea typeface="IBM Plex Sans JP Light" panose="020B0403050203000203" pitchFamily="50" charset="-128"/>
              </a:rPr>
              <a:t>は印刷設定の違いではありません。各</a:t>
            </a:r>
            <a:r>
              <a:rPr lang="en-US" altLang="ja-JP" sz="800" dirty="0">
                <a:latin typeface="IBM Plex Sans JP Light" panose="020B0403050203000203" pitchFamily="50" charset="-128"/>
                <a:ea typeface="IBM Plex Sans JP Light" panose="020B0403050203000203" pitchFamily="50" charset="-128"/>
              </a:rPr>
              <a:t>Series</a:t>
            </a:r>
            <a:r>
              <a:rPr lang="ja-JP" altLang="ja-JP" sz="800" dirty="0">
                <a:latin typeface="IBM Plex Sans JP Light" panose="020B0403050203000203" pitchFamily="50" charset="-128"/>
                <a:ea typeface="IBM Plex Sans JP Light" panose="020B0403050203000203" pitchFamily="50" charset="-128"/>
              </a:rPr>
              <a:t>内で「目的別の分類」を表しています。</a:t>
            </a:r>
          </a:p>
        </p:txBody>
      </p:sp>
      <p:sp>
        <p:nvSpPr>
          <p:cNvPr id="31" name="テキスト ボックス 30">
            <a:extLst>
              <a:ext uri="{FF2B5EF4-FFF2-40B4-BE49-F238E27FC236}">
                <a16:creationId xmlns:a16="http://schemas.microsoft.com/office/drawing/2014/main" id="{89DAADC0-90E8-9DD8-E69D-EF0535095897}"/>
              </a:ext>
            </a:extLst>
          </p:cNvPr>
          <p:cNvSpPr txBox="1"/>
          <p:nvPr/>
        </p:nvSpPr>
        <p:spPr>
          <a:xfrm>
            <a:off x="1515655" y="1444411"/>
            <a:ext cx="3879588" cy="338554"/>
          </a:xfrm>
          <a:prstGeom prst="rect">
            <a:avLst/>
          </a:prstGeom>
          <a:noFill/>
        </p:spPr>
        <p:txBody>
          <a:bodyPr wrap="none" rtlCol="0">
            <a:spAutoFit/>
          </a:bodyPr>
          <a:lstStyle/>
          <a:p>
            <a:r>
              <a:rPr lang="en-US" altLang="ja-JP" sz="1600" dirty="0">
                <a:latin typeface="IBM Plex Sans JP" panose="020B0503050203000203" pitchFamily="50" charset="-128"/>
                <a:ea typeface="IBM Plex Sans JP" panose="020B0503050203000203" pitchFamily="50" charset="-128"/>
              </a:rPr>
              <a:t>- </a:t>
            </a:r>
            <a:r>
              <a:rPr lang="en-US" altLang="ja-JP" sz="16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en-US" sz="1600" dirty="0">
                <a:latin typeface="IBM Plex Sans JP" panose="020B0503050203000203" pitchFamily="50" charset="-128"/>
                <a:ea typeface="IBM Plex Sans JP" panose="020B0503050203000203" pitchFamily="50" charset="-128"/>
              </a:rPr>
              <a:t>のモデルを探してみよう</a:t>
            </a:r>
            <a:r>
              <a:rPr lang="en-US" altLang="ja-JP" sz="1600" dirty="0">
                <a:latin typeface="IBM Plex Sans JP" panose="020B0503050203000203" pitchFamily="50" charset="-128"/>
                <a:ea typeface="IBM Plex Sans JP" panose="020B0503050203000203" pitchFamily="50" charset="-128"/>
              </a:rPr>
              <a:t> -</a:t>
            </a:r>
            <a:endParaRPr kumimoji="1" lang="ja-JP" altLang="en-US" sz="16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902B05C9-73E0-B790-6785-7C63D903FB4D}"/>
              </a:ext>
            </a:extLst>
          </p:cNvPr>
          <p:cNvSpPr txBox="1"/>
          <p:nvPr/>
        </p:nvSpPr>
        <p:spPr>
          <a:xfrm>
            <a:off x="2381276" y="1883364"/>
            <a:ext cx="1952779" cy="307777"/>
          </a:xfrm>
          <a:prstGeom prst="rect">
            <a:avLst/>
          </a:prstGeom>
          <a:noFill/>
        </p:spPr>
        <p:txBody>
          <a:bodyPr wrap="none" rtlCol="0">
            <a:spAutoFit/>
          </a:bodyPr>
          <a:lstStyle/>
          <a:p>
            <a:r>
              <a:rPr lang="en-US" altLang="ja-JP" sz="1400" dirty="0">
                <a:latin typeface="IBM Plex Sans JP" panose="020B0503050203000203" pitchFamily="50" charset="-128"/>
                <a:ea typeface="IBM Plex Sans JP" panose="020B0503050203000203" pitchFamily="50" charset="-128"/>
              </a:rPr>
              <a:t>Ver.1.10  2026.7.22</a:t>
            </a:r>
            <a:endParaRPr kumimoji="1" lang="ja-JP" altLang="en-US" sz="1400" dirty="0">
              <a:latin typeface="IBM Plex Sans JP" panose="020B0503050203000203" pitchFamily="50" charset="-128"/>
              <a:ea typeface="IBM Plex Sans JP" panose="020B0503050203000203" pitchFamily="50" charset="-128"/>
            </a:endParaRPr>
          </a:p>
        </p:txBody>
      </p:sp>
      <p:pic>
        <p:nvPicPr>
          <p:cNvPr id="4" name="図 3">
            <a:extLst>
              <a:ext uri="{FF2B5EF4-FFF2-40B4-BE49-F238E27FC236}">
                <a16:creationId xmlns:a16="http://schemas.microsoft.com/office/drawing/2014/main" id="{BB3B43C0-827E-5257-E276-595B3EA93450}"/>
              </a:ext>
            </a:extLst>
          </p:cNvPr>
          <p:cNvPicPr>
            <a:picLocks noChangeAspect="1"/>
          </p:cNvPicPr>
          <p:nvPr/>
        </p:nvPicPr>
        <p:blipFill>
          <a:blip r:embed="rId2"/>
          <a:stretch>
            <a:fillRect/>
          </a:stretch>
        </p:blipFill>
        <p:spPr>
          <a:xfrm>
            <a:off x="599178" y="4934916"/>
            <a:ext cx="5746515" cy="1191180"/>
          </a:xfrm>
          <a:prstGeom prst="rect">
            <a:avLst/>
          </a:prstGeom>
        </p:spPr>
      </p:pic>
    </p:spTree>
    <p:extLst>
      <p:ext uri="{BB962C8B-B14F-4D97-AF65-F5344CB8AC3E}">
        <p14:creationId xmlns:p14="http://schemas.microsoft.com/office/powerpoint/2010/main" val="39290670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E29D0-A67B-D81A-ACFD-83FD8814E3FD}"/>
            </a:ext>
          </a:extLst>
        </p:cNvPr>
        <p:cNvGrpSpPr/>
        <p:nvPr/>
      </p:nvGrpSpPr>
      <p:grpSpPr>
        <a:xfrm>
          <a:off x="0" y="0"/>
          <a:ext cx="0" cy="0"/>
          <a:chOff x="0" y="0"/>
          <a:chExt cx="0" cy="0"/>
        </a:xfrm>
      </p:grpSpPr>
      <p:sp>
        <p:nvSpPr>
          <p:cNvPr id="2" name="正方形/長方形 1">
            <a:extLst>
              <a:ext uri="{FF2B5EF4-FFF2-40B4-BE49-F238E27FC236}">
                <a16:creationId xmlns:a16="http://schemas.microsoft.com/office/drawing/2014/main" id="{F078B9E5-980E-E0A0-2BA9-30CDBB5E1BBA}"/>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フリーフォーム: 図形 21">
            <a:extLst>
              <a:ext uri="{FF2B5EF4-FFF2-40B4-BE49-F238E27FC236}">
                <a16:creationId xmlns:a16="http://schemas.microsoft.com/office/drawing/2014/main" id="{9E7A94BB-4332-D47F-48DC-BDAF90C3F44A}"/>
              </a:ext>
            </a:extLst>
          </p:cNvPr>
          <p:cNvSpPr/>
          <p:nvPr/>
        </p:nvSpPr>
        <p:spPr>
          <a:xfrm>
            <a:off x="0" y="0"/>
            <a:ext cx="6865269" cy="9144000"/>
          </a:xfrm>
          <a:custGeom>
            <a:avLst/>
            <a:gdLst>
              <a:gd name="connsiteX0" fmla="*/ 3727575 w 6858000"/>
              <a:gd name="connsiteY0" fmla="*/ 8661917 h 9144000"/>
              <a:gd name="connsiteX1" fmla="*/ 3727575 w 6858000"/>
              <a:gd name="connsiteY1" fmla="*/ 8715917 h 9144000"/>
              <a:gd name="connsiteX2" fmla="*/ 6319575 w 6858000"/>
              <a:gd name="connsiteY2" fmla="*/ 8715917 h 9144000"/>
              <a:gd name="connsiteX3" fmla="*/ 6319575 w 6858000"/>
              <a:gd name="connsiteY3" fmla="*/ 8661917 h 9144000"/>
              <a:gd name="connsiteX4" fmla="*/ 547269 w 6858000"/>
              <a:gd name="connsiteY4" fmla="*/ 8661917 h 9144000"/>
              <a:gd name="connsiteX5" fmla="*/ 547269 w 6858000"/>
              <a:gd name="connsiteY5" fmla="*/ 8715917 h 9144000"/>
              <a:gd name="connsiteX6" fmla="*/ 3139269 w 6858000"/>
              <a:gd name="connsiteY6" fmla="*/ 8715917 h 9144000"/>
              <a:gd name="connsiteX7" fmla="*/ 3139269 w 6858000"/>
              <a:gd name="connsiteY7" fmla="*/ 8661917 h 9144000"/>
              <a:gd name="connsiteX8" fmla="*/ 661241 w 6858000"/>
              <a:gd name="connsiteY8" fmla="*/ 2510638 h 9144000"/>
              <a:gd name="connsiteX9" fmla="*/ 558906 w 6858000"/>
              <a:gd name="connsiteY9" fmla="*/ 2612973 h 9144000"/>
              <a:gd name="connsiteX10" fmla="*/ 661241 w 6858000"/>
              <a:gd name="connsiteY10" fmla="*/ 2715308 h 9144000"/>
              <a:gd name="connsiteX11" fmla="*/ 763576 w 6858000"/>
              <a:gd name="connsiteY11" fmla="*/ 2612973 h 9144000"/>
              <a:gd name="connsiteX12" fmla="*/ 661241 w 6858000"/>
              <a:gd name="connsiteY12" fmla="*/ 2510638 h 9144000"/>
              <a:gd name="connsiteX13" fmla="*/ 661241 w 6858000"/>
              <a:gd name="connsiteY13" fmla="*/ 677902 h 9144000"/>
              <a:gd name="connsiteX14" fmla="*/ 558906 w 6858000"/>
              <a:gd name="connsiteY14" fmla="*/ 780237 h 9144000"/>
              <a:gd name="connsiteX15" fmla="*/ 661241 w 6858000"/>
              <a:gd name="connsiteY15" fmla="*/ 882572 h 9144000"/>
              <a:gd name="connsiteX16" fmla="*/ 763576 w 6858000"/>
              <a:gd name="connsiteY16" fmla="*/ 780237 h 9144000"/>
              <a:gd name="connsiteX17" fmla="*/ 661241 w 6858000"/>
              <a:gd name="connsiteY17" fmla="*/ 677902 h 9144000"/>
              <a:gd name="connsiteX18" fmla="*/ 547268 w 6858000"/>
              <a:gd name="connsiteY18" fmla="*/ 452468 h 9144000"/>
              <a:gd name="connsiteX19" fmla="*/ 547268 w 6858000"/>
              <a:gd name="connsiteY19" fmla="*/ 506468 h 9144000"/>
              <a:gd name="connsiteX20" fmla="*/ 6303461 w 6858000"/>
              <a:gd name="connsiteY20" fmla="*/ 506468 h 9144000"/>
              <a:gd name="connsiteX21" fmla="*/ 6303461 w 6858000"/>
              <a:gd name="connsiteY21" fmla="*/ 452468 h 9144000"/>
              <a:gd name="connsiteX22" fmla="*/ 0 w 6858000"/>
              <a:gd name="connsiteY22" fmla="*/ 0 h 9144000"/>
              <a:gd name="connsiteX23" fmla="*/ 6858000 w 6858000"/>
              <a:gd name="connsiteY23" fmla="*/ 0 h 9144000"/>
              <a:gd name="connsiteX24" fmla="*/ 6858000 w 6858000"/>
              <a:gd name="connsiteY24" fmla="*/ 9144000 h 9144000"/>
              <a:gd name="connsiteX25" fmla="*/ 0 w 6858000"/>
              <a:gd name="connsiteY25"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858000" h="9144000">
                <a:moveTo>
                  <a:pt x="3727575" y="8661917"/>
                </a:moveTo>
                <a:lnTo>
                  <a:pt x="3727575" y="8715917"/>
                </a:lnTo>
                <a:lnTo>
                  <a:pt x="6319575" y="8715917"/>
                </a:lnTo>
                <a:lnTo>
                  <a:pt x="6319575" y="8661917"/>
                </a:lnTo>
                <a:close/>
                <a:moveTo>
                  <a:pt x="547269" y="8661917"/>
                </a:moveTo>
                <a:lnTo>
                  <a:pt x="547269" y="8715917"/>
                </a:lnTo>
                <a:lnTo>
                  <a:pt x="3139269" y="8715917"/>
                </a:lnTo>
                <a:lnTo>
                  <a:pt x="3139269" y="8661917"/>
                </a:lnTo>
                <a:close/>
                <a:moveTo>
                  <a:pt x="661241" y="2510638"/>
                </a:moveTo>
                <a:cubicBezTo>
                  <a:pt x="604723" y="2510638"/>
                  <a:pt x="558906" y="2556455"/>
                  <a:pt x="558906" y="2612973"/>
                </a:cubicBezTo>
                <a:cubicBezTo>
                  <a:pt x="558906" y="2669491"/>
                  <a:pt x="604723" y="2715308"/>
                  <a:pt x="661241" y="2715308"/>
                </a:cubicBezTo>
                <a:cubicBezTo>
                  <a:pt x="717759" y="2715308"/>
                  <a:pt x="763576" y="2669491"/>
                  <a:pt x="763576" y="2612973"/>
                </a:cubicBezTo>
                <a:cubicBezTo>
                  <a:pt x="763576" y="2556455"/>
                  <a:pt x="717759" y="2510638"/>
                  <a:pt x="661241" y="2510638"/>
                </a:cubicBezTo>
                <a:close/>
                <a:moveTo>
                  <a:pt x="661241" y="677902"/>
                </a:moveTo>
                <a:cubicBezTo>
                  <a:pt x="604723" y="677902"/>
                  <a:pt x="558906" y="723719"/>
                  <a:pt x="558906" y="780237"/>
                </a:cubicBezTo>
                <a:cubicBezTo>
                  <a:pt x="558906" y="836755"/>
                  <a:pt x="604723" y="882572"/>
                  <a:pt x="661241" y="882572"/>
                </a:cubicBezTo>
                <a:cubicBezTo>
                  <a:pt x="717759" y="882572"/>
                  <a:pt x="763576" y="836755"/>
                  <a:pt x="763576" y="780237"/>
                </a:cubicBezTo>
                <a:cubicBezTo>
                  <a:pt x="763576" y="723719"/>
                  <a:pt x="717759" y="677902"/>
                  <a:pt x="661241" y="677902"/>
                </a:cubicBezTo>
                <a:close/>
                <a:moveTo>
                  <a:pt x="547268" y="452468"/>
                </a:moveTo>
                <a:lnTo>
                  <a:pt x="547268" y="506468"/>
                </a:lnTo>
                <a:lnTo>
                  <a:pt x="6303461" y="506468"/>
                </a:lnTo>
                <a:lnTo>
                  <a:pt x="6303461" y="452468"/>
                </a:lnTo>
                <a:close/>
                <a:moveTo>
                  <a:pt x="0" y="0"/>
                </a:moveTo>
                <a:lnTo>
                  <a:pt x="6858000" y="0"/>
                </a:lnTo>
                <a:lnTo>
                  <a:pt x="6858000"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3" name="テキスト ボックス 2">
            <a:extLst>
              <a:ext uri="{FF2B5EF4-FFF2-40B4-BE49-F238E27FC236}">
                <a16:creationId xmlns:a16="http://schemas.microsoft.com/office/drawing/2014/main" id="{18C85979-FA04-F6B4-1A25-5254037C1655}"/>
              </a:ext>
            </a:extLst>
          </p:cNvPr>
          <p:cNvSpPr txBox="1"/>
          <p:nvPr/>
        </p:nvSpPr>
        <p:spPr>
          <a:xfrm>
            <a:off x="770844" y="610017"/>
            <a:ext cx="2613216"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3. FlexChroma HUB</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1" name="テキスト ボックス 10">
            <a:extLst>
              <a:ext uri="{FF2B5EF4-FFF2-40B4-BE49-F238E27FC236}">
                <a16:creationId xmlns:a16="http://schemas.microsoft.com/office/drawing/2014/main" id="{A798E74C-E29E-7137-31D2-45EEB48C6114}"/>
              </a:ext>
            </a:extLst>
          </p:cNvPr>
          <p:cNvSpPr txBox="1"/>
          <p:nvPr/>
        </p:nvSpPr>
        <p:spPr>
          <a:xfrm>
            <a:off x="668508" y="966325"/>
            <a:ext cx="5649491" cy="553998"/>
          </a:xfrm>
          <a:prstGeom prst="rect">
            <a:avLst/>
          </a:prstGeom>
          <a:noFill/>
        </p:spPr>
        <p:txBody>
          <a:bodyPr wrap="square" rtlCol="0">
            <a:spAutoFit/>
          </a:bodyPr>
          <a:lstStyle/>
          <a:p>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 HUB </a:t>
            </a:r>
            <a:r>
              <a:rPr lang="ja-JP" altLang="en-US" sz="1000" dirty="0">
                <a:latin typeface="IBM Plex Sans JP" panose="020B0503050203000203" pitchFamily="50" charset="-128"/>
                <a:ea typeface="IBM Plex Sans JP" panose="020B0503050203000203" pitchFamily="50" charset="-128"/>
                <a:cs typeface="Segoe UI Semibold" panose="020B0702040204020203" pitchFamily="34" charset="0"/>
              </a:rPr>
              <a:t>は</a:t>
            </a:r>
            <a:r>
              <a:rPr lang="en-US" altLang="ja-JP" sz="1000" dirty="0">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における全てのシリーズや外部ポータルへの入口です。</a:t>
            </a:r>
            <a:r>
              <a:rPr lang="ja-JP" altLang="ja-JP" sz="1000" b="1" dirty="0">
                <a:latin typeface="IBM Plex Sans JP" panose="020B0503050203000203" pitchFamily="50" charset="-128"/>
                <a:ea typeface="IBM Plex Sans JP" panose="020B0503050203000203" pitchFamily="50" charset="-128"/>
              </a:rPr>
              <a:t>迷ったらまずここを開いてください。</a:t>
            </a:r>
            <a:endParaRPr lang="ja-JP" altLang="ja-JP" sz="1000" dirty="0">
              <a:latin typeface="IBM Plex Sans JP" panose="020B0503050203000203" pitchFamily="50" charset="-128"/>
              <a:ea typeface="IBM Plex Sans JP" panose="020B0503050203000203" pitchFamily="50" charset="-128"/>
            </a:endParaRP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12" name="テキスト ボックス 11">
            <a:extLst>
              <a:ext uri="{FF2B5EF4-FFF2-40B4-BE49-F238E27FC236}">
                <a16:creationId xmlns:a16="http://schemas.microsoft.com/office/drawing/2014/main" id="{CD8BCD38-83D5-BF0D-E9F6-96FD8A35BD19}"/>
              </a:ext>
            </a:extLst>
          </p:cNvPr>
          <p:cNvSpPr txBox="1"/>
          <p:nvPr/>
        </p:nvSpPr>
        <p:spPr>
          <a:xfrm>
            <a:off x="770844" y="2440080"/>
            <a:ext cx="2379177"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4. Blend Filament</a:t>
            </a:r>
            <a:endParaRPr kumimoji="1" lang="ja-JP" altLang="en-US" sz="2800" b="1" dirty="0">
              <a:latin typeface="IBM Plex Sans JP SemiBold" panose="020B0703050203000203" pitchFamily="50" charset="-128"/>
              <a:ea typeface="IBM Plex Sans JP SemiBold" panose="020B0703050203000203" pitchFamily="50" charset="-128"/>
            </a:endParaRPr>
          </a:p>
        </p:txBody>
      </p:sp>
      <p:sp>
        <p:nvSpPr>
          <p:cNvPr id="23" name="テキスト ボックス 22">
            <a:extLst>
              <a:ext uri="{FF2B5EF4-FFF2-40B4-BE49-F238E27FC236}">
                <a16:creationId xmlns:a16="http://schemas.microsoft.com/office/drawing/2014/main" id="{50BCCB88-45BA-28DD-EAD4-7C869FD19E5D}"/>
              </a:ext>
            </a:extLst>
          </p:cNvPr>
          <p:cNvSpPr txBox="1"/>
          <p:nvPr/>
        </p:nvSpPr>
        <p:spPr>
          <a:xfrm>
            <a:off x="668509" y="2819731"/>
            <a:ext cx="5642222" cy="1323439"/>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シリーズは</a:t>
            </a:r>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ja-JP" sz="1000" dirty="0">
                <a:latin typeface="IBM Plex Sans JP" panose="020B0503050203000203" pitchFamily="50" charset="-128"/>
                <a:ea typeface="IBM Plex Sans JP" panose="020B0503050203000203" pitchFamily="50" charset="-128"/>
              </a:rPr>
              <a:t>の最も基礎的なシリーズです。</a:t>
            </a:r>
            <a:r>
              <a:rPr lang="en-US" altLang="ja-JP" sz="1000" dirty="0">
                <a:latin typeface="IBM Plex Sans JP" panose="020B0503050203000203" pitchFamily="50" charset="-128"/>
                <a:ea typeface="IBM Plex Sans JP" panose="020B0503050203000203" pitchFamily="50" charset="-128"/>
              </a:rPr>
              <a:t>2</a:t>
            </a:r>
            <a:r>
              <a:rPr lang="ja-JP" altLang="ja-JP" sz="1000" dirty="0">
                <a:latin typeface="IBM Plex Sans JP" panose="020B0503050203000203" pitchFamily="50" charset="-128"/>
                <a:ea typeface="IBM Plex Sans JP" panose="020B0503050203000203" pitchFamily="50" charset="-128"/>
              </a:rPr>
              <a:t>つのフィラメントを様々な混合比で混ぜ合わせ、あなただけの新しい色を作ることが出来ます。</a:t>
            </a:r>
            <a:endParaRPr lang="en-US" altLang="ja-JP" sz="10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各モデルは</a:t>
            </a:r>
            <a:r>
              <a:rPr lang="en-US" altLang="ja-JP" sz="1000" dirty="0">
                <a:latin typeface="IBM Plex Sans JP" panose="020B0503050203000203" pitchFamily="50" charset="-128"/>
                <a:ea typeface="IBM Plex Sans JP" panose="020B0503050203000203" pitchFamily="50" charset="-128"/>
              </a:rPr>
              <a:t>50</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99.5%</a:t>
            </a:r>
            <a:r>
              <a:rPr lang="ja-JP" altLang="ja-JP" sz="1000" dirty="0">
                <a:latin typeface="IBM Plex Sans JP" panose="020B0503050203000203" pitchFamily="50" charset="-128"/>
                <a:ea typeface="IBM Plex Sans JP" panose="020B0503050203000203" pitchFamily="50" charset="-128"/>
              </a:rPr>
              <a:t>までの混色比</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をもっていますが、</a:t>
            </a:r>
            <a:r>
              <a:rPr lang="en-US" altLang="ja-JP" sz="1000" b="1" dirty="0">
                <a:latin typeface="IBM Plex Sans JP" panose="020B0503050203000203" pitchFamily="50" charset="-128"/>
                <a:ea typeface="IBM Plex Sans JP" panose="020B0503050203000203" pitchFamily="50" charset="-128"/>
              </a:rPr>
              <a:t>50</a:t>
            </a:r>
            <a:r>
              <a:rPr lang="ja-JP" altLang="ja-JP" sz="1000" b="1" dirty="0">
                <a:latin typeface="IBM Plex Sans JP" panose="020B0503050203000203" pitchFamily="50" charset="-128"/>
                <a:ea typeface="IBM Plex Sans JP" panose="020B0503050203000203" pitchFamily="50" charset="-128"/>
              </a:rPr>
              <a:t>％未満の混色比についてはフィラメント</a:t>
            </a:r>
            <a:r>
              <a:rPr lang="en-US" altLang="ja-JP" sz="1000" b="1" dirty="0">
                <a:latin typeface="IBM Plex Sans JP" panose="020B0503050203000203" pitchFamily="50" charset="-128"/>
                <a:ea typeface="IBM Plex Sans JP" panose="020B0503050203000203" pitchFamily="50" charset="-128"/>
              </a:rPr>
              <a:t>A/B</a:t>
            </a:r>
            <a:r>
              <a:rPr lang="ja-JP" altLang="ja-JP" sz="1000" b="1" dirty="0">
                <a:latin typeface="IBM Plex Sans JP" panose="020B0503050203000203" pitchFamily="50" charset="-128"/>
                <a:ea typeface="IBM Plex Sans JP" panose="020B0503050203000203" pitchFamily="50" charset="-128"/>
              </a:rPr>
              <a:t>を入れ替えることで得ることが出来ます。</a:t>
            </a:r>
            <a:endParaRPr lang="ja-JP" altLang="ja-JP" sz="1000" dirty="0">
              <a:latin typeface="IBM Plex Sans JP" panose="020B0503050203000203" pitchFamily="50" charset="-128"/>
              <a:ea typeface="IBM Plex Sans JP" panose="020B0503050203000203" pitchFamily="50" charset="-128"/>
            </a:endParaRPr>
          </a:p>
          <a:p>
            <a:r>
              <a:rPr lang="en-US" altLang="ja-JP" sz="1000" dirty="0">
                <a:latin typeface="IBM Plex Sans JP" panose="020B0503050203000203" pitchFamily="50" charset="-128"/>
                <a:ea typeface="IBM Plex Sans JP" panose="020B0503050203000203" pitchFamily="50" charset="-128"/>
              </a:rPr>
              <a:t> </a:t>
            </a:r>
            <a:endParaRPr lang="ja-JP" altLang="ja-JP" sz="10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以下はイエローにシアンを</a:t>
            </a:r>
            <a:r>
              <a:rPr lang="en-US" altLang="ja-JP" sz="1000" dirty="0">
                <a:latin typeface="IBM Plex Sans JP" panose="020B0503050203000203" pitchFamily="50" charset="-128"/>
                <a:ea typeface="IBM Plex Sans JP" panose="020B0503050203000203" pitchFamily="50" charset="-128"/>
              </a:rPr>
              <a:t>25%</a:t>
            </a:r>
            <a:r>
              <a:rPr lang="ja-JP" altLang="ja-JP" sz="1000" dirty="0">
                <a:latin typeface="IBM Plex Sans JP" panose="020B0503050203000203" pitchFamily="50" charset="-128"/>
                <a:ea typeface="IBM Plex Sans JP" panose="020B0503050203000203" pitchFamily="50" charset="-128"/>
              </a:rPr>
              <a:t>混ぜた</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en-US" altLang="ja-JP" sz="1000" dirty="0">
                <a:latin typeface="IBM Plex Sans JP" panose="020B0503050203000203" pitchFamily="50" charset="-128"/>
                <a:ea typeface="IBM Plex Sans JP" panose="020B0503050203000203" pitchFamily="50" charset="-128"/>
              </a:rPr>
              <a:t>Plate</a:t>
            </a:r>
            <a:r>
              <a:rPr lang="ja-JP" altLang="ja-JP" sz="1000" dirty="0">
                <a:latin typeface="IBM Plex Sans JP" panose="020B0503050203000203" pitchFamily="50" charset="-128"/>
                <a:ea typeface="IBM Plex Sans JP" panose="020B0503050203000203" pitchFamily="50" charset="-128"/>
              </a:rPr>
              <a:t>に記載されている数値はフィラメント</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の割合です。そのためこの例ではイエローを</a:t>
            </a:r>
            <a:r>
              <a:rPr lang="en-US" altLang="ja-JP" sz="1000" dirty="0">
                <a:latin typeface="IBM Plex Sans JP" panose="020B0503050203000203" pitchFamily="50" charset="-128"/>
                <a:ea typeface="IBM Plex Sans JP" panose="020B0503050203000203" pitchFamily="50" charset="-128"/>
              </a:rPr>
              <a:t>75%</a:t>
            </a:r>
            <a:r>
              <a:rPr lang="ja-JP" altLang="ja-JP" sz="1000" dirty="0">
                <a:latin typeface="IBM Plex Sans JP" panose="020B0503050203000203" pitchFamily="50" charset="-128"/>
                <a:ea typeface="IBM Plex Sans JP" panose="020B0503050203000203" pitchFamily="50" charset="-128"/>
              </a:rPr>
              <a:t>にすると読み替えて、スライスまでのの設定を選びます。</a:t>
            </a:r>
          </a:p>
        </p:txBody>
      </p:sp>
      <p:sp>
        <p:nvSpPr>
          <p:cNvPr id="24" name="テキスト ボックス 23">
            <a:extLst>
              <a:ext uri="{FF2B5EF4-FFF2-40B4-BE49-F238E27FC236}">
                <a16:creationId xmlns:a16="http://schemas.microsoft.com/office/drawing/2014/main" id="{33E7CC69-3B3F-F3A6-3DCF-D170E51F244D}"/>
              </a:ext>
            </a:extLst>
          </p:cNvPr>
          <p:cNvSpPr txBox="1"/>
          <p:nvPr/>
        </p:nvSpPr>
        <p:spPr>
          <a:xfrm>
            <a:off x="668508" y="5139175"/>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のモデル構成です。</a:t>
            </a:r>
          </a:p>
        </p:txBody>
      </p:sp>
      <p:sp>
        <p:nvSpPr>
          <p:cNvPr id="17" name="テキスト ボックス 16">
            <a:extLst>
              <a:ext uri="{FF2B5EF4-FFF2-40B4-BE49-F238E27FC236}">
                <a16:creationId xmlns:a16="http://schemas.microsoft.com/office/drawing/2014/main" id="{166FC322-1D62-A69F-56DF-8F820EB033E3}"/>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2</a:t>
            </a:r>
            <a:endParaRPr kumimoji="1" lang="ja-JP" altLang="en-US" dirty="0"/>
          </a:p>
        </p:txBody>
      </p:sp>
      <p:pic>
        <p:nvPicPr>
          <p:cNvPr id="6" name="図 5">
            <a:extLst>
              <a:ext uri="{FF2B5EF4-FFF2-40B4-BE49-F238E27FC236}">
                <a16:creationId xmlns:a16="http://schemas.microsoft.com/office/drawing/2014/main" id="{7FF0E792-A38B-747E-188B-EDEFE7B8E24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294" y="4139598"/>
            <a:ext cx="5683050" cy="934192"/>
          </a:xfrm>
          <a:prstGeom prst="rect">
            <a:avLst/>
          </a:prstGeom>
          <a:noFill/>
          <a:extLst>
            <a:ext uri="{909E8E84-426E-40DD-AFC4-6F175D3DCCD1}">
              <a14:hiddenFill xmlns:a14="http://schemas.microsoft.com/office/drawing/2010/main">
                <a:solidFill>
                  <a:srgbClr val="FFFFFF"/>
                </a:solidFill>
              </a14:hiddenFill>
            </a:ext>
          </a:extLst>
        </p:spPr>
      </p:pic>
      <p:pic>
        <p:nvPicPr>
          <p:cNvPr id="7" name="図 6">
            <a:extLst>
              <a:ext uri="{FF2B5EF4-FFF2-40B4-BE49-F238E27FC236}">
                <a16:creationId xmlns:a16="http://schemas.microsoft.com/office/drawing/2014/main" id="{E5A4FB0A-A5FC-63EA-BF19-E63952C51898}"/>
              </a:ext>
            </a:extLst>
          </p:cNvPr>
          <p:cNvPicPr>
            <a:picLocks noChangeAspect="1" noChangeArrowheads="1"/>
            <a:extLst>
              <a:ext uri="{84589F7E-364E-4C9E-8A38-B11213B215E9}">
                <a14:cameraTool xmlns:a14="http://schemas.microsoft.com/office/drawing/2010/main" cellRange="$B$40:$G$76"/>
              </a:ext>
            </a:extLst>
          </p:cNvPicPr>
          <p:nvPr/>
        </p:nvPicPr>
        <p:blipFill>
          <a:blip r:embed="rId3"/>
          <a:srcRect/>
          <a:stretch>
            <a:fillRect/>
          </a:stretch>
        </p:blipFill>
        <p:spPr bwMode="auto">
          <a:xfrm>
            <a:off x="1078169" y="5396154"/>
            <a:ext cx="4719362" cy="3150795"/>
          </a:xfrm>
          <a:prstGeom prst="rect">
            <a:avLst/>
          </a:prstGeom>
          <a:noFill/>
          <a:extLst>
            <a:ext uri="{909E8E84-426E-40DD-AFC4-6F175D3DCCD1}">
              <a14:hiddenFill xmlns:a14="http://schemas.microsoft.com/office/drawing/2010/main">
                <a:solidFill>
                  <a:srgbClr val="FFFFFF"/>
                </a:solidFill>
              </a14:hiddenFill>
            </a:ext>
          </a:extLst>
        </p:spPr>
      </p:pic>
      <p:pic>
        <p:nvPicPr>
          <p:cNvPr id="9" name="図 8">
            <a:extLst>
              <a:ext uri="{FF2B5EF4-FFF2-40B4-BE49-F238E27FC236}">
                <a16:creationId xmlns:a16="http://schemas.microsoft.com/office/drawing/2014/main" id="{E8973490-605C-44EF-9E8A-030793D954F7}"/>
              </a:ext>
            </a:extLst>
          </p:cNvPr>
          <p:cNvPicPr>
            <a:picLocks noChangeAspect="1"/>
          </p:cNvPicPr>
          <p:nvPr/>
        </p:nvPicPr>
        <p:blipFill>
          <a:blip r:embed="rId4"/>
          <a:stretch>
            <a:fillRect/>
          </a:stretch>
        </p:blipFill>
        <p:spPr>
          <a:xfrm>
            <a:off x="1138327" y="1373124"/>
            <a:ext cx="4626732" cy="1030343"/>
          </a:xfrm>
          <a:prstGeom prst="rect">
            <a:avLst/>
          </a:prstGeom>
        </p:spPr>
      </p:pic>
    </p:spTree>
    <p:extLst>
      <p:ext uri="{BB962C8B-B14F-4D97-AF65-F5344CB8AC3E}">
        <p14:creationId xmlns:p14="http://schemas.microsoft.com/office/powerpoint/2010/main" val="34920682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907F-33A2-C649-A0EB-5ACCE72727A5}"/>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6F0F53F1-FFCD-EDD8-027D-BB71DCD5E93F}"/>
              </a:ext>
            </a:extLst>
          </p:cNvPr>
          <p:cNvSpPr/>
          <p:nvPr/>
        </p:nvSpPr>
        <p:spPr>
          <a:xfrm>
            <a:off x="51086"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 name="フリーフォーム: 図形 18">
            <a:extLst>
              <a:ext uri="{FF2B5EF4-FFF2-40B4-BE49-F238E27FC236}">
                <a16:creationId xmlns:a16="http://schemas.microsoft.com/office/drawing/2014/main" id="{E925E3B5-F543-14FD-B64D-E00E01624B23}"/>
              </a:ext>
            </a:extLst>
          </p:cNvPr>
          <p:cNvSpPr/>
          <p:nvPr/>
        </p:nvSpPr>
        <p:spPr>
          <a:xfrm>
            <a:off x="17051" y="5531"/>
            <a:ext cx="6858000" cy="9144000"/>
          </a:xfrm>
          <a:custGeom>
            <a:avLst/>
            <a:gdLst>
              <a:gd name="connsiteX0" fmla="*/ 3717793 w 6858000"/>
              <a:gd name="connsiteY0" fmla="*/ 8656386 h 9144000"/>
              <a:gd name="connsiteX1" fmla="*/ 3717793 w 6858000"/>
              <a:gd name="connsiteY1" fmla="*/ 8710386 h 9144000"/>
              <a:gd name="connsiteX2" fmla="*/ 6309793 w 6858000"/>
              <a:gd name="connsiteY2" fmla="*/ 8710386 h 9144000"/>
              <a:gd name="connsiteX3" fmla="*/ 6309793 w 6858000"/>
              <a:gd name="connsiteY3" fmla="*/ 8656386 h 9144000"/>
              <a:gd name="connsiteX4" fmla="*/ 537487 w 6858000"/>
              <a:gd name="connsiteY4" fmla="*/ 8656386 h 9144000"/>
              <a:gd name="connsiteX5" fmla="*/ 537487 w 6858000"/>
              <a:gd name="connsiteY5" fmla="*/ 8710386 h 9144000"/>
              <a:gd name="connsiteX6" fmla="*/ 3129487 w 6858000"/>
              <a:gd name="connsiteY6" fmla="*/ 8710386 h 9144000"/>
              <a:gd name="connsiteX7" fmla="*/ 3129487 w 6858000"/>
              <a:gd name="connsiteY7" fmla="*/ 8656386 h 9144000"/>
              <a:gd name="connsiteX8" fmla="*/ 631632 w 6858000"/>
              <a:gd name="connsiteY8" fmla="*/ 7880006 h 9144000"/>
              <a:gd name="connsiteX9" fmla="*/ 529297 w 6858000"/>
              <a:gd name="connsiteY9" fmla="*/ 7982341 h 9144000"/>
              <a:gd name="connsiteX10" fmla="*/ 631632 w 6858000"/>
              <a:gd name="connsiteY10" fmla="*/ 8084676 h 9144000"/>
              <a:gd name="connsiteX11" fmla="*/ 733967 w 6858000"/>
              <a:gd name="connsiteY11" fmla="*/ 7982341 h 9144000"/>
              <a:gd name="connsiteX12" fmla="*/ 631632 w 6858000"/>
              <a:gd name="connsiteY12" fmla="*/ 7880006 h 9144000"/>
              <a:gd name="connsiteX13" fmla="*/ 651459 w 6858000"/>
              <a:gd name="connsiteY13" fmla="*/ 672371 h 9144000"/>
              <a:gd name="connsiteX14" fmla="*/ 549124 w 6858000"/>
              <a:gd name="connsiteY14" fmla="*/ 774706 h 9144000"/>
              <a:gd name="connsiteX15" fmla="*/ 651459 w 6858000"/>
              <a:gd name="connsiteY15" fmla="*/ 877041 h 9144000"/>
              <a:gd name="connsiteX16" fmla="*/ 753794 w 6858000"/>
              <a:gd name="connsiteY16" fmla="*/ 774706 h 9144000"/>
              <a:gd name="connsiteX17" fmla="*/ 651459 w 6858000"/>
              <a:gd name="connsiteY17" fmla="*/ 672371 h 9144000"/>
              <a:gd name="connsiteX18" fmla="*/ 537486 w 6858000"/>
              <a:gd name="connsiteY18" fmla="*/ 446937 h 9144000"/>
              <a:gd name="connsiteX19" fmla="*/ 537486 w 6858000"/>
              <a:gd name="connsiteY19" fmla="*/ 500937 h 9144000"/>
              <a:gd name="connsiteX20" fmla="*/ 6293679 w 6858000"/>
              <a:gd name="connsiteY20" fmla="*/ 500937 h 9144000"/>
              <a:gd name="connsiteX21" fmla="*/ 6293679 w 6858000"/>
              <a:gd name="connsiteY21" fmla="*/ 446937 h 9144000"/>
              <a:gd name="connsiteX22" fmla="*/ 0 w 6858000"/>
              <a:gd name="connsiteY22" fmla="*/ 0 h 9144000"/>
              <a:gd name="connsiteX23" fmla="*/ 6858000 w 6858000"/>
              <a:gd name="connsiteY23" fmla="*/ 0 h 9144000"/>
              <a:gd name="connsiteX24" fmla="*/ 6858000 w 6858000"/>
              <a:gd name="connsiteY24" fmla="*/ 9144000 h 9144000"/>
              <a:gd name="connsiteX25" fmla="*/ 0 w 6858000"/>
              <a:gd name="connsiteY25"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31632" y="7880006"/>
                </a:moveTo>
                <a:cubicBezTo>
                  <a:pt x="575114" y="7880006"/>
                  <a:pt x="529297" y="7925823"/>
                  <a:pt x="529297" y="7982341"/>
                </a:cubicBezTo>
                <a:cubicBezTo>
                  <a:pt x="529297" y="8038859"/>
                  <a:pt x="575114" y="8084676"/>
                  <a:pt x="631632" y="8084676"/>
                </a:cubicBezTo>
                <a:cubicBezTo>
                  <a:pt x="688150" y="8084676"/>
                  <a:pt x="733967" y="8038859"/>
                  <a:pt x="733967" y="7982341"/>
                </a:cubicBezTo>
                <a:cubicBezTo>
                  <a:pt x="733967" y="7925823"/>
                  <a:pt x="688150" y="7880006"/>
                  <a:pt x="631632" y="7880006"/>
                </a:cubicBezTo>
                <a:close/>
                <a:moveTo>
                  <a:pt x="651459" y="672371"/>
                </a:moveTo>
                <a:cubicBezTo>
                  <a:pt x="594941" y="672371"/>
                  <a:pt x="549124" y="718188"/>
                  <a:pt x="549124" y="774706"/>
                </a:cubicBezTo>
                <a:cubicBezTo>
                  <a:pt x="549124" y="831224"/>
                  <a:pt x="594941" y="877041"/>
                  <a:pt x="651459" y="877041"/>
                </a:cubicBezTo>
                <a:cubicBezTo>
                  <a:pt x="707977" y="877041"/>
                  <a:pt x="753794" y="831224"/>
                  <a:pt x="753794" y="774706"/>
                </a:cubicBezTo>
                <a:cubicBezTo>
                  <a:pt x="753794" y="718188"/>
                  <a:pt x="707977" y="672371"/>
                  <a:pt x="651459" y="672371"/>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p>
        </p:txBody>
      </p:sp>
      <p:sp>
        <p:nvSpPr>
          <p:cNvPr id="17" name="テキスト ボックス 16">
            <a:extLst>
              <a:ext uri="{FF2B5EF4-FFF2-40B4-BE49-F238E27FC236}">
                <a16:creationId xmlns:a16="http://schemas.microsoft.com/office/drawing/2014/main" id="{179A80EA-C038-4703-1BDB-466354340DA6}"/>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3</a:t>
            </a:r>
            <a:endParaRPr kumimoji="1" lang="ja-JP" altLang="en-US" dirty="0"/>
          </a:p>
        </p:txBody>
      </p:sp>
      <p:sp>
        <p:nvSpPr>
          <p:cNvPr id="31" name="テキスト ボックス 30">
            <a:extLst>
              <a:ext uri="{FF2B5EF4-FFF2-40B4-BE49-F238E27FC236}">
                <a16:creationId xmlns:a16="http://schemas.microsoft.com/office/drawing/2014/main" id="{24A4ADEE-BA21-83FA-B3D3-284329685B4E}"/>
              </a:ext>
            </a:extLst>
          </p:cNvPr>
          <p:cNvSpPr txBox="1"/>
          <p:nvPr/>
        </p:nvSpPr>
        <p:spPr>
          <a:xfrm>
            <a:off x="770844" y="599259"/>
            <a:ext cx="273985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5. Gradient Filament</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32" name="テキスト ボックス 31">
            <a:extLst>
              <a:ext uri="{FF2B5EF4-FFF2-40B4-BE49-F238E27FC236}">
                <a16:creationId xmlns:a16="http://schemas.microsoft.com/office/drawing/2014/main" id="{18D0FA83-5583-654E-ABDF-7AC285062148}"/>
              </a:ext>
            </a:extLst>
          </p:cNvPr>
          <p:cNvSpPr txBox="1"/>
          <p:nvPr/>
        </p:nvSpPr>
        <p:spPr>
          <a:xfrm>
            <a:off x="668508" y="977823"/>
            <a:ext cx="5649491" cy="1661993"/>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シリーズは色の組み合わせに合わせた複数のカーブ</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とプレートごとにサイクル数が違うモデルを持っています。詳細は各モデルの説明文をご確認ください。</a:t>
            </a:r>
          </a:p>
          <a:p>
            <a:r>
              <a:rPr lang="en-US" altLang="ja-JP" sz="600" dirty="0">
                <a:latin typeface="IBM Plex Sans JP" panose="020B0503050203000203" pitchFamily="50" charset="-128"/>
                <a:ea typeface="IBM Plex Sans JP" panose="020B0503050203000203" pitchFamily="50" charset="-128"/>
              </a:rPr>
              <a:t> </a:t>
            </a:r>
          </a:p>
          <a:p>
            <a:pPr marL="171450" indent="-171450">
              <a:buFont typeface="Arial" panose="020B0604020202020204" pitchFamily="34" charset="0"/>
              <a:buChar char="•"/>
            </a:pPr>
            <a:r>
              <a:rPr lang="ja-JP" altLang="ja-JP" sz="1000" dirty="0">
                <a:latin typeface="IBM Plex Sans JP" panose="020B0503050203000203" pitchFamily="50" charset="-128"/>
                <a:ea typeface="IBM Plex Sans JP" panose="020B0503050203000203" pitchFamily="50" charset="-128"/>
              </a:rPr>
              <a:t>カラーカーブ：色の組み合わせに応じた設定。シアンとイエローならば</a:t>
            </a:r>
            <a:r>
              <a:rPr lang="en-US" altLang="ja-JP" sz="1000" dirty="0">
                <a:latin typeface="IBM Plex Sans JP" panose="020B0503050203000203" pitchFamily="50" charset="-128"/>
                <a:ea typeface="IBM Plex Sans JP" panose="020B0503050203000203" pitchFamily="50" charset="-128"/>
              </a:rPr>
              <a:t>Vivid</a:t>
            </a:r>
            <a:r>
              <a:rPr lang="ja-JP" altLang="ja-JP" sz="1000" dirty="0">
                <a:latin typeface="IBM Plex Sans JP" panose="020B0503050203000203" pitchFamily="50" charset="-128"/>
                <a:ea typeface="IBM Plex Sans JP" panose="020B0503050203000203" pitchFamily="50" charset="-128"/>
              </a:rPr>
              <a:t>、白とマゼンタならば</a:t>
            </a:r>
            <a:r>
              <a:rPr lang="en-US" altLang="ja-JP" sz="1000" dirty="0">
                <a:latin typeface="IBM Plex Sans JP" panose="020B0503050203000203" pitchFamily="50" charset="-128"/>
                <a:ea typeface="IBM Plex Sans JP" panose="020B0503050203000203" pitchFamily="50" charset="-128"/>
              </a:rPr>
              <a:t>Contrast</a:t>
            </a:r>
            <a:r>
              <a:rPr lang="ja-JP" altLang="ja-JP" sz="1000" dirty="0">
                <a:latin typeface="IBM Plex Sans JP" panose="020B0503050203000203" pitchFamily="50" charset="-128"/>
                <a:ea typeface="IBM Plex Sans JP" panose="020B0503050203000203" pitchFamily="50" charset="-128"/>
              </a:rPr>
              <a:t>と言う風に色に応じた最適なグラデーションを選ぶための項目。</a:t>
            </a:r>
          </a:p>
          <a:p>
            <a:pPr marL="171450" indent="-171450">
              <a:buFont typeface="Arial" panose="020B0604020202020204" pitchFamily="34" charset="0"/>
              <a:buChar char="•"/>
            </a:pPr>
            <a:r>
              <a:rPr lang="ja-JP" altLang="ja-JP" sz="1000" dirty="0">
                <a:latin typeface="IBM Plex Sans JP" panose="020B0503050203000203" pitchFamily="50" charset="-128"/>
                <a:ea typeface="IBM Plex Sans JP" panose="020B0503050203000203" pitchFamily="50" charset="-128"/>
              </a:rPr>
              <a:t>サイクル数：グラデーションの頻度を変える数。サイクル数はフィラメントが</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B</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と変化して戻ることを</a:t>
            </a:r>
            <a:r>
              <a:rPr lang="en-US" altLang="ja-JP" sz="1000" dirty="0">
                <a:latin typeface="IBM Plex Sans JP" panose="020B0503050203000203" pitchFamily="50" charset="-128"/>
                <a:ea typeface="IBM Plex Sans JP" panose="020B0503050203000203" pitchFamily="50" charset="-128"/>
              </a:rPr>
              <a:t>1</a:t>
            </a:r>
            <a:r>
              <a:rPr lang="ja-JP" altLang="ja-JP" sz="1000" dirty="0">
                <a:latin typeface="IBM Plex Sans JP" panose="020B0503050203000203" pitchFamily="50" charset="-128"/>
                <a:ea typeface="IBM Plex Sans JP" panose="020B0503050203000203" pitchFamily="50" charset="-128"/>
              </a:rPr>
              <a:t>回と数える。</a:t>
            </a:r>
          </a:p>
          <a:p>
            <a:endParaRPr lang="ja-JP" altLang="ja-JP" sz="6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以下はシアンとマゼンタの速い周期の</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ja-JP" altLang="ja-JP" sz="1000" dirty="0">
                <a:latin typeface="IBM Plex Sans JP" panose="020B0503050203000203" pitchFamily="50" charset="-128"/>
                <a:ea typeface="IBM Plex Sans JP" panose="020B0503050203000203" pitchFamily="50" charset="-128"/>
              </a:rPr>
              <a:t>周期はモデルサイズとサイクル数に影響されます。そのため、</a:t>
            </a:r>
            <a:r>
              <a:rPr lang="en-US" altLang="ja-JP" sz="1000" dirty="0">
                <a:latin typeface="IBM Plex Sans JP" panose="020B0503050203000203" pitchFamily="50" charset="-128"/>
                <a:ea typeface="IBM Plex Sans JP" panose="020B0503050203000203" pitchFamily="50" charset="-128"/>
              </a:rPr>
              <a:t>S4</a:t>
            </a:r>
            <a:r>
              <a:rPr lang="ja-JP" altLang="ja-JP" sz="1000" dirty="0">
                <a:latin typeface="IBM Plex Sans JP" panose="020B0503050203000203" pitchFamily="50" charset="-128"/>
                <a:ea typeface="IBM Plex Sans JP" panose="020B0503050203000203" pitchFamily="50" charset="-128"/>
              </a:rPr>
              <a:t>のモデルを選び、サイクル数は</a:t>
            </a:r>
            <a:r>
              <a:rPr lang="en-US" altLang="ja-JP" sz="1000" dirty="0">
                <a:latin typeface="IBM Plex Sans JP" panose="020B0503050203000203" pitchFamily="50" charset="-128"/>
                <a:ea typeface="IBM Plex Sans JP" panose="020B0503050203000203" pitchFamily="50" charset="-128"/>
              </a:rPr>
              <a:t>4</a:t>
            </a:r>
            <a:r>
              <a:rPr lang="ja-JP" altLang="ja-JP" sz="1000" dirty="0">
                <a:latin typeface="IBM Plex Sans JP" panose="020B0503050203000203" pitchFamily="50" charset="-128"/>
                <a:ea typeface="IBM Plex Sans JP" panose="020B0503050203000203" pitchFamily="50" charset="-128"/>
              </a:rPr>
              <a:t>サイクルを選ぶこととします。また、色相の離れた組合せなので</a:t>
            </a:r>
            <a:r>
              <a:rPr lang="en-US" altLang="ja-JP" sz="1000" dirty="0">
                <a:latin typeface="IBM Plex Sans JP" panose="020B0503050203000203" pitchFamily="50" charset="-128"/>
                <a:ea typeface="IBM Plex Sans JP" panose="020B0503050203000203" pitchFamily="50" charset="-128"/>
              </a:rPr>
              <a:t>Vivid</a:t>
            </a:r>
            <a:r>
              <a:rPr lang="ja-JP" altLang="ja-JP" sz="1000" dirty="0">
                <a:latin typeface="IBM Plex Sans JP" panose="020B0503050203000203" pitchFamily="50" charset="-128"/>
                <a:ea typeface="IBM Plex Sans JP" panose="020B0503050203000203" pitchFamily="50" charset="-128"/>
              </a:rPr>
              <a:t>カーブを選びます。</a:t>
            </a:r>
            <a:endParaRPr kumimoji="1" lang="ja-JP" altLang="en-US" sz="1000" b="1" dirty="0">
              <a:latin typeface="IBM Plex Sans JP" panose="020B0503050203000203" pitchFamily="50" charset="-128"/>
              <a:ea typeface="IBM Plex Sans JP" panose="020B0503050203000203" pitchFamily="50" charset="-128"/>
            </a:endParaRPr>
          </a:p>
        </p:txBody>
      </p:sp>
      <p:sp>
        <p:nvSpPr>
          <p:cNvPr id="33" name="テキスト ボックス 32">
            <a:extLst>
              <a:ext uri="{FF2B5EF4-FFF2-40B4-BE49-F238E27FC236}">
                <a16:creationId xmlns:a16="http://schemas.microsoft.com/office/drawing/2014/main" id="{F2AEC5C2-C759-5468-B690-686B74E6A68E}"/>
              </a:ext>
            </a:extLst>
          </p:cNvPr>
          <p:cNvSpPr txBox="1"/>
          <p:nvPr/>
        </p:nvSpPr>
        <p:spPr>
          <a:xfrm>
            <a:off x="675777" y="3747798"/>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のモデル構成です。</a:t>
            </a:r>
            <a:endParaRPr lang="en-US" altLang="ja-JP" sz="10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5DD33A85-D920-6841-D122-FE5141E331ED}"/>
              </a:ext>
            </a:extLst>
          </p:cNvPr>
          <p:cNvSpPr txBox="1"/>
          <p:nvPr/>
        </p:nvSpPr>
        <p:spPr>
          <a:xfrm>
            <a:off x="778114" y="7851411"/>
            <a:ext cx="1250663" cy="338554"/>
          </a:xfrm>
          <a:prstGeom prst="rect">
            <a:avLst/>
          </a:prstGeom>
          <a:noFill/>
        </p:spPr>
        <p:txBody>
          <a:bodyPr wrap="none" rtlCol="0">
            <a:spAutoFit/>
          </a:bodyPr>
          <a:lstStyle/>
          <a:p>
            <a:r>
              <a:rPr lang="en-US" altLang="ja-JP" sz="1600" dirty="0">
                <a:latin typeface="IBM Plex Sans JP SemiBold" panose="020B0703050203000203" pitchFamily="50" charset="-128"/>
                <a:ea typeface="IBM Plex Sans JP SemiBold" panose="020B0703050203000203" pitchFamily="50" charset="-128"/>
              </a:rPr>
              <a:t>6.</a:t>
            </a:r>
            <a:r>
              <a:rPr lang="ja-JP" altLang="en-US" sz="1600" dirty="0">
                <a:latin typeface="IBM Plex Sans JP SemiBold" panose="020B0703050203000203" pitchFamily="50" charset="-128"/>
                <a:ea typeface="IBM Plex Sans JP SemiBold" panose="020B0703050203000203" pitchFamily="50" charset="-128"/>
              </a:rPr>
              <a:t> 更新履歴</a:t>
            </a:r>
            <a:endParaRPr kumimoji="1" lang="ja-JP" altLang="en-US" b="1" dirty="0">
              <a:latin typeface="IBM Plex Sans JP SemiBold" panose="020B0703050203000203" pitchFamily="50" charset="-128"/>
              <a:ea typeface="IBM Plex Sans JP SemiBold" panose="020B0703050203000203" pitchFamily="50" charset="-128"/>
            </a:endParaRPr>
          </a:p>
        </p:txBody>
      </p:sp>
      <p:sp>
        <p:nvSpPr>
          <p:cNvPr id="35" name="テキスト ボックス 34">
            <a:extLst>
              <a:ext uri="{FF2B5EF4-FFF2-40B4-BE49-F238E27FC236}">
                <a16:creationId xmlns:a16="http://schemas.microsoft.com/office/drawing/2014/main" id="{21B2D047-2B66-EC11-16BD-6EF9E52897C1}"/>
              </a:ext>
            </a:extLst>
          </p:cNvPr>
          <p:cNvSpPr txBox="1"/>
          <p:nvPr/>
        </p:nvSpPr>
        <p:spPr>
          <a:xfrm>
            <a:off x="638323" y="8189977"/>
            <a:ext cx="5649491" cy="507831"/>
          </a:xfrm>
          <a:prstGeom prst="rect">
            <a:avLst/>
          </a:prstGeom>
          <a:noFill/>
        </p:spPr>
        <p:txBody>
          <a:bodyPr wrap="square" rtlCol="0">
            <a:spAutoFit/>
          </a:bodyPr>
          <a:lstStyle/>
          <a:p>
            <a:r>
              <a:rPr lang="en-US" altLang="ja-JP" sz="900" dirty="0">
                <a:latin typeface="IBM Plex Sans JP" panose="020B0503050203000203" pitchFamily="50" charset="-128"/>
                <a:ea typeface="IBM Plex Sans JP" panose="020B0503050203000203" pitchFamily="50" charset="-128"/>
              </a:rPr>
              <a:t>Ver.1.00  2026-07-02  </a:t>
            </a:r>
            <a:r>
              <a:rPr lang="ja-JP" altLang="en-US" sz="900" dirty="0">
                <a:latin typeface="IBM Plex Sans JP" panose="020B0503050203000203" pitchFamily="50" charset="-128"/>
                <a:ea typeface="IBM Plex Sans JP" panose="020B0503050203000203" pitchFamily="50" charset="-128"/>
              </a:rPr>
              <a:t>初版発行</a:t>
            </a:r>
            <a:endParaRPr lang="en-US" altLang="ja-JP" sz="900" dirty="0">
              <a:latin typeface="IBM Plex Sans JP" panose="020B0503050203000203" pitchFamily="50" charset="-128"/>
              <a:ea typeface="IBM Plex Sans JP" panose="020B0503050203000203" pitchFamily="50" charset="-128"/>
            </a:endParaRPr>
          </a:p>
          <a:p>
            <a:r>
              <a:rPr lang="en-US" altLang="ja-JP" sz="900" dirty="0">
                <a:latin typeface="IBM Plex Sans JP" panose="020B0503050203000203" pitchFamily="50" charset="-128"/>
                <a:ea typeface="IBM Plex Sans JP" panose="020B0503050203000203" pitchFamily="50" charset="-128"/>
              </a:rPr>
              <a:t>Ver.1.10  2026-07-22  </a:t>
            </a:r>
            <a:r>
              <a:rPr lang="ja-JP" altLang="en-US" sz="900" dirty="0">
                <a:latin typeface="IBM Plex Sans JP" panose="020B0503050203000203" pitchFamily="50" charset="-128"/>
                <a:ea typeface="IBM Plex Sans JP" panose="020B0503050203000203" pitchFamily="50" charset="-128"/>
              </a:rPr>
              <a:t>統一デザイン反映</a:t>
            </a:r>
            <a:endParaRPr lang="en-US" altLang="ja-JP" sz="900" dirty="0">
              <a:latin typeface="IBM Plex Sans JP" panose="020B0503050203000203" pitchFamily="50" charset="-128"/>
              <a:ea typeface="IBM Plex Sans JP" panose="020B0503050203000203" pitchFamily="50" charset="-128"/>
            </a:endParaRPr>
          </a:p>
          <a:p>
            <a:endParaRPr kumimoji="1" lang="ja-JP" altLang="en-US" sz="900" b="1" dirty="0">
              <a:latin typeface="IBM Plex Sans JP" panose="020B0503050203000203" pitchFamily="50" charset="-128"/>
              <a:ea typeface="IBM Plex Sans JP" panose="020B0503050203000203" pitchFamily="50" charset="-128"/>
            </a:endParaRPr>
          </a:p>
        </p:txBody>
      </p:sp>
      <p:pic>
        <p:nvPicPr>
          <p:cNvPr id="4" name="図 3">
            <a:extLst>
              <a:ext uri="{FF2B5EF4-FFF2-40B4-BE49-F238E27FC236}">
                <a16:creationId xmlns:a16="http://schemas.microsoft.com/office/drawing/2014/main" id="{5054E477-2DA7-9D3A-B0E9-128138D37C4F}"/>
              </a:ext>
            </a:extLst>
          </p:cNvPr>
          <p:cNvPicPr>
            <a:picLocks noChangeAspect="1"/>
          </p:cNvPicPr>
          <p:nvPr/>
        </p:nvPicPr>
        <p:blipFill>
          <a:blip r:embed="rId2"/>
          <a:stretch>
            <a:fillRect/>
          </a:stretch>
        </p:blipFill>
        <p:spPr>
          <a:xfrm>
            <a:off x="526692" y="2704662"/>
            <a:ext cx="5804615" cy="930599"/>
          </a:xfrm>
          <a:prstGeom prst="rect">
            <a:avLst/>
          </a:prstGeom>
        </p:spPr>
      </p:pic>
      <p:pic>
        <p:nvPicPr>
          <p:cNvPr id="2" name="図 1">
            <a:extLst>
              <a:ext uri="{FF2B5EF4-FFF2-40B4-BE49-F238E27FC236}">
                <a16:creationId xmlns:a16="http://schemas.microsoft.com/office/drawing/2014/main" id="{C663F516-8DF3-94C3-7664-FFDF89289F1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43534" y="4106556"/>
            <a:ext cx="4770931" cy="36382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9485769"/>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315</TotalTime>
  <Words>1412</Words>
  <Application>Microsoft Office PowerPoint</Application>
  <PresentationFormat>画面に合わせる (4:3)</PresentationFormat>
  <Paragraphs>76</Paragraphs>
  <Slides>7</Slides>
  <Notes>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7</vt:i4>
      </vt:variant>
    </vt:vector>
  </HeadingPairs>
  <TitlesOfParts>
    <vt:vector size="15" baseType="lpstr">
      <vt:lpstr>IBM Plex Sans JP</vt:lpstr>
      <vt:lpstr>IBM Plex Sans JP Light</vt:lpstr>
      <vt:lpstr>IBM Plex Sans JP SemiBold</vt:lpstr>
      <vt:lpstr>Aptos</vt:lpstr>
      <vt:lpstr>Aptos Display</vt:lpstr>
      <vt:lpstr>Arial</vt:lpstr>
      <vt:lpstr>Segoe UI Semibold</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MAKOTO YAZAKI (矢﨑 誠)</dc:creator>
  <cp:lastModifiedBy>誠 矢崎</cp:lastModifiedBy>
  <cp:revision>23</cp:revision>
  <cp:lastPrinted>2026-08-08T00:08:01Z</cp:lastPrinted>
  <dcterms:created xsi:type="dcterms:W3CDTF">2026-07-22T02:46:18Z</dcterms:created>
  <dcterms:modified xsi:type="dcterms:W3CDTF">2026-08-08T00:11:53Z</dcterms:modified>
</cp:coreProperties>
</file>