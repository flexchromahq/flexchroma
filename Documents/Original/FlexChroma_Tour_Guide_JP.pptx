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Lst>
  <p:sldSz cx="6858000" cy="9144000" type="screen4x3"/>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5E5"/>
    <a:srgbClr val="6200E8"/>
    <a:srgbClr val="EE00B0"/>
    <a:srgbClr val="0086D6"/>
    <a:srgbClr val="FF00FF"/>
    <a:srgbClr val="AE00F4"/>
    <a:srgbClr val="5800E1"/>
    <a:srgbClr val="EC00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78" autoAdjust="0"/>
    <p:restoredTop sz="94660"/>
  </p:normalViewPr>
  <p:slideViewPr>
    <p:cSldViewPr snapToGrid="0">
      <p:cViewPr varScale="1">
        <p:scale>
          <a:sx n="79" d="100"/>
          <a:sy n="79" d="100"/>
        </p:scale>
        <p:origin x="25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ja-JP" altLang="en-US"/>
              <a:t>マスター タイトルの書式設定</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2026/9/16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3241936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2026/9/16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125556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2026/9/16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2448264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71132294-360C-4425-B294-91EF6E97A591}" type="datetimeFigureOut">
              <a:rPr kumimoji="1" lang="ja-JP" altLang="en-US" smtClean="0"/>
              <a:t>2026/9/16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075338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4" name="Content Placeholder 3"/>
          <p:cNvSpPr>
            <a:spLocks noGrp="1"/>
          </p:cNvSpPr>
          <p:nvPr>
            <p:ph sz="half" idx="2"/>
          </p:nvPr>
        </p:nvSpPr>
        <p:spPr>
          <a:xfrm>
            <a:off x="472381" y="3340100"/>
            <a:ext cx="2901255" cy="4912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ja-JP" altLang="en-US"/>
              <a:t>マスター テキストの書式設定</a:t>
            </a:r>
          </a:p>
        </p:txBody>
      </p:sp>
      <p:sp>
        <p:nvSpPr>
          <p:cNvPr id="6" name="Content Placeholder 5"/>
          <p:cNvSpPr>
            <a:spLocks noGrp="1"/>
          </p:cNvSpPr>
          <p:nvPr>
            <p:ph sz="quarter" idx="4"/>
          </p:nvPr>
        </p:nvSpPr>
        <p:spPr>
          <a:xfrm>
            <a:off x="3471863" y="3340100"/>
            <a:ext cx="2915543" cy="491278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71132294-360C-4425-B294-91EF6E97A591}" type="datetimeFigureOut">
              <a:rPr kumimoji="1" lang="ja-JP" altLang="en-US" smtClean="0"/>
              <a:t>2026/9/16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458540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71132294-360C-4425-B294-91EF6E97A591}" type="datetimeFigureOut">
              <a:rPr kumimoji="1" lang="ja-JP" altLang="en-US" smtClean="0"/>
              <a:t>2026/9/16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437606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132294-360C-4425-B294-91EF6E97A591}" type="datetimeFigureOut">
              <a:rPr kumimoji="1" lang="ja-JP" altLang="en-US" smtClean="0"/>
              <a:t>2026/9/16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048455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ja-JP" altLang="en-US"/>
              <a:t>マスター タイトルの書式設定</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1132294-360C-4425-B294-91EF6E97A591}" type="datetimeFigureOut">
              <a:rPr kumimoji="1" lang="ja-JP" altLang="en-US" smtClean="0"/>
              <a:t>2026/9/16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4001763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1132294-360C-4425-B294-91EF6E97A591}" type="datetimeFigureOut">
              <a:rPr kumimoji="1" lang="ja-JP" altLang="en-US" smtClean="0"/>
              <a:t>2026/9/16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86067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2026/9/16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2870933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1132294-360C-4425-B294-91EF6E97A591}" type="datetimeFigureOut">
              <a:rPr kumimoji="1" lang="ja-JP" altLang="en-US" smtClean="0"/>
              <a:t>2026/9/16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107239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71132294-360C-4425-B294-91EF6E97A591}" type="datetimeFigureOut">
              <a:rPr kumimoji="1" lang="ja-JP" altLang="en-US" smtClean="0"/>
              <a:t>2026/9/16</a:t>
            </a:fld>
            <a:endParaRPr kumimoji="1" lang="ja-JP" alt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DA6D0D1E-ED99-4718-8602-49CD12995A57}" type="slidenum">
              <a:rPr kumimoji="1" lang="ja-JP" altLang="en-US" smtClean="0"/>
              <a:t>‹#›</a:t>
            </a:fld>
            <a:endParaRPr kumimoji="1" lang="ja-JP" altLang="en-US"/>
          </a:p>
        </p:txBody>
      </p:sp>
    </p:spTree>
    <p:extLst>
      <p:ext uri="{BB962C8B-B14F-4D97-AF65-F5344CB8AC3E}">
        <p14:creationId xmlns:p14="http://schemas.microsoft.com/office/powerpoint/2010/main" val="19441948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5AA41A86-A2F3-1D06-7116-45400082F3B6}"/>
              </a:ext>
            </a:extLst>
          </p:cNvPr>
          <p:cNvSpPr/>
          <p:nvPr/>
        </p:nvSpPr>
        <p:spPr>
          <a:xfrm>
            <a:off x="33951"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97CD271A-34A9-3E4B-032F-15C70AF19889}"/>
              </a:ext>
            </a:extLst>
          </p:cNvPr>
          <p:cNvSpPr/>
          <p:nvPr/>
        </p:nvSpPr>
        <p:spPr>
          <a:xfrm>
            <a:off x="16975" y="0"/>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73915448-3941-BA60-2C94-241A97D6CAC9}"/>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552EEC23-A78A-14A0-56DD-8CB91A02DD2F}"/>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733F6922-5537-D3C9-1E45-625FD880C031}"/>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F3EA9AD3-66B2-9EA5-5711-3C6A318F5512}"/>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705123BF-B9A2-835D-6FE4-689D9F62F382}"/>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D340CDC6-D787-7B25-2307-F3BA1042D402}"/>
              </a:ext>
            </a:extLst>
          </p:cNvPr>
          <p:cNvSpPr/>
          <p:nvPr/>
        </p:nvSpPr>
        <p:spPr>
          <a:xfrm>
            <a:off x="539999" y="431999"/>
            <a:ext cx="5785269"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FF25BF82-13EE-2D0B-D376-F101E332C733}"/>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正方形/長方形 15">
            <a:extLst>
              <a:ext uri="{FF2B5EF4-FFF2-40B4-BE49-F238E27FC236}">
                <a16:creationId xmlns:a16="http://schemas.microsoft.com/office/drawing/2014/main" id="{F8BCCC25-0C62-4E5D-0486-3F637C4A1C59}"/>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5CFE29C1-D44C-58E2-5EDB-51A8D3EC840E}"/>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t>1</a:t>
            </a:r>
            <a:endParaRPr kumimoji="1" lang="ja-JP" altLang="en-US" dirty="0"/>
          </a:p>
        </p:txBody>
      </p:sp>
    </p:spTree>
    <p:extLst>
      <p:ext uri="{BB962C8B-B14F-4D97-AF65-F5344CB8AC3E}">
        <p14:creationId xmlns:p14="http://schemas.microsoft.com/office/powerpoint/2010/main" val="2457412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540A8-5932-22C2-7D48-A0EA57C305DB}"/>
            </a:ext>
          </a:extLst>
        </p:cNvPr>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CD9029B2-D1D6-26F4-0BA3-DE439C520D10}"/>
              </a:ext>
            </a:extLst>
          </p:cNvPr>
          <p:cNvSpPr/>
          <p:nvPr/>
        </p:nvSpPr>
        <p:spPr>
          <a:xfrm>
            <a:off x="67565" y="90087"/>
            <a:ext cx="6722870" cy="8963827"/>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7B3C0006-8C0E-711B-ECD8-45CF7F1D1609}"/>
              </a:ext>
            </a:extLst>
          </p:cNvPr>
          <p:cNvSpPr/>
          <p:nvPr/>
        </p:nvSpPr>
        <p:spPr>
          <a:xfrm>
            <a:off x="22693" y="0"/>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9C59FD50-8143-8A52-2646-26C8BDBFFDD3}"/>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46770B46-C072-DF34-BD8D-2065F41808D5}"/>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C3E27AFA-EFCD-0428-55DA-15697DE6456A}"/>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C16363EA-88CD-F1FE-3650-7B24149569AE}"/>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6E68F704-A898-98C2-EE85-8B817126B2F6}"/>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正方形/長方形 14">
            <a:extLst>
              <a:ext uri="{FF2B5EF4-FFF2-40B4-BE49-F238E27FC236}">
                <a16:creationId xmlns:a16="http://schemas.microsoft.com/office/drawing/2014/main" id="{2F960D99-6370-5724-453C-20AA9AC92D12}"/>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16" name="正方形/長方形 15">
            <a:extLst>
              <a:ext uri="{FF2B5EF4-FFF2-40B4-BE49-F238E27FC236}">
                <a16:creationId xmlns:a16="http://schemas.microsoft.com/office/drawing/2014/main" id="{708601A0-5532-E890-C737-AF5B225E91D8}"/>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17" name="テキスト ボックス 16">
            <a:extLst>
              <a:ext uri="{FF2B5EF4-FFF2-40B4-BE49-F238E27FC236}">
                <a16:creationId xmlns:a16="http://schemas.microsoft.com/office/drawing/2014/main" id="{2CCFBEBF-78FF-8FF9-3487-B087FB4F1A56}"/>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latin typeface="Noto Sans JP" panose="020B0200000000000000" pitchFamily="50" charset="-128"/>
                <a:ea typeface="Noto Sans JP" panose="020B0200000000000000" pitchFamily="50" charset="-128"/>
              </a:rPr>
              <a:t>1</a:t>
            </a:r>
            <a:endParaRPr kumimoji="1" lang="ja-JP" altLang="en-US" dirty="0">
              <a:latin typeface="Noto Sans JP" panose="020B0200000000000000" pitchFamily="50" charset="-128"/>
              <a:ea typeface="Noto Sans JP" panose="020B0200000000000000" pitchFamily="50" charset="-128"/>
            </a:endParaRPr>
          </a:p>
        </p:txBody>
      </p:sp>
      <p:sp>
        <p:nvSpPr>
          <p:cNvPr id="2" name="テキスト ボックス 1">
            <a:extLst>
              <a:ext uri="{FF2B5EF4-FFF2-40B4-BE49-F238E27FC236}">
                <a16:creationId xmlns:a16="http://schemas.microsoft.com/office/drawing/2014/main" id="{AB06514E-2962-A9E0-36A8-FFA8ABD714B3}"/>
              </a:ext>
            </a:extLst>
          </p:cNvPr>
          <p:cNvSpPr txBox="1"/>
          <p:nvPr/>
        </p:nvSpPr>
        <p:spPr>
          <a:xfrm>
            <a:off x="1529095" y="879137"/>
            <a:ext cx="4456669" cy="584775"/>
          </a:xfrm>
          <a:prstGeom prst="rect">
            <a:avLst/>
          </a:prstGeom>
          <a:noFill/>
        </p:spPr>
        <p:txBody>
          <a:bodyPr wrap="none" rtlCol="0">
            <a:spAutoFit/>
          </a:bodyPr>
          <a:lstStyle/>
          <a:p>
            <a:r>
              <a:rPr lang="en-US" altLang="ja-JP" sz="3200" b="1" dirty="0">
                <a:latin typeface="Jost SemiBold" pitchFamily="2" charset="0"/>
                <a:ea typeface="Jost SemiBold" pitchFamily="2" charset="0"/>
                <a:cs typeface="Segoe UI Semibold" panose="020B0702040204020203" pitchFamily="34" charset="0"/>
              </a:rPr>
              <a:t>FlexChroma</a:t>
            </a:r>
            <a:r>
              <a:rPr lang="en-US" altLang="ja-JP" sz="3200" b="1" dirty="0">
                <a:latin typeface="Noto Sans JP" panose="020B0200000000000000" pitchFamily="50" charset="-128"/>
                <a:ea typeface="Noto Sans JP" panose="020B0200000000000000" pitchFamily="50" charset="-128"/>
              </a:rPr>
              <a:t> </a:t>
            </a:r>
            <a:r>
              <a:rPr lang="ja-JP" altLang="en-US" sz="2600" b="1" dirty="0">
                <a:latin typeface="Noto Sans JP" panose="020B0200000000000000" pitchFamily="50" charset="-128"/>
                <a:ea typeface="Noto Sans JP" panose="020B0200000000000000" pitchFamily="50" charset="-128"/>
              </a:rPr>
              <a:t>ツアーガイド</a:t>
            </a:r>
            <a:endParaRPr kumimoji="1" lang="ja-JP" altLang="en-US" sz="2600" b="1" dirty="0">
              <a:latin typeface="Noto Sans JP" panose="020B0200000000000000" pitchFamily="50" charset="-128"/>
              <a:ea typeface="Noto Sans JP" panose="020B0200000000000000" pitchFamily="50" charset="-128"/>
            </a:endParaRPr>
          </a:p>
        </p:txBody>
      </p:sp>
      <p:sp>
        <p:nvSpPr>
          <p:cNvPr id="14" name="楕円 13">
            <a:extLst>
              <a:ext uri="{FF2B5EF4-FFF2-40B4-BE49-F238E27FC236}">
                <a16:creationId xmlns:a16="http://schemas.microsoft.com/office/drawing/2014/main" id="{86E89BA8-E7B2-7AB3-7267-37838D435E76}"/>
              </a:ext>
            </a:extLst>
          </p:cNvPr>
          <p:cNvSpPr/>
          <p:nvPr/>
        </p:nvSpPr>
        <p:spPr>
          <a:xfrm>
            <a:off x="566175" y="2883225"/>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CB797E49-CA37-4B2A-5187-03EC3007B3C7}"/>
              </a:ext>
            </a:extLst>
          </p:cNvPr>
          <p:cNvSpPr txBox="1"/>
          <p:nvPr/>
        </p:nvSpPr>
        <p:spPr>
          <a:xfrm>
            <a:off x="770844" y="2815340"/>
            <a:ext cx="1516762" cy="400110"/>
          </a:xfrm>
          <a:prstGeom prst="rect">
            <a:avLst/>
          </a:prstGeom>
          <a:noFill/>
        </p:spPr>
        <p:txBody>
          <a:bodyPr wrap="none" rtlCol="0">
            <a:spAutoFit/>
          </a:bodyPr>
          <a:lstStyle/>
          <a:p>
            <a:r>
              <a:rPr lang="en-US" altLang="ja-JP" sz="2000" dirty="0">
                <a:latin typeface="Noto Sans JP" panose="020B0200000000000000" pitchFamily="50" charset="-128"/>
                <a:ea typeface="Noto Sans JP" panose="020B0200000000000000" pitchFamily="50" charset="-128"/>
              </a:rPr>
              <a:t>1. </a:t>
            </a:r>
            <a:r>
              <a:rPr lang="ja-JP" altLang="en-US" sz="2000" dirty="0">
                <a:latin typeface="Noto Sans JP" panose="020B0200000000000000" pitchFamily="50" charset="-128"/>
                <a:ea typeface="Noto Sans JP" panose="020B0200000000000000" pitchFamily="50" charset="-128"/>
              </a:rPr>
              <a:t>はじめに</a:t>
            </a:r>
            <a:endParaRPr kumimoji="1" lang="ja-JP" altLang="en-US" sz="2000" b="1" dirty="0">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0E5F4AF3-4FAB-E906-2281-AF56CB9A9F5F}"/>
              </a:ext>
            </a:extLst>
          </p:cNvPr>
          <p:cNvSpPr txBox="1"/>
          <p:nvPr/>
        </p:nvSpPr>
        <p:spPr>
          <a:xfrm>
            <a:off x="668508" y="3238280"/>
            <a:ext cx="5649491" cy="861774"/>
          </a:xfrm>
          <a:prstGeom prst="rect">
            <a:avLst/>
          </a:prstGeom>
          <a:noFill/>
        </p:spPr>
        <p:txBody>
          <a:bodyPr wrap="square" rtlCol="0">
            <a:spAutoFit/>
          </a:bodyPr>
          <a:lstStyle/>
          <a:p>
            <a:r>
              <a:rPr lang="en-US" altLang="ja-JP" sz="1000" dirty="0">
                <a:latin typeface="Jost SemiBold" pitchFamily="2" charset="0"/>
                <a:ea typeface="Jost SemiBold" pitchFamily="2" charset="0"/>
                <a:cs typeface="Segoe UI Semibold" panose="020B0702040204020203" pitchFamily="34" charset="0"/>
              </a:rPr>
              <a:t>FlexChroma</a:t>
            </a:r>
            <a:r>
              <a:rPr lang="ja-JP" altLang="ja-JP" sz="1000" dirty="0">
                <a:latin typeface="Noto Sans JP" panose="020B0200000000000000" pitchFamily="50" charset="-128"/>
                <a:ea typeface="Noto Sans JP" panose="020B0200000000000000" pitchFamily="50" charset="-128"/>
              </a:rPr>
              <a:t>は、市販のフィラメントを組み合わせて「フィラメントそのもの」を生み出すためのモデルです。</a:t>
            </a:r>
          </a:p>
          <a:p>
            <a:r>
              <a:rPr lang="ja-JP" altLang="ja-JP" sz="1000" dirty="0">
                <a:latin typeface="Noto Sans JP" panose="020B0200000000000000" pitchFamily="50" charset="-128"/>
                <a:ea typeface="Noto Sans JP" panose="020B0200000000000000" pitchFamily="50" charset="-128"/>
              </a:rPr>
              <a:t>様々な目的のシリーズから構成されており、各シリーズにはサイズなどの違いによってモデル、プロファイル、プレートごとに異なるフィラメントモデルを提供します。</a:t>
            </a:r>
          </a:p>
          <a:p>
            <a:endParaRPr kumimoji="1" lang="ja-JP" altLang="en-US" sz="1000" b="1" dirty="0">
              <a:latin typeface="Noto Sans JP" panose="020B0200000000000000" pitchFamily="50" charset="-128"/>
              <a:ea typeface="Noto Sans JP" panose="020B0200000000000000" pitchFamily="50" charset="-128"/>
            </a:endParaRPr>
          </a:p>
        </p:txBody>
      </p:sp>
      <p:sp>
        <p:nvSpPr>
          <p:cNvPr id="20" name="楕円 19">
            <a:extLst>
              <a:ext uri="{FF2B5EF4-FFF2-40B4-BE49-F238E27FC236}">
                <a16:creationId xmlns:a16="http://schemas.microsoft.com/office/drawing/2014/main" id="{64F690EF-7932-B480-4E0E-878C474B7FC9}"/>
              </a:ext>
            </a:extLst>
          </p:cNvPr>
          <p:cNvSpPr/>
          <p:nvPr/>
        </p:nvSpPr>
        <p:spPr>
          <a:xfrm>
            <a:off x="566175" y="4203603"/>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FDE03A10-2964-5391-2223-CBCA00D23411}"/>
              </a:ext>
            </a:extLst>
          </p:cNvPr>
          <p:cNvSpPr txBox="1"/>
          <p:nvPr/>
        </p:nvSpPr>
        <p:spPr>
          <a:xfrm>
            <a:off x="770844" y="4135718"/>
            <a:ext cx="2286203" cy="400110"/>
          </a:xfrm>
          <a:prstGeom prst="rect">
            <a:avLst/>
          </a:prstGeom>
          <a:noFill/>
        </p:spPr>
        <p:txBody>
          <a:bodyPr wrap="none" rtlCol="0">
            <a:spAutoFit/>
          </a:bodyPr>
          <a:lstStyle/>
          <a:p>
            <a:r>
              <a:rPr lang="en-US" altLang="ja-JP" sz="2000" dirty="0">
                <a:latin typeface="Noto Sans JP" panose="020B0200000000000000" pitchFamily="50" charset="-128"/>
                <a:ea typeface="Noto Sans JP" panose="020B0200000000000000" pitchFamily="50" charset="-128"/>
              </a:rPr>
              <a:t>2. </a:t>
            </a:r>
            <a:r>
              <a:rPr lang="ja-JP" altLang="en-US" sz="2000" dirty="0">
                <a:latin typeface="Noto Sans JP" panose="020B0200000000000000" pitchFamily="50" charset="-128"/>
                <a:ea typeface="Noto Sans JP" panose="020B0200000000000000" pitchFamily="50" charset="-128"/>
              </a:rPr>
              <a:t>モデル選定方法</a:t>
            </a:r>
            <a:endParaRPr kumimoji="1" lang="ja-JP" altLang="en-US" sz="2400" b="1" dirty="0">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B96C8996-A004-2B6F-419A-B5C7EEF88FAF}"/>
              </a:ext>
            </a:extLst>
          </p:cNvPr>
          <p:cNvSpPr txBox="1"/>
          <p:nvPr/>
        </p:nvSpPr>
        <p:spPr>
          <a:xfrm>
            <a:off x="661239" y="4511386"/>
            <a:ext cx="5649492" cy="553998"/>
          </a:xfrm>
          <a:prstGeom prst="rect">
            <a:avLst/>
          </a:prstGeom>
          <a:noFill/>
        </p:spPr>
        <p:txBody>
          <a:bodyPr wrap="square" rtlCol="0">
            <a:spAutoFit/>
          </a:bodyPr>
          <a:lstStyle/>
          <a:p>
            <a:r>
              <a:rPr lang="ja-JP" altLang="ja-JP" sz="1000" dirty="0">
                <a:latin typeface="Noto Sans JP" panose="020B0200000000000000" pitchFamily="50" charset="-128"/>
                <a:ea typeface="Noto Sans JP" panose="020B0200000000000000" pitchFamily="50" charset="-128"/>
              </a:rPr>
              <a:t>簡易的なモデル選定手順をお見せします。まずは</a:t>
            </a:r>
            <a:r>
              <a:rPr lang="en-US" altLang="ja-JP" sz="1000" dirty="0" err="1">
                <a:latin typeface="Noto Sans JP" panose="020B0200000000000000" pitchFamily="50" charset="-128"/>
                <a:ea typeface="Noto Sans JP" panose="020B0200000000000000" pitchFamily="50" charset="-128"/>
              </a:rPr>
              <a:t>MakerWorld</a:t>
            </a:r>
            <a:r>
              <a:rPr lang="ja-JP" altLang="ja-JP" sz="1000" dirty="0">
                <a:latin typeface="Noto Sans JP" panose="020B0200000000000000" pitchFamily="50" charset="-128"/>
                <a:ea typeface="Noto Sans JP" panose="020B0200000000000000" pitchFamily="50" charset="-128"/>
              </a:rPr>
              <a:t>で</a:t>
            </a:r>
            <a:r>
              <a:rPr lang="en-US" altLang="ja-JP" sz="1000" dirty="0">
                <a:latin typeface="Jost SemiBold" pitchFamily="2" charset="0"/>
                <a:ea typeface="Jost SemiBold" pitchFamily="2" charset="0"/>
              </a:rPr>
              <a:t>FlexChroma</a:t>
            </a:r>
            <a:r>
              <a:rPr lang="en-US" altLang="ja-JP" sz="1000" dirty="0">
                <a:latin typeface="Noto Sans JP" panose="020B0200000000000000" pitchFamily="50" charset="-128"/>
                <a:ea typeface="Noto Sans JP" panose="020B0200000000000000" pitchFamily="50" charset="-128"/>
              </a:rPr>
              <a:t> HUB</a:t>
            </a:r>
            <a:r>
              <a:rPr lang="ja-JP" altLang="ja-JP" sz="1000" dirty="0">
                <a:latin typeface="Noto Sans JP" panose="020B0200000000000000" pitchFamily="50" charset="-128"/>
                <a:ea typeface="Noto Sans JP" panose="020B0200000000000000" pitchFamily="50" charset="-128"/>
              </a:rPr>
              <a:t>を開いてください。その後に下記フローに従って適切なデータをダウンロードし、印刷してください。</a:t>
            </a:r>
          </a:p>
          <a:p>
            <a:endParaRPr kumimoji="1" lang="ja-JP" altLang="en-US" sz="1000" b="1" dirty="0">
              <a:latin typeface="Noto Sans JP" panose="020B0200000000000000" pitchFamily="50" charset="-128"/>
              <a:ea typeface="Noto Sans JP" panose="020B0200000000000000" pitchFamily="50" charset="-128"/>
            </a:endParaRPr>
          </a:p>
        </p:txBody>
      </p:sp>
      <p:sp>
        <p:nvSpPr>
          <p:cNvPr id="25" name="テキスト ボックス 24">
            <a:extLst>
              <a:ext uri="{FF2B5EF4-FFF2-40B4-BE49-F238E27FC236}">
                <a16:creationId xmlns:a16="http://schemas.microsoft.com/office/drawing/2014/main" id="{EBF7D3BD-1EF8-AC81-756A-94B848B80E13}"/>
              </a:ext>
            </a:extLst>
          </p:cNvPr>
          <p:cNvSpPr txBox="1"/>
          <p:nvPr/>
        </p:nvSpPr>
        <p:spPr>
          <a:xfrm>
            <a:off x="661238" y="6157785"/>
            <a:ext cx="5656761" cy="400110"/>
          </a:xfrm>
          <a:prstGeom prst="rect">
            <a:avLst/>
          </a:prstGeom>
          <a:noFill/>
        </p:spPr>
        <p:txBody>
          <a:bodyPr wrap="square" rtlCol="0">
            <a:spAutoFit/>
          </a:bodyPr>
          <a:lstStyle/>
          <a:p>
            <a:r>
              <a:rPr lang="ja-JP" altLang="ja-JP" sz="1000" dirty="0">
                <a:latin typeface="Noto Sans JP" panose="020B0200000000000000" pitchFamily="50" charset="-128"/>
                <a:ea typeface="Noto Sans JP" panose="020B0200000000000000" pitchFamily="50" charset="-128"/>
              </a:rPr>
              <a:t>モデル選定においてはどの様なフィラメントが欲しいか？を考えま</a:t>
            </a:r>
            <a:r>
              <a:rPr lang="ja-JP" altLang="en-US" sz="1000" dirty="0">
                <a:latin typeface="Noto Sans JP" panose="020B0200000000000000" pitchFamily="50" charset="-128"/>
                <a:ea typeface="Noto Sans JP" panose="020B0200000000000000" pitchFamily="50" charset="-128"/>
              </a:rPr>
              <a:t>しょう</a:t>
            </a:r>
            <a:r>
              <a:rPr lang="ja-JP" altLang="ja-JP" sz="1000" dirty="0">
                <a:latin typeface="Noto Sans JP" panose="020B0200000000000000" pitchFamily="50" charset="-128"/>
                <a:ea typeface="Noto Sans JP" panose="020B0200000000000000" pitchFamily="50" charset="-128"/>
              </a:rPr>
              <a:t>。下記１～５の手順によって最適なデータを探</a:t>
            </a:r>
            <a:r>
              <a:rPr lang="ja-JP" altLang="en-US" sz="1000" dirty="0">
                <a:latin typeface="Noto Sans JP" panose="020B0200000000000000" pitchFamily="50" charset="-128"/>
                <a:ea typeface="Noto Sans JP" panose="020B0200000000000000" pitchFamily="50" charset="-128"/>
              </a:rPr>
              <a:t>すことができます</a:t>
            </a:r>
            <a:r>
              <a:rPr lang="ja-JP" altLang="ja-JP" sz="1000" dirty="0">
                <a:latin typeface="Noto Sans JP" panose="020B0200000000000000" pitchFamily="50" charset="-128"/>
                <a:ea typeface="Noto Sans JP" panose="020B0200000000000000" pitchFamily="50" charset="-128"/>
              </a:rPr>
              <a:t>。</a:t>
            </a:r>
          </a:p>
        </p:txBody>
      </p:sp>
      <p:sp>
        <p:nvSpPr>
          <p:cNvPr id="26" name="テキスト ボックス 25">
            <a:extLst>
              <a:ext uri="{FF2B5EF4-FFF2-40B4-BE49-F238E27FC236}">
                <a16:creationId xmlns:a16="http://schemas.microsoft.com/office/drawing/2014/main" id="{F1B3E5E8-6526-8E6B-29D9-D104B66A6233}"/>
              </a:ext>
            </a:extLst>
          </p:cNvPr>
          <p:cNvSpPr txBox="1"/>
          <p:nvPr/>
        </p:nvSpPr>
        <p:spPr>
          <a:xfrm>
            <a:off x="756306" y="6607017"/>
            <a:ext cx="5554425" cy="1754326"/>
          </a:xfrm>
          <a:prstGeom prst="rect">
            <a:avLst/>
          </a:prstGeom>
          <a:noFill/>
        </p:spPr>
        <p:txBody>
          <a:bodyPr wrap="square" rtlCol="0">
            <a:spAutoFit/>
          </a:bodyPr>
          <a:lstStyle/>
          <a:p>
            <a:pPr marL="228600" lvl="0" indent="-228600">
              <a:buFont typeface="+mj-lt"/>
              <a:buAutoNum type="arabicPeriod"/>
            </a:pPr>
            <a:r>
              <a:rPr lang="ja-JP" altLang="ja-JP" sz="900" dirty="0">
                <a:latin typeface="Noto Sans JP" panose="020B0200000000000000" pitchFamily="50" charset="-128"/>
                <a:ea typeface="Noto Sans JP" panose="020B0200000000000000" pitchFamily="50" charset="-128"/>
              </a:rPr>
              <a:t>最初に</a:t>
            </a:r>
            <a:r>
              <a:rPr lang="en-US" altLang="ja-JP" sz="900" dirty="0">
                <a:latin typeface="Noto Sans JP" panose="020B0200000000000000" pitchFamily="50" charset="-128"/>
                <a:ea typeface="Noto Sans JP" panose="020B0200000000000000" pitchFamily="50" charset="-128"/>
              </a:rPr>
              <a:t>Series</a:t>
            </a:r>
            <a:r>
              <a:rPr lang="ja-JP" altLang="ja-JP" sz="900" dirty="0">
                <a:latin typeface="Noto Sans JP" panose="020B0200000000000000" pitchFamily="50" charset="-128"/>
                <a:ea typeface="Noto Sans JP" panose="020B0200000000000000" pitchFamily="50" charset="-128"/>
              </a:rPr>
              <a:t>を選択します。中間色が欲しいのであれば</a:t>
            </a:r>
            <a:r>
              <a:rPr lang="en-US" altLang="ja-JP" sz="900" dirty="0">
                <a:latin typeface="Jost Medium" pitchFamily="2" charset="0"/>
                <a:ea typeface="Jost Medium" pitchFamily="2" charset="0"/>
              </a:rPr>
              <a:t>Blend Filament</a:t>
            </a:r>
            <a:r>
              <a:rPr lang="ja-JP" altLang="ja-JP" sz="900" dirty="0">
                <a:latin typeface="Noto Sans JP" panose="020B0200000000000000" pitchFamily="50" charset="-128"/>
                <a:ea typeface="Noto Sans JP" panose="020B0200000000000000" pitchFamily="50" charset="-128"/>
              </a:rPr>
              <a:t>、グラデーションフィラメントが欲しければ</a:t>
            </a:r>
            <a:r>
              <a:rPr lang="en-US" altLang="ja-JP" sz="900" dirty="0">
                <a:latin typeface="Jost Medium" pitchFamily="2" charset="0"/>
                <a:ea typeface="Jost Medium" pitchFamily="2" charset="0"/>
              </a:rPr>
              <a:t>Gradient Filament</a:t>
            </a:r>
            <a:r>
              <a:rPr lang="ja-JP" altLang="ja-JP" sz="900" dirty="0">
                <a:latin typeface="Noto Sans JP" panose="020B0200000000000000" pitchFamily="50" charset="-128"/>
                <a:ea typeface="Noto Sans JP" panose="020B0200000000000000" pitchFamily="50" charset="-128"/>
              </a:rPr>
              <a:t>と言った様に。</a:t>
            </a:r>
            <a:endParaRPr lang="en-US" altLang="ja-JP" sz="900" dirty="0">
              <a:latin typeface="Noto Sans JP" panose="020B0200000000000000" pitchFamily="50" charset="-128"/>
              <a:ea typeface="Noto Sans JP" panose="020B0200000000000000" pitchFamily="50" charset="-128"/>
            </a:endParaRPr>
          </a:p>
          <a:p>
            <a:pPr marL="228600" lvl="0" indent="-228600">
              <a:buFont typeface="+mj-lt"/>
              <a:buAutoNum type="arabicPeriod"/>
            </a:pPr>
            <a:endParaRPr lang="ja-JP" altLang="ja-JP" sz="300" dirty="0">
              <a:latin typeface="Noto Sans JP" panose="020B0200000000000000" pitchFamily="50" charset="-128"/>
              <a:ea typeface="Noto Sans JP" panose="020B0200000000000000" pitchFamily="50" charset="-128"/>
            </a:endParaRPr>
          </a:p>
          <a:p>
            <a:pPr marL="228600" lvl="0" indent="-228600">
              <a:buFont typeface="+mj-lt"/>
              <a:buAutoNum type="arabicPeriod"/>
            </a:pPr>
            <a:r>
              <a:rPr lang="ja-JP" altLang="ja-JP" sz="900" dirty="0">
                <a:latin typeface="Noto Sans JP" panose="020B0200000000000000" pitchFamily="50" charset="-128"/>
                <a:ea typeface="Noto Sans JP" panose="020B0200000000000000" pitchFamily="50" charset="-128"/>
              </a:rPr>
              <a:t>次に</a:t>
            </a:r>
            <a:r>
              <a:rPr lang="en-US" altLang="ja-JP" sz="900" dirty="0">
                <a:latin typeface="Noto Sans JP" panose="020B0200000000000000" pitchFamily="50" charset="-128"/>
                <a:ea typeface="Noto Sans JP" panose="020B0200000000000000" pitchFamily="50" charset="-128"/>
              </a:rPr>
              <a:t>Model</a:t>
            </a:r>
            <a:r>
              <a:rPr lang="ja-JP" altLang="ja-JP" sz="900" dirty="0">
                <a:latin typeface="Noto Sans JP" panose="020B0200000000000000" pitchFamily="50" charset="-128"/>
                <a:ea typeface="Noto Sans JP" panose="020B0200000000000000" pitchFamily="50" charset="-128"/>
              </a:rPr>
              <a:t>を選択します。フィラメントの量がどれくらい必要かを考えて、それに合った</a:t>
            </a:r>
            <a:r>
              <a:rPr lang="en-US" altLang="ja-JP" sz="900" dirty="0">
                <a:latin typeface="Noto Sans JP" panose="020B0200000000000000" pitchFamily="50" charset="-128"/>
                <a:ea typeface="Noto Sans JP" panose="020B0200000000000000" pitchFamily="50" charset="-128"/>
              </a:rPr>
              <a:t>Model</a:t>
            </a:r>
            <a:r>
              <a:rPr lang="ja-JP" altLang="ja-JP" sz="900" dirty="0">
                <a:latin typeface="Noto Sans JP" panose="020B0200000000000000" pitchFamily="50" charset="-128"/>
                <a:ea typeface="Noto Sans JP" panose="020B0200000000000000" pitchFamily="50" charset="-128"/>
              </a:rPr>
              <a:t>を選択します。例えば</a:t>
            </a:r>
            <a:r>
              <a:rPr lang="en-US" altLang="ja-JP" sz="900" dirty="0">
                <a:latin typeface="Noto Sans JP" panose="020B0200000000000000" pitchFamily="50" charset="-128"/>
                <a:ea typeface="Noto Sans JP" panose="020B0200000000000000" pitchFamily="50" charset="-128"/>
              </a:rPr>
              <a:t>3Dbenchy</a:t>
            </a:r>
            <a:r>
              <a:rPr lang="ja-JP" altLang="ja-JP" sz="900" dirty="0">
                <a:latin typeface="Noto Sans JP" panose="020B0200000000000000" pitchFamily="50" charset="-128"/>
                <a:ea typeface="Noto Sans JP" panose="020B0200000000000000" pitchFamily="50" charset="-128"/>
              </a:rPr>
              <a:t>を作る程度であれば</a:t>
            </a:r>
            <a:r>
              <a:rPr lang="en-US" altLang="ja-JP" sz="900" dirty="0">
                <a:latin typeface="Noto Sans JP" panose="020B0200000000000000" pitchFamily="50" charset="-128"/>
                <a:ea typeface="Noto Sans JP" panose="020B0200000000000000" pitchFamily="50" charset="-128"/>
              </a:rPr>
              <a:t>S4 Model</a:t>
            </a:r>
            <a:r>
              <a:rPr lang="ja-JP" altLang="ja-JP" sz="900" dirty="0">
                <a:latin typeface="Noto Sans JP" panose="020B0200000000000000" pitchFamily="50" charset="-128"/>
                <a:ea typeface="Noto Sans JP" panose="020B0200000000000000" pitchFamily="50" charset="-128"/>
              </a:rPr>
              <a:t>、</a:t>
            </a:r>
            <a:r>
              <a:rPr lang="en-US" altLang="ja-JP" sz="900" dirty="0">
                <a:latin typeface="Noto Sans JP" panose="020B0200000000000000" pitchFamily="50" charset="-128"/>
                <a:ea typeface="Noto Sans JP" panose="020B0200000000000000" pitchFamily="50" charset="-128"/>
              </a:rPr>
              <a:t>70g</a:t>
            </a:r>
            <a:r>
              <a:rPr lang="ja-JP" altLang="ja-JP" sz="900" dirty="0">
                <a:latin typeface="Noto Sans JP" panose="020B0200000000000000" pitchFamily="50" charset="-128"/>
                <a:ea typeface="Noto Sans JP" panose="020B0200000000000000" pitchFamily="50" charset="-128"/>
              </a:rPr>
              <a:t>近い大きなモデルを作るのであれば</a:t>
            </a:r>
            <a:r>
              <a:rPr lang="en-US" altLang="ja-JP" sz="900" dirty="0">
                <a:latin typeface="Noto Sans JP" panose="020B0200000000000000" pitchFamily="50" charset="-128"/>
                <a:ea typeface="Noto Sans JP" panose="020B0200000000000000" pitchFamily="50" charset="-128"/>
              </a:rPr>
              <a:t>M1 Model</a:t>
            </a:r>
            <a:r>
              <a:rPr lang="ja-JP" altLang="ja-JP" sz="900" dirty="0">
                <a:latin typeface="Noto Sans JP" panose="020B0200000000000000" pitchFamily="50" charset="-128"/>
                <a:ea typeface="Noto Sans JP" panose="020B0200000000000000" pitchFamily="50" charset="-128"/>
              </a:rPr>
              <a:t>と言う具合です。</a:t>
            </a:r>
            <a:endParaRPr lang="en-US" altLang="ja-JP" sz="900" dirty="0">
              <a:latin typeface="Noto Sans JP" panose="020B0200000000000000" pitchFamily="50" charset="-128"/>
              <a:ea typeface="Noto Sans JP" panose="020B0200000000000000" pitchFamily="50" charset="-128"/>
            </a:endParaRPr>
          </a:p>
          <a:p>
            <a:pPr marL="228600" lvl="0" indent="-228600">
              <a:buFont typeface="+mj-lt"/>
              <a:buAutoNum type="arabicPeriod"/>
            </a:pPr>
            <a:endParaRPr lang="ja-JP" altLang="ja-JP" sz="300" dirty="0">
              <a:latin typeface="Noto Sans JP" panose="020B0200000000000000" pitchFamily="50" charset="-128"/>
              <a:ea typeface="Noto Sans JP" panose="020B0200000000000000" pitchFamily="50" charset="-128"/>
            </a:endParaRPr>
          </a:p>
          <a:p>
            <a:pPr marL="228600" lvl="0" indent="-228600">
              <a:buFont typeface="+mj-lt"/>
              <a:buAutoNum type="arabicPeriod"/>
            </a:pPr>
            <a:r>
              <a:rPr lang="ja-JP" altLang="ja-JP" sz="900" dirty="0">
                <a:latin typeface="Noto Sans JP" panose="020B0200000000000000" pitchFamily="50" charset="-128"/>
                <a:ea typeface="Noto Sans JP" panose="020B0200000000000000" pitchFamily="50" charset="-128"/>
              </a:rPr>
              <a:t>次に</a:t>
            </a:r>
            <a:r>
              <a:rPr lang="en-US" altLang="ja-JP" sz="900" dirty="0">
                <a:latin typeface="Noto Sans JP" panose="020B0200000000000000" pitchFamily="50" charset="-128"/>
                <a:ea typeface="Noto Sans JP" panose="020B0200000000000000" pitchFamily="50" charset="-128"/>
              </a:rPr>
              <a:t>Profile</a:t>
            </a:r>
            <a:r>
              <a:rPr lang="ja-JP" altLang="ja-JP" sz="900" dirty="0">
                <a:latin typeface="Noto Sans JP" panose="020B0200000000000000" pitchFamily="50" charset="-128"/>
                <a:ea typeface="Noto Sans JP" panose="020B0200000000000000" pitchFamily="50" charset="-128"/>
              </a:rPr>
              <a:t>と</a:t>
            </a:r>
            <a:r>
              <a:rPr lang="en-US" altLang="ja-JP" sz="900" dirty="0">
                <a:latin typeface="Noto Sans JP" panose="020B0200000000000000" pitchFamily="50" charset="-128"/>
                <a:ea typeface="Noto Sans JP" panose="020B0200000000000000" pitchFamily="50" charset="-128"/>
              </a:rPr>
              <a:t>Plate</a:t>
            </a:r>
            <a:r>
              <a:rPr lang="ja-JP" altLang="ja-JP" sz="900" dirty="0">
                <a:latin typeface="Noto Sans JP" panose="020B0200000000000000" pitchFamily="50" charset="-128"/>
                <a:ea typeface="Noto Sans JP" panose="020B0200000000000000" pitchFamily="50" charset="-128"/>
              </a:rPr>
              <a:t>を選びます。</a:t>
            </a:r>
            <a:r>
              <a:rPr lang="en-US" altLang="ja-JP" sz="900" dirty="0">
                <a:latin typeface="Noto Sans JP" panose="020B0200000000000000" pitchFamily="50" charset="-128"/>
                <a:ea typeface="Noto Sans JP" panose="020B0200000000000000" pitchFamily="50" charset="-128"/>
              </a:rPr>
              <a:t>Series</a:t>
            </a:r>
            <a:r>
              <a:rPr lang="ja-JP" altLang="ja-JP" sz="900" dirty="0">
                <a:latin typeface="Noto Sans JP" panose="020B0200000000000000" pitchFamily="50" charset="-128"/>
                <a:ea typeface="Noto Sans JP" panose="020B0200000000000000" pitchFamily="50" charset="-128"/>
              </a:rPr>
              <a:t>によって異なる分け方で</a:t>
            </a:r>
            <a:r>
              <a:rPr lang="en-US" altLang="ja-JP" sz="900" dirty="0">
                <a:latin typeface="Noto Sans JP" panose="020B0200000000000000" pitchFamily="50" charset="-128"/>
                <a:ea typeface="Noto Sans JP" panose="020B0200000000000000" pitchFamily="50" charset="-128"/>
              </a:rPr>
              <a:t>Profile</a:t>
            </a:r>
            <a:r>
              <a:rPr lang="ja-JP" altLang="ja-JP" sz="900" dirty="0">
                <a:latin typeface="Noto Sans JP" panose="020B0200000000000000" pitchFamily="50" charset="-128"/>
                <a:ea typeface="Noto Sans JP" panose="020B0200000000000000" pitchFamily="50" charset="-128"/>
              </a:rPr>
              <a:t>と</a:t>
            </a:r>
            <a:r>
              <a:rPr lang="en-US" altLang="ja-JP" sz="900" dirty="0">
                <a:latin typeface="Noto Sans JP" panose="020B0200000000000000" pitchFamily="50" charset="-128"/>
                <a:ea typeface="Noto Sans JP" panose="020B0200000000000000" pitchFamily="50" charset="-128"/>
              </a:rPr>
              <a:t>Plate</a:t>
            </a:r>
            <a:r>
              <a:rPr lang="ja-JP" altLang="ja-JP" sz="900" dirty="0">
                <a:latin typeface="Noto Sans JP" panose="020B0200000000000000" pitchFamily="50" charset="-128"/>
                <a:ea typeface="Noto Sans JP" panose="020B0200000000000000" pitchFamily="50" charset="-128"/>
              </a:rPr>
              <a:t>ごとにフィラメントのデータがあります。例えば</a:t>
            </a:r>
            <a:r>
              <a:rPr lang="en-US" altLang="ja-JP" sz="900" dirty="0">
                <a:latin typeface="Jost Medium" pitchFamily="2" charset="0"/>
                <a:ea typeface="Jost Medium" pitchFamily="2" charset="0"/>
              </a:rPr>
              <a:t>Blend Filament</a:t>
            </a:r>
            <a:r>
              <a:rPr lang="ja-JP" altLang="ja-JP" sz="900" dirty="0">
                <a:latin typeface="Noto Sans JP" panose="020B0200000000000000" pitchFamily="50" charset="-128"/>
                <a:ea typeface="Noto Sans JP" panose="020B0200000000000000" pitchFamily="50" charset="-128"/>
              </a:rPr>
              <a:t>で９８％混色比のモデルであれば、</a:t>
            </a:r>
            <a:r>
              <a:rPr lang="en-US" altLang="ja-JP" sz="900" dirty="0">
                <a:latin typeface="Noto Sans JP" panose="020B0200000000000000" pitchFamily="50" charset="-128"/>
                <a:ea typeface="Noto Sans JP" panose="020B0200000000000000" pitchFamily="50" charset="-128"/>
              </a:rPr>
              <a:t>Detail Profile</a:t>
            </a:r>
            <a:r>
              <a:rPr lang="ja-JP" altLang="ja-JP" sz="900" dirty="0">
                <a:latin typeface="Noto Sans JP" panose="020B0200000000000000" pitchFamily="50" charset="-128"/>
                <a:ea typeface="Noto Sans JP" panose="020B0200000000000000" pitchFamily="50" charset="-128"/>
              </a:rPr>
              <a:t>の中の</a:t>
            </a:r>
            <a:r>
              <a:rPr lang="en-US" altLang="ja-JP" sz="900" dirty="0">
                <a:latin typeface="Noto Sans JP" panose="020B0200000000000000" pitchFamily="50" charset="-128"/>
                <a:ea typeface="Noto Sans JP" panose="020B0200000000000000" pitchFamily="50" charset="-128"/>
              </a:rPr>
              <a:t>98pct</a:t>
            </a:r>
            <a:r>
              <a:rPr lang="ja-JP" altLang="ja-JP" sz="900" dirty="0">
                <a:latin typeface="Noto Sans JP" panose="020B0200000000000000" pitchFamily="50" charset="-128"/>
                <a:ea typeface="Noto Sans JP" panose="020B0200000000000000" pitchFamily="50" charset="-128"/>
              </a:rPr>
              <a:t>プレートを選びます。</a:t>
            </a:r>
            <a:endParaRPr lang="en-US" altLang="ja-JP" sz="900" dirty="0">
              <a:latin typeface="Noto Sans JP" panose="020B0200000000000000" pitchFamily="50" charset="-128"/>
              <a:ea typeface="Noto Sans JP" panose="020B0200000000000000" pitchFamily="50" charset="-128"/>
            </a:endParaRPr>
          </a:p>
          <a:p>
            <a:pPr marL="228600" lvl="0" indent="-228600">
              <a:buFont typeface="+mj-lt"/>
              <a:buAutoNum type="arabicPeriod"/>
            </a:pPr>
            <a:endParaRPr lang="ja-JP" altLang="ja-JP" sz="300" dirty="0">
              <a:latin typeface="Noto Sans JP" panose="020B0200000000000000" pitchFamily="50" charset="-128"/>
              <a:ea typeface="Noto Sans JP" panose="020B0200000000000000" pitchFamily="50" charset="-128"/>
            </a:endParaRPr>
          </a:p>
          <a:p>
            <a:pPr marL="228600" lvl="0" indent="-228600">
              <a:buFont typeface="+mj-lt"/>
              <a:buAutoNum type="arabicPeriod"/>
            </a:pPr>
            <a:r>
              <a:rPr lang="ja-JP" altLang="ja-JP" sz="900" dirty="0">
                <a:latin typeface="Noto Sans JP" panose="020B0200000000000000" pitchFamily="50" charset="-128"/>
                <a:ea typeface="Noto Sans JP" panose="020B0200000000000000" pitchFamily="50" charset="-128"/>
              </a:rPr>
              <a:t>使うフィラメントを選びます。素材が同じもしくは近い</a:t>
            </a:r>
            <a:r>
              <a:rPr lang="en-US" altLang="ja-JP" sz="900" dirty="0">
                <a:latin typeface="Noto Sans JP" panose="020B0200000000000000" pitchFamily="50" charset="-128"/>
                <a:ea typeface="Noto Sans JP" panose="020B0200000000000000" pitchFamily="50" charset="-128"/>
              </a:rPr>
              <a:t>(PLA Basic</a:t>
            </a:r>
            <a:r>
              <a:rPr lang="ja-JP" altLang="ja-JP" sz="900" dirty="0">
                <a:latin typeface="Noto Sans JP" panose="020B0200000000000000" pitchFamily="50" charset="-128"/>
                <a:ea typeface="Noto Sans JP" panose="020B0200000000000000" pitchFamily="50" charset="-128"/>
              </a:rPr>
              <a:t>と</a:t>
            </a:r>
            <a:r>
              <a:rPr lang="en-US" altLang="ja-JP" sz="900" dirty="0">
                <a:latin typeface="Noto Sans JP" panose="020B0200000000000000" pitchFamily="50" charset="-128"/>
                <a:ea typeface="Noto Sans JP" panose="020B0200000000000000" pitchFamily="50" charset="-128"/>
              </a:rPr>
              <a:t>PLA Matte</a:t>
            </a:r>
            <a:r>
              <a:rPr lang="ja-JP" altLang="ja-JP" sz="900" dirty="0">
                <a:latin typeface="Noto Sans JP" panose="020B0200000000000000" pitchFamily="50" charset="-128"/>
                <a:ea typeface="Noto Sans JP" panose="020B0200000000000000" pitchFamily="50" charset="-128"/>
              </a:rPr>
              <a:t>の様な</a:t>
            </a:r>
            <a:r>
              <a:rPr lang="en-US" altLang="ja-JP" sz="900" dirty="0">
                <a:latin typeface="Noto Sans JP" panose="020B0200000000000000" pitchFamily="50" charset="-128"/>
                <a:ea typeface="Noto Sans JP" panose="020B0200000000000000" pitchFamily="50" charset="-128"/>
              </a:rPr>
              <a:t>)</a:t>
            </a:r>
            <a:r>
              <a:rPr lang="ja-JP" altLang="ja-JP" sz="900" dirty="0">
                <a:latin typeface="Noto Sans JP" panose="020B0200000000000000" pitchFamily="50" charset="-128"/>
                <a:ea typeface="Noto Sans JP" panose="020B0200000000000000" pitchFamily="50" charset="-128"/>
              </a:rPr>
              <a:t>フィラメントを用意しましょう。選んだフィラメントを割り当てて、スライスしましょう。説明文に書かれている印刷時の注意点をよく読んでから印刷して下さい。</a:t>
            </a:r>
          </a:p>
        </p:txBody>
      </p:sp>
      <p:sp>
        <p:nvSpPr>
          <p:cNvPr id="27" name="テキスト ボックス 26">
            <a:extLst>
              <a:ext uri="{FF2B5EF4-FFF2-40B4-BE49-F238E27FC236}">
                <a16:creationId xmlns:a16="http://schemas.microsoft.com/office/drawing/2014/main" id="{E5EE1833-E36C-633A-2CB5-AC9A3262046E}"/>
              </a:ext>
            </a:extLst>
          </p:cNvPr>
          <p:cNvSpPr txBox="1"/>
          <p:nvPr/>
        </p:nvSpPr>
        <p:spPr>
          <a:xfrm>
            <a:off x="656136" y="8382632"/>
            <a:ext cx="5680304" cy="223138"/>
          </a:xfrm>
          <a:prstGeom prst="rect">
            <a:avLst/>
          </a:prstGeom>
          <a:noFill/>
        </p:spPr>
        <p:txBody>
          <a:bodyPr wrap="square" rtlCol="0">
            <a:spAutoFit/>
          </a:bodyPr>
          <a:lstStyle/>
          <a:p>
            <a:r>
              <a:rPr lang="ja-JP" altLang="ja-JP" sz="800" dirty="0">
                <a:latin typeface="Noto Sans JP" panose="020B0200000000000000" pitchFamily="50" charset="-128"/>
                <a:ea typeface="Noto Sans JP" panose="020B0200000000000000" pitchFamily="50" charset="-128"/>
              </a:rPr>
              <a:t>※</a:t>
            </a:r>
            <a:r>
              <a:rPr lang="en-US" altLang="ja-JP" sz="800" dirty="0">
                <a:latin typeface="Jost SemiBold" pitchFamily="2" charset="0"/>
                <a:ea typeface="Jost SemiBold" pitchFamily="2" charset="0"/>
              </a:rPr>
              <a:t>FlexChroma</a:t>
            </a:r>
            <a:r>
              <a:rPr lang="ja-JP" altLang="ja-JP" sz="800" dirty="0">
                <a:latin typeface="Noto Sans JP" panose="020B0200000000000000" pitchFamily="50" charset="-128"/>
                <a:ea typeface="Noto Sans JP" panose="020B0200000000000000" pitchFamily="50" charset="-128"/>
              </a:rPr>
              <a:t>における</a:t>
            </a:r>
            <a:r>
              <a:rPr lang="en-US" altLang="ja-JP" sz="800" dirty="0">
                <a:latin typeface="Noto Sans JP" panose="020B0200000000000000" pitchFamily="50" charset="-128"/>
                <a:ea typeface="Noto Sans JP" panose="020B0200000000000000" pitchFamily="50" charset="-128"/>
              </a:rPr>
              <a:t>Profile</a:t>
            </a:r>
            <a:r>
              <a:rPr lang="ja-JP" altLang="ja-JP" sz="800" dirty="0">
                <a:latin typeface="Noto Sans JP" panose="020B0200000000000000" pitchFamily="50" charset="-128"/>
                <a:ea typeface="Noto Sans JP" panose="020B0200000000000000" pitchFamily="50" charset="-128"/>
              </a:rPr>
              <a:t>は印刷設定の違いではありません。各</a:t>
            </a:r>
            <a:r>
              <a:rPr lang="en-US" altLang="ja-JP" sz="800" dirty="0">
                <a:latin typeface="Noto Sans JP" panose="020B0200000000000000" pitchFamily="50" charset="-128"/>
                <a:ea typeface="Noto Sans JP" panose="020B0200000000000000" pitchFamily="50" charset="-128"/>
              </a:rPr>
              <a:t>Series</a:t>
            </a:r>
            <a:r>
              <a:rPr lang="ja-JP" altLang="ja-JP" sz="800" dirty="0">
                <a:latin typeface="Noto Sans JP" panose="020B0200000000000000" pitchFamily="50" charset="-128"/>
                <a:ea typeface="Noto Sans JP" panose="020B0200000000000000" pitchFamily="50" charset="-128"/>
              </a:rPr>
              <a:t>内で「目的別の分類」を表しています。</a:t>
            </a:r>
          </a:p>
        </p:txBody>
      </p:sp>
      <p:grpSp>
        <p:nvGrpSpPr>
          <p:cNvPr id="23" name="グループ化 22">
            <a:extLst>
              <a:ext uri="{FF2B5EF4-FFF2-40B4-BE49-F238E27FC236}">
                <a16:creationId xmlns:a16="http://schemas.microsoft.com/office/drawing/2014/main" id="{8F15D30C-9810-6554-3F9D-C666664BC62E}"/>
              </a:ext>
            </a:extLst>
          </p:cNvPr>
          <p:cNvGrpSpPr/>
          <p:nvPr/>
        </p:nvGrpSpPr>
        <p:grpSpPr>
          <a:xfrm>
            <a:off x="969589" y="441445"/>
            <a:ext cx="4926089" cy="377792"/>
            <a:chOff x="1042026" y="430737"/>
            <a:chExt cx="4781214" cy="377792"/>
          </a:xfrm>
        </p:grpSpPr>
        <p:sp>
          <p:nvSpPr>
            <p:cNvPr id="3" name="四角形: 上の 2 つの角を丸める 2">
              <a:extLst>
                <a:ext uri="{FF2B5EF4-FFF2-40B4-BE49-F238E27FC236}">
                  <a16:creationId xmlns:a16="http://schemas.microsoft.com/office/drawing/2014/main" id="{3A18D7FF-2AB7-9784-CFCF-AD9569D61BBD}"/>
                </a:ext>
              </a:extLst>
            </p:cNvPr>
            <p:cNvSpPr/>
            <p:nvPr/>
          </p:nvSpPr>
          <p:spPr>
            <a:xfrm>
              <a:off x="1042026" y="430737"/>
              <a:ext cx="4781214" cy="377792"/>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4" name="四角形: 上の 2 つの角を丸める 3">
              <a:extLst>
                <a:ext uri="{FF2B5EF4-FFF2-40B4-BE49-F238E27FC236}">
                  <a16:creationId xmlns:a16="http://schemas.microsoft.com/office/drawing/2014/main" id="{A7264CEB-0E02-D992-7F98-46154D03A20F}"/>
                </a:ext>
              </a:extLst>
            </p:cNvPr>
            <p:cNvSpPr/>
            <p:nvPr/>
          </p:nvSpPr>
          <p:spPr>
            <a:xfrm>
              <a:off x="1042026" y="697920"/>
              <a:ext cx="4781214" cy="110609"/>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grpSp>
      <p:grpSp>
        <p:nvGrpSpPr>
          <p:cNvPr id="24" name="グループ化 23">
            <a:extLst>
              <a:ext uri="{FF2B5EF4-FFF2-40B4-BE49-F238E27FC236}">
                <a16:creationId xmlns:a16="http://schemas.microsoft.com/office/drawing/2014/main" id="{1E64D689-16FA-4459-27D6-5C841CAA4722}"/>
              </a:ext>
            </a:extLst>
          </p:cNvPr>
          <p:cNvGrpSpPr/>
          <p:nvPr/>
        </p:nvGrpSpPr>
        <p:grpSpPr>
          <a:xfrm rot="10800000">
            <a:off x="969589" y="2224673"/>
            <a:ext cx="4926089" cy="377792"/>
            <a:chOff x="1042026" y="430737"/>
            <a:chExt cx="4781214" cy="377792"/>
          </a:xfrm>
        </p:grpSpPr>
        <p:sp>
          <p:nvSpPr>
            <p:cNvPr id="28" name="四角形: 上の 2 つの角を丸める 27">
              <a:extLst>
                <a:ext uri="{FF2B5EF4-FFF2-40B4-BE49-F238E27FC236}">
                  <a16:creationId xmlns:a16="http://schemas.microsoft.com/office/drawing/2014/main" id="{F8DF8492-C361-427B-2DE1-AE4499E917C5}"/>
                </a:ext>
              </a:extLst>
            </p:cNvPr>
            <p:cNvSpPr/>
            <p:nvPr/>
          </p:nvSpPr>
          <p:spPr>
            <a:xfrm>
              <a:off x="1042026" y="430737"/>
              <a:ext cx="4781214" cy="377792"/>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30" name="四角形: 上の 2 つの角を丸める 29">
              <a:extLst>
                <a:ext uri="{FF2B5EF4-FFF2-40B4-BE49-F238E27FC236}">
                  <a16:creationId xmlns:a16="http://schemas.microsoft.com/office/drawing/2014/main" id="{B525C316-F63D-33F0-D18C-D441893CBA9D}"/>
                </a:ext>
              </a:extLst>
            </p:cNvPr>
            <p:cNvSpPr/>
            <p:nvPr/>
          </p:nvSpPr>
          <p:spPr>
            <a:xfrm>
              <a:off x="1042026" y="697920"/>
              <a:ext cx="4781214" cy="110609"/>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grpSp>
      <p:sp>
        <p:nvSpPr>
          <p:cNvPr id="31" name="テキスト ボックス 30">
            <a:extLst>
              <a:ext uri="{FF2B5EF4-FFF2-40B4-BE49-F238E27FC236}">
                <a16:creationId xmlns:a16="http://schemas.microsoft.com/office/drawing/2014/main" id="{15D7F160-5868-F96D-EF8B-282D37A34400}"/>
              </a:ext>
            </a:extLst>
          </p:cNvPr>
          <p:cNvSpPr txBox="1"/>
          <p:nvPr/>
        </p:nvSpPr>
        <p:spPr>
          <a:xfrm>
            <a:off x="1515655" y="1444411"/>
            <a:ext cx="3879588" cy="338554"/>
          </a:xfrm>
          <a:prstGeom prst="rect">
            <a:avLst/>
          </a:prstGeom>
          <a:noFill/>
        </p:spPr>
        <p:txBody>
          <a:bodyPr wrap="none" rtlCol="0">
            <a:spAutoFit/>
          </a:bodyPr>
          <a:lstStyle/>
          <a:p>
            <a:r>
              <a:rPr lang="en-US" altLang="ja-JP" sz="1600" dirty="0">
                <a:latin typeface="Noto Sans JP" panose="020B0200000000000000" pitchFamily="50" charset="-128"/>
                <a:ea typeface="Noto Sans JP" panose="020B0200000000000000" pitchFamily="50" charset="-128"/>
              </a:rPr>
              <a:t>- </a:t>
            </a:r>
            <a:r>
              <a:rPr lang="en-US" altLang="ja-JP" sz="1600" dirty="0">
                <a:latin typeface="Jost SemiBold" pitchFamily="2" charset="0"/>
                <a:ea typeface="Jost SemiBold" pitchFamily="2" charset="0"/>
                <a:cs typeface="Segoe UI Semibold" panose="020B0702040204020203" pitchFamily="34" charset="0"/>
              </a:rPr>
              <a:t>FlexChroma</a:t>
            </a:r>
            <a:r>
              <a:rPr lang="ja-JP" altLang="en-US" sz="1600" dirty="0">
                <a:latin typeface="Noto Sans JP" panose="020B0200000000000000" pitchFamily="50" charset="-128"/>
                <a:ea typeface="Noto Sans JP" panose="020B0200000000000000" pitchFamily="50" charset="-128"/>
              </a:rPr>
              <a:t>のモデルを探してみよう</a:t>
            </a:r>
            <a:r>
              <a:rPr lang="en-US" altLang="ja-JP" sz="1600" dirty="0">
                <a:latin typeface="Noto Sans JP" panose="020B0200000000000000" pitchFamily="50" charset="-128"/>
                <a:ea typeface="Noto Sans JP" panose="020B0200000000000000" pitchFamily="50" charset="-128"/>
              </a:rPr>
              <a:t> -</a:t>
            </a:r>
            <a:endParaRPr kumimoji="1" lang="ja-JP" altLang="en-US" sz="1600" dirty="0">
              <a:latin typeface="Noto Sans JP" panose="020B0200000000000000" pitchFamily="50" charset="-128"/>
              <a:ea typeface="Noto Sans JP" panose="020B0200000000000000" pitchFamily="50" charset="-128"/>
            </a:endParaRPr>
          </a:p>
        </p:txBody>
      </p:sp>
      <p:sp>
        <p:nvSpPr>
          <p:cNvPr id="34" name="テキスト ボックス 33">
            <a:extLst>
              <a:ext uri="{FF2B5EF4-FFF2-40B4-BE49-F238E27FC236}">
                <a16:creationId xmlns:a16="http://schemas.microsoft.com/office/drawing/2014/main" id="{CCF6AA1D-A904-DA76-F915-872BDAEB9106}"/>
              </a:ext>
            </a:extLst>
          </p:cNvPr>
          <p:cNvSpPr txBox="1"/>
          <p:nvPr/>
        </p:nvSpPr>
        <p:spPr>
          <a:xfrm>
            <a:off x="2381276" y="1883364"/>
            <a:ext cx="1725152" cy="307777"/>
          </a:xfrm>
          <a:prstGeom prst="rect">
            <a:avLst/>
          </a:prstGeom>
          <a:noFill/>
        </p:spPr>
        <p:txBody>
          <a:bodyPr wrap="none" rtlCol="0">
            <a:spAutoFit/>
          </a:bodyPr>
          <a:lstStyle/>
          <a:p>
            <a:r>
              <a:rPr lang="en-US" altLang="ja-JP" sz="1400" dirty="0">
                <a:latin typeface="Noto Sans JP" panose="020B0200000000000000" pitchFamily="50" charset="-128"/>
                <a:ea typeface="Noto Sans JP" panose="020B0200000000000000" pitchFamily="50" charset="-128"/>
              </a:rPr>
              <a:t>Ver.1.11  2026.9.16</a:t>
            </a:r>
            <a:endParaRPr kumimoji="1" lang="ja-JP" altLang="en-US" sz="1400" dirty="0">
              <a:latin typeface="Noto Sans JP" panose="020B0200000000000000" pitchFamily="50" charset="-128"/>
              <a:ea typeface="Noto Sans JP" panose="020B0200000000000000" pitchFamily="50" charset="-128"/>
            </a:endParaRPr>
          </a:p>
        </p:txBody>
      </p:sp>
      <p:pic>
        <p:nvPicPr>
          <p:cNvPr id="12" name="図 11">
            <a:extLst>
              <a:ext uri="{FF2B5EF4-FFF2-40B4-BE49-F238E27FC236}">
                <a16:creationId xmlns:a16="http://schemas.microsoft.com/office/drawing/2014/main" id="{61FBF449-F26E-BA33-96E2-C5BBD56619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6627" y="906206"/>
            <a:ext cx="448129" cy="432001"/>
          </a:xfrm>
          <a:prstGeom prst="rect">
            <a:avLst/>
          </a:prstGeom>
        </p:spPr>
      </p:pic>
      <p:pic>
        <p:nvPicPr>
          <p:cNvPr id="13" name="図 12">
            <a:extLst>
              <a:ext uri="{FF2B5EF4-FFF2-40B4-BE49-F238E27FC236}">
                <a16:creationId xmlns:a16="http://schemas.microsoft.com/office/drawing/2014/main" id="{C4FD80D4-1A55-056D-361C-04B12C8043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998" y="4927439"/>
            <a:ext cx="5785269" cy="1146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273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0173C-59A2-2037-D73D-0E215B3139A4}"/>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10A76A69-7EBA-24AD-3805-2A372CFEEAE8}"/>
              </a:ext>
            </a:extLst>
          </p:cNvPr>
          <p:cNvSpPr/>
          <p:nvPr/>
        </p:nvSpPr>
        <p:spPr>
          <a:xfrm>
            <a:off x="67565" y="90087"/>
            <a:ext cx="6722870" cy="8963827"/>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5B787233-FA7E-25C9-AFC8-77DD3B8699E6}"/>
              </a:ext>
            </a:extLst>
          </p:cNvPr>
          <p:cNvSpPr/>
          <p:nvPr/>
        </p:nvSpPr>
        <p:spPr>
          <a:xfrm>
            <a:off x="-7269" y="0"/>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5EE023F3-4FCC-103D-2599-E4E8CA7BF60A}"/>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824B2131-6CC4-0BFA-B748-D810A3423268}"/>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A4011FAB-63C2-178C-29DE-33DA96F47618}"/>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42F3C5EA-2AFD-33E4-549C-0F84BFE77136}"/>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F3FA60BD-81FF-4E70-C88D-182A05D73C49}"/>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0F94DBC3-EEDB-BBD1-A314-ABB30EC10D4A}"/>
              </a:ext>
            </a:extLst>
          </p:cNvPr>
          <p:cNvSpPr/>
          <p:nvPr/>
        </p:nvSpPr>
        <p:spPr>
          <a:xfrm>
            <a:off x="554537" y="440276"/>
            <a:ext cx="5756193"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15" name="正方形/長方形 14">
            <a:extLst>
              <a:ext uri="{FF2B5EF4-FFF2-40B4-BE49-F238E27FC236}">
                <a16:creationId xmlns:a16="http://schemas.microsoft.com/office/drawing/2014/main" id="{F47E6663-8146-0675-09E7-BA77AF348350}"/>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16" name="正方形/長方形 15">
            <a:extLst>
              <a:ext uri="{FF2B5EF4-FFF2-40B4-BE49-F238E27FC236}">
                <a16:creationId xmlns:a16="http://schemas.microsoft.com/office/drawing/2014/main" id="{C95B28A9-13D1-5C87-BC7B-361DB6DEDF54}"/>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17" name="テキスト ボックス 16">
            <a:extLst>
              <a:ext uri="{FF2B5EF4-FFF2-40B4-BE49-F238E27FC236}">
                <a16:creationId xmlns:a16="http://schemas.microsoft.com/office/drawing/2014/main" id="{465E0D04-137D-61B6-CDB3-C9B389BF921F}"/>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latin typeface="Noto Sans JP" panose="020B0200000000000000" pitchFamily="50" charset="-128"/>
                <a:ea typeface="Noto Sans JP" panose="020B0200000000000000" pitchFamily="50" charset="-128"/>
              </a:rPr>
              <a:t>2</a:t>
            </a:r>
            <a:endParaRPr kumimoji="1" lang="ja-JP" altLang="en-US" dirty="0">
              <a:latin typeface="Noto Sans JP" panose="020B0200000000000000" pitchFamily="50" charset="-128"/>
              <a:ea typeface="Noto Sans JP" panose="020B0200000000000000" pitchFamily="50" charset="-128"/>
            </a:endParaRPr>
          </a:p>
        </p:txBody>
      </p:sp>
      <p:sp>
        <p:nvSpPr>
          <p:cNvPr id="14" name="楕円 13">
            <a:extLst>
              <a:ext uri="{FF2B5EF4-FFF2-40B4-BE49-F238E27FC236}">
                <a16:creationId xmlns:a16="http://schemas.microsoft.com/office/drawing/2014/main" id="{598BECD0-FE21-7197-76A9-A35DBF75C26D}"/>
              </a:ext>
            </a:extLst>
          </p:cNvPr>
          <p:cNvSpPr/>
          <p:nvPr/>
        </p:nvSpPr>
        <p:spPr>
          <a:xfrm>
            <a:off x="566175" y="677902"/>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20" name="楕円 19">
            <a:extLst>
              <a:ext uri="{FF2B5EF4-FFF2-40B4-BE49-F238E27FC236}">
                <a16:creationId xmlns:a16="http://schemas.microsoft.com/office/drawing/2014/main" id="{1228AC35-8F16-7C9A-87A7-5D5AF44B4A45}"/>
              </a:ext>
            </a:extLst>
          </p:cNvPr>
          <p:cNvSpPr/>
          <p:nvPr/>
        </p:nvSpPr>
        <p:spPr>
          <a:xfrm>
            <a:off x="566175" y="2510638"/>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3" name="テキスト ボックス 2">
            <a:extLst>
              <a:ext uri="{FF2B5EF4-FFF2-40B4-BE49-F238E27FC236}">
                <a16:creationId xmlns:a16="http://schemas.microsoft.com/office/drawing/2014/main" id="{BE721B25-AF01-358E-3AF5-DD53E680BEA4}"/>
              </a:ext>
            </a:extLst>
          </p:cNvPr>
          <p:cNvSpPr txBox="1"/>
          <p:nvPr/>
        </p:nvSpPr>
        <p:spPr>
          <a:xfrm>
            <a:off x="770844" y="610017"/>
            <a:ext cx="2480166" cy="400110"/>
          </a:xfrm>
          <a:prstGeom prst="rect">
            <a:avLst/>
          </a:prstGeom>
          <a:noFill/>
        </p:spPr>
        <p:txBody>
          <a:bodyPr wrap="none" rtlCol="0">
            <a:spAutoFit/>
          </a:bodyPr>
          <a:lstStyle/>
          <a:p>
            <a:r>
              <a:rPr lang="en-US" altLang="ja-JP" sz="2000" dirty="0">
                <a:latin typeface="Noto Sans JP" panose="020B0200000000000000" pitchFamily="50" charset="-128"/>
                <a:ea typeface="Noto Sans JP" panose="020B0200000000000000" pitchFamily="50" charset="-128"/>
              </a:rPr>
              <a:t>3. </a:t>
            </a:r>
            <a:r>
              <a:rPr lang="en-US" altLang="ja-JP" sz="2000" dirty="0">
                <a:latin typeface="Jost SemiBold" pitchFamily="2" charset="0"/>
                <a:ea typeface="Jost SemiBold" pitchFamily="2" charset="0"/>
              </a:rPr>
              <a:t>FlexChroma</a:t>
            </a:r>
            <a:r>
              <a:rPr lang="en-US" altLang="ja-JP" sz="2000" dirty="0">
                <a:latin typeface="Noto Sans JP" panose="020B0200000000000000" pitchFamily="50" charset="-128"/>
                <a:ea typeface="Noto Sans JP" panose="020B0200000000000000" pitchFamily="50" charset="-128"/>
              </a:rPr>
              <a:t> HUB</a:t>
            </a:r>
            <a:endParaRPr kumimoji="1" lang="ja-JP" altLang="en-US" sz="2400" b="1" dirty="0">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A4E1C011-7C36-5F21-4954-43ED394E75BA}"/>
              </a:ext>
            </a:extLst>
          </p:cNvPr>
          <p:cNvSpPr txBox="1"/>
          <p:nvPr/>
        </p:nvSpPr>
        <p:spPr>
          <a:xfrm>
            <a:off x="668508" y="950188"/>
            <a:ext cx="5649491" cy="553998"/>
          </a:xfrm>
          <a:prstGeom prst="rect">
            <a:avLst/>
          </a:prstGeom>
          <a:noFill/>
        </p:spPr>
        <p:txBody>
          <a:bodyPr wrap="square" rtlCol="0">
            <a:spAutoFit/>
          </a:bodyPr>
          <a:lstStyle/>
          <a:p>
            <a:r>
              <a:rPr lang="en-US" altLang="ja-JP" sz="1000" dirty="0">
                <a:latin typeface="Jost SemiBold" pitchFamily="2" charset="0"/>
                <a:ea typeface="Jost SemiBold" pitchFamily="2" charset="0"/>
                <a:cs typeface="Segoe UI Semibold" panose="020B0702040204020203" pitchFamily="34" charset="0"/>
              </a:rPr>
              <a:t>FlexChroma</a:t>
            </a:r>
            <a:r>
              <a:rPr lang="en-US" altLang="ja-JP" sz="1000" dirty="0">
                <a:latin typeface="Noto Sans JP" panose="020B0200000000000000" pitchFamily="50" charset="-128"/>
                <a:ea typeface="Noto Sans JP" panose="020B0200000000000000" pitchFamily="50" charset="-128"/>
                <a:cs typeface="Segoe UI Semibold" panose="020B0702040204020203" pitchFamily="34" charset="0"/>
              </a:rPr>
              <a:t> HUB </a:t>
            </a:r>
            <a:r>
              <a:rPr lang="ja-JP" altLang="en-US" sz="1000" dirty="0">
                <a:latin typeface="Noto Sans JP" panose="020B0200000000000000" pitchFamily="50" charset="-128"/>
                <a:ea typeface="Noto Sans JP" panose="020B0200000000000000" pitchFamily="50" charset="-128"/>
                <a:cs typeface="Segoe UI Semibold" panose="020B0702040204020203" pitchFamily="34" charset="0"/>
              </a:rPr>
              <a:t>は</a:t>
            </a:r>
            <a:r>
              <a:rPr lang="en-US" altLang="ja-JP" sz="1000" dirty="0">
                <a:latin typeface="Noto Sans JP" panose="020B0200000000000000" pitchFamily="50" charset="-128"/>
                <a:ea typeface="Noto Sans JP" panose="020B0200000000000000" pitchFamily="50" charset="-128"/>
              </a:rPr>
              <a:t>Makerworld</a:t>
            </a:r>
            <a:r>
              <a:rPr lang="ja-JP" altLang="ja-JP" sz="1000" dirty="0">
                <a:latin typeface="Noto Sans JP" panose="020B0200000000000000" pitchFamily="50" charset="-128"/>
                <a:ea typeface="Noto Sans JP" panose="020B0200000000000000" pitchFamily="50" charset="-128"/>
              </a:rPr>
              <a:t>における全てのシリーズや外部ポータルへの入口です。</a:t>
            </a:r>
            <a:r>
              <a:rPr lang="ja-JP" altLang="ja-JP" sz="1000" b="1" dirty="0">
                <a:latin typeface="Noto Sans JP" panose="020B0200000000000000" pitchFamily="50" charset="-128"/>
                <a:ea typeface="Noto Sans JP" panose="020B0200000000000000" pitchFamily="50" charset="-128"/>
              </a:rPr>
              <a:t>迷ったらまずここを開いてください。</a:t>
            </a:r>
            <a:endParaRPr lang="ja-JP" altLang="ja-JP" sz="1000" dirty="0">
              <a:latin typeface="Noto Sans JP" panose="020B0200000000000000" pitchFamily="50" charset="-128"/>
              <a:ea typeface="Noto Sans JP" panose="020B0200000000000000" pitchFamily="50" charset="-128"/>
            </a:endParaRPr>
          </a:p>
          <a:p>
            <a:endParaRPr kumimoji="1" lang="ja-JP" altLang="en-US" sz="1000" b="1" dirty="0">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C2FB48DC-10F4-2185-6930-78B6977A0BD2}"/>
              </a:ext>
            </a:extLst>
          </p:cNvPr>
          <p:cNvSpPr txBox="1"/>
          <p:nvPr/>
        </p:nvSpPr>
        <p:spPr>
          <a:xfrm>
            <a:off x="770844" y="2440080"/>
            <a:ext cx="2121093" cy="400110"/>
          </a:xfrm>
          <a:prstGeom prst="rect">
            <a:avLst/>
          </a:prstGeom>
          <a:noFill/>
        </p:spPr>
        <p:txBody>
          <a:bodyPr wrap="none" rtlCol="0">
            <a:spAutoFit/>
          </a:bodyPr>
          <a:lstStyle/>
          <a:p>
            <a:r>
              <a:rPr lang="en-US" altLang="ja-JP" sz="2000" dirty="0">
                <a:latin typeface="Noto Sans JP" panose="020B0200000000000000" pitchFamily="50" charset="-128"/>
                <a:ea typeface="Noto Sans JP" panose="020B0200000000000000" pitchFamily="50" charset="-128"/>
              </a:rPr>
              <a:t>4. </a:t>
            </a:r>
            <a:r>
              <a:rPr lang="en-US" altLang="ja-JP" sz="2000" dirty="0">
                <a:latin typeface="Jost Medium" pitchFamily="2" charset="0"/>
                <a:ea typeface="Jost Medium" pitchFamily="2" charset="0"/>
              </a:rPr>
              <a:t>Blend Filament</a:t>
            </a:r>
            <a:endParaRPr kumimoji="1" lang="ja-JP" altLang="en-US" sz="2800" b="1" dirty="0">
              <a:latin typeface="Jost Medium" pitchFamily="2" charset="0"/>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83844719-2CDC-AB32-6FBF-9DC0B5690794}"/>
              </a:ext>
            </a:extLst>
          </p:cNvPr>
          <p:cNvSpPr txBox="1"/>
          <p:nvPr/>
        </p:nvSpPr>
        <p:spPr>
          <a:xfrm>
            <a:off x="668509" y="2819731"/>
            <a:ext cx="5642222" cy="1246495"/>
          </a:xfrm>
          <a:prstGeom prst="rect">
            <a:avLst/>
          </a:prstGeom>
          <a:noFill/>
        </p:spPr>
        <p:txBody>
          <a:bodyPr wrap="square" rtlCol="0">
            <a:spAutoFit/>
          </a:bodyPr>
          <a:lstStyle/>
          <a:p>
            <a:r>
              <a:rPr lang="en-US" altLang="ja-JP" sz="1000" dirty="0">
                <a:latin typeface="Jost Medium" pitchFamily="2" charset="0"/>
                <a:ea typeface="Jost Medium" pitchFamily="2" charset="0"/>
              </a:rPr>
              <a:t>Blend Filament</a:t>
            </a:r>
            <a:r>
              <a:rPr lang="ja-JP" altLang="ja-JP" sz="1000" dirty="0">
                <a:latin typeface="Noto Sans JP" panose="020B0200000000000000" pitchFamily="50" charset="-128"/>
                <a:ea typeface="Noto Sans JP" panose="020B0200000000000000" pitchFamily="50" charset="-128"/>
              </a:rPr>
              <a:t>シリーズは</a:t>
            </a:r>
            <a:r>
              <a:rPr lang="en-US" altLang="ja-JP" sz="1000" dirty="0">
                <a:latin typeface="Jost SemiBold" pitchFamily="2" charset="0"/>
                <a:ea typeface="Jost SemiBold" pitchFamily="2" charset="0"/>
              </a:rPr>
              <a:t>FlexChroma</a:t>
            </a:r>
            <a:r>
              <a:rPr lang="ja-JP" altLang="ja-JP" sz="1000" dirty="0">
                <a:latin typeface="Noto Sans JP" panose="020B0200000000000000" pitchFamily="50" charset="-128"/>
                <a:ea typeface="Noto Sans JP" panose="020B0200000000000000" pitchFamily="50" charset="-128"/>
              </a:rPr>
              <a:t>の最も基礎的なシリーズです。</a:t>
            </a:r>
            <a:r>
              <a:rPr lang="en-US" altLang="ja-JP" sz="1000" dirty="0">
                <a:latin typeface="Noto Sans JP" panose="020B0200000000000000" pitchFamily="50" charset="-128"/>
                <a:ea typeface="Noto Sans JP" panose="020B0200000000000000" pitchFamily="50" charset="-128"/>
              </a:rPr>
              <a:t>2</a:t>
            </a:r>
            <a:r>
              <a:rPr lang="ja-JP" altLang="ja-JP" sz="1000" dirty="0">
                <a:latin typeface="Noto Sans JP" panose="020B0200000000000000" pitchFamily="50" charset="-128"/>
                <a:ea typeface="Noto Sans JP" panose="020B0200000000000000" pitchFamily="50" charset="-128"/>
              </a:rPr>
              <a:t>つのフィラメントを様々な混合比で混ぜ合わせ、あなただけの新しい色を作ることが出来ます。各モデルは</a:t>
            </a:r>
            <a:r>
              <a:rPr lang="en-US" altLang="ja-JP" sz="1000" dirty="0">
                <a:latin typeface="Noto Sans JP" panose="020B0200000000000000" pitchFamily="50" charset="-128"/>
                <a:ea typeface="Noto Sans JP" panose="020B0200000000000000" pitchFamily="50" charset="-128"/>
              </a:rPr>
              <a:t>50</a:t>
            </a:r>
            <a:r>
              <a:rPr lang="ja-JP" altLang="ja-JP" sz="1000" dirty="0">
                <a:latin typeface="Noto Sans JP" panose="020B0200000000000000" pitchFamily="50" charset="-128"/>
                <a:ea typeface="Noto Sans JP" panose="020B0200000000000000" pitchFamily="50" charset="-128"/>
              </a:rPr>
              <a:t>％～</a:t>
            </a:r>
            <a:r>
              <a:rPr lang="en-US" altLang="ja-JP" sz="1000" dirty="0">
                <a:latin typeface="Noto Sans JP" panose="020B0200000000000000" pitchFamily="50" charset="-128"/>
                <a:ea typeface="Noto Sans JP" panose="020B0200000000000000" pitchFamily="50" charset="-128"/>
              </a:rPr>
              <a:t>99.5%</a:t>
            </a:r>
            <a:r>
              <a:rPr lang="ja-JP" altLang="ja-JP" sz="1000" dirty="0">
                <a:latin typeface="Noto Sans JP" panose="020B0200000000000000" pitchFamily="50" charset="-128"/>
                <a:ea typeface="Noto Sans JP" panose="020B0200000000000000" pitchFamily="50" charset="-128"/>
              </a:rPr>
              <a:t>までの混色比</a:t>
            </a:r>
            <a:r>
              <a:rPr lang="en-US" altLang="ja-JP" sz="1000" dirty="0">
                <a:latin typeface="Noto Sans JP" panose="020B0200000000000000" pitchFamily="50" charset="-128"/>
                <a:ea typeface="Noto Sans JP" panose="020B0200000000000000" pitchFamily="50" charset="-128"/>
              </a:rPr>
              <a:t>Profile</a:t>
            </a:r>
            <a:r>
              <a:rPr lang="ja-JP" altLang="ja-JP" sz="1000" dirty="0">
                <a:latin typeface="Noto Sans JP" panose="020B0200000000000000" pitchFamily="50" charset="-128"/>
                <a:ea typeface="Noto Sans JP" panose="020B0200000000000000" pitchFamily="50" charset="-128"/>
              </a:rPr>
              <a:t>をもっていますが、</a:t>
            </a:r>
            <a:r>
              <a:rPr lang="en-US" altLang="ja-JP" sz="1000" b="1" dirty="0">
                <a:latin typeface="Noto Sans JP" panose="020B0200000000000000" pitchFamily="50" charset="-128"/>
                <a:ea typeface="Noto Sans JP" panose="020B0200000000000000" pitchFamily="50" charset="-128"/>
              </a:rPr>
              <a:t>50</a:t>
            </a:r>
            <a:r>
              <a:rPr lang="ja-JP" altLang="ja-JP" sz="1000" b="1" dirty="0">
                <a:latin typeface="Noto Sans JP" panose="020B0200000000000000" pitchFamily="50" charset="-128"/>
                <a:ea typeface="Noto Sans JP" panose="020B0200000000000000" pitchFamily="50" charset="-128"/>
              </a:rPr>
              <a:t>％未満の混色比についてはフィラメント</a:t>
            </a:r>
            <a:r>
              <a:rPr lang="en-US" altLang="ja-JP" sz="1000" b="1" dirty="0">
                <a:latin typeface="Noto Sans JP" panose="020B0200000000000000" pitchFamily="50" charset="-128"/>
                <a:ea typeface="Noto Sans JP" panose="020B0200000000000000" pitchFamily="50" charset="-128"/>
              </a:rPr>
              <a:t>A/B</a:t>
            </a:r>
            <a:r>
              <a:rPr lang="ja-JP" altLang="ja-JP" sz="1000" b="1" dirty="0">
                <a:latin typeface="Noto Sans JP" panose="020B0200000000000000" pitchFamily="50" charset="-128"/>
                <a:ea typeface="Noto Sans JP" panose="020B0200000000000000" pitchFamily="50" charset="-128"/>
              </a:rPr>
              <a:t>を入れ替えることで得ることが出来ます。</a:t>
            </a:r>
            <a:endParaRPr lang="ja-JP" altLang="ja-JP" sz="500" dirty="0">
              <a:latin typeface="Noto Sans JP" panose="020B0200000000000000" pitchFamily="50" charset="-128"/>
              <a:ea typeface="Noto Sans JP" panose="020B0200000000000000" pitchFamily="50" charset="-128"/>
            </a:endParaRPr>
          </a:p>
          <a:p>
            <a:r>
              <a:rPr lang="en-US" altLang="ja-JP" sz="500" dirty="0">
                <a:latin typeface="Noto Sans JP" panose="020B0200000000000000" pitchFamily="50" charset="-128"/>
                <a:ea typeface="Noto Sans JP" panose="020B0200000000000000" pitchFamily="50" charset="-128"/>
              </a:rPr>
              <a:t> </a:t>
            </a:r>
            <a:endParaRPr lang="ja-JP" altLang="ja-JP" sz="500" dirty="0">
              <a:latin typeface="Noto Sans JP" panose="020B0200000000000000" pitchFamily="50" charset="-128"/>
              <a:ea typeface="Noto Sans JP" panose="020B0200000000000000" pitchFamily="50" charset="-128"/>
            </a:endParaRPr>
          </a:p>
          <a:p>
            <a:r>
              <a:rPr lang="ja-JP" altLang="ja-JP" sz="1000" dirty="0">
                <a:latin typeface="Noto Sans JP" panose="020B0200000000000000" pitchFamily="50" charset="-128"/>
                <a:ea typeface="Noto Sans JP" panose="020B0200000000000000" pitchFamily="50" charset="-128"/>
              </a:rPr>
              <a:t>以下はイエローにシアンを</a:t>
            </a:r>
            <a:r>
              <a:rPr lang="en-US" altLang="ja-JP" sz="1000" dirty="0">
                <a:latin typeface="Noto Sans JP" panose="020B0200000000000000" pitchFamily="50" charset="-128"/>
                <a:ea typeface="Noto Sans JP" panose="020B0200000000000000" pitchFamily="50" charset="-128"/>
              </a:rPr>
              <a:t>25%</a:t>
            </a:r>
            <a:r>
              <a:rPr lang="ja-JP" altLang="ja-JP" sz="1000" dirty="0">
                <a:latin typeface="Noto Sans JP" panose="020B0200000000000000" pitchFamily="50" charset="-128"/>
                <a:ea typeface="Noto Sans JP" panose="020B0200000000000000" pitchFamily="50" charset="-128"/>
              </a:rPr>
              <a:t>混ぜた</a:t>
            </a:r>
            <a:r>
              <a:rPr lang="en-US" altLang="ja-JP" sz="1000" dirty="0">
                <a:latin typeface="Jost Medium" pitchFamily="2" charset="0"/>
                <a:ea typeface="Jost Medium" pitchFamily="2" charset="0"/>
              </a:rPr>
              <a:t>Blend Filament</a:t>
            </a:r>
            <a:r>
              <a:rPr lang="ja-JP" altLang="ja-JP" sz="1000" dirty="0">
                <a:latin typeface="Noto Sans JP" panose="020B0200000000000000" pitchFamily="50" charset="-128"/>
                <a:ea typeface="Noto Sans JP" panose="020B0200000000000000" pitchFamily="50" charset="-128"/>
              </a:rPr>
              <a:t>を作る場合の例です。</a:t>
            </a:r>
          </a:p>
          <a:p>
            <a:r>
              <a:rPr lang="en-US" altLang="ja-JP" sz="1000" dirty="0">
                <a:latin typeface="Noto Sans JP" panose="020B0200000000000000" pitchFamily="50" charset="-128"/>
                <a:ea typeface="Noto Sans JP" panose="020B0200000000000000" pitchFamily="50" charset="-128"/>
              </a:rPr>
              <a:t>Plate</a:t>
            </a:r>
            <a:r>
              <a:rPr lang="ja-JP" altLang="ja-JP" sz="1000" dirty="0">
                <a:latin typeface="Noto Sans JP" panose="020B0200000000000000" pitchFamily="50" charset="-128"/>
                <a:ea typeface="Noto Sans JP" panose="020B0200000000000000" pitchFamily="50" charset="-128"/>
              </a:rPr>
              <a:t>に記載されている数値はフィラメント</a:t>
            </a:r>
            <a:r>
              <a:rPr lang="en-US" altLang="ja-JP" sz="1000" dirty="0">
                <a:latin typeface="Noto Sans JP" panose="020B0200000000000000" pitchFamily="50" charset="-128"/>
                <a:ea typeface="Noto Sans JP" panose="020B0200000000000000" pitchFamily="50" charset="-128"/>
              </a:rPr>
              <a:t>A</a:t>
            </a:r>
            <a:r>
              <a:rPr lang="ja-JP" altLang="ja-JP" sz="1000" dirty="0">
                <a:latin typeface="Noto Sans JP" panose="020B0200000000000000" pitchFamily="50" charset="-128"/>
                <a:ea typeface="Noto Sans JP" panose="020B0200000000000000" pitchFamily="50" charset="-128"/>
              </a:rPr>
              <a:t>の割合です。そのためこの例ではイエローを</a:t>
            </a:r>
            <a:r>
              <a:rPr lang="en-US" altLang="ja-JP" sz="1000" dirty="0">
                <a:latin typeface="Noto Sans JP" panose="020B0200000000000000" pitchFamily="50" charset="-128"/>
                <a:ea typeface="Noto Sans JP" panose="020B0200000000000000" pitchFamily="50" charset="-128"/>
              </a:rPr>
              <a:t>75%</a:t>
            </a:r>
            <a:r>
              <a:rPr lang="ja-JP" altLang="ja-JP" sz="1000" dirty="0">
                <a:latin typeface="Noto Sans JP" panose="020B0200000000000000" pitchFamily="50" charset="-128"/>
                <a:ea typeface="Noto Sans JP" panose="020B0200000000000000" pitchFamily="50" charset="-128"/>
              </a:rPr>
              <a:t>にすると読み替えて、スライスまでのの設定を選びます。</a:t>
            </a:r>
          </a:p>
        </p:txBody>
      </p:sp>
      <p:sp>
        <p:nvSpPr>
          <p:cNvPr id="24" name="テキスト ボックス 23">
            <a:extLst>
              <a:ext uri="{FF2B5EF4-FFF2-40B4-BE49-F238E27FC236}">
                <a16:creationId xmlns:a16="http://schemas.microsoft.com/office/drawing/2014/main" id="{2FB90F5E-7734-F19F-FF8C-E8AC00A4C515}"/>
              </a:ext>
            </a:extLst>
          </p:cNvPr>
          <p:cNvSpPr txBox="1"/>
          <p:nvPr/>
        </p:nvSpPr>
        <p:spPr>
          <a:xfrm>
            <a:off x="668508" y="5140572"/>
            <a:ext cx="5642222" cy="246221"/>
          </a:xfrm>
          <a:prstGeom prst="rect">
            <a:avLst/>
          </a:prstGeom>
          <a:noFill/>
        </p:spPr>
        <p:txBody>
          <a:bodyPr wrap="square" rtlCol="0">
            <a:spAutoFit/>
          </a:bodyPr>
          <a:lstStyle/>
          <a:p>
            <a:r>
              <a:rPr lang="ja-JP" altLang="ja-JP" sz="1000" dirty="0">
                <a:latin typeface="Noto Sans JP" panose="020B0200000000000000" pitchFamily="50" charset="-128"/>
                <a:ea typeface="Noto Sans JP" panose="020B0200000000000000" pitchFamily="50" charset="-128"/>
              </a:rPr>
              <a:t>以下は</a:t>
            </a:r>
            <a:r>
              <a:rPr lang="en-US" altLang="ja-JP" sz="1000" dirty="0">
                <a:latin typeface="Jost Medium" pitchFamily="2" charset="0"/>
                <a:ea typeface="Jost Medium" pitchFamily="2" charset="0"/>
              </a:rPr>
              <a:t>Blend Filament</a:t>
            </a:r>
            <a:r>
              <a:rPr lang="ja-JP" altLang="ja-JP" sz="1000" dirty="0">
                <a:latin typeface="Noto Sans JP" panose="020B0200000000000000" pitchFamily="50" charset="-128"/>
                <a:ea typeface="Noto Sans JP" panose="020B0200000000000000" pitchFamily="50" charset="-128"/>
              </a:rPr>
              <a:t>のモデル構成です。</a:t>
            </a:r>
          </a:p>
        </p:txBody>
      </p:sp>
      <p:pic>
        <p:nvPicPr>
          <p:cNvPr id="4" name="図 3">
            <a:extLst>
              <a:ext uri="{FF2B5EF4-FFF2-40B4-BE49-F238E27FC236}">
                <a16:creationId xmlns:a16="http://schemas.microsoft.com/office/drawing/2014/main" id="{88F5AA35-4A8A-FB0F-C8E2-4D16644372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6197" y="1361056"/>
            <a:ext cx="4265606" cy="950089"/>
          </a:xfrm>
          <a:prstGeom prst="rect">
            <a:avLst/>
          </a:prstGeom>
          <a:noFill/>
          <a:extLst>
            <a:ext uri="{909E8E84-426E-40DD-AFC4-6F175D3DCCD1}">
              <a14:hiddenFill xmlns:a14="http://schemas.microsoft.com/office/drawing/2010/main">
                <a:solidFill>
                  <a:srgbClr val="FFFFFF"/>
                </a:solidFill>
              </a14:hiddenFill>
            </a:ext>
          </a:extLst>
        </p:spPr>
      </p:pic>
      <p:pic>
        <p:nvPicPr>
          <p:cNvPr id="18" name="図 17">
            <a:extLst>
              <a:ext uri="{FF2B5EF4-FFF2-40B4-BE49-F238E27FC236}">
                <a16:creationId xmlns:a16="http://schemas.microsoft.com/office/drawing/2014/main" id="{4F8E8DE6-504D-BD3F-0399-F6F3D82CC2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001" y="4143910"/>
            <a:ext cx="5770728" cy="896109"/>
          </a:xfrm>
          <a:prstGeom prst="rect">
            <a:avLst/>
          </a:prstGeom>
          <a:noFill/>
          <a:extLst>
            <a:ext uri="{909E8E84-426E-40DD-AFC4-6F175D3DCCD1}">
              <a14:hiddenFill xmlns:a14="http://schemas.microsoft.com/office/drawing/2010/main">
                <a:solidFill>
                  <a:srgbClr val="FFFFFF"/>
                </a:solidFill>
              </a14:hiddenFill>
            </a:ext>
          </a:extLst>
        </p:spPr>
      </p:pic>
      <p:pic>
        <p:nvPicPr>
          <p:cNvPr id="19" name="図 18">
            <a:extLst>
              <a:ext uri="{FF2B5EF4-FFF2-40B4-BE49-F238E27FC236}">
                <a16:creationId xmlns:a16="http://schemas.microsoft.com/office/drawing/2014/main" id="{F208E6FF-9E8B-B75F-87D7-2ACE642719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0830" y="5388956"/>
            <a:ext cx="4836340" cy="3183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8978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23065-C738-1975-C61A-347A71E91131}"/>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76991F79-EF9D-214D-22CC-3EE4375C1316}"/>
              </a:ext>
            </a:extLst>
          </p:cNvPr>
          <p:cNvSpPr/>
          <p:nvPr/>
        </p:nvSpPr>
        <p:spPr>
          <a:xfrm>
            <a:off x="51086"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 name="正方形/長方形 4">
            <a:extLst>
              <a:ext uri="{FF2B5EF4-FFF2-40B4-BE49-F238E27FC236}">
                <a16:creationId xmlns:a16="http://schemas.microsoft.com/office/drawing/2014/main" id="{ADCDB3DB-81C6-2500-386E-779A7602240D}"/>
              </a:ext>
            </a:extLst>
          </p:cNvPr>
          <p:cNvSpPr/>
          <p:nvPr/>
        </p:nvSpPr>
        <p:spPr>
          <a:xfrm>
            <a:off x="17051" y="5531"/>
            <a:ext cx="6858000" cy="9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 name="グループ化 9">
            <a:extLst>
              <a:ext uri="{FF2B5EF4-FFF2-40B4-BE49-F238E27FC236}">
                <a16:creationId xmlns:a16="http://schemas.microsoft.com/office/drawing/2014/main" id="{6809260A-E3A9-A10F-64B4-276376DBA937}"/>
              </a:ext>
            </a:extLst>
          </p:cNvPr>
          <p:cNvGrpSpPr/>
          <p:nvPr/>
        </p:nvGrpSpPr>
        <p:grpSpPr>
          <a:xfrm>
            <a:off x="0" y="0"/>
            <a:ext cx="6865269" cy="9144001"/>
            <a:chOff x="0" y="0"/>
            <a:chExt cx="6865269" cy="9144001"/>
          </a:xfrm>
        </p:grpSpPr>
        <p:sp>
          <p:nvSpPr>
            <p:cNvPr id="6" name="正方形/長方形 5">
              <a:extLst>
                <a:ext uri="{FF2B5EF4-FFF2-40B4-BE49-F238E27FC236}">
                  <a16:creationId xmlns:a16="http://schemas.microsoft.com/office/drawing/2014/main" id="{1013BF5E-61A6-7F01-BF6F-0C6BB497C24C}"/>
                </a:ext>
              </a:extLst>
            </p:cNvPr>
            <p:cNvSpPr/>
            <p:nvPr/>
          </p:nvSpPr>
          <p:spPr>
            <a:xfrm>
              <a:off x="0" y="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981A98E8-4943-C462-95B6-FEF1CE8411FB}"/>
                </a:ext>
              </a:extLst>
            </p:cNvPr>
            <p:cNvSpPr/>
            <p:nvPr/>
          </p:nvSpPr>
          <p:spPr>
            <a:xfrm>
              <a:off x="0" y="8712000"/>
              <a:ext cx="6858000" cy="432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7634534E-96BD-2796-50AA-D46B14258839}"/>
                </a:ext>
              </a:extLst>
            </p:cNvPr>
            <p:cNvSpPr/>
            <p:nvPr/>
          </p:nvSpPr>
          <p:spPr>
            <a:xfrm>
              <a:off x="0" y="1"/>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正方形/長方形 8">
              <a:extLst>
                <a:ext uri="{FF2B5EF4-FFF2-40B4-BE49-F238E27FC236}">
                  <a16:creationId xmlns:a16="http://schemas.microsoft.com/office/drawing/2014/main" id="{98BDDABE-AF21-FAFC-C17E-390C8B630108}"/>
                </a:ext>
              </a:extLst>
            </p:cNvPr>
            <p:cNvSpPr/>
            <p:nvPr/>
          </p:nvSpPr>
          <p:spPr>
            <a:xfrm>
              <a:off x="6325269" y="0"/>
              <a:ext cx="540000" cy="9144000"/>
            </a:xfrm>
            <a:prstGeom prst="rect">
              <a:avLst/>
            </a:prstGeom>
            <a:solidFill>
              <a:schemeClr val="accent2">
                <a:lumMod val="60000"/>
                <a:lumOff val="40000"/>
                <a:alpha val="10000"/>
              </a:schemeClr>
            </a:solidFill>
            <a:ln>
              <a:solidFill>
                <a:schemeClr val="accent2">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正方形/長方形 12">
            <a:extLst>
              <a:ext uri="{FF2B5EF4-FFF2-40B4-BE49-F238E27FC236}">
                <a16:creationId xmlns:a16="http://schemas.microsoft.com/office/drawing/2014/main" id="{C31BB991-A1A7-FAE2-CB87-73D2777505EE}"/>
              </a:ext>
            </a:extLst>
          </p:cNvPr>
          <p:cNvSpPr/>
          <p:nvPr/>
        </p:nvSpPr>
        <p:spPr>
          <a:xfrm>
            <a:off x="554537" y="440276"/>
            <a:ext cx="5756193"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15" name="正方形/長方形 14">
            <a:extLst>
              <a:ext uri="{FF2B5EF4-FFF2-40B4-BE49-F238E27FC236}">
                <a16:creationId xmlns:a16="http://schemas.microsoft.com/office/drawing/2014/main" id="{33AFA6C5-4BF2-A033-32A4-BECDD4F86FD4}"/>
              </a:ext>
            </a:extLst>
          </p:cNvPr>
          <p:cNvSpPr/>
          <p:nvPr/>
        </p:nvSpPr>
        <p:spPr>
          <a:xfrm>
            <a:off x="554538"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16" name="正方形/長方形 15">
            <a:extLst>
              <a:ext uri="{FF2B5EF4-FFF2-40B4-BE49-F238E27FC236}">
                <a16:creationId xmlns:a16="http://schemas.microsoft.com/office/drawing/2014/main" id="{0B6597B8-6C80-13D9-C7AF-67EB68F224A8}"/>
              </a:ext>
            </a:extLst>
          </p:cNvPr>
          <p:cNvSpPr/>
          <p:nvPr/>
        </p:nvSpPr>
        <p:spPr>
          <a:xfrm>
            <a:off x="3734844" y="8661917"/>
            <a:ext cx="2592000" cy="54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17" name="テキスト ボックス 16">
            <a:extLst>
              <a:ext uri="{FF2B5EF4-FFF2-40B4-BE49-F238E27FC236}">
                <a16:creationId xmlns:a16="http://schemas.microsoft.com/office/drawing/2014/main" id="{AF623625-2DCF-7634-93D4-9344D0B367F8}"/>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latin typeface="Noto Sans JP" panose="020B0200000000000000" pitchFamily="50" charset="-128"/>
                <a:ea typeface="Noto Sans JP" panose="020B0200000000000000" pitchFamily="50" charset="-128"/>
              </a:rPr>
              <a:t>3</a:t>
            </a:r>
            <a:endParaRPr kumimoji="1" lang="ja-JP" altLang="en-US" dirty="0">
              <a:latin typeface="Noto Sans JP" panose="020B0200000000000000" pitchFamily="50" charset="-128"/>
              <a:ea typeface="Noto Sans JP" panose="020B0200000000000000" pitchFamily="50" charset="-128"/>
            </a:endParaRPr>
          </a:p>
        </p:txBody>
      </p:sp>
      <p:sp>
        <p:nvSpPr>
          <p:cNvPr id="14" name="楕円 13">
            <a:extLst>
              <a:ext uri="{FF2B5EF4-FFF2-40B4-BE49-F238E27FC236}">
                <a16:creationId xmlns:a16="http://schemas.microsoft.com/office/drawing/2014/main" id="{7D25B49B-E1C7-7FE3-F262-C6D12AEF1C2E}"/>
              </a:ext>
            </a:extLst>
          </p:cNvPr>
          <p:cNvSpPr/>
          <p:nvPr/>
        </p:nvSpPr>
        <p:spPr>
          <a:xfrm>
            <a:off x="566175" y="677902"/>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2" name="楕円 1">
            <a:extLst>
              <a:ext uri="{FF2B5EF4-FFF2-40B4-BE49-F238E27FC236}">
                <a16:creationId xmlns:a16="http://schemas.microsoft.com/office/drawing/2014/main" id="{F98466EE-556B-7D77-6461-4135277DD2E2}"/>
              </a:ext>
            </a:extLst>
          </p:cNvPr>
          <p:cNvSpPr/>
          <p:nvPr/>
        </p:nvSpPr>
        <p:spPr>
          <a:xfrm>
            <a:off x="546348" y="7885537"/>
            <a:ext cx="204669" cy="2046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Noto Sans JP" panose="020B0200000000000000" pitchFamily="50" charset="-128"/>
              <a:ea typeface="Noto Sans JP" panose="020B0200000000000000" pitchFamily="50" charset="-128"/>
            </a:endParaRPr>
          </a:p>
        </p:txBody>
      </p:sp>
      <p:sp>
        <p:nvSpPr>
          <p:cNvPr id="31" name="テキスト ボックス 30">
            <a:extLst>
              <a:ext uri="{FF2B5EF4-FFF2-40B4-BE49-F238E27FC236}">
                <a16:creationId xmlns:a16="http://schemas.microsoft.com/office/drawing/2014/main" id="{48078D51-1E2C-A979-AB68-98E18890C6F1}"/>
              </a:ext>
            </a:extLst>
          </p:cNvPr>
          <p:cNvSpPr txBox="1"/>
          <p:nvPr/>
        </p:nvSpPr>
        <p:spPr>
          <a:xfrm>
            <a:off x="770844" y="610017"/>
            <a:ext cx="2470548" cy="400110"/>
          </a:xfrm>
          <a:prstGeom prst="rect">
            <a:avLst/>
          </a:prstGeom>
          <a:noFill/>
        </p:spPr>
        <p:txBody>
          <a:bodyPr wrap="none" rtlCol="0">
            <a:spAutoFit/>
          </a:bodyPr>
          <a:lstStyle/>
          <a:p>
            <a:r>
              <a:rPr lang="en-US" altLang="ja-JP" sz="2000" dirty="0">
                <a:latin typeface="Noto Sans JP" panose="020B0200000000000000" pitchFamily="50" charset="-128"/>
                <a:ea typeface="Noto Sans JP" panose="020B0200000000000000" pitchFamily="50" charset="-128"/>
              </a:rPr>
              <a:t>5. </a:t>
            </a:r>
            <a:r>
              <a:rPr lang="en-US" altLang="ja-JP" sz="2000" dirty="0">
                <a:latin typeface="Jost Medium" pitchFamily="2" charset="0"/>
                <a:ea typeface="Jost Medium" pitchFamily="2" charset="0"/>
              </a:rPr>
              <a:t>Gradient Filament</a:t>
            </a:r>
            <a:endParaRPr kumimoji="1" lang="ja-JP" altLang="en-US" sz="2400" b="1" dirty="0">
              <a:latin typeface="Jost Medium" pitchFamily="2" charset="0"/>
              <a:ea typeface="Noto Sans JP" panose="020B0200000000000000" pitchFamily="50" charset="-128"/>
            </a:endParaRPr>
          </a:p>
        </p:txBody>
      </p:sp>
      <p:sp>
        <p:nvSpPr>
          <p:cNvPr id="32" name="テキスト ボックス 31">
            <a:extLst>
              <a:ext uri="{FF2B5EF4-FFF2-40B4-BE49-F238E27FC236}">
                <a16:creationId xmlns:a16="http://schemas.microsoft.com/office/drawing/2014/main" id="{F974243A-BE39-3111-BDC0-1688AF9439B9}"/>
              </a:ext>
            </a:extLst>
          </p:cNvPr>
          <p:cNvSpPr txBox="1"/>
          <p:nvPr/>
        </p:nvSpPr>
        <p:spPr>
          <a:xfrm>
            <a:off x="668508" y="968409"/>
            <a:ext cx="5649491" cy="1661993"/>
          </a:xfrm>
          <a:prstGeom prst="rect">
            <a:avLst/>
          </a:prstGeom>
          <a:noFill/>
        </p:spPr>
        <p:txBody>
          <a:bodyPr wrap="square" rtlCol="0">
            <a:spAutoFit/>
          </a:bodyPr>
          <a:lstStyle/>
          <a:p>
            <a:r>
              <a:rPr lang="en-US" altLang="ja-JP" sz="1000" dirty="0">
                <a:latin typeface="Jost Medium" pitchFamily="2" charset="0"/>
                <a:ea typeface="Jost Medium" pitchFamily="2" charset="0"/>
              </a:rPr>
              <a:t>Gradient Filament</a:t>
            </a:r>
            <a:r>
              <a:rPr lang="ja-JP" altLang="ja-JP" sz="1000" dirty="0">
                <a:latin typeface="Noto Sans JP" panose="020B0200000000000000" pitchFamily="50" charset="-128"/>
                <a:ea typeface="Noto Sans JP" panose="020B0200000000000000" pitchFamily="50" charset="-128"/>
              </a:rPr>
              <a:t>シリーズは色の組み合わせに合わせた複数のカーブ</a:t>
            </a:r>
            <a:r>
              <a:rPr lang="en-US" altLang="ja-JP" sz="1000" dirty="0">
                <a:latin typeface="Noto Sans JP" panose="020B0200000000000000" pitchFamily="50" charset="-128"/>
                <a:ea typeface="Noto Sans JP" panose="020B0200000000000000" pitchFamily="50" charset="-128"/>
              </a:rPr>
              <a:t>Profile</a:t>
            </a:r>
            <a:r>
              <a:rPr lang="ja-JP" altLang="ja-JP" sz="1000" dirty="0">
                <a:latin typeface="Noto Sans JP" panose="020B0200000000000000" pitchFamily="50" charset="-128"/>
                <a:ea typeface="Noto Sans JP" panose="020B0200000000000000" pitchFamily="50" charset="-128"/>
              </a:rPr>
              <a:t>とプレートごとにサイクル数が違うモデルを持っています。詳細は各モデルの説明文をご確認ください。</a:t>
            </a:r>
          </a:p>
          <a:p>
            <a:r>
              <a:rPr lang="en-US" altLang="ja-JP" sz="600" dirty="0">
                <a:latin typeface="Noto Sans JP" panose="020B0200000000000000" pitchFamily="50" charset="-128"/>
                <a:ea typeface="Noto Sans JP" panose="020B0200000000000000" pitchFamily="50" charset="-128"/>
              </a:rPr>
              <a:t> </a:t>
            </a:r>
          </a:p>
          <a:p>
            <a:pPr marL="171450" indent="-171450">
              <a:buFont typeface="Arial" panose="020B0604020202020204" pitchFamily="34" charset="0"/>
              <a:buChar char="•"/>
            </a:pPr>
            <a:r>
              <a:rPr lang="ja-JP" altLang="ja-JP" sz="900" dirty="0">
                <a:latin typeface="Noto Sans JP" panose="020B0200000000000000" pitchFamily="50" charset="-128"/>
                <a:ea typeface="Noto Sans JP" panose="020B0200000000000000" pitchFamily="50" charset="-128"/>
              </a:rPr>
              <a:t>カラーカーブ：色の組み合わせに応じた設定。シアンとイエローならば</a:t>
            </a:r>
            <a:r>
              <a:rPr lang="en-US" altLang="ja-JP" sz="900" dirty="0">
                <a:latin typeface="Noto Sans JP" panose="020B0200000000000000" pitchFamily="50" charset="-128"/>
                <a:ea typeface="Noto Sans JP" panose="020B0200000000000000" pitchFamily="50" charset="-128"/>
              </a:rPr>
              <a:t>Vivid</a:t>
            </a:r>
            <a:r>
              <a:rPr lang="ja-JP" altLang="ja-JP" sz="900" dirty="0">
                <a:latin typeface="Noto Sans JP" panose="020B0200000000000000" pitchFamily="50" charset="-128"/>
                <a:ea typeface="Noto Sans JP" panose="020B0200000000000000" pitchFamily="50" charset="-128"/>
              </a:rPr>
              <a:t>、白とマゼンタならば</a:t>
            </a:r>
            <a:r>
              <a:rPr lang="en-US" altLang="ja-JP" sz="900" dirty="0">
                <a:latin typeface="Noto Sans JP" panose="020B0200000000000000" pitchFamily="50" charset="-128"/>
                <a:ea typeface="Noto Sans JP" panose="020B0200000000000000" pitchFamily="50" charset="-128"/>
              </a:rPr>
              <a:t>Contrast</a:t>
            </a:r>
            <a:r>
              <a:rPr lang="ja-JP" altLang="ja-JP" sz="900" dirty="0">
                <a:latin typeface="Noto Sans JP" panose="020B0200000000000000" pitchFamily="50" charset="-128"/>
                <a:ea typeface="Noto Sans JP" panose="020B0200000000000000" pitchFamily="50" charset="-128"/>
              </a:rPr>
              <a:t>と言う風に色に応じた最適なグラデーションを選ぶための項目。</a:t>
            </a:r>
          </a:p>
          <a:p>
            <a:pPr marL="171450" indent="-171450">
              <a:buFont typeface="Arial" panose="020B0604020202020204" pitchFamily="34" charset="0"/>
              <a:buChar char="•"/>
            </a:pPr>
            <a:r>
              <a:rPr lang="ja-JP" altLang="ja-JP" sz="900" dirty="0">
                <a:latin typeface="Noto Sans JP" panose="020B0200000000000000" pitchFamily="50" charset="-128"/>
                <a:ea typeface="Noto Sans JP" panose="020B0200000000000000" pitchFamily="50" charset="-128"/>
              </a:rPr>
              <a:t>サイクル数：グラデーションの頻度を変える数。サイクル数はフィラメントが</a:t>
            </a:r>
            <a:r>
              <a:rPr lang="en-US" altLang="ja-JP" sz="900" dirty="0">
                <a:latin typeface="Noto Sans JP" panose="020B0200000000000000" pitchFamily="50" charset="-128"/>
                <a:ea typeface="Noto Sans JP" panose="020B0200000000000000" pitchFamily="50" charset="-128"/>
              </a:rPr>
              <a:t>A</a:t>
            </a:r>
            <a:r>
              <a:rPr lang="ja-JP" altLang="ja-JP" sz="900" dirty="0">
                <a:latin typeface="Noto Sans JP" panose="020B0200000000000000" pitchFamily="50" charset="-128"/>
                <a:ea typeface="Noto Sans JP" panose="020B0200000000000000" pitchFamily="50" charset="-128"/>
              </a:rPr>
              <a:t>→</a:t>
            </a:r>
            <a:r>
              <a:rPr lang="en-US" altLang="ja-JP" sz="900" dirty="0">
                <a:latin typeface="Noto Sans JP" panose="020B0200000000000000" pitchFamily="50" charset="-128"/>
                <a:ea typeface="Noto Sans JP" panose="020B0200000000000000" pitchFamily="50" charset="-128"/>
              </a:rPr>
              <a:t>B</a:t>
            </a:r>
            <a:r>
              <a:rPr lang="ja-JP" altLang="ja-JP" sz="900" dirty="0">
                <a:latin typeface="Noto Sans JP" panose="020B0200000000000000" pitchFamily="50" charset="-128"/>
                <a:ea typeface="Noto Sans JP" panose="020B0200000000000000" pitchFamily="50" charset="-128"/>
              </a:rPr>
              <a:t>→</a:t>
            </a:r>
            <a:r>
              <a:rPr lang="en-US" altLang="ja-JP" sz="900" dirty="0">
                <a:latin typeface="Noto Sans JP" panose="020B0200000000000000" pitchFamily="50" charset="-128"/>
                <a:ea typeface="Noto Sans JP" panose="020B0200000000000000" pitchFamily="50" charset="-128"/>
              </a:rPr>
              <a:t>A</a:t>
            </a:r>
            <a:r>
              <a:rPr lang="ja-JP" altLang="ja-JP" sz="900" dirty="0">
                <a:latin typeface="Noto Sans JP" panose="020B0200000000000000" pitchFamily="50" charset="-128"/>
                <a:ea typeface="Noto Sans JP" panose="020B0200000000000000" pitchFamily="50" charset="-128"/>
              </a:rPr>
              <a:t>と変化して戻ることを</a:t>
            </a:r>
            <a:r>
              <a:rPr lang="en-US" altLang="ja-JP" sz="900" dirty="0">
                <a:latin typeface="Noto Sans JP" panose="020B0200000000000000" pitchFamily="50" charset="-128"/>
                <a:ea typeface="Noto Sans JP" panose="020B0200000000000000" pitchFamily="50" charset="-128"/>
              </a:rPr>
              <a:t>1</a:t>
            </a:r>
            <a:r>
              <a:rPr lang="ja-JP" altLang="ja-JP" sz="900" dirty="0">
                <a:latin typeface="Noto Sans JP" panose="020B0200000000000000" pitchFamily="50" charset="-128"/>
                <a:ea typeface="Noto Sans JP" panose="020B0200000000000000" pitchFamily="50" charset="-128"/>
              </a:rPr>
              <a:t>回と数える。</a:t>
            </a:r>
          </a:p>
          <a:p>
            <a:endParaRPr lang="ja-JP" altLang="ja-JP" sz="600" dirty="0">
              <a:latin typeface="Noto Sans JP" panose="020B0200000000000000" pitchFamily="50" charset="-128"/>
              <a:ea typeface="Noto Sans JP" panose="020B0200000000000000" pitchFamily="50" charset="-128"/>
            </a:endParaRPr>
          </a:p>
          <a:p>
            <a:r>
              <a:rPr lang="ja-JP" altLang="ja-JP" sz="1000" dirty="0">
                <a:latin typeface="Noto Sans JP" panose="020B0200000000000000" pitchFamily="50" charset="-128"/>
                <a:ea typeface="Noto Sans JP" panose="020B0200000000000000" pitchFamily="50" charset="-128"/>
              </a:rPr>
              <a:t>以下はシアンとマゼンタの速い周期の</a:t>
            </a:r>
            <a:r>
              <a:rPr lang="en-US" altLang="ja-JP" sz="1000" dirty="0">
                <a:latin typeface="Jost Medium" pitchFamily="2" charset="0"/>
                <a:ea typeface="Jost Medium" pitchFamily="2" charset="0"/>
              </a:rPr>
              <a:t>Gradient Filament</a:t>
            </a:r>
            <a:r>
              <a:rPr lang="ja-JP" altLang="ja-JP" sz="1000" dirty="0">
                <a:latin typeface="Noto Sans JP" panose="020B0200000000000000" pitchFamily="50" charset="-128"/>
                <a:ea typeface="Noto Sans JP" panose="020B0200000000000000" pitchFamily="50" charset="-128"/>
              </a:rPr>
              <a:t>を作る場合の例です。</a:t>
            </a:r>
          </a:p>
          <a:p>
            <a:r>
              <a:rPr lang="ja-JP" altLang="ja-JP" sz="1000" dirty="0">
                <a:latin typeface="Noto Sans JP" panose="020B0200000000000000" pitchFamily="50" charset="-128"/>
                <a:ea typeface="Noto Sans JP" panose="020B0200000000000000" pitchFamily="50" charset="-128"/>
              </a:rPr>
              <a:t>周期はモデルサイズとサイクル数に影響されます。そのため、</a:t>
            </a:r>
            <a:r>
              <a:rPr lang="en-US" altLang="ja-JP" sz="1000" dirty="0">
                <a:latin typeface="Noto Sans JP" panose="020B0200000000000000" pitchFamily="50" charset="-128"/>
                <a:ea typeface="Noto Sans JP" panose="020B0200000000000000" pitchFamily="50" charset="-128"/>
              </a:rPr>
              <a:t>S4</a:t>
            </a:r>
            <a:r>
              <a:rPr lang="ja-JP" altLang="ja-JP" sz="1000" dirty="0">
                <a:latin typeface="Noto Sans JP" panose="020B0200000000000000" pitchFamily="50" charset="-128"/>
                <a:ea typeface="Noto Sans JP" panose="020B0200000000000000" pitchFamily="50" charset="-128"/>
              </a:rPr>
              <a:t>のモデルを選び、サイクル数は</a:t>
            </a:r>
            <a:r>
              <a:rPr lang="en-US" altLang="ja-JP" sz="1000" dirty="0">
                <a:latin typeface="Noto Sans JP" panose="020B0200000000000000" pitchFamily="50" charset="-128"/>
                <a:ea typeface="Noto Sans JP" panose="020B0200000000000000" pitchFamily="50" charset="-128"/>
              </a:rPr>
              <a:t>4</a:t>
            </a:r>
            <a:r>
              <a:rPr lang="ja-JP" altLang="ja-JP" sz="1000" dirty="0">
                <a:latin typeface="Noto Sans JP" panose="020B0200000000000000" pitchFamily="50" charset="-128"/>
                <a:ea typeface="Noto Sans JP" panose="020B0200000000000000" pitchFamily="50" charset="-128"/>
              </a:rPr>
              <a:t>サイクルを選ぶこととします。また、色相の離れた組合せなので</a:t>
            </a:r>
            <a:r>
              <a:rPr lang="en-US" altLang="ja-JP" sz="1000" dirty="0">
                <a:latin typeface="Noto Sans JP" panose="020B0200000000000000" pitchFamily="50" charset="-128"/>
                <a:ea typeface="Noto Sans JP" panose="020B0200000000000000" pitchFamily="50" charset="-128"/>
              </a:rPr>
              <a:t>Vivid</a:t>
            </a:r>
            <a:r>
              <a:rPr lang="ja-JP" altLang="ja-JP" sz="1000" dirty="0">
                <a:latin typeface="Noto Sans JP" panose="020B0200000000000000" pitchFamily="50" charset="-128"/>
                <a:ea typeface="Noto Sans JP" panose="020B0200000000000000" pitchFamily="50" charset="-128"/>
              </a:rPr>
              <a:t>カーブを選びます。</a:t>
            </a:r>
            <a:endParaRPr kumimoji="1" lang="ja-JP" altLang="en-US" sz="1000" b="1" dirty="0">
              <a:latin typeface="Noto Sans JP" panose="020B0200000000000000" pitchFamily="50" charset="-128"/>
              <a:ea typeface="Noto Sans JP" panose="020B0200000000000000" pitchFamily="50" charset="-128"/>
            </a:endParaRPr>
          </a:p>
        </p:txBody>
      </p:sp>
      <p:sp>
        <p:nvSpPr>
          <p:cNvPr id="33" name="テキスト ボックス 32">
            <a:extLst>
              <a:ext uri="{FF2B5EF4-FFF2-40B4-BE49-F238E27FC236}">
                <a16:creationId xmlns:a16="http://schemas.microsoft.com/office/drawing/2014/main" id="{117BFD2F-556D-35B9-3D3B-9934FD82183A}"/>
              </a:ext>
            </a:extLst>
          </p:cNvPr>
          <p:cNvSpPr txBox="1"/>
          <p:nvPr/>
        </p:nvSpPr>
        <p:spPr>
          <a:xfrm>
            <a:off x="675778" y="3740062"/>
            <a:ext cx="5642222" cy="246221"/>
          </a:xfrm>
          <a:prstGeom prst="rect">
            <a:avLst/>
          </a:prstGeom>
          <a:noFill/>
        </p:spPr>
        <p:txBody>
          <a:bodyPr wrap="square" rtlCol="0">
            <a:spAutoFit/>
          </a:bodyPr>
          <a:lstStyle/>
          <a:p>
            <a:r>
              <a:rPr lang="ja-JP" altLang="ja-JP" sz="1000" dirty="0">
                <a:latin typeface="Noto Sans JP" panose="020B0200000000000000" pitchFamily="50" charset="-128"/>
                <a:ea typeface="Noto Sans JP" panose="020B0200000000000000" pitchFamily="50" charset="-128"/>
              </a:rPr>
              <a:t>以下は</a:t>
            </a:r>
            <a:r>
              <a:rPr lang="en-US" altLang="ja-JP" sz="1000" dirty="0">
                <a:latin typeface="Jost Medium" pitchFamily="2" charset="0"/>
                <a:ea typeface="Jost Medium" pitchFamily="2" charset="0"/>
              </a:rPr>
              <a:t>Gradient Filament</a:t>
            </a:r>
            <a:r>
              <a:rPr lang="ja-JP" altLang="ja-JP" sz="1000" dirty="0">
                <a:latin typeface="Noto Sans JP" panose="020B0200000000000000" pitchFamily="50" charset="-128"/>
                <a:ea typeface="Noto Sans JP" panose="020B0200000000000000" pitchFamily="50" charset="-128"/>
              </a:rPr>
              <a:t>のモデル構成です。</a:t>
            </a:r>
            <a:endParaRPr lang="en-US" altLang="ja-JP" sz="1000" dirty="0">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8295621D-77A4-4C3D-77F0-77CF7222FE7C}"/>
              </a:ext>
            </a:extLst>
          </p:cNvPr>
          <p:cNvSpPr txBox="1"/>
          <p:nvPr/>
        </p:nvSpPr>
        <p:spPr>
          <a:xfrm>
            <a:off x="778114" y="7851411"/>
            <a:ext cx="1250663" cy="338554"/>
          </a:xfrm>
          <a:prstGeom prst="rect">
            <a:avLst/>
          </a:prstGeom>
          <a:noFill/>
        </p:spPr>
        <p:txBody>
          <a:bodyPr wrap="none" rtlCol="0">
            <a:spAutoFit/>
          </a:bodyPr>
          <a:lstStyle/>
          <a:p>
            <a:r>
              <a:rPr lang="en-US" altLang="ja-JP" sz="1600" dirty="0">
                <a:latin typeface="Noto Sans JP" panose="020B0200000000000000" pitchFamily="50" charset="-128"/>
                <a:ea typeface="Noto Sans JP" panose="020B0200000000000000" pitchFamily="50" charset="-128"/>
              </a:rPr>
              <a:t>6.</a:t>
            </a:r>
            <a:r>
              <a:rPr lang="ja-JP" altLang="en-US" sz="1600" dirty="0">
                <a:latin typeface="Noto Sans JP" panose="020B0200000000000000" pitchFamily="50" charset="-128"/>
                <a:ea typeface="Noto Sans JP" panose="020B0200000000000000" pitchFamily="50" charset="-128"/>
              </a:rPr>
              <a:t> 更新履歴</a:t>
            </a:r>
            <a:endParaRPr kumimoji="1" lang="ja-JP" altLang="en-US" b="1" dirty="0">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C2FCADE2-31D3-C4D5-5AFC-36AECFFCF62D}"/>
              </a:ext>
            </a:extLst>
          </p:cNvPr>
          <p:cNvSpPr txBox="1"/>
          <p:nvPr/>
        </p:nvSpPr>
        <p:spPr>
          <a:xfrm>
            <a:off x="638323" y="8129017"/>
            <a:ext cx="5649491" cy="646331"/>
          </a:xfrm>
          <a:prstGeom prst="rect">
            <a:avLst/>
          </a:prstGeom>
          <a:noFill/>
        </p:spPr>
        <p:txBody>
          <a:bodyPr wrap="square" rtlCol="0">
            <a:spAutoFit/>
          </a:bodyPr>
          <a:lstStyle/>
          <a:p>
            <a:r>
              <a:rPr lang="en-US" altLang="ja-JP" sz="900" dirty="0">
                <a:latin typeface="Noto Sans JP" panose="020B0200000000000000" pitchFamily="50" charset="-128"/>
                <a:ea typeface="Noto Sans JP" panose="020B0200000000000000" pitchFamily="50" charset="-128"/>
              </a:rPr>
              <a:t>Ver.1.00  2026-07-02  </a:t>
            </a:r>
            <a:r>
              <a:rPr lang="ja-JP" altLang="en-US" sz="900" dirty="0">
                <a:latin typeface="Noto Sans JP" panose="020B0200000000000000" pitchFamily="50" charset="-128"/>
                <a:ea typeface="Noto Sans JP" panose="020B0200000000000000" pitchFamily="50" charset="-128"/>
              </a:rPr>
              <a:t>初版発行</a:t>
            </a:r>
            <a:endParaRPr lang="en-US" altLang="ja-JP" sz="900" dirty="0">
              <a:latin typeface="Noto Sans JP" panose="020B0200000000000000" pitchFamily="50" charset="-128"/>
              <a:ea typeface="Noto Sans JP" panose="020B0200000000000000" pitchFamily="50" charset="-128"/>
            </a:endParaRPr>
          </a:p>
          <a:p>
            <a:r>
              <a:rPr lang="en-US" altLang="ja-JP" sz="900" dirty="0">
                <a:latin typeface="Noto Sans JP" panose="020B0200000000000000" pitchFamily="50" charset="-128"/>
                <a:ea typeface="Noto Sans JP" panose="020B0200000000000000" pitchFamily="50" charset="-128"/>
              </a:rPr>
              <a:t>Ver.1.10  2026-07-22  </a:t>
            </a:r>
            <a:r>
              <a:rPr lang="ja-JP" altLang="en-US" sz="900" dirty="0">
                <a:latin typeface="Noto Sans JP" panose="020B0200000000000000" pitchFamily="50" charset="-128"/>
                <a:ea typeface="Noto Sans JP" panose="020B0200000000000000" pitchFamily="50" charset="-128"/>
              </a:rPr>
              <a:t>統一デザイン反映</a:t>
            </a:r>
            <a:endParaRPr lang="en-US" altLang="ja-JP" sz="900" dirty="0">
              <a:latin typeface="Noto Sans JP" panose="020B0200000000000000" pitchFamily="50" charset="-128"/>
              <a:ea typeface="Noto Sans JP" panose="020B0200000000000000" pitchFamily="50" charset="-128"/>
            </a:endParaRPr>
          </a:p>
          <a:p>
            <a:r>
              <a:rPr lang="en-US" altLang="ja-JP" sz="900" dirty="0">
                <a:latin typeface="Noto Sans JP" panose="020B0200000000000000" pitchFamily="50" charset="-128"/>
                <a:ea typeface="Noto Sans JP" panose="020B0200000000000000" pitchFamily="50" charset="-128"/>
              </a:rPr>
              <a:t>Ver.1.11  2026-09-16</a:t>
            </a:r>
            <a:r>
              <a:rPr lang="ja-JP" altLang="en-US" sz="900" dirty="0">
                <a:latin typeface="Noto Sans JP" panose="020B0200000000000000" pitchFamily="50" charset="-128"/>
                <a:ea typeface="Noto Sans JP" panose="020B0200000000000000" pitchFamily="50" charset="-128"/>
              </a:rPr>
              <a:t>  ブランド用書体の適用</a:t>
            </a:r>
            <a:endParaRPr lang="en-US" altLang="ja-JP" sz="900" dirty="0">
              <a:latin typeface="Noto Sans JP" panose="020B0200000000000000" pitchFamily="50" charset="-128"/>
              <a:ea typeface="Noto Sans JP" panose="020B0200000000000000" pitchFamily="50" charset="-128"/>
            </a:endParaRPr>
          </a:p>
          <a:p>
            <a:endParaRPr kumimoji="1" lang="ja-JP" altLang="en-US" sz="900" b="1" dirty="0">
              <a:latin typeface="Noto Sans JP" panose="020B0200000000000000" pitchFamily="50" charset="-128"/>
              <a:ea typeface="Noto Sans JP" panose="020B0200000000000000" pitchFamily="50" charset="-128"/>
            </a:endParaRPr>
          </a:p>
        </p:txBody>
      </p:sp>
      <p:pic>
        <p:nvPicPr>
          <p:cNvPr id="3" name="図 2">
            <a:extLst>
              <a:ext uri="{FF2B5EF4-FFF2-40B4-BE49-F238E27FC236}">
                <a16:creationId xmlns:a16="http://schemas.microsoft.com/office/drawing/2014/main" id="{C11234F8-B8C6-7032-4E4D-D11E24DEF5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000" y="2606243"/>
            <a:ext cx="5795580" cy="1026465"/>
          </a:xfrm>
          <a:prstGeom prst="rect">
            <a:avLst/>
          </a:prstGeom>
          <a:noFill/>
          <a:extLst>
            <a:ext uri="{909E8E84-426E-40DD-AFC4-6F175D3DCCD1}">
              <a14:hiddenFill xmlns:a14="http://schemas.microsoft.com/office/drawing/2010/main">
                <a:solidFill>
                  <a:srgbClr val="FFFFFF"/>
                </a:solidFill>
              </a14:hiddenFill>
            </a:ext>
          </a:extLst>
        </p:spPr>
      </p:pic>
      <p:pic>
        <p:nvPicPr>
          <p:cNvPr id="4" name="図 3">
            <a:extLst>
              <a:ext uri="{FF2B5EF4-FFF2-40B4-BE49-F238E27FC236}">
                <a16:creationId xmlns:a16="http://schemas.microsoft.com/office/drawing/2014/main" id="{C663F516-8DF3-94C3-7664-FFDF89289F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2121" y="4021991"/>
            <a:ext cx="4913757" cy="3747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0189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72D5E-0F8C-299C-DC72-3F98C83CC62C}"/>
            </a:ext>
          </a:extLst>
        </p:cNvPr>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BE252C49-61CE-EF59-3DFC-2479B26E9F98}"/>
              </a:ext>
            </a:extLst>
          </p:cNvPr>
          <p:cNvSpPr/>
          <p:nvPr/>
        </p:nvSpPr>
        <p:spPr>
          <a:xfrm>
            <a:off x="67565" y="90087"/>
            <a:ext cx="6722870" cy="8963827"/>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9" name="フリーフォーム: 図形 38">
            <a:extLst>
              <a:ext uri="{FF2B5EF4-FFF2-40B4-BE49-F238E27FC236}">
                <a16:creationId xmlns:a16="http://schemas.microsoft.com/office/drawing/2014/main" id="{FB0BA76B-DD07-C23F-01D9-4C251E29D837}"/>
              </a:ext>
            </a:extLst>
          </p:cNvPr>
          <p:cNvSpPr/>
          <p:nvPr/>
        </p:nvSpPr>
        <p:spPr>
          <a:xfrm>
            <a:off x="22693" y="0"/>
            <a:ext cx="6858000" cy="9144000"/>
          </a:xfrm>
          <a:custGeom>
            <a:avLst/>
            <a:gdLst>
              <a:gd name="csX0" fmla="*/ 3712151 w 6858000"/>
              <a:gd name="csY0" fmla="*/ 8661917 h 9144000"/>
              <a:gd name="csX1" fmla="*/ 3712151 w 6858000"/>
              <a:gd name="csY1" fmla="*/ 8715917 h 9144000"/>
              <a:gd name="csX2" fmla="*/ 6304151 w 6858000"/>
              <a:gd name="csY2" fmla="*/ 8715917 h 9144000"/>
              <a:gd name="csX3" fmla="*/ 6304151 w 6858000"/>
              <a:gd name="csY3" fmla="*/ 8661917 h 9144000"/>
              <a:gd name="csX4" fmla="*/ 531845 w 6858000"/>
              <a:gd name="csY4" fmla="*/ 8661917 h 9144000"/>
              <a:gd name="csX5" fmla="*/ 531845 w 6858000"/>
              <a:gd name="csY5" fmla="*/ 8715917 h 9144000"/>
              <a:gd name="csX6" fmla="*/ 3123845 w 6858000"/>
              <a:gd name="csY6" fmla="*/ 8715917 h 9144000"/>
              <a:gd name="csX7" fmla="*/ 3123845 w 6858000"/>
              <a:gd name="csY7" fmla="*/ 8661917 h 9144000"/>
              <a:gd name="csX8" fmla="*/ 645817 w 6858000"/>
              <a:gd name="csY8" fmla="*/ 4203603 h 9144000"/>
              <a:gd name="csX9" fmla="*/ 543482 w 6858000"/>
              <a:gd name="csY9" fmla="*/ 4305938 h 9144000"/>
              <a:gd name="csX10" fmla="*/ 645817 w 6858000"/>
              <a:gd name="csY10" fmla="*/ 4408273 h 9144000"/>
              <a:gd name="csX11" fmla="*/ 748152 w 6858000"/>
              <a:gd name="csY11" fmla="*/ 4305938 h 9144000"/>
              <a:gd name="csX12" fmla="*/ 645817 w 6858000"/>
              <a:gd name="csY12" fmla="*/ 4203603 h 9144000"/>
              <a:gd name="csX13" fmla="*/ 645817 w 6858000"/>
              <a:gd name="csY13" fmla="*/ 2883225 h 9144000"/>
              <a:gd name="csX14" fmla="*/ 543482 w 6858000"/>
              <a:gd name="csY14" fmla="*/ 2985560 h 9144000"/>
              <a:gd name="csX15" fmla="*/ 645817 w 6858000"/>
              <a:gd name="csY15" fmla="*/ 3087895 h 9144000"/>
              <a:gd name="csX16" fmla="*/ 748152 w 6858000"/>
              <a:gd name="csY16" fmla="*/ 2985560 h 9144000"/>
              <a:gd name="csX17" fmla="*/ 645817 w 6858000"/>
              <a:gd name="csY17" fmla="*/ 2883225 h 9144000"/>
              <a:gd name="csX18" fmla="*/ 5872985 w 6858000"/>
              <a:gd name="csY18" fmla="*/ 2279977 h 9144000"/>
              <a:gd name="csX19" fmla="*/ 5817680 w 6858000"/>
              <a:gd name="csY19" fmla="*/ 2335282 h 9144000"/>
              <a:gd name="csX20" fmla="*/ 1002200 w 6858000"/>
              <a:gd name="csY20" fmla="*/ 2335282 h 9144000"/>
              <a:gd name="csX21" fmla="*/ 963094 w 6858000"/>
              <a:gd name="csY21" fmla="*/ 2319083 h 9144000"/>
              <a:gd name="csX22" fmla="*/ 946896 w 6858000"/>
              <a:gd name="csY22" fmla="*/ 2279979 h 9144000"/>
              <a:gd name="csX23" fmla="*/ 946896 w 6858000"/>
              <a:gd name="csY23" fmla="*/ 2413569 h 9144000"/>
              <a:gd name="csX24" fmla="*/ 1135792 w 6858000"/>
              <a:gd name="csY24" fmla="*/ 2602465 h 9144000"/>
              <a:gd name="csX25" fmla="*/ 5684089 w 6858000"/>
              <a:gd name="csY25" fmla="*/ 2602465 h 9144000"/>
              <a:gd name="csX26" fmla="*/ 5872985 w 6858000"/>
              <a:gd name="csY26" fmla="*/ 2413569 h 9144000"/>
              <a:gd name="csX27" fmla="*/ 1135792 w 6858000"/>
              <a:gd name="csY27" fmla="*/ 441445 h 9144000"/>
              <a:gd name="csX28" fmla="*/ 946896 w 6858000"/>
              <a:gd name="csY28" fmla="*/ 630341 h 9144000"/>
              <a:gd name="csX29" fmla="*/ 946896 w 6858000"/>
              <a:gd name="csY29" fmla="*/ 763933 h 9144000"/>
              <a:gd name="csX30" fmla="*/ 1002201 w 6858000"/>
              <a:gd name="csY30" fmla="*/ 708628 h 9144000"/>
              <a:gd name="csX31" fmla="*/ 5817681 w 6858000"/>
              <a:gd name="csY31" fmla="*/ 708628 h 9144000"/>
              <a:gd name="csX32" fmla="*/ 5856788 w 6858000"/>
              <a:gd name="csY32" fmla="*/ 724827 h 9144000"/>
              <a:gd name="csX33" fmla="*/ 5872985 w 6858000"/>
              <a:gd name="csY33" fmla="*/ 763931 h 9144000"/>
              <a:gd name="csX34" fmla="*/ 5872985 w 6858000"/>
              <a:gd name="csY34" fmla="*/ 630341 h 9144000"/>
              <a:gd name="csX35" fmla="*/ 5684089 w 6858000"/>
              <a:gd name="csY35" fmla="*/ 441445 h 9144000"/>
              <a:gd name="csX36" fmla="*/ 0 w 6858000"/>
              <a:gd name="csY36" fmla="*/ 0 h 9144000"/>
              <a:gd name="csX37" fmla="*/ 6858000 w 6858000"/>
              <a:gd name="csY37" fmla="*/ 0 h 9144000"/>
              <a:gd name="csX38" fmla="*/ 6858000 w 6858000"/>
              <a:gd name="csY38" fmla="*/ 9144000 h 9144000"/>
              <a:gd name="csX39" fmla="*/ 0 w 6858000"/>
              <a:gd name="csY39"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6858000" h="9144000">
                <a:moveTo>
                  <a:pt x="3712151" y="8661917"/>
                </a:moveTo>
                <a:lnTo>
                  <a:pt x="3712151" y="8715917"/>
                </a:lnTo>
                <a:lnTo>
                  <a:pt x="6304151" y="8715917"/>
                </a:lnTo>
                <a:lnTo>
                  <a:pt x="6304151" y="8661917"/>
                </a:lnTo>
                <a:close/>
                <a:moveTo>
                  <a:pt x="531845" y="8661917"/>
                </a:moveTo>
                <a:lnTo>
                  <a:pt x="531845" y="8715917"/>
                </a:lnTo>
                <a:lnTo>
                  <a:pt x="3123845" y="8715917"/>
                </a:lnTo>
                <a:lnTo>
                  <a:pt x="3123845" y="8661917"/>
                </a:lnTo>
                <a:close/>
                <a:moveTo>
                  <a:pt x="645817" y="4203603"/>
                </a:moveTo>
                <a:cubicBezTo>
                  <a:pt x="589299" y="4203603"/>
                  <a:pt x="543482" y="4249420"/>
                  <a:pt x="543482" y="4305938"/>
                </a:cubicBezTo>
                <a:cubicBezTo>
                  <a:pt x="543482" y="4362456"/>
                  <a:pt x="589299" y="4408273"/>
                  <a:pt x="645817" y="4408273"/>
                </a:cubicBezTo>
                <a:cubicBezTo>
                  <a:pt x="702335" y="4408273"/>
                  <a:pt x="748152" y="4362456"/>
                  <a:pt x="748152" y="4305938"/>
                </a:cubicBezTo>
                <a:cubicBezTo>
                  <a:pt x="748152" y="4249420"/>
                  <a:pt x="702335" y="4203603"/>
                  <a:pt x="645817" y="4203603"/>
                </a:cubicBezTo>
                <a:close/>
                <a:moveTo>
                  <a:pt x="645817" y="2883225"/>
                </a:moveTo>
                <a:cubicBezTo>
                  <a:pt x="589299" y="2883225"/>
                  <a:pt x="543482" y="2929042"/>
                  <a:pt x="543482" y="2985560"/>
                </a:cubicBezTo>
                <a:cubicBezTo>
                  <a:pt x="543482" y="3042078"/>
                  <a:pt x="589299" y="3087895"/>
                  <a:pt x="645817" y="3087895"/>
                </a:cubicBezTo>
                <a:cubicBezTo>
                  <a:pt x="702335" y="3087895"/>
                  <a:pt x="748152" y="3042078"/>
                  <a:pt x="748152" y="2985560"/>
                </a:cubicBezTo>
                <a:cubicBezTo>
                  <a:pt x="748152" y="2929042"/>
                  <a:pt x="702335" y="2883225"/>
                  <a:pt x="645817" y="2883225"/>
                </a:cubicBezTo>
                <a:close/>
                <a:moveTo>
                  <a:pt x="5872985" y="2279977"/>
                </a:moveTo>
                <a:cubicBezTo>
                  <a:pt x="5872985" y="2310521"/>
                  <a:pt x="5848224" y="2335282"/>
                  <a:pt x="5817680" y="2335282"/>
                </a:cubicBezTo>
                <a:lnTo>
                  <a:pt x="1002200" y="2335282"/>
                </a:lnTo>
                <a:cubicBezTo>
                  <a:pt x="986928" y="2335282"/>
                  <a:pt x="973102" y="2329092"/>
                  <a:pt x="963094" y="2319083"/>
                </a:cubicBezTo>
                <a:lnTo>
                  <a:pt x="946896" y="2279979"/>
                </a:lnTo>
                <a:lnTo>
                  <a:pt x="946896" y="2413569"/>
                </a:lnTo>
                <a:cubicBezTo>
                  <a:pt x="946896" y="2517893"/>
                  <a:pt x="1031468" y="2602465"/>
                  <a:pt x="1135792" y="2602465"/>
                </a:cubicBezTo>
                <a:lnTo>
                  <a:pt x="5684089" y="2602465"/>
                </a:lnTo>
                <a:cubicBezTo>
                  <a:pt x="5788413" y="2602465"/>
                  <a:pt x="5872985" y="2517893"/>
                  <a:pt x="5872985" y="2413569"/>
                </a:cubicBezTo>
                <a:close/>
                <a:moveTo>
                  <a:pt x="1135792" y="441445"/>
                </a:moveTo>
                <a:cubicBezTo>
                  <a:pt x="1031468" y="441445"/>
                  <a:pt x="946896" y="526017"/>
                  <a:pt x="946896" y="630341"/>
                </a:cubicBezTo>
                <a:lnTo>
                  <a:pt x="946896" y="763933"/>
                </a:lnTo>
                <a:cubicBezTo>
                  <a:pt x="946896" y="733389"/>
                  <a:pt x="971657" y="708628"/>
                  <a:pt x="1002201" y="708628"/>
                </a:cubicBezTo>
                <a:lnTo>
                  <a:pt x="5817681" y="708628"/>
                </a:lnTo>
                <a:cubicBezTo>
                  <a:pt x="5832953" y="708628"/>
                  <a:pt x="5846780" y="714818"/>
                  <a:pt x="5856788" y="724827"/>
                </a:cubicBezTo>
                <a:lnTo>
                  <a:pt x="5872985" y="763931"/>
                </a:lnTo>
                <a:lnTo>
                  <a:pt x="5872985" y="630341"/>
                </a:lnTo>
                <a:cubicBezTo>
                  <a:pt x="5872985" y="526017"/>
                  <a:pt x="5788413" y="441445"/>
                  <a:pt x="5684089" y="441445"/>
                </a:cubicBezTo>
                <a:close/>
                <a:moveTo>
                  <a:pt x="0" y="0"/>
                </a:moveTo>
                <a:lnTo>
                  <a:pt x="6858000" y="0"/>
                </a:lnTo>
                <a:lnTo>
                  <a:pt x="6858000" y="9144000"/>
                </a:lnTo>
                <a:lnTo>
                  <a:pt x="0" y="9144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7" name="テキスト ボックス 16">
            <a:extLst>
              <a:ext uri="{FF2B5EF4-FFF2-40B4-BE49-F238E27FC236}">
                <a16:creationId xmlns:a16="http://schemas.microsoft.com/office/drawing/2014/main" id="{59E242A3-9021-F743-F52C-9C139E6E6084}"/>
              </a:ext>
            </a:extLst>
          </p:cNvPr>
          <p:cNvSpPr txBox="1"/>
          <p:nvPr/>
        </p:nvSpPr>
        <p:spPr>
          <a:xfrm>
            <a:off x="3163826" y="8511531"/>
            <a:ext cx="575734" cy="369332"/>
          </a:xfrm>
          <a:prstGeom prst="rect">
            <a:avLst/>
          </a:prstGeom>
          <a:noFill/>
        </p:spPr>
        <p:txBody>
          <a:bodyPr wrap="square" rtlCol="0" anchor="ctr">
            <a:spAutoFit/>
          </a:bodyPr>
          <a:lstStyle/>
          <a:p>
            <a:pPr algn="ctr"/>
            <a:r>
              <a:rPr kumimoji="1" lang="en-US" altLang="ja-JP" dirty="0">
                <a:latin typeface="Noto Sans JP" panose="020B0200000000000000" pitchFamily="50" charset="-128"/>
                <a:ea typeface="Noto Sans JP" panose="020B0200000000000000" pitchFamily="50" charset="-128"/>
              </a:rPr>
              <a:t>1</a:t>
            </a:r>
            <a:endParaRPr kumimoji="1" lang="ja-JP" altLang="en-US" dirty="0">
              <a:latin typeface="Noto Sans JP" panose="020B0200000000000000" pitchFamily="50" charset="-128"/>
              <a:ea typeface="Noto Sans JP" panose="020B0200000000000000" pitchFamily="50" charset="-128"/>
            </a:endParaRPr>
          </a:p>
        </p:txBody>
      </p:sp>
      <p:sp>
        <p:nvSpPr>
          <p:cNvPr id="2" name="テキスト ボックス 1">
            <a:extLst>
              <a:ext uri="{FF2B5EF4-FFF2-40B4-BE49-F238E27FC236}">
                <a16:creationId xmlns:a16="http://schemas.microsoft.com/office/drawing/2014/main" id="{8D15C18E-CA8C-EB8A-D53C-86923DA32438}"/>
              </a:ext>
            </a:extLst>
          </p:cNvPr>
          <p:cNvSpPr txBox="1"/>
          <p:nvPr/>
        </p:nvSpPr>
        <p:spPr>
          <a:xfrm>
            <a:off x="1529095" y="879137"/>
            <a:ext cx="4456669" cy="584775"/>
          </a:xfrm>
          <a:prstGeom prst="rect">
            <a:avLst/>
          </a:prstGeom>
          <a:noFill/>
        </p:spPr>
        <p:txBody>
          <a:bodyPr wrap="none" rtlCol="0">
            <a:spAutoFit/>
          </a:bodyPr>
          <a:lstStyle/>
          <a:p>
            <a:r>
              <a:rPr lang="en-US" altLang="ja-JP" sz="3200" b="1" dirty="0">
                <a:latin typeface="Jost SemiBold" pitchFamily="2" charset="0"/>
                <a:ea typeface="Jost SemiBold" pitchFamily="2" charset="0"/>
                <a:cs typeface="Segoe UI Semibold" panose="020B0702040204020203" pitchFamily="34" charset="0"/>
              </a:rPr>
              <a:t>FlexChroma</a:t>
            </a:r>
            <a:r>
              <a:rPr lang="en-US" altLang="ja-JP" sz="3200" b="1" dirty="0">
                <a:latin typeface="Noto Sans JP" panose="020B0200000000000000" pitchFamily="50" charset="-128"/>
                <a:ea typeface="Noto Sans JP" panose="020B0200000000000000" pitchFamily="50" charset="-128"/>
              </a:rPr>
              <a:t> </a:t>
            </a:r>
            <a:r>
              <a:rPr lang="ja-JP" altLang="en-US" sz="2600" b="1" dirty="0">
                <a:latin typeface="Noto Sans JP" panose="020B0200000000000000" pitchFamily="50" charset="-128"/>
                <a:ea typeface="Noto Sans JP" panose="020B0200000000000000" pitchFamily="50" charset="-128"/>
              </a:rPr>
              <a:t>ツアーガイド</a:t>
            </a:r>
            <a:endParaRPr kumimoji="1" lang="ja-JP" altLang="en-US" sz="2600" b="1" dirty="0">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6D372E70-D651-BA98-70A9-99ED5A644D79}"/>
              </a:ext>
            </a:extLst>
          </p:cNvPr>
          <p:cNvSpPr txBox="1"/>
          <p:nvPr/>
        </p:nvSpPr>
        <p:spPr>
          <a:xfrm>
            <a:off x="770844" y="2815340"/>
            <a:ext cx="1516762" cy="400110"/>
          </a:xfrm>
          <a:prstGeom prst="rect">
            <a:avLst/>
          </a:prstGeom>
          <a:noFill/>
        </p:spPr>
        <p:txBody>
          <a:bodyPr wrap="none" rtlCol="0">
            <a:spAutoFit/>
          </a:bodyPr>
          <a:lstStyle/>
          <a:p>
            <a:r>
              <a:rPr lang="en-US" altLang="ja-JP" sz="2000" dirty="0">
                <a:latin typeface="Noto Sans JP" panose="020B0200000000000000" pitchFamily="50" charset="-128"/>
                <a:ea typeface="Noto Sans JP" panose="020B0200000000000000" pitchFamily="50" charset="-128"/>
              </a:rPr>
              <a:t>1. </a:t>
            </a:r>
            <a:r>
              <a:rPr lang="ja-JP" altLang="en-US" sz="2000" dirty="0">
                <a:latin typeface="Noto Sans JP" panose="020B0200000000000000" pitchFamily="50" charset="-128"/>
                <a:ea typeface="Noto Sans JP" panose="020B0200000000000000" pitchFamily="50" charset="-128"/>
              </a:rPr>
              <a:t>はじめに</a:t>
            </a:r>
            <a:endParaRPr kumimoji="1" lang="ja-JP" altLang="en-US" sz="2000" b="1" dirty="0">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968552FE-AB38-84A7-715C-112435149649}"/>
              </a:ext>
            </a:extLst>
          </p:cNvPr>
          <p:cNvSpPr txBox="1"/>
          <p:nvPr/>
        </p:nvSpPr>
        <p:spPr>
          <a:xfrm>
            <a:off x="668508" y="3238280"/>
            <a:ext cx="5649491" cy="861774"/>
          </a:xfrm>
          <a:prstGeom prst="rect">
            <a:avLst/>
          </a:prstGeom>
          <a:noFill/>
        </p:spPr>
        <p:txBody>
          <a:bodyPr wrap="square" rtlCol="0">
            <a:spAutoFit/>
          </a:bodyPr>
          <a:lstStyle/>
          <a:p>
            <a:r>
              <a:rPr lang="en-US" altLang="ja-JP" sz="1000" dirty="0">
                <a:latin typeface="Jost SemiBold" pitchFamily="2" charset="0"/>
                <a:ea typeface="Jost SemiBold" pitchFamily="2" charset="0"/>
                <a:cs typeface="Segoe UI Semibold" panose="020B0702040204020203" pitchFamily="34" charset="0"/>
              </a:rPr>
              <a:t>FlexChroma</a:t>
            </a:r>
            <a:r>
              <a:rPr lang="ja-JP" altLang="ja-JP" sz="1000" dirty="0">
                <a:latin typeface="Noto Sans JP" panose="020B0200000000000000" pitchFamily="50" charset="-128"/>
                <a:ea typeface="Noto Sans JP" panose="020B0200000000000000" pitchFamily="50" charset="-128"/>
              </a:rPr>
              <a:t>は、市販のフィラメントを組み合わせて「フィラメントそのもの」を生み出すためのモデルです。</a:t>
            </a:r>
          </a:p>
          <a:p>
            <a:r>
              <a:rPr lang="ja-JP" altLang="ja-JP" sz="1000" dirty="0">
                <a:latin typeface="Noto Sans JP" panose="020B0200000000000000" pitchFamily="50" charset="-128"/>
                <a:ea typeface="Noto Sans JP" panose="020B0200000000000000" pitchFamily="50" charset="-128"/>
              </a:rPr>
              <a:t>様々な目的のシリーズから構成されており、各シリーズにはサイズなどの違いによってモデル、プロファイル、プレートごとに異なるフィラメントモデルを提供します。</a:t>
            </a:r>
          </a:p>
          <a:p>
            <a:endParaRPr kumimoji="1" lang="ja-JP" altLang="en-US" sz="1000" b="1" dirty="0">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B4C3CB9F-6B5F-8974-8A0B-1881AA39CA1A}"/>
              </a:ext>
            </a:extLst>
          </p:cNvPr>
          <p:cNvSpPr txBox="1"/>
          <p:nvPr/>
        </p:nvSpPr>
        <p:spPr>
          <a:xfrm>
            <a:off x="770844" y="4135718"/>
            <a:ext cx="2286203" cy="400110"/>
          </a:xfrm>
          <a:prstGeom prst="rect">
            <a:avLst/>
          </a:prstGeom>
          <a:noFill/>
        </p:spPr>
        <p:txBody>
          <a:bodyPr wrap="none" rtlCol="0">
            <a:spAutoFit/>
          </a:bodyPr>
          <a:lstStyle/>
          <a:p>
            <a:r>
              <a:rPr lang="en-US" altLang="ja-JP" sz="2000" dirty="0">
                <a:latin typeface="Noto Sans JP" panose="020B0200000000000000" pitchFamily="50" charset="-128"/>
                <a:ea typeface="Noto Sans JP" panose="020B0200000000000000" pitchFamily="50" charset="-128"/>
              </a:rPr>
              <a:t>2. </a:t>
            </a:r>
            <a:r>
              <a:rPr lang="ja-JP" altLang="en-US" sz="2000" dirty="0">
                <a:latin typeface="Noto Sans JP" panose="020B0200000000000000" pitchFamily="50" charset="-128"/>
                <a:ea typeface="Noto Sans JP" panose="020B0200000000000000" pitchFamily="50" charset="-128"/>
              </a:rPr>
              <a:t>モデル選定方法</a:t>
            </a:r>
            <a:endParaRPr kumimoji="1" lang="ja-JP" altLang="en-US" sz="2400" b="1" dirty="0">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661F9E17-0C3A-79E9-6BC7-B7559CC81B79}"/>
              </a:ext>
            </a:extLst>
          </p:cNvPr>
          <p:cNvSpPr txBox="1"/>
          <p:nvPr/>
        </p:nvSpPr>
        <p:spPr>
          <a:xfrm>
            <a:off x="661239" y="4511386"/>
            <a:ext cx="5649492" cy="553998"/>
          </a:xfrm>
          <a:prstGeom prst="rect">
            <a:avLst/>
          </a:prstGeom>
          <a:noFill/>
        </p:spPr>
        <p:txBody>
          <a:bodyPr wrap="square" rtlCol="0">
            <a:spAutoFit/>
          </a:bodyPr>
          <a:lstStyle/>
          <a:p>
            <a:r>
              <a:rPr lang="ja-JP" altLang="ja-JP" sz="1000" dirty="0">
                <a:latin typeface="Noto Sans JP" panose="020B0200000000000000" pitchFamily="50" charset="-128"/>
                <a:ea typeface="Noto Sans JP" panose="020B0200000000000000" pitchFamily="50" charset="-128"/>
              </a:rPr>
              <a:t>簡易的なモデル選定手順をお見せします。まずは</a:t>
            </a:r>
            <a:r>
              <a:rPr lang="en-US" altLang="ja-JP" sz="1000" dirty="0" err="1">
                <a:latin typeface="Noto Sans JP" panose="020B0200000000000000" pitchFamily="50" charset="-128"/>
                <a:ea typeface="Noto Sans JP" panose="020B0200000000000000" pitchFamily="50" charset="-128"/>
              </a:rPr>
              <a:t>MakerWorld</a:t>
            </a:r>
            <a:r>
              <a:rPr lang="ja-JP" altLang="ja-JP" sz="1000" dirty="0">
                <a:latin typeface="Noto Sans JP" panose="020B0200000000000000" pitchFamily="50" charset="-128"/>
                <a:ea typeface="Noto Sans JP" panose="020B0200000000000000" pitchFamily="50" charset="-128"/>
              </a:rPr>
              <a:t>で</a:t>
            </a:r>
            <a:r>
              <a:rPr lang="en-US" altLang="ja-JP" sz="1000" dirty="0">
                <a:latin typeface="Jost SemiBold" pitchFamily="2" charset="0"/>
                <a:ea typeface="Jost SemiBold" pitchFamily="2" charset="0"/>
              </a:rPr>
              <a:t>FlexChroma</a:t>
            </a:r>
            <a:r>
              <a:rPr lang="en-US" altLang="ja-JP" sz="1000" dirty="0">
                <a:latin typeface="Noto Sans JP" panose="020B0200000000000000" pitchFamily="50" charset="-128"/>
                <a:ea typeface="Noto Sans JP" panose="020B0200000000000000" pitchFamily="50" charset="-128"/>
              </a:rPr>
              <a:t> HUB</a:t>
            </a:r>
            <a:r>
              <a:rPr lang="ja-JP" altLang="ja-JP" sz="1000" dirty="0">
                <a:latin typeface="Noto Sans JP" panose="020B0200000000000000" pitchFamily="50" charset="-128"/>
                <a:ea typeface="Noto Sans JP" panose="020B0200000000000000" pitchFamily="50" charset="-128"/>
              </a:rPr>
              <a:t>を開いてください。その後に下記フローに従って適切なデータをダウンロードし、印刷してください。</a:t>
            </a:r>
          </a:p>
          <a:p>
            <a:endParaRPr kumimoji="1" lang="ja-JP" altLang="en-US" sz="1000" b="1" dirty="0">
              <a:latin typeface="Noto Sans JP" panose="020B0200000000000000" pitchFamily="50" charset="-128"/>
              <a:ea typeface="Noto Sans JP" panose="020B0200000000000000" pitchFamily="50" charset="-128"/>
            </a:endParaRPr>
          </a:p>
        </p:txBody>
      </p:sp>
      <p:sp>
        <p:nvSpPr>
          <p:cNvPr id="25" name="テキスト ボックス 24">
            <a:extLst>
              <a:ext uri="{FF2B5EF4-FFF2-40B4-BE49-F238E27FC236}">
                <a16:creationId xmlns:a16="http://schemas.microsoft.com/office/drawing/2014/main" id="{0E27D84F-F360-9619-0046-B68F580DCB07}"/>
              </a:ext>
            </a:extLst>
          </p:cNvPr>
          <p:cNvSpPr txBox="1"/>
          <p:nvPr/>
        </p:nvSpPr>
        <p:spPr>
          <a:xfrm>
            <a:off x="661238" y="6157785"/>
            <a:ext cx="5656761" cy="400110"/>
          </a:xfrm>
          <a:prstGeom prst="rect">
            <a:avLst/>
          </a:prstGeom>
          <a:noFill/>
        </p:spPr>
        <p:txBody>
          <a:bodyPr wrap="square" rtlCol="0">
            <a:spAutoFit/>
          </a:bodyPr>
          <a:lstStyle/>
          <a:p>
            <a:r>
              <a:rPr lang="ja-JP" altLang="ja-JP" sz="1000" dirty="0">
                <a:latin typeface="Noto Sans JP" panose="020B0200000000000000" pitchFamily="50" charset="-128"/>
                <a:ea typeface="Noto Sans JP" panose="020B0200000000000000" pitchFamily="50" charset="-128"/>
              </a:rPr>
              <a:t>モデル選定においてはどの様なフィラメントが欲しいか？を考えま</a:t>
            </a:r>
            <a:r>
              <a:rPr lang="ja-JP" altLang="en-US" sz="1000" dirty="0">
                <a:latin typeface="Noto Sans JP" panose="020B0200000000000000" pitchFamily="50" charset="-128"/>
                <a:ea typeface="Noto Sans JP" panose="020B0200000000000000" pitchFamily="50" charset="-128"/>
              </a:rPr>
              <a:t>しょう</a:t>
            </a:r>
            <a:r>
              <a:rPr lang="ja-JP" altLang="ja-JP" sz="1000" dirty="0">
                <a:latin typeface="Noto Sans JP" panose="020B0200000000000000" pitchFamily="50" charset="-128"/>
                <a:ea typeface="Noto Sans JP" panose="020B0200000000000000" pitchFamily="50" charset="-128"/>
              </a:rPr>
              <a:t>。下記１～５の手順によって最適なデータを探</a:t>
            </a:r>
            <a:r>
              <a:rPr lang="ja-JP" altLang="en-US" sz="1000" dirty="0">
                <a:latin typeface="Noto Sans JP" panose="020B0200000000000000" pitchFamily="50" charset="-128"/>
                <a:ea typeface="Noto Sans JP" panose="020B0200000000000000" pitchFamily="50" charset="-128"/>
              </a:rPr>
              <a:t>すことができます</a:t>
            </a:r>
            <a:r>
              <a:rPr lang="ja-JP" altLang="ja-JP" sz="1000" dirty="0">
                <a:latin typeface="Noto Sans JP" panose="020B0200000000000000" pitchFamily="50" charset="-128"/>
                <a:ea typeface="Noto Sans JP" panose="020B0200000000000000" pitchFamily="50" charset="-128"/>
              </a:rPr>
              <a:t>。</a:t>
            </a:r>
          </a:p>
        </p:txBody>
      </p:sp>
      <p:sp>
        <p:nvSpPr>
          <p:cNvPr id="26" name="テキスト ボックス 25">
            <a:extLst>
              <a:ext uri="{FF2B5EF4-FFF2-40B4-BE49-F238E27FC236}">
                <a16:creationId xmlns:a16="http://schemas.microsoft.com/office/drawing/2014/main" id="{2C4E1680-FEAD-BA3C-6B0A-EC54670151BC}"/>
              </a:ext>
            </a:extLst>
          </p:cNvPr>
          <p:cNvSpPr txBox="1"/>
          <p:nvPr/>
        </p:nvSpPr>
        <p:spPr>
          <a:xfrm>
            <a:off x="756306" y="6607017"/>
            <a:ext cx="5554425" cy="1754326"/>
          </a:xfrm>
          <a:prstGeom prst="rect">
            <a:avLst/>
          </a:prstGeom>
          <a:noFill/>
        </p:spPr>
        <p:txBody>
          <a:bodyPr wrap="square" rtlCol="0">
            <a:spAutoFit/>
          </a:bodyPr>
          <a:lstStyle/>
          <a:p>
            <a:pPr marL="228600" lvl="0" indent="-228600">
              <a:buFont typeface="+mj-lt"/>
              <a:buAutoNum type="arabicPeriod"/>
            </a:pPr>
            <a:r>
              <a:rPr lang="ja-JP" altLang="ja-JP" sz="900" dirty="0">
                <a:latin typeface="Noto Sans JP" panose="020B0200000000000000" pitchFamily="50" charset="-128"/>
                <a:ea typeface="Noto Sans JP" panose="020B0200000000000000" pitchFamily="50" charset="-128"/>
              </a:rPr>
              <a:t>最初に</a:t>
            </a:r>
            <a:r>
              <a:rPr lang="en-US" altLang="ja-JP" sz="900" dirty="0">
                <a:latin typeface="Noto Sans JP" panose="020B0200000000000000" pitchFamily="50" charset="-128"/>
                <a:ea typeface="Noto Sans JP" panose="020B0200000000000000" pitchFamily="50" charset="-128"/>
              </a:rPr>
              <a:t>Series</a:t>
            </a:r>
            <a:r>
              <a:rPr lang="ja-JP" altLang="ja-JP" sz="900" dirty="0">
                <a:latin typeface="Noto Sans JP" panose="020B0200000000000000" pitchFamily="50" charset="-128"/>
                <a:ea typeface="Noto Sans JP" panose="020B0200000000000000" pitchFamily="50" charset="-128"/>
              </a:rPr>
              <a:t>を選択します。中間色が欲しいのであれば</a:t>
            </a:r>
            <a:r>
              <a:rPr lang="en-US" altLang="ja-JP" sz="900" dirty="0">
                <a:latin typeface="Jost Medium" pitchFamily="2" charset="0"/>
                <a:ea typeface="Jost Medium" pitchFamily="2" charset="0"/>
              </a:rPr>
              <a:t>Blend Filament</a:t>
            </a:r>
            <a:r>
              <a:rPr lang="ja-JP" altLang="ja-JP" sz="900" dirty="0">
                <a:latin typeface="Noto Sans JP" panose="020B0200000000000000" pitchFamily="50" charset="-128"/>
                <a:ea typeface="Noto Sans JP" panose="020B0200000000000000" pitchFamily="50" charset="-128"/>
              </a:rPr>
              <a:t>、グラデーションフィラメントが欲しければ</a:t>
            </a:r>
            <a:r>
              <a:rPr lang="en-US" altLang="ja-JP" sz="900" dirty="0">
                <a:latin typeface="Jost Medium" pitchFamily="2" charset="0"/>
                <a:ea typeface="Jost Medium" pitchFamily="2" charset="0"/>
              </a:rPr>
              <a:t>Gradient Filament</a:t>
            </a:r>
            <a:r>
              <a:rPr lang="ja-JP" altLang="ja-JP" sz="900" dirty="0">
                <a:latin typeface="Noto Sans JP" panose="020B0200000000000000" pitchFamily="50" charset="-128"/>
                <a:ea typeface="Noto Sans JP" panose="020B0200000000000000" pitchFamily="50" charset="-128"/>
              </a:rPr>
              <a:t>と言った様に。</a:t>
            </a:r>
            <a:endParaRPr lang="en-US" altLang="ja-JP" sz="900" dirty="0">
              <a:latin typeface="Noto Sans JP" panose="020B0200000000000000" pitchFamily="50" charset="-128"/>
              <a:ea typeface="Noto Sans JP" panose="020B0200000000000000" pitchFamily="50" charset="-128"/>
            </a:endParaRPr>
          </a:p>
          <a:p>
            <a:pPr marL="228600" lvl="0" indent="-228600">
              <a:buFont typeface="+mj-lt"/>
              <a:buAutoNum type="arabicPeriod"/>
            </a:pPr>
            <a:endParaRPr lang="ja-JP" altLang="ja-JP" sz="300" dirty="0">
              <a:latin typeface="Noto Sans JP" panose="020B0200000000000000" pitchFamily="50" charset="-128"/>
              <a:ea typeface="Noto Sans JP" panose="020B0200000000000000" pitchFamily="50" charset="-128"/>
            </a:endParaRPr>
          </a:p>
          <a:p>
            <a:pPr marL="228600" lvl="0" indent="-228600">
              <a:buFont typeface="+mj-lt"/>
              <a:buAutoNum type="arabicPeriod"/>
            </a:pPr>
            <a:r>
              <a:rPr lang="ja-JP" altLang="ja-JP" sz="900" dirty="0">
                <a:latin typeface="Noto Sans JP" panose="020B0200000000000000" pitchFamily="50" charset="-128"/>
                <a:ea typeface="Noto Sans JP" panose="020B0200000000000000" pitchFamily="50" charset="-128"/>
              </a:rPr>
              <a:t>次に</a:t>
            </a:r>
            <a:r>
              <a:rPr lang="en-US" altLang="ja-JP" sz="900" dirty="0">
                <a:latin typeface="Noto Sans JP" panose="020B0200000000000000" pitchFamily="50" charset="-128"/>
                <a:ea typeface="Noto Sans JP" panose="020B0200000000000000" pitchFamily="50" charset="-128"/>
              </a:rPr>
              <a:t>Model</a:t>
            </a:r>
            <a:r>
              <a:rPr lang="ja-JP" altLang="ja-JP" sz="900" dirty="0">
                <a:latin typeface="Noto Sans JP" panose="020B0200000000000000" pitchFamily="50" charset="-128"/>
                <a:ea typeface="Noto Sans JP" panose="020B0200000000000000" pitchFamily="50" charset="-128"/>
              </a:rPr>
              <a:t>を選択します。フィラメントの量がどれくらい必要かを考えて、それに合った</a:t>
            </a:r>
            <a:r>
              <a:rPr lang="en-US" altLang="ja-JP" sz="900" dirty="0">
                <a:latin typeface="Noto Sans JP" panose="020B0200000000000000" pitchFamily="50" charset="-128"/>
                <a:ea typeface="Noto Sans JP" panose="020B0200000000000000" pitchFamily="50" charset="-128"/>
              </a:rPr>
              <a:t>Model</a:t>
            </a:r>
            <a:r>
              <a:rPr lang="ja-JP" altLang="ja-JP" sz="900" dirty="0">
                <a:latin typeface="Noto Sans JP" panose="020B0200000000000000" pitchFamily="50" charset="-128"/>
                <a:ea typeface="Noto Sans JP" panose="020B0200000000000000" pitchFamily="50" charset="-128"/>
              </a:rPr>
              <a:t>を選択します。例えば</a:t>
            </a:r>
            <a:r>
              <a:rPr lang="en-US" altLang="ja-JP" sz="900" dirty="0">
                <a:latin typeface="Noto Sans JP" panose="020B0200000000000000" pitchFamily="50" charset="-128"/>
                <a:ea typeface="Noto Sans JP" panose="020B0200000000000000" pitchFamily="50" charset="-128"/>
              </a:rPr>
              <a:t>3Dbenchy</a:t>
            </a:r>
            <a:r>
              <a:rPr lang="ja-JP" altLang="ja-JP" sz="900" dirty="0">
                <a:latin typeface="Noto Sans JP" panose="020B0200000000000000" pitchFamily="50" charset="-128"/>
                <a:ea typeface="Noto Sans JP" panose="020B0200000000000000" pitchFamily="50" charset="-128"/>
              </a:rPr>
              <a:t>を作る程度であれば</a:t>
            </a:r>
            <a:r>
              <a:rPr lang="en-US" altLang="ja-JP" sz="900" dirty="0">
                <a:latin typeface="Noto Sans JP" panose="020B0200000000000000" pitchFamily="50" charset="-128"/>
                <a:ea typeface="Noto Sans JP" panose="020B0200000000000000" pitchFamily="50" charset="-128"/>
              </a:rPr>
              <a:t>S4 Model</a:t>
            </a:r>
            <a:r>
              <a:rPr lang="ja-JP" altLang="ja-JP" sz="900" dirty="0">
                <a:latin typeface="Noto Sans JP" panose="020B0200000000000000" pitchFamily="50" charset="-128"/>
                <a:ea typeface="Noto Sans JP" panose="020B0200000000000000" pitchFamily="50" charset="-128"/>
              </a:rPr>
              <a:t>、</a:t>
            </a:r>
            <a:r>
              <a:rPr lang="en-US" altLang="ja-JP" sz="900" dirty="0">
                <a:latin typeface="Noto Sans JP" panose="020B0200000000000000" pitchFamily="50" charset="-128"/>
                <a:ea typeface="Noto Sans JP" panose="020B0200000000000000" pitchFamily="50" charset="-128"/>
              </a:rPr>
              <a:t>70g</a:t>
            </a:r>
            <a:r>
              <a:rPr lang="ja-JP" altLang="ja-JP" sz="900" dirty="0">
                <a:latin typeface="Noto Sans JP" panose="020B0200000000000000" pitchFamily="50" charset="-128"/>
                <a:ea typeface="Noto Sans JP" panose="020B0200000000000000" pitchFamily="50" charset="-128"/>
              </a:rPr>
              <a:t>近い大きなモデルを作るのであれば</a:t>
            </a:r>
            <a:r>
              <a:rPr lang="en-US" altLang="ja-JP" sz="900" dirty="0">
                <a:latin typeface="Noto Sans JP" panose="020B0200000000000000" pitchFamily="50" charset="-128"/>
                <a:ea typeface="Noto Sans JP" panose="020B0200000000000000" pitchFamily="50" charset="-128"/>
              </a:rPr>
              <a:t>M1 Model</a:t>
            </a:r>
            <a:r>
              <a:rPr lang="ja-JP" altLang="ja-JP" sz="900" dirty="0">
                <a:latin typeface="Noto Sans JP" panose="020B0200000000000000" pitchFamily="50" charset="-128"/>
                <a:ea typeface="Noto Sans JP" panose="020B0200000000000000" pitchFamily="50" charset="-128"/>
              </a:rPr>
              <a:t>と言う具合です。</a:t>
            </a:r>
            <a:endParaRPr lang="en-US" altLang="ja-JP" sz="900" dirty="0">
              <a:latin typeface="Noto Sans JP" panose="020B0200000000000000" pitchFamily="50" charset="-128"/>
              <a:ea typeface="Noto Sans JP" panose="020B0200000000000000" pitchFamily="50" charset="-128"/>
            </a:endParaRPr>
          </a:p>
          <a:p>
            <a:pPr marL="228600" lvl="0" indent="-228600">
              <a:buFont typeface="+mj-lt"/>
              <a:buAutoNum type="arabicPeriod"/>
            </a:pPr>
            <a:endParaRPr lang="ja-JP" altLang="ja-JP" sz="300" dirty="0">
              <a:latin typeface="Noto Sans JP" panose="020B0200000000000000" pitchFamily="50" charset="-128"/>
              <a:ea typeface="Noto Sans JP" panose="020B0200000000000000" pitchFamily="50" charset="-128"/>
            </a:endParaRPr>
          </a:p>
          <a:p>
            <a:pPr marL="228600" lvl="0" indent="-228600">
              <a:buFont typeface="+mj-lt"/>
              <a:buAutoNum type="arabicPeriod"/>
            </a:pPr>
            <a:r>
              <a:rPr lang="ja-JP" altLang="ja-JP" sz="900" dirty="0">
                <a:latin typeface="Noto Sans JP" panose="020B0200000000000000" pitchFamily="50" charset="-128"/>
                <a:ea typeface="Noto Sans JP" panose="020B0200000000000000" pitchFamily="50" charset="-128"/>
              </a:rPr>
              <a:t>次に</a:t>
            </a:r>
            <a:r>
              <a:rPr lang="en-US" altLang="ja-JP" sz="900" dirty="0">
                <a:latin typeface="Noto Sans JP" panose="020B0200000000000000" pitchFamily="50" charset="-128"/>
                <a:ea typeface="Noto Sans JP" panose="020B0200000000000000" pitchFamily="50" charset="-128"/>
              </a:rPr>
              <a:t>Profile</a:t>
            </a:r>
            <a:r>
              <a:rPr lang="ja-JP" altLang="ja-JP" sz="900" dirty="0">
                <a:latin typeface="Noto Sans JP" panose="020B0200000000000000" pitchFamily="50" charset="-128"/>
                <a:ea typeface="Noto Sans JP" panose="020B0200000000000000" pitchFamily="50" charset="-128"/>
              </a:rPr>
              <a:t>と</a:t>
            </a:r>
            <a:r>
              <a:rPr lang="en-US" altLang="ja-JP" sz="900" dirty="0">
                <a:latin typeface="Noto Sans JP" panose="020B0200000000000000" pitchFamily="50" charset="-128"/>
                <a:ea typeface="Noto Sans JP" panose="020B0200000000000000" pitchFamily="50" charset="-128"/>
              </a:rPr>
              <a:t>Plate</a:t>
            </a:r>
            <a:r>
              <a:rPr lang="ja-JP" altLang="ja-JP" sz="900" dirty="0">
                <a:latin typeface="Noto Sans JP" panose="020B0200000000000000" pitchFamily="50" charset="-128"/>
                <a:ea typeface="Noto Sans JP" panose="020B0200000000000000" pitchFamily="50" charset="-128"/>
              </a:rPr>
              <a:t>を選びます。</a:t>
            </a:r>
            <a:r>
              <a:rPr lang="en-US" altLang="ja-JP" sz="900" dirty="0">
                <a:latin typeface="Noto Sans JP" panose="020B0200000000000000" pitchFamily="50" charset="-128"/>
                <a:ea typeface="Noto Sans JP" panose="020B0200000000000000" pitchFamily="50" charset="-128"/>
              </a:rPr>
              <a:t>Series</a:t>
            </a:r>
            <a:r>
              <a:rPr lang="ja-JP" altLang="ja-JP" sz="900" dirty="0">
                <a:latin typeface="Noto Sans JP" panose="020B0200000000000000" pitchFamily="50" charset="-128"/>
                <a:ea typeface="Noto Sans JP" panose="020B0200000000000000" pitchFamily="50" charset="-128"/>
              </a:rPr>
              <a:t>によって異なる分け方で</a:t>
            </a:r>
            <a:r>
              <a:rPr lang="en-US" altLang="ja-JP" sz="900" dirty="0">
                <a:latin typeface="Noto Sans JP" panose="020B0200000000000000" pitchFamily="50" charset="-128"/>
                <a:ea typeface="Noto Sans JP" panose="020B0200000000000000" pitchFamily="50" charset="-128"/>
              </a:rPr>
              <a:t>Profile</a:t>
            </a:r>
            <a:r>
              <a:rPr lang="ja-JP" altLang="ja-JP" sz="900" dirty="0">
                <a:latin typeface="Noto Sans JP" panose="020B0200000000000000" pitchFamily="50" charset="-128"/>
                <a:ea typeface="Noto Sans JP" panose="020B0200000000000000" pitchFamily="50" charset="-128"/>
              </a:rPr>
              <a:t>と</a:t>
            </a:r>
            <a:r>
              <a:rPr lang="en-US" altLang="ja-JP" sz="900" dirty="0">
                <a:latin typeface="Noto Sans JP" panose="020B0200000000000000" pitchFamily="50" charset="-128"/>
                <a:ea typeface="Noto Sans JP" panose="020B0200000000000000" pitchFamily="50" charset="-128"/>
              </a:rPr>
              <a:t>Plate</a:t>
            </a:r>
            <a:r>
              <a:rPr lang="ja-JP" altLang="ja-JP" sz="900" dirty="0">
                <a:latin typeface="Noto Sans JP" panose="020B0200000000000000" pitchFamily="50" charset="-128"/>
                <a:ea typeface="Noto Sans JP" panose="020B0200000000000000" pitchFamily="50" charset="-128"/>
              </a:rPr>
              <a:t>ごとにフィラメントのデータがあります。例えば</a:t>
            </a:r>
            <a:r>
              <a:rPr lang="en-US" altLang="ja-JP" sz="900" dirty="0">
                <a:latin typeface="Jost Medium" pitchFamily="2" charset="0"/>
                <a:ea typeface="Jost Medium" pitchFamily="2" charset="0"/>
              </a:rPr>
              <a:t>Blend Filament</a:t>
            </a:r>
            <a:r>
              <a:rPr lang="ja-JP" altLang="ja-JP" sz="900" dirty="0">
                <a:latin typeface="Noto Sans JP" panose="020B0200000000000000" pitchFamily="50" charset="-128"/>
                <a:ea typeface="Noto Sans JP" panose="020B0200000000000000" pitchFamily="50" charset="-128"/>
              </a:rPr>
              <a:t>で９８％混色比のモデルであれば、</a:t>
            </a:r>
            <a:r>
              <a:rPr lang="en-US" altLang="ja-JP" sz="900" dirty="0">
                <a:latin typeface="Noto Sans JP" panose="020B0200000000000000" pitchFamily="50" charset="-128"/>
                <a:ea typeface="Noto Sans JP" panose="020B0200000000000000" pitchFamily="50" charset="-128"/>
              </a:rPr>
              <a:t>Detail Profile</a:t>
            </a:r>
            <a:r>
              <a:rPr lang="ja-JP" altLang="ja-JP" sz="900" dirty="0">
                <a:latin typeface="Noto Sans JP" panose="020B0200000000000000" pitchFamily="50" charset="-128"/>
                <a:ea typeface="Noto Sans JP" panose="020B0200000000000000" pitchFamily="50" charset="-128"/>
              </a:rPr>
              <a:t>の中の</a:t>
            </a:r>
            <a:r>
              <a:rPr lang="en-US" altLang="ja-JP" sz="900" dirty="0">
                <a:latin typeface="Noto Sans JP" panose="020B0200000000000000" pitchFamily="50" charset="-128"/>
                <a:ea typeface="Noto Sans JP" panose="020B0200000000000000" pitchFamily="50" charset="-128"/>
              </a:rPr>
              <a:t>98pct</a:t>
            </a:r>
            <a:r>
              <a:rPr lang="ja-JP" altLang="ja-JP" sz="900" dirty="0">
                <a:latin typeface="Noto Sans JP" panose="020B0200000000000000" pitchFamily="50" charset="-128"/>
                <a:ea typeface="Noto Sans JP" panose="020B0200000000000000" pitchFamily="50" charset="-128"/>
              </a:rPr>
              <a:t>プレートを選びます。</a:t>
            </a:r>
            <a:endParaRPr lang="en-US" altLang="ja-JP" sz="900" dirty="0">
              <a:latin typeface="Noto Sans JP" panose="020B0200000000000000" pitchFamily="50" charset="-128"/>
              <a:ea typeface="Noto Sans JP" panose="020B0200000000000000" pitchFamily="50" charset="-128"/>
            </a:endParaRPr>
          </a:p>
          <a:p>
            <a:pPr marL="228600" lvl="0" indent="-228600">
              <a:buFont typeface="+mj-lt"/>
              <a:buAutoNum type="arabicPeriod"/>
            </a:pPr>
            <a:endParaRPr lang="ja-JP" altLang="ja-JP" sz="300" dirty="0">
              <a:latin typeface="Noto Sans JP" panose="020B0200000000000000" pitchFamily="50" charset="-128"/>
              <a:ea typeface="Noto Sans JP" panose="020B0200000000000000" pitchFamily="50" charset="-128"/>
            </a:endParaRPr>
          </a:p>
          <a:p>
            <a:pPr marL="228600" lvl="0" indent="-228600">
              <a:buFont typeface="+mj-lt"/>
              <a:buAutoNum type="arabicPeriod"/>
            </a:pPr>
            <a:r>
              <a:rPr lang="ja-JP" altLang="ja-JP" sz="900" dirty="0">
                <a:latin typeface="Noto Sans JP" panose="020B0200000000000000" pitchFamily="50" charset="-128"/>
                <a:ea typeface="Noto Sans JP" panose="020B0200000000000000" pitchFamily="50" charset="-128"/>
              </a:rPr>
              <a:t>使うフィラメントを選びます。素材が同じもしくは近い</a:t>
            </a:r>
            <a:r>
              <a:rPr lang="en-US" altLang="ja-JP" sz="900" dirty="0">
                <a:latin typeface="Noto Sans JP" panose="020B0200000000000000" pitchFamily="50" charset="-128"/>
                <a:ea typeface="Noto Sans JP" panose="020B0200000000000000" pitchFamily="50" charset="-128"/>
              </a:rPr>
              <a:t>(PLA Basic</a:t>
            </a:r>
            <a:r>
              <a:rPr lang="ja-JP" altLang="ja-JP" sz="900" dirty="0">
                <a:latin typeface="Noto Sans JP" panose="020B0200000000000000" pitchFamily="50" charset="-128"/>
                <a:ea typeface="Noto Sans JP" panose="020B0200000000000000" pitchFamily="50" charset="-128"/>
              </a:rPr>
              <a:t>と</a:t>
            </a:r>
            <a:r>
              <a:rPr lang="en-US" altLang="ja-JP" sz="900" dirty="0">
                <a:latin typeface="Noto Sans JP" panose="020B0200000000000000" pitchFamily="50" charset="-128"/>
                <a:ea typeface="Noto Sans JP" panose="020B0200000000000000" pitchFamily="50" charset="-128"/>
              </a:rPr>
              <a:t>PLA Matte</a:t>
            </a:r>
            <a:r>
              <a:rPr lang="ja-JP" altLang="ja-JP" sz="900" dirty="0">
                <a:latin typeface="Noto Sans JP" panose="020B0200000000000000" pitchFamily="50" charset="-128"/>
                <a:ea typeface="Noto Sans JP" panose="020B0200000000000000" pitchFamily="50" charset="-128"/>
              </a:rPr>
              <a:t>の様な</a:t>
            </a:r>
            <a:r>
              <a:rPr lang="en-US" altLang="ja-JP" sz="900" dirty="0">
                <a:latin typeface="Noto Sans JP" panose="020B0200000000000000" pitchFamily="50" charset="-128"/>
                <a:ea typeface="Noto Sans JP" panose="020B0200000000000000" pitchFamily="50" charset="-128"/>
              </a:rPr>
              <a:t>)</a:t>
            </a:r>
            <a:r>
              <a:rPr lang="ja-JP" altLang="ja-JP" sz="900" dirty="0">
                <a:latin typeface="Noto Sans JP" panose="020B0200000000000000" pitchFamily="50" charset="-128"/>
                <a:ea typeface="Noto Sans JP" panose="020B0200000000000000" pitchFamily="50" charset="-128"/>
              </a:rPr>
              <a:t>フィラメントを用意しましょう。選んだフィラメントを割り当てて、スライスしましょう。説明文に書かれている印刷時の注意点をよく読んでから印刷して下さい。</a:t>
            </a:r>
          </a:p>
        </p:txBody>
      </p:sp>
      <p:sp>
        <p:nvSpPr>
          <p:cNvPr id="27" name="テキスト ボックス 26">
            <a:extLst>
              <a:ext uri="{FF2B5EF4-FFF2-40B4-BE49-F238E27FC236}">
                <a16:creationId xmlns:a16="http://schemas.microsoft.com/office/drawing/2014/main" id="{85188721-A22A-7406-1054-59064AF3BC47}"/>
              </a:ext>
            </a:extLst>
          </p:cNvPr>
          <p:cNvSpPr txBox="1"/>
          <p:nvPr/>
        </p:nvSpPr>
        <p:spPr>
          <a:xfrm>
            <a:off x="656136" y="8382632"/>
            <a:ext cx="5680304" cy="223138"/>
          </a:xfrm>
          <a:prstGeom prst="rect">
            <a:avLst/>
          </a:prstGeom>
          <a:noFill/>
        </p:spPr>
        <p:txBody>
          <a:bodyPr wrap="square" rtlCol="0">
            <a:spAutoFit/>
          </a:bodyPr>
          <a:lstStyle/>
          <a:p>
            <a:r>
              <a:rPr lang="ja-JP" altLang="ja-JP" sz="800" dirty="0">
                <a:latin typeface="Noto Sans JP" panose="020B0200000000000000" pitchFamily="50" charset="-128"/>
                <a:ea typeface="Noto Sans JP" panose="020B0200000000000000" pitchFamily="50" charset="-128"/>
              </a:rPr>
              <a:t>※</a:t>
            </a:r>
            <a:r>
              <a:rPr lang="en-US" altLang="ja-JP" sz="800" dirty="0">
                <a:latin typeface="Jost SemiBold" pitchFamily="2" charset="0"/>
                <a:ea typeface="Jost SemiBold" pitchFamily="2" charset="0"/>
              </a:rPr>
              <a:t>FlexChroma</a:t>
            </a:r>
            <a:r>
              <a:rPr lang="ja-JP" altLang="ja-JP" sz="800" dirty="0">
                <a:latin typeface="Noto Sans JP" panose="020B0200000000000000" pitchFamily="50" charset="-128"/>
                <a:ea typeface="Noto Sans JP" panose="020B0200000000000000" pitchFamily="50" charset="-128"/>
              </a:rPr>
              <a:t>における</a:t>
            </a:r>
            <a:r>
              <a:rPr lang="en-US" altLang="ja-JP" sz="800" dirty="0">
                <a:latin typeface="Noto Sans JP" panose="020B0200000000000000" pitchFamily="50" charset="-128"/>
                <a:ea typeface="Noto Sans JP" panose="020B0200000000000000" pitchFamily="50" charset="-128"/>
              </a:rPr>
              <a:t>Profile</a:t>
            </a:r>
            <a:r>
              <a:rPr lang="ja-JP" altLang="ja-JP" sz="800" dirty="0">
                <a:latin typeface="Noto Sans JP" panose="020B0200000000000000" pitchFamily="50" charset="-128"/>
                <a:ea typeface="Noto Sans JP" panose="020B0200000000000000" pitchFamily="50" charset="-128"/>
              </a:rPr>
              <a:t>は印刷設定の違いではありません。各</a:t>
            </a:r>
            <a:r>
              <a:rPr lang="en-US" altLang="ja-JP" sz="800" dirty="0">
                <a:latin typeface="Noto Sans JP" panose="020B0200000000000000" pitchFamily="50" charset="-128"/>
                <a:ea typeface="Noto Sans JP" panose="020B0200000000000000" pitchFamily="50" charset="-128"/>
              </a:rPr>
              <a:t>Series</a:t>
            </a:r>
            <a:r>
              <a:rPr lang="ja-JP" altLang="ja-JP" sz="800" dirty="0">
                <a:latin typeface="Noto Sans JP" panose="020B0200000000000000" pitchFamily="50" charset="-128"/>
                <a:ea typeface="Noto Sans JP" panose="020B0200000000000000" pitchFamily="50" charset="-128"/>
              </a:rPr>
              <a:t>内で「目的別の分類」を表しています。</a:t>
            </a:r>
          </a:p>
        </p:txBody>
      </p:sp>
      <p:sp>
        <p:nvSpPr>
          <p:cNvPr id="31" name="テキスト ボックス 30">
            <a:extLst>
              <a:ext uri="{FF2B5EF4-FFF2-40B4-BE49-F238E27FC236}">
                <a16:creationId xmlns:a16="http://schemas.microsoft.com/office/drawing/2014/main" id="{516A9288-7A7D-E31E-6E9A-9F4961DCC32C}"/>
              </a:ext>
            </a:extLst>
          </p:cNvPr>
          <p:cNvSpPr txBox="1"/>
          <p:nvPr/>
        </p:nvSpPr>
        <p:spPr>
          <a:xfrm>
            <a:off x="1515655" y="1444411"/>
            <a:ext cx="3879588" cy="338554"/>
          </a:xfrm>
          <a:prstGeom prst="rect">
            <a:avLst/>
          </a:prstGeom>
          <a:noFill/>
        </p:spPr>
        <p:txBody>
          <a:bodyPr wrap="none" rtlCol="0">
            <a:spAutoFit/>
          </a:bodyPr>
          <a:lstStyle/>
          <a:p>
            <a:r>
              <a:rPr lang="en-US" altLang="ja-JP" sz="1600" dirty="0">
                <a:latin typeface="Noto Sans JP" panose="020B0200000000000000" pitchFamily="50" charset="-128"/>
                <a:ea typeface="Noto Sans JP" panose="020B0200000000000000" pitchFamily="50" charset="-128"/>
              </a:rPr>
              <a:t>- </a:t>
            </a:r>
            <a:r>
              <a:rPr lang="en-US" altLang="ja-JP" sz="1600" dirty="0">
                <a:latin typeface="Jost SemiBold" pitchFamily="2" charset="0"/>
                <a:ea typeface="Jost SemiBold" pitchFamily="2" charset="0"/>
                <a:cs typeface="Segoe UI Semibold" panose="020B0702040204020203" pitchFamily="34" charset="0"/>
              </a:rPr>
              <a:t>FlexChroma</a:t>
            </a:r>
            <a:r>
              <a:rPr lang="ja-JP" altLang="en-US" sz="1600" dirty="0">
                <a:latin typeface="Noto Sans JP" panose="020B0200000000000000" pitchFamily="50" charset="-128"/>
                <a:ea typeface="Noto Sans JP" panose="020B0200000000000000" pitchFamily="50" charset="-128"/>
              </a:rPr>
              <a:t>のモデルを探してみよう</a:t>
            </a:r>
            <a:r>
              <a:rPr lang="en-US" altLang="ja-JP" sz="1600" dirty="0">
                <a:latin typeface="Noto Sans JP" panose="020B0200000000000000" pitchFamily="50" charset="-128"/>
                <a:ea typeface="Noto Sans JP" panose="020B0200000000000000" pitchFamily="50" charset="-128"/>
              </a:rPr>
              <a:t> -</a:t>
            </a:r>
            <a:endParaRPr kumimoji="1" lang="ja-JP" altLang="en-US" sz="1600" dirty="0">
              <a:latin typeface="Noto Sans JP" panose="020B0200000000000000" pitchFamily="50" charset="-128"/>
              <a:ea typeface="Noto Sans JP" panose="020B0200000000000000" pitchFamily="50" charset="-128"/>
            </a:endParaRPr>
          </a:p>
        </p:txBody>
      </p:sp>
      <p:sp>
        <p:nvSpPr>
          <p:cNvPr id="34" name="テキスト ボックス 33">
            <a:extLst>
              <a:ext uri="{FF2B5EF4-FFF2-40B4-BE49-F238E27FC236}">
                <a16:creationId xmlns:a16="http://schemas.microsoft.com/office/drawing/2014/main" id="{42D9BBCE-03AD-2F32-0F78-D752FBD0FEAB}"/>
              </a:ext>
            </a:extLst>
          </p:cNvPr>
          <p:cNvSpPr txBox="1"/>
          <p:nvPr/>
        </p:nvSpPr>
        <p:spPr>
          <a:xfrm>
            <a:off x="2381276" y="1883364"/>
            <a:ext cx="1725152" cy="307777"/>
          </a:xfrm>
          <a:prstGeom prst="rect">
            <a:avLst/>
          </a:prstGeom>
          <a:noFill/>
        </p:spPr>
        <p:txBody>
          <a:bodyPr wrap="none" rtlCol="0">
            <a:spAutoFit/>
          </a:bodyPr>
          <a:lstStyle/>
          <a:p>
            <a:r>
              <a:rPr lang="en-US" altLang="ja-JP" sz="1400" dirty="0">
                <a:latin typeface="Noto Sans JP" panose="020B0200000000000000" pitchFamily="50" charset="-128"/>
                <a:ea typeface="Noto Sans JP" panose="020B0200000000000000" pitchFamily="50" charset="-128"/>
              </a:rPr>
              <a:t>Ver.1.11  2026.9.16</a:t>
            </a:r>
            <a:endParaRPr kumimoji="1" lang="ja-JP" altLang="en-US" sz="1400" dirty="0">
              <a:latin typeface="Noto Sans JP" panose="020B0200000000000000" pitchFamily="50" charset="-128"/>
              <a:ea typeface="Noto Sans JP" panose="020B0200000000000000" pitchFamily="50" charset="-128"/>
            </a:endParaRPr>
          </a:p>
        </p:txBody>
      </p:sp>
      <p:pic>
        <p:nvPicPr>
          <p:cNvPr id="12" name="図 11">
            <a:extLst>
              <a:ext uri="{FF2B5EF4-FFF2-40B4-BE49-F238E27FC236}">
                <a16:creationId xmlns:a16="http://schemas.microsoft.com/office/drawing/2014/main" id="{DDF7DE1F-D07E-0319-83EB-C70E24CE4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6627" y="906206"/>
            <a:ext cx="448129" cy="432001"/>
          </a:xfrm>
          <a:prstGeom prst="rect">
            <a:avLst/>
          </a:prstGeom>
        </p:spPr>
      </p:pic>
      <p:pic>
        <p:nvPicPr>
          <p:cNvPr id="13" name="図 12">
            <a:extLst>
              <a:ext uri="{FF2B5EF4-FFF2-40B4-BE49-F238E27FC236}">
                <a16:creationId xmlns:a16="http://schemas.microsoft.com/office/drawing/2014/main" id="{24FFE957-D837-2E04-9B52-2C1959F911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998" y="4927439"/>
            <a:ext cx="5785269" cy="1146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0672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C9087-6CA0-98BD-A4E9-F12C70E87BDE}"/>
            </a:ext>
          </a:extLst>
        </p:cNvPr>
        <p:cNvGrpSpPr/>
        <p:nvPr/>
      </p:nvGrpSpPr>
      <p:grpSpPr>
        <a:xfrm>
          <a:off x="0" y="0"/>
          <a:ext cx="0" cy="0"/>
          <a:chOff x="0" y="0"/>
          <a:chExt cx="0" cy="0"/>
        </a:xfrm>
      </p:grpSpPr>
      <p:sp>
        <p:nvSpPr>
          <p:cNvPr id="2" name="正方形/長方形 1">
            <a:extLst>
              <a:ext uri="{FF2B5EF4-FFF2-40B4-BE49-F238E27FC236}">
                <a16:creationId xmlns:a16="http://schemas.microsoft.com/office/drawing/2014/main" id="{B49DBBEA-9FC7-9FDF-7CAD-6A08DC115D2A}"/>
              </a:ext>
            </a:extLst>
          </p:cNvPr>
          <p:cNvSpPr/>
          <p:nvPr/>
        </p:nvSpPr>
        <p:spPr>
          <a:xfrm>
            <a:off x="67565" y="90087"/>
            <a:ext cx="6722870" cy="8963827"/>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フリーフォーム: 図形 26">
            <a:extLst>
              <a:ext uri="{FF2B5EF4-FFF2-40B4-BE49-F238E27FC236}">
                <a16:creationId xmlns:a16="http://schemas.microsoft.com/office/drawing/2014/main" id="{11A9ABF9-CB8B-029D-AD9F-B5842ED77239}"/>
              </a:ext>
            </a:extLst>
          </p:cNvPr>
          <p:cNvSpPr/>
          <p:nvPr/>
        </p:nvSpPr>
        <p:spPr>
          <a:xfrm>
            <a:off x="-7269" y="0"/>
            <a:ext cx="6858000" cy="9144000"/>
          </a:xfrm>
          <a:custGeom>
            <a:avLst/>
            <a:gdLst>
              <a:gd name="csX0" fmla="*/ 3742113 w 6858000"/>
              <a:gd name="csY0" fmla="*/ 8661917 h 9144000"/>
              <a:gd name="csX1" fmla="*/ 3742113 w 6858000"/>
              <a:gd name="csY1" fmla="*/ 8715917 h 9144000"/>
              <a:gd name="csX2" fmla="*/ 6334113 w 6858000"/>
              <a:gd name="csY2" fmla="*/ 8715917 h 9144000"/>
              <a:gd name="csX3" fmla="*/ 6334113 w 6858000"/>
              <a:gd name="csY3" fmla="*/ 8661917 h 9144000"/>
              <a:gd name="csX4" fmla="*/ 561807 w 6858000"/>
              <a:gd name="csY4" fmla="*/ 8661917 h 9144000"/>
              <a:gd name="csX5" fmla="*/ 561807 w 6858000"/>
              <a:gd name="csY5" fmla="*/ 8715917 h 9144000"/>
              <a:gd name="csX6" fmla="*/ 3153807 w 6858000"/>
              <a:gd name="csY6" fmla="*/ 8715917 h 9144000"/>
              <a:gd name="csX7" fmla="*/ 3153807 w 6858000"/>
              <a:gd name="csY7" fmla="*/ 8661917 h 9144000"/>
              <a:gd name="csX8" fmla="*/ 675779 w 6858000"/>
              <a:gd name="csY8" fmla="*/ 2510638 h 9144000"/>
              <a:gd name="csX9" fmla="*/ 573444 w 6858000"/>
              <a:gd name="csY9" fmla="*/ 2612973 h 9144000"/>
              <a:gd name="csX10" fmla="*/ 675779 w 6858000"/>
              <a:gd name="csY10" fmla="*/ 2715308 h 9144000"/>
              <a:gd name="csX11" fmla="*/ 778114 w 6858000"/>
              <a:gd name="csY11" fmla="*/ 2612973 h 9144000"/>
              <a:gd name="csX12" fmla="*/ 675779 w 6858000"/>
              <a:gd name="csY12" fmla="*/ 2510638 h 9144000"/>
              <a:gd name="csX13" fmla="*/ 675779 w 6858000"/>
              <a:gd name="csY13" fmla="*/ 677902 h 9144000"/>
              <a:gd name="csX14" fmla="*/ 573444 w 6858000"/>
              <a:gd name="csY14" fmla="*/ 780237 h 9144000"/>
              <a:gd name="csX15" fmla="*/ 675779 w 6858000"/>
              <a:gd name="csY15" fmla="*/ 882572 h 9144000"/>
              <a:gd name="csX16" fmla="*/ 778114 w 6858000"/>
              <a:gd name="csY16" fmla="*/ 780237 h 9144000"/>
              <a:gd name="csX17" fmla="*/ 675779 w 6858000"/>
              <a:gd name="csY17" fmla="*/ 677902 h 9144000"/>
              <a:gd name="csX18" fmla="*/ 561806 w 6858000"/>
              <a:gd name="csY18" fmla="*/ 440276 h 9144000"/>
              <a:gd name="csX19" fmla="*/ 561806 w 6858000"/>
              <a:gd name="csY19" fmla="*/ 494276 h 9144000"/>
              <a:gd name="csX20" fmla="*/ 6317999 w 6858000"/>
              <a:gd name="csY20" fmla="*/ 494276 h 9144000"/>
              <a:gd name="csX21" fmla="*/ 6317999 w 6858000"/>
              <a:gd name="csY21" fmla="*/ 440276 h 9144000"/>
              <a:gd name="csX22" fmla="*/ 0 w 6858000"/>
              <a:gd name="csY22" fmla="*/ 0 h 9144000"/>
              <a:gd name="csX23" fmla="*/ 6858000 w 6858000"/>
              <a:gd name="csY23" fmla="*/ 0 h 9144000"/>
              <a:gd name="csX24" fmla="*/ 6858000 w 6858000"/>
              <a:gd name="csY24" fmla="*/ 9144000 h 9144000"/>
              <a:gd name="csX25" fmla="*/ 0 w 6858000"/>
              <a:gd name="csY2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858000" h="9144000">
                <a:moveTo>
                  <a:pt x="3742113" y="8661917"/>
                </a:moveTo>
                <a:lnTo>
                  <a:pt x="3742113" y="8715917"/>
                </a:lnTo>
                <a:lnTo>
                  <a:pt x="6334113" y="8715917"/>
                </a:lnTo>
                <a:lnTo>
                  <a:pt x="6334113" y="8661917"/>
                </a:lnTo>
                <a:close/>
                <a:moveTo>
                  <a:pt x="561807" y="8661917"/>
                </a:moveTo>
                <a:lnTo>
                  <a:pt x="561807" y="8715917"/>
                </a:lnTo>
                <a:lnTo>
                  <a:pt x="3153807" y="8715917"/>
                </a:lnTo>
                <a:lnTo>
                  <a:pt x="3153807" y="8661917"/>
                </a:lnTo>
                <a:close/>
                <a:moveTo>
                  <a:pt x="675779" y="2510638"/>
                </a:moveTo>
                <a:cubicBezTo>
                  <a:pt x="619261" y="2510638"/>
                  <a:pt x="573444" y="2556455"/>
                  <a:pt x="573444" y="2612973"/>
                </a:cubicBezTo>
                <a:cubicBezTo>
                  <a:pt x="573444" y="2669491"/>
                  <a:pt x="619261" y="2715308"/>
                  <a:pt x="675779" y="2715308"/>
                </a:cubicBezTo>
                <a:cubicBezTo>
                  <a:pt x="732297" y="2715308"/>
                  <a:pt x="778114" y="2669491"/>
                  <a:pt x="778114" y="2612973"/>
                </a:cubicBezTo>
                <a:cubicBezTo>
                  <a:pt x="778114" y="2556455"/>
                  <a:pt x="732297" y="2510638"/>
                  <a:pt x="675779" y="2510638"/>
                </a:cubicBezTo>
                <a:close/>
                <a:moveTo>
                  <a:pt x="675779" y="677902"/>
                </a:moveTo>
                <a:cubicBezTo>
                  <a:pt x="619261" y="677902"/>
                  <a:pt x="573444" y="723719"/>
                  <a:pt x="573444" y="780237"/>
                </a:cubicBezTo>
                <a:cubicBezTo>
                  <a:pt x="573444" y="836755"/>
                  <a:pt x="619261" y="882572"/>
                  <a:pt x="675779" y="882572"/>
                </a:cubicBezTo>
                <a:cubicBezTo>
                  <a:pt x="732297" y="882572"/>
                  <a:pt x="778114" y="836755"/>
                  <a:pt x="778114" y="780237"/>
                </a:cubicBezTo>
                <a:cubicBezTo>
                  <a:pt x="778114" y="723719"/>
                  <a:pt x="732297" y="677902"/>
                  <a:pt x="675779" y="677902"/>
                </a:cubicBezTo>
                <a:close/>
                <a:moveTo>
                  <a:pt x="561806" y="440276"/>
                </a:moveTo>
                <a:lnTo>
                  <a:pt x="561806" y="494276"/>
                </a:lnTo>
                <a:lnTo>
                  <a:pt x="6317999" y="494276"/>
                </a:lnTo>
                <a:lnTo>
                  <a:pt x="6317999" y="440276"/>
                </a:lnTo>
                <a:close/>
                <a:moveTo>
                  <a:pt x="0" y="0"/>
                </a:moveTo>
                <a:lnTo>
                  <a:pt x="6858000" y="0"/>
                </a:lnTo>
                <a:lnTo>
                  <a:pt x="6858000" y="9144000"/>
                </a:lnTo>
                <a:lnTo>
                  <a:pt x="0" y="9144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7" name="テキスト ボックス 16">
            <a:extLst>
              <a:ext uri="{FF2B5EF4-FFF2-40B4-BE49-F238E27FC236}">
                <a16:creationId xmlns:a16="http://schemas.microsoft.com/office/drawing/2014/main" id="{945C04DD-EDE1-FFD5-4C54-4B385EA6A8B3}"/>
              </a:ext>
            </a:extLst>
          </p:cNvPr>
          <p:cNvSpPr txBox="1"/>
          <p:nvPr/>
        </p:nvSpPr>
        <p:spPr>
          <a:xfrm>
            <a:off x="3139442" y="8511531"/>
            <a:ext cx="575734" cy="369332"/>
          </a:xfrm>
          <a:prstGeom prst="rect">
            <a:avLst/>
          </a:prstGeom>
          <a:noFill/>
        </p:spPr>
        <p:txBody>
          <a:bodyPr wrap="square" rtlCol="0" anchor="ctr">
            <a:spAutoFit/>
          </a:bodyPr>
          <a:lstStyle/>
          <a:p>
            <a:pPr algn="ctr"/>
            <a:r>
              <a:rPr kumimoji="1" lang="en-US" altLang="ja-JP" dirty="0">
                <a:latin typeface="Noto Sans JP" panose="020B0200000000000000" pitchFamily="50" charset="-128"/>
                <a:ea typeface="Noto Sans JP" panose="020B0200000000000000" pitchFamily="50" charset="-128"/>
              </a:rPr>
              <a:t>2</a:t>
            </a:r>
            <a:endParaRPr kumimoji="1" lang="ja-JP" altLang="en-US" dirty="0">
              <a:latin typeface="Noto Sans JP" panose="020B0200000000000000" pitchFamily="50" charset="-128"/>
              <a:ea typeface="Noto Sans JP" panose="020B0200000000000000" pitchFamily="50" charset="-128"/>
            </a:endParaRPr>
          </a:p>
        </p:txBody>
      </p:sp>
      <p:sp>
        <p:nvSpPr>
          <p:cNvPr id="3" name="テキスト ボックス 2">
            <a:extLst>
              <a:ext uri="{FF2B5EF4-FFF2-40B4-BE49-F238E27FC236}">
                <a16:creationId xmlns:a16="http://schemas.microsoft.com/office/drawing/2014/main" id="{AE7AB3FF-5770-5961-EBBC-58057FDE5C9B}"/>
              </a:ext>
            </a:extLst>
          </p:cNvPr>
          <p:cNvSpPr txBox="1"/>
          <p:nvPr/>
        </p:nvSpPr>
        <p:spPr>
          <a:xfrm>
            <a:off x="770844" y="610017"/>
            <a:ext cx="2480166" cy="400110"/>
          </a:xfrm>
          <a:prstGeom prst="rect">
            <a:avLst/>
          </a:prstGeom>
          <a:noFill/>
        </p:spPr>
        <p:txBody>
          <a:bodyPr wrap="none" rtlCol="0">
            <a:spAutoFit/>
          </a:bodyPr>
          <a:lstStyle/>
          <a:p>
            <a:r>
              <a:rPr lang="en-US" altLang="ja-JP" sz="2000" dirty="0">
                <a:latin typeface="Noto Sans JP" panose="020B0200000000000000" pitchFamily="50" charset="-128"/>
                <a:ea typeface="Noto Sans JP" panose="020B0200000000000000" pitchFamily="50" charset="-128"/>
              </a:rPr>
              <a:t>3. </a:t>
            </a:r>
            <a:r>
              <a:rPr lang="en-US" altLang="ja-JP" sz="2000" dirty="0">
                <a:latin typeface="Jost SemiBold" pitchFamily="2" charset="0"/>
                <a:ea typeface="Jost SemiBold" pitchFamily="2" charset="0"/>
              </a:rPr>
              <a:t>FlexChroma</a:t>
            </a:r>
            <a:r>
              <a:rPr lang="en-US" altLang="ja-JP" sz="2000" dirty="0">
                <a:latin typeface="Noto Sans JP" panose="020B0200000000000000" pitchFamily="50" charset="-128"/>
                <a:ea typeface="Noto Sans JP" panose="020B0200000000000000" pitchFamily="50" charset="-128"/>
              </a:rPr>
              <a:t> HUB</a:t>
            </a:r>
            <a:endParaRPr kumimoji="1" lang="ja-JP" altLang="en-US" sz="2400" b="1" dirty="0">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60CF28C-466F-9D95-3219-9FEC9B46B3B1}"/>
              </a:ext>
            </a:extLst>
          </p:cNvPr>
          <p:cNvSpPr txBox="1"/>
          <p:nvPr/>
        </p:nvSpPr>
        <p:spPr>
          <a:xfrm>
            <a:off x="668508" y="950188"/>
            <a:ext cx="5649491" cy="553998"/>
          </a:xfrm>
          <a:prstGeom prst="rect">
            <a:avLst/>
          </a:prstGeom>
          <a:noFill/>
        </p:spPr>
        <p:txBody>
          <a:bodyPr wrap="square" rtlCol="0">
            <a:spAutoFit/>
          </a:bodyPr>
          <a:lstStyle/>
          <a:p>
            <a:r>
              <a:rPr lang="en-US" altLang="ja-JP" sz="1000" dirty="0">
                <a:latin typeface="Jost SemiBold" pitchFamily="2" charset="0"/>
                <a:ea typeface="Jost SemiBold" pitchFamily="2" charset="0"/>
                <a:cs typeface="Segoe UI Semibold" panose="020B0702040204020203" pitchFamily="34" charset="0"/>
              </a:rPr>
              <a:t>FlexChroma</a:t>
            </a:r>
            <a:r>
              <a:rPr lang="en-US" altLang="ja-JP" sz="1000" dirty="0">
                <a:latin typeface="Noto Sans JP" panose="020B0200000000000000" pitchFamily="50" charset="-128"/>
                <a:ea typeface="Noto Sans JP" panose="020B0200000000000000" pitchFamily="50" charset="-128"/>
                <a:cs typeface="Segoe UI Semibold" panose="020B0702040204020203" pitchFamily="34" charset="0"/>
              </a:rPr>
              <a:t> HUB </a:t>
            </a:r>
            <a:r>
              <a:rPr lang="ja-JP" altLang="en-US" sz="1000" dirty="0">
                <a:latin typeface="Noto Sans JP" panose="020B0200000000000000" pitchFamily="50" charset="-128"/>
                <a:ea typeface="Noto Sans JP" panose="020B0200000000000000" pitchFamily="50" charset="-128"/>
                <a:cs typeface="Segoe UI Semibold" panose="020B0702040204020203" pitchFamily="34" charset="0"/>
              </a:rPr>
              <a:t>は</a:t>
            </a:r>
            <a:r>
              <a:rPr lang="en-US" altLang="ja-JP" sz="1000" dirty="0">
                <a:latin typeface="Noto Sans JP" panose="020B0200000000000000" pitchFamily="50" charset="-128"/>
                <a:ea typeface="Noto Sans JP" panose="020B0200000000000000" pitchFamily="50" charset="-128"/>
              </a:rPr>
              <a:t>Makerworld</a:t>
            </a:r>
            <a:r>
              <a:rPr lang="ja-JP" altLang="ja-JP" sz="1000" dirty="0">
                <a:latin typeface="Noto Sans JP" panose="020B0200000000000000" pitchFamily="50" charset="-128"/>
                <a:ea typeface="Noto Sans JP" panose="020B0200000000000000" pitchFamily="50" charset="-128"/>
              </a:rPr>
              <a:t>における全てのシリーズや外部ポータルへの入口です。</a:t>
            </a:r>
            <a:r>
              <a:rPr lang="ja-JP" altLang="ja-JP" sz="1000" b="1" dirty="0">
                <a:latin typeface="Noto Sans JP" panose="020B0200000000000000" pitchFamily="50" charset="-128"/>
                <a:ea typeface="Noto Sans JP" panose="020B0200000000000000" pitchFamily="50" charset="-128"/>
              </a:rPr>
              <a:t>迷ったらまずここを開いてください。</a:t>
            </a:r>
            <a:endParaRPr lang="ja-JP" altLang="ja-JP" sz="1000" dirty="0">
              <a:latin typeface="Noto Sans JP" panose="020B0200000000000000" pitchFamily="50" charset="-128"/>
              <a:ea typeface="Noto Sans JP" panose="020B0200000000000000" pitchFamily="50" charset="-128"/>
            </a:endParaRPr>
          </a:p>
          <a:p>
            <a:endParaRPr kumimoji="1" lang="ja-JP" altLang="en-US" sz="1000" b="1" dirty="0">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4D996D7-A429-06AB-472B-918F3FE2BDA4}"/>
              </a:ext>
            </a:extLst>
          </p:cNvPr>
          <p:cNvSpPr txBox="1"/>
          <p:nvPr/>
        </p:nvSpPr>
        <p:spPr>
          <a:xfrm>
            <a:off x="770844" y="2440080"/>
            <a:ext cx="2121093" cy="400110"/>
          </a:xfrm>
          <a:prstGeom prst="rect">
            <a:avLst/>
          </a:prstGeom>
          <a:noFill/>
        </p:spPr>
        <p:txBody>
          <a:bodyPr wrap="none" rtlCol="0">
            <a:spAutoFit/>
          </a:bodyPr>
          <a:lstStyle/>
          <a:p>
            <a:r>
              <a:rPr lang="en-US" altLang="ja-JP" sz="2000" dirty="0">
                <a:latin typeface="Noto Sans JP" panose="020B0200000000000000" pitchFamily="50" charset="-128"/>
                <a:ea typeface="Noto Sans JP" panose="020B0200000000000000" pitchFamily="50" charset="-128"/>
              </a:rPr>
              <a:t>4. </a:t>
            </a:r>
            <a:r>
              <a:rPr lang="en-US" altLang="ja-JP" sz="2000" dirty="0">
                <a:latin typeface="Jost Medium" pitchFamily="2" charset="0"/>
                <a:ea typeface="Jost Medium" pitchFamily="2" charset="0"/>
              </a:rPr>
              <a:t>Blend Filament</a:t>
            </a:r>
            <a:endParaRPr kumimoji="1" lang="ja-JP" altLang="en-US" sz="2800" b="1" dirty="0">
              <a:latin typeface="Jost Medium" pitchFamily="2" charset="0"/>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3C8BEF3A-1884-9207-7FE4-FA22308B2031}"/>
              </a:ext>
            </a:extLst>
          </p:cNvPr>
          <p:cNvSpPr txBox="1"/>
          <p:nvPr/>
        </p:nvSpPr>
        <p:spPr>
          <a:xfrm>
            <a:off x="668509" y="2819731"/>
            <a:ext cx="5642222" cy="1246495"/>
          </a:xfrm>
          <a:prstGeom prst="rect">
            <a:avLst/>
          </a:prstGeom>
          <a:noFill/>
        </p:spPr>
        <p:txBody>
          <a:bodyPr wrap="square" rtlCol="0">
            <a:spAutoFit/>
          </a:bodyPr>
          <a:lstStyle/>
          <a:p>
            <a:r>
              <a:rPr lang="en-US" altLang="ja-JP" sz="1000" dirty="0">
                <a:latin typeface="Jost Medium" pitchFamily="2" charset="0"/>
                <a:ea typeface="Jost Medium" pitchFamily="2" charset="0"/>
              </a:rPr>
              <a:t>Blend Filament</a:t>
            </a:r>
            <a:r>
              <a:rPr lang="ja-JP" altLang="ja-JP" sz="1000" dirty="0">
                <a:latin typeface="Noto Sans JP" panose="020B0200000000000000" pitchFamily="50" charset="-128"/>
                <a:ea typeface="Noto Sans JP" panose="020B0200000000000000" pitchFamily="50" charset="-128"/>
              </a:rPr>
              <a:t>シリーズは</a:t>
            </a:r>
            <a:r>
              <a:rPr lang="en-US" altLang="ja-JP" sz="1000" dirty="0">
                <a:latin typeface="Jost SemiBold" pitchFamily="2" charset="0"/>
                <a:ea typeface="Jost SemiBold" pitchFamily="2" charset="0"/>
              </a:rPr>
              <a:t>FlexChroma</a:t>
            </a:r>
            <a:r>
              <a:rPr lang="ja-JP" altLang="ja-JP" sz="1000" dirty="0">
                <a:latin typeface="Noto Sans JP" panose="020B0200000000000000" pitchFamily="50" charset="-128"/>
                <a:ea typeface="Noto Sans JP" panose="020B0200000000000000" pitchFamily="50" charset="-128"/>
              </a:rPr>
              <a:t>の最も基礎的なシリーズです。</a:t>
            </a:r>
            <a:r>
              <a:rPr lang="en-US" altLang="ja-JP" sz="1000" dirty="0">
                <a:latin typeface="Noto Sans JP" panose="020B0200000000000000" pitchFamily="50" charset="-128"/>
                <a:ea typeface="Noto Sans JP" panose="020B0200000000000000" pitchFamily="50" charset="-128"/>
              </a:rPr>
              <a:t>2</a:t>
            </a:r>
            <a:r>
              <a:rPr lang="ja-JP" altLang="ja-JP" sz="1000" dirty="0">
                <a:latin typeface="Noto Sans JP" panose="020B0200000000000000" pitchFamily="50" charset="-128"/>
                <a:ea typeface="Noto Sans JP" panose="020B0200000000000000" pitchFamily="50" charset="-128"/>
              </a:rPr>
              <a:t>つのフィラメントを様々な混合比で混ぜ合わせ、あなただけの新しい色を作ることが出来ます。各モデルは</a:t>
            </a:r>
            <a:r>
              <a:rPr lang="en-US" altLang="ja-JP" sz="1000" dirty="0">
                <a:latin typeface="Noto Sans JP" panose="020B0200000000000000" pitchFamily="50" charset="-128"/>
                <a:ea typeface="Noto Sans JP" panose="020B0200000000000000" pitchFamily="50" charset="-128"/>
              </a:rPr>
              <a:t>50</a:t>
            </a:r>
            <a:r>
              <a:rPr lang="ja-JP" altLang="ja-JP" sz="1000" dirty="0">
                <a:latin typeface="Noto Sans JP" panose="020B0200000000000000" pitchFamily="50" charset="-128"/>
                <a:ea typeface="Noto Sans JP" panose="020B0200000000000000" pitchFamily="50" charset="-128"/>
              </a:rPr>
              <a:t>％～</a:t>
            </a:r>
            <a:r>
              <a:rPr lang="en-US" altLang="ja-JP" sz="1000" dirty="0">
                <a:latin typeface="Noto Sans JP" panose="020B0200000000000000" pitchFamily="50" charset="-128"/>
                <a:ea typeface="Noto Sans JP" panose="020B0200000000000000" pitchFamily="50" charset="-128"/>
              </a:rPr>
              <a:t>99.5%</a:t>
            </a:r>
            <a:r>
              <a:rPr lang="ja-JP" altLang="ja-JP" sz="1000" dirty="0">
                <a:latin typeface="Noto Sans JP" panose="020B0200000000000000" pitchFamily="50" charset="-128"/>
                <a:ea typeface="Noto Sans JP" panose="020B0200000000000000" pitchFamily="50" charset="-128"/>
              </a:rPr>
              <a:t>までの混色比</a:t>
            </a:r>
            <a:r>
              <a:rPr lang="en-US" altLang="ja-JP" sz="1000" dirty="0">
                <a:latin typeface="Noto Sans JP" panose="020B0200000000000000" pitchFamily="50" charset="-128"/>
                <a:ea typeface="Noto Sans JP" panose="020B0200000000000000" pitchFamily="50" charset="-128"/>
              </a:rPr>
              <a:t>Profile</a:t>
            </a:r>
            <a:r>
              <a:rPr lang="ja-JP" altLang="ja-JP" sz="1000" dirty="0">
                <a:latin typeface="Noto Sans JP" panose="020B0200000000000000" pitchFamily="50" charset="-128"/>
                <a:ea typeface="Noto Sans JP" panose="020B0200000000000000" pitchFamily="50" charset="-128"/>
              </a:rPr>
              <a:t>をもっていますが、</a:t>
            </a:r>
            <a:r>
              <a:rPr lang="en-US" altLang="ja-JP" sz="1000" b="1" dirty="0">
                <a:latin typeface="Noto Sans JP" panose="020B0200000000000000" pitchFamily="50" charset="-128"/>
                <a:ea typeface="Noto Sans JP" panose="020B0200000000000000" pitchFamily="50" charset="-128"/>
              </a:rPr>
              <a:t>50</a:t>
            </a:r>
            <a:r>
              <a:rPr lang="ja-JP" altLang="ja-JP" sz="1000" b="1" dirty="0">
                <a:latin typeface="Noto Sans JP" panose="020B0200000000000000" pitchFamily="50" charset="-128"/>
                <a:ea typeface="Noto Sans JP" panose="020B0200000000000000" pitchFamily="50" charset="-128"/>
              </a:rPr>
              <a:t>％未満の混色比についてはフィラメント</a:t>
            </a:r>
            <a:r>
              <a:rPr lang="en-US" altLang="ja-JP" sz="1000" b="1" dirty="0">
                <a:latin typeface="Noto Sans JP" panose="020B0200000000000000" pitchFamily="50" charset="-128"/>
                <a:ea typeface="Noto Sans JP" panose="020B0200000000000000" pitchFamily="50" charset="-128"/>
              </a:rPr>
              <a:t>A/B</a:t>
            </a:r>
            <a:r>
              <a:rPr lang="ja-JP" altLang="ja-JP" sz="1000" b="1" dirty="0">
                <a:latin typeface="Noto Sans JP" panose="020B0200000000000000" pitchFamily="50" charset="-128"/>
                <a:ea typeface="Noto Sans JP" panose="020B0200000000000000" pitchFamily="50" charset="-128"/>
              </a:rPr>
              <a:t>を入れ替えることで得ることが出来ます。</a:t>
            </a:r>
            <a:endParaRPr lang="ja-JP" altLang="ja-JP" sz="500" dirty="0">
              <a:latin typeface="Noto Sans JP" panose="020B0200000000000000" pitchFamily="50" charset="-128"/>
              <a:ea typeface="Noto Sans JP" panose="020B0200000000000000" pitchFamily="50" charset="-128"/>
            </a:endParaRPr>
          </a:p>
          <a:p>
            <a:r>
              <a:rPr lang="en-US" altLang="ja-JP" sz="500" dirty="0">
                <a:latin typeface="Noto Sans JP" panose="020B0200000000000000" pitchFamily="50" charset="-128"/>
                <a:ea typeface="Noto Sans JP" panose="020B0200000000000000" pitchFamily="50" charset="-128"/>
              </a:rPr>
              <a:t> </a:t>
            </a:r>
            <a:endParaRPr lang="ja-JP" altLang="ja-JP" sz="500" dirty="0">
              <a:latin typeface="Noto Sans JP" panose="020B0200000000000000" pitchFamily="50" charset="-128"/>
              <a:ea typeface="Noto Sans JP" panose="020B0200000000000000" pitchFamily="50" charset="-128"/>
            </a:endParaRPr>
          </a:p>
          <a:p>
            <a:r>
              <a:rPr lang="ja-JP" altLang="ja-JP" sz="1000" dirty="0">
                <a:latin typeface="Noto Sans JP" panose="020B0200000000000000" pitchFamily="50" charset="-128"/>
                <a:ea typeface="Noto Sans JP" panose="020B0200000000000000" pitchFamily="50" charset="-128"/>
              </a:rPr>
              <a:t>以下はイエローにシアンを</a:t>
            </a:r>
            <a:r>
              <a:rPr lang="en-US" altLang="ja-JP" sz="1000" dirty="0">
                <a:latin typeface="Noto Sans JP" panose="020B0200000000000000" pitchFamily="50" charset="-128"/>
                <a:ea typeface="Noto Sans JP" panose="020B0200000000000000" pitchFamily="50" charset="-128"/>
              </a:rPr>
              <a:t>25%</a:t>
            </a:r>
            <a:r>
              <a:rPr lang="ja-JP" altLang="ja-JP" sz="1000" dirty="0">
                <a:latin typeface="Noto Sans JP" panose="020B0200000000000000" pitchFamily="50" charset="-128"/>
                <a:ea typeface="Noto Sans JP" panose="020B0200000000000000" pitchFamily="50" charset="-128"/>
              </a:rPr>
              <a:t>混ぜた</a:t>
            </a:r>
            <a:r>
              <a:rPr lang="en-US" altLang="ja-JP" sz="1000" dirty="0">
                <a:latin typeface="Jost Medium" pitchFamily="2" charset="0"/>
                <a:ea typeface="Jost Medium" pitchFamily="2" charset="0"/>
              </a:rPr>
              <a:t>Blend Filament</a:t>
            </a:r>
            <a:r>
              <a:rPr lang="ja-JP" altLang="ja-JP" sz="1000" dirty="0">
                <a:latin typeface="Noto Sans JP" panose="020B0200000000000000" pitchFamily="50" charset="-128"/>
                <a:ea typeface="Noto Sans JP" panose="020B0200000000000000" pitchFamily="50" charset="-128"/>
              </a:rPr>
              <a:t>を作る場合の例です。</a:t>
            </a:r>
          </a:p>
          <a:p>
            <a:r>
              <a:rPr lang="en-US" altLang="ja-JP" sz="1000" dirty="0">
                <a:latin typeface="Noto Sans JP" panose="020B0200000000000000" pitchFamily="50" charset="-128"/>
                <a:ea typeface="Noto Sans JP" panose="020B0200000000000000" pitchFamily="50" charset="-128"/>
              </a:rPr>
              <a:t>Plate</a:t>
            </a:r>
            <a:r>
              <a:rPr lang="ja-JP" altLang="ja-JP" sz="1000" dirty="0">
                <a:latin typeface="Noto Sans JP" panose="020B0200000000000000" pitchFamily="50" charset="-128"/>
                <a:ea typeface="Noto Sans JP" panose="020B0200000000000000" pitchFamily="50" charset="-128"/>
              </a:rPr>
              <a:t>に記載されている数値はフィラメント</a:t>
            </a:r>
            <a:r>
              <a:rPr lang="en-US" altLang="ja-JP" sz="1000" dirty="0">
                <a:latin typeface="Noto Sans JP" panose="020B0200000000000000" pitchFamily="50" charset="-128"/>
                <a:ea typeface="Noto Sans JP" panose="020B0200000000000000" pitchFamily="50" charset="-128"/>
              </a:rPr>
              <a:t>A</a:t>
            </a:r>
            <a:r>
              <a:rPr lang="ja-JP" altLang="ja-JP" sz="1000" dirty="0">
                <a:latin typeface="Noto Sans JP" panose="020B0200000000000000" pitchFamily="50" charset="-128"/>
                <a:ea typeface="Noto Sans JP" panose="020B0200000000000000" pitchFamily="50" charset="-128"/>
              </a:rPr>
              <a:t>の割合です。そのためこの例ではイエローを</a:t>
            </a:r>
            <a:r>
              <a:rPr lang="en-US" altLang="ja-JP" sz="1000" dirty="0">
                <a:latin typeface="Noto Sans JP" panose="020B0200000000000000" pitchFamily="50" charset="-128"/>
                <a:ea typeface="Noto Sans JP" panose="020B0200000000000000" pitchFamily="50" charset="-128"/>
              </a:rPr>
              <a:t>75%</a:t>
            </a:r>
            <a:r>
              <a:rPr lang="ja-JP" altLang="ja-JP" sz="1000" dirty="0">
                <a:latin typeface="Noto Sans JP" panose="020B0200000000000000" pitchFamily="50" charset="-128"/>
                <a:ea typeface="Noto Sans JP" panose="020B0200000000000000" pitchFamily="50" charset="-128"/>
              </a:rPr>
              <a:t>にすると読み替えて、スライスまでのの設定を選びます。</a:t>
            </a:r>
          </a:p>
        </p:txBody>
      </p:sp>
      <p:sp>
        <p:nvSpPr>
          <p:cNvPr id="24" name="テキスト ボックス 23">
            <a:extLst>
              <a:ext uri="{FF2B5EF4-FFF2-40B4-BE49-F238E27FC236}">
                <a16:creationId xmlns:a16="http://schemas.microsoft.com/office/drawing/2014/main" id="{C34B2F4F-604C-0D9F-C4C3-DA2240DF3352}"/>
              </a:ext>
            </a:extLst>
          </p:cNvPr>
          <p:cNvSpPr txBox="1"/>
          <p:nvPr/>
        </p:nvSpPr>
        <p:spPr>
          <a:xfrm>
            <a:off x="668508" y="5140572"/>
            <a:ext cx="5642222" cy="246221"/>
          </a:xfrm>
          <a:prstGeom prst="rect">
            <a:avLst/>
          </a:prstGeom>
          <a:noFill/>
        </p:spPr>
        <p:txBody>
          <a:bodyPr wrap="square" rtlCol="0">
            <a:spAutoFit/>
          </a:bodyPr>
          <a:lstStyle/>
          <a:p>
            <a:r>
              <a:rPr lang="ja-JP" altLang="ja-JP" sz="1000" dirty="0">
                <a:latin typeface="Noto Sans JP" panose="020B0200000000000000" pitchFamily="50" charset="-128"/>
                <a:ea typeface="Noto Sans JP" panose="020B0200000000000000" pitchFamily="50" charset="-128"/>
              </a:rPr>
              <a:t>以下は</a:t>
            </a:r>
            <a:r>
              <a:rPr lang="en-US" altLang="ja-JP" sz="1000" dirty="0">
                <a:latin typeface="Jost Medium" pitchFamily="2" charset="0"/>
                <a:ea typeface="Jost Medium" pitchFamily="2" charset="0"/>
              </a:rPr>
              <a:t>Blend Filament</a:t>
            </a:r>
            <a:r>
              <a:rPr lang="ja-JP" altLang="ja-JP" sz="1000" dirty="0">
                <a:latin typeface="Noto Sans JP" panose="020B0200000000000000" pitchFamily="50" charset="-128"/>
                <a:ea typeface="Noto Sans JP" panose="020B0200000000000000" pitchFamily="50" charset="-128"/>
              </a:rPr>
              <a:t>のモデル構成です。</a:t>
            </a:r>
          </a:p>
        </p:txBody>
      </p:sp>
      <p:pic>
        <p:nvPicPr>
          <p:cNvPr id="4" name="図 3">
            <a:extLst>
              <a:ext uri="{FF2B5EF4-FFF2-40B4-BE49-F238E27FC236}">
                <a16:creationId xmlns:a16="http://schemas.microsoft.com/office/drawing/2014/main" id="{3A35EDBF-2032-6F73-A0B3-50556ACA24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6197" y="1361056"/>
            <a:ext cx="4265606" cy="950089"/>
          </a:xfrm>
          <a:prstGeom prst="rect">
            <a:avLst/>
          </a:prstGeom>
          <a:noFill/>
          <a:extLst>
            <a:ext uri="{909E8E84-426E-40DD-AFC4-6F175D3DCCD1}">
              <a14:hiddenFill xmlns:a14="http://schemas.microsoft.com/office/drawing/2010/main">
                <a:solidFill>
                  <a:srgbClr val="FFFFFF"/>
                </a:solidFill>
              </a14:hiddenFill>
            </a:ext>
          </a:extLst>
        </p:spPr>
      </p:pic>
      <p:pic>
        <p:nvPicPr>
          <p:cNvPr id="18" name="図 17">
            <a:extLst>
              <a:ext uri="{FF2B5EF4-FFF2-40B4-BE49-F238E27FC236}">
                <a16:creationId xmlns:a16="http://schemas.microsoft.com/office/drawing/2014/main" id="{068E1BF2-0F0C-A6EA-988F-1A1F5C5022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001" y="4143910"/>
            <a:ext cx="5770728" cy="896109"/>
          </a:xfrm>
          <a:prstGeom prst="rect">
            <a:avLst/>
          </a:prstGeom>
          <a:noFill/>
          <a:extLst>
            <a:ext uri="{909E8E84-426E-40DD-AFC4-6F175D3DCCD1}">
              <a14:hiddenFill xmlns:a14="http://schemas.microsoft.com/office/drawing/2010/main">
                <a:solidFill>
                  <a:srgbClr val="FFFFFF"/>
                </a:solidFill>
              </a14:hiddenFill>
            </a:ext>
          </a:extLst>
        </p:spPr>
      </p:pic>
      <p:pic>
        <p:nvPicPr>
          <p:cNvPr id="19" name="図 18">
            <a:extLst>
              <a:ext uri="{FF2B5EF4-FFF2-40B4-BE49-F238E27FC236}">
                <a16:creationId xmlns:a16="http://schemas.microsoft.com/office/drawing/2014/main" id="{5C8507FC-72B4-D378-89EE-D4678AD114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7406" y="5388956"/>
            <a:ext cx="4755986" cy="3130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689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E49F0-4E14-4124-2C37-FD7EEF60C57F}"/>
            </a:ext>
          </a:extLst>
        </p:cNvPr>
        <p:cNvGrpSpPr/>
        <p:nvPr/>
      </p:nvGrpSpPr>
      <p:grpSpPr>
        <a:xfrm>
          <a:off x="0" y="0"/>
          <a:ext cx="0" cy="0"/>
          <a:chOff x="0" y="0"/>
          <a:chExt cx="0" cy="0"/>
        </a:xfrm>
      </p:grpSpPr>
      <p:sp>
        <p:nvSpPr>
          <p:cNvPr id="30" name="正方形/長方形 29">
            <a:extLst>
              <a:ext uri="{FF2B5EF4-FFF2-40B4-BE49-F238E27FC236}">
                <a16:creationId xmlns:a16="http://schemas.microsoft.com/office/drawing/2014/main" id="{F6CB7543-FA8D-9CA3-B395-363588AF9048}"/>
              </a:ext>
            </a:extLst>
          </p:cNvPr>
          <p:cNvSpPr/>
          <p:nvPr/>
        </p:nvSpPr>
        <p:spPr>
          <a:xfrm>
            <a:off x="51086" y="45268"/>
            <a:ext cx="6790099" cy="9053465"/>
          </a:xfrm>
          <a:prstGeom prst="rect">
            <a:avLst/>
          </a:prstGeom>
          <a:gradFill>
            <a:gsLst>
              <a:gs pos="50000">
                <a:srgbClr val="6200E8"/>
              </a:gs>
              <a:gs pos="10000">
                <a:srgbClr val="EE00B0"/>
              </a:gs>
              <a:gs pos="90000">
                <a:srgbClr val="0095E5"/>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2" name="フリーフォーム: 図形 21">
            <a:extLst>
              <a:ext uri="{FF2B5EF4-FFF2-40B4-BE49-F238E27FC236}">
                <a16:creationId xmlns:a16="http://schemas.microsoft.com/office/drawing/2014/main" id="{23DAF22F-9111-F776-9F40-B16F5FE4B2B6}"/>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31632 w 6858000"/>
              <a:gd name="csY8" fmla="*/ 7880006 h 9144000"/>
              <a:gd name="csX9" fmla="*/ 529297 w 6858000"/>
              <a:gd name="csY9" fmla="*/ 7982341 h 9144000"/>
              <a:gd name="csX10" fmla="*/ 631632 w 6858000"/>
              <a:gd name="csY10" fmla="*/ 8084676 h 9144000"/>
              <a:gd name="csX11" fmla="*/ 733967 w 6858000"/>
              <a:gd name="csY11" fmla="*/ 7982341 h 9144000"/>
              <a:gd name="csX12" fmla="*/ 631632 w 6858000"/>
              <a:gd name="csY12" fmla="*/ 7880006 h 9144000"/>
              <a:gd name="csX13" fmla="*/ 651459 w 6858000"/>
              <a:gd name="csY13" fmla="*/ 672371 h 9144000"/>
              <a:gd name="csX14" fmla="*/ 549124 w 6858000"/>
              <a:gd name="csY14" fmla="*/ 774706 h 9144000"/>
              <a:gd name="csX15" fmla="*/ 651459 w 6858000"/>
              <a:gd name="csY15" fmla="*/ 877041 h 9144000"/>
              <a:gd name="csX16" fmla="*/ 753794 w 6858000"/>
              <a:gd name="csY16" fmla="*/ 774706 h 9144000"/>
              <a:gd name="csX17" fmla="*/ 651459 w 6858000"/>
              <a:gd name="csY17" fmla="*/ 672371 h 9144000"/>
              <a:gd name="csX18" fmla="*/ 537486 w 6858000"/>
              <a:gd name="csY18" fmla="*/ 434745 h 9144000"/>
              <a:gd name="csX19" fmla="*/ 537486 w 6858000"/>
              <a:gd name="csY19" fmla="*/ 488745 h 9144000"/>
              <a:gd name="csX20" fmla="*/ 6293679 w 6858000"/>
              <a:gd name="csY20" fmla="*/ 488745 h 9144000"/>
              <a:gd name="csX21" fmla="*/ 6293679 w 6858000"/>
              <a:gd name="csY21" fmla="*/ 434745 h 9144000"/>
              <a:gd name="csX22" fmla="*/ 0 w 6858000"/>
              <a:gd name="csY22" fmla="*/ 0 h 9144000"/>
              <a:gd name="csX23" fmla="*/ 6858000 w 6858000"/>
              <a:gd name="csY23" fmla="*/ 0 h 9144000"/>
              <a:gd name="csX24" fmla="*/ 6858000 w 6858000"/>
              <a:gd name="csY24" fmla="*/ 9144000 h 9144000"/>
              <a:gd name="csX25" fmla="*/ 0 w 6858000"/>
              <a:gd name="csY2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31632" y="7880006"/>
                </a:moveTo>
                <a:cubicBezTo>
                  <a:pt x="575114" y="7880006"/>
                  <a:pt x="529297" y="7925823"/>
                  <a:pt x="529297" y="7982341"/>
                </a:cubicBezTo>
                <a:cubicBezTo>
                  <a:pt x="529297" y="8038859"/>
                  <a:pt x="575114" y="8084676"/>
                  <a:pt x="631632" y="8084676"/>
                </a:cubicBezTo>
                <a:cubicBezTo>
                  <a:pt x="688150" y="8084676"/>
                  <a:pt x="733967" y="8038859"/>
                  <a:pt x="733967" y="7982341"/>
                </a:cubicBezTo>
                <a:cubicBezTo>
                  <a:pt x="733967" y="7925823"/>
                  <a:pt x="688150" y="7880006"/>
                  <a:pt x="631632" y="7880006"/>
                </a:cubicBezTo>
                <a:close/>
                <a:moveTo>
                  <a:pt x="651459" y="672371"/>
                </a:moveTo>
                <a:cubicBezTo>
                  <a:pt x="594941" y="672371"/>
                  <a:pt x="549124" y="718188"/>
                  <a:pt x="549124" y="774706"/>
                </a:cubicBezTo>
                <a:cubicBezTo>
                  <a:pt x="549124" y="831224"/>
                  <a:pt x="594941" y="877041"/>
                  <a:pt x="651459" y="877041"/>
                </a:cubicBezTo>
                <a:cubicBezTo>
                  <a:pt x="707977" y="877041"/>
                  <a:pt x="753794" y="831224"/>
                  <a:pt x="753794" y="774706"/>
                </a:cubicBezTo>
                <a:cubicBezTo>
                  <a:pt x="753794" y="718188"/>
                  <a:pt x="707977" y="672371"/>
                  <a:pt x="651459" y="672371"/>
                </a:cubicBezTo>
                <a:close/>
                <a:moveTo>
                  <a:pt x="537486" y="434745"/>
                </a:moveTo>
                <a:lnTo>
                  <a:pt x="537486" y="488745"/>
                </a:lnTo>
                <a:lnTo>
                  <a:pt x="6293679" y="488745"/>
                </a:lnTo>
                <a:lnTo>
                  <a:pt x="6293679" y="434745"/>
                </a:lnTo>
                <a:close/>
                <a:moveTo>
                  <a:pt x="0" y="0"/>
                </a:moveTo>
                <a:lnTo>
                  <a:pt x="6858000" y="0"/>
                </a:lnTo>
                <a:lnTo>
                  <a:pt x="6858000" y="9144000"/>
                </a:lnTo>
                <a:lnTo>
                  <a:pt x="0" y="914400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a:p>
        </p:txBody>
      </p:sp>
      <p:sp>
        <p:nvSpPr>
          <p:cNvPr id="17" name="テキスト ボックス 16">
            <a:extLst>
              <a:ext uri="{FF2B5EF4-FFF2-40B4-BE49-F238E27FC236}">
                <a16:creationId xmlns:a16="http://schemas.microsoft.com/office/drawing/2014/main" id="{EE5A2E7B-CDB5-7CF7-BEEC-F31AF643A440}"/>
              </a:ext>
            </a:extLst>
          </p:cNvPr>
          <p:cNvSpPr txBox="1"/>
          <p:nvPr/>
        </p:nvSpPr>
        <p:spPr>
          <a:xfrm>
            <a:off x="3139442" y="8511531"/>
            <a:ext cx="575734" cy="369332"/>
          </a:xfrm>
          <a:prstGeom prst="rect">
            <a:avLst/>
          </a:prstGeom>
          <a:noFill/>
        </p:spPr>
        <p:txBody>
          <a:bodyPr wrap="square" rtlCol="0" anchor="ctr">
            <a:spAutoFit/>
          </a:bodyPr>
          <a:lstStyle/>
          <a:p>
            <a:pPr algn="ctr"/>
            <a:r>
              <a:rPr kumimoji="1" lang="en-US" altLang="ja-JP" dirty="0">
                <a:latin typeface="Noto Sans JP" panose="020B0200000000000000" pitchFamily="50" charset="-128"/>
                <a:ea typeface="Noto Sans JP" panose="020B0200000000000000" pitchFamily="50" charset="-128"/>
              </a:rPr>
              <a:t>3</a:t>
            </a:r>
            <a:endParaRPr kumimoji="1" lang="ja-JP" altLang="en-US" dirty="0">
              <a:latin typeface="Noto Sans JP" panose="020B0200000000000000" pitchFamily="50" charset="-128"/>
              <a:ea typeface="Noto Sans JP" panose="020B0200000000000000" pitchFamily="50" charset="-128"/>
            </a:endParaRPr>
          </a:p>
        </p:txBody>
      </p:sp>
      <p:sp>
        <p:nvSpPr>
          <p:cNvPr id="31" name="テキスト ボックス 30">
            <a:extLst>
              <a:ext uri="{FF2B5EF4-FFF2-40B4-BE49-F238E27FC236}">
                <a16:creationId xmlns:a16="http://schemas.microsoft.com/office/drawing/2014/main" id="{578DD8AD-53FD-B3B5-B19E-3509563D43D3}"/>
              </a:ext>
            </a:extLst>
          </p:cNvPr>
          <p:cNvSpPr txBox="1"/>
          <p:nvPr/>
        </p:nvSpPr>
        <p:spPr>
          <a:xfrm>
            <a:off x="770844" y="610017"/>
            <a:ext cx="2470548" cy="400110"/>
          </a:xfrm>
          <a:prstGeom prst="rect">
            <a:avLst/>
          </a:prstGeom>
          <a:noFill/>
        </p:spPr>
        <p:txBody>
          <a:bodyPr wrap="none" rtlCol="0">
            <a:spAutoFit/>
          </a:bodyPr>
          <a:lstStyle/>
          <a:p>
            <a:r>
              <a:rPr lang="en-US" altLang="ja-JP" sz="2000" dirty="0">
                <a:latin typeface="Noto Sans JP" panose="020B0200000000000000" pitchFamily="50" charset="-128"/>
                <a:ea typeface="Noto Sans JP" panose="020B0200000000000000" pitchFamily="50" charset="-128"/>
              </a:rPr>
              <a:t>5. </a:t>
            </a:r>
            <a:r>
              <a:rPr lang="en-US" altLang="ja-JP" sz="2000" dirty="0">
                <a:latin typeface="Jost Medium" pitchFamily="2" charset="0"/>
                <a:ea typeface="Jost Medium" pitchFamily="2" charset="0"/>
              </a:rPr>
              <a:t>Gradient Filament</a:t>
            </a:r>
            <a:endParaRPr kumimoji="1" lang="ja-JP" altLang="en-US" sz="2400" b="1" dirty="0">
              <a:latin typeface="Jost Medium" pitchFamily="2" charset="0"/>
              <a:ea typeface="Noto Sans JP" panose="020B0200000000000000" pitchFamily="50" charset="-128"/>
            </a:endParaRPr>
          </a:p>
        </p:txBody>
      </p:sp>
      <p:sp>
        <p:nvSpPr>
          <p:cNvPr id="32" name="テキスト ボックス 31">
            <a:extLst>
              <a:ext uri="{FF2B5EF4-FFF2-40B4-BE49-F238E27FC236}">
                <a16:creationId xmlns:a16="http://schemas.microsoft.com/office/drawing/2014/main" id="{C793806D-EAB2-B8AB-602D-BD049320D758}"/>
              </a:ext>
            </a:extLst>
          </p:cNvPr>
          <p:cNvSpPr txBox="1"/>
          <p:nvPr/>
        </p:nvSpPr>
        <p:spPr>
          <a:xfrm>
            <a:off x="668508" y="968409"/>
            <a:ext cx="5649491" cy="1661993"/>
          </a:xfrm>
          <a:prstGeom prst="rect">
            <a:avLst/>
          </a:prstGeom>
          <a:noFill/>
        </p:spPr>
        <p:txBody>
          <a:bodyPr wrap="square" rtlCol="0">
            <a:spAutoFit/>
          </a:bodyPr>
          <a:lstStyle/>
          <a:p>
            <a:r>
              <a:rPr lang="en-US" altLang="ja-JP" sz="1000" dirty="0">
                <a:latin typeface="Jost Medium" pitchFamily="2" charset="0"/>
                <a:ea typeface="Jost Medium" pitchFamily="2" charset="0"/>
              </a:rPr>
              <a:t>Gradient Filament</a:t>
            </a:r>
            <a:r>
              <a:rPr lang="ja-JP" altLang="ja-JP" sz="1000" dirty="0">
                <a:latin typeface="Noto Sans JP" panose="020B0200000000000000" pitchFamily="50" charset="-128"/>
                <a:ea typeface="Noto Sans JP" panose="020B0200000000000000" pitchFamily="50" charset="-128"/>
              </a:rPr>
              <a:t>シリーズは色の組み合わせに合わせた複数のカーブ</a:t>
            </a:r>
            <a:r>
              <a:rPr lang="en-US" altLang="ja-JP" sz="1000" dirty="0">
                <a:latin typeface="Noto Sans JP" panose="020B0200000000000000" pitchFamily="50" charset="-128"/>
                <a:ea typeface="Noto Sans JP" panose="020B0200000000000000" pitchFamily="50" charset="-128"/>
              </a:rPr>
              <a:t>Profile</a:t>
            </a:r>
            <a:r>
              <a:rPr lang="ja-JP" altLang="ja-JP" sz="1000" dirty="0">
                <a:latin typeface="Noto Sans JP" panose="020B0200000000000000" pitchFamily="50" charset="-128"/>
                <a:ea typeface="Noto Sans JP" panose="020B0200000000000000" pitchFamily="50" charset="-128"/>
              </a:rPr>
              <a:t>とプレートごとにサイクル数が違うモデルを持っています。詳細は各モデルの説明文をご確認ください。</a:t>
            </a:r>
          </a:p>
          <a:p>
            <a:r>
              <a:rPr lang="en-US" altLang="ja-JP" sz="600" dirty="0">
                <a:latin typeface="Noto Sans JP" panose="020B0200000000000000" pitchFamily="50" charset="-128"/>
                <a:ea typeface="Noto Sans JP" panose="020B0200000000000000" pitchFamily="50" charset="-128"/>
              </a:rPr>
              <a:t> </a:t>
            </a:r>
          </a:p>
          <a:p>
            <a:pPr marL="171450" indent="-171450">
              <a:buFont typeface="Arial" panose="020B0604020202020204" pitchFamily="34" charset="0"/>
              <a:buChar char="•"/>
            </a:pPr>
            <a:r>
              <a:rPr lang="ja-JP" altLang="ja-JP" sz="900" dirty="0">
                <a:latin typeface="Noto Sans JP" panose="020B0200000000000000" pitchFamily="50" charset="-128"/>
                <a:ea typeface="Noto Sans JP" panose="020B0200000000000000" pitchFamily="50" charset="-128"/>
              </a:rPr>
              <a:t>カラーカーブ：色の組み合わせに応じた設定。シアンとイエローならば</a:t>
            </a:r>
            <a:r>
              <a:rPr lang="en-US" altLang="ja-JP" sz="900" dirty="0">
                <a:latin typeface="Noto Sans JP" panose="020B0200000000000000" pitchFamily="50" charset="-128"/>
                <a:ea typeface="Noto Sans JP" panose="020B0200000000000000" pitchFamily="50" charset="-128"/>
              </a:rPr>
              <a:t>Vivid</a:t>
            </a:r>
            <a:r>
              <a:rPr lang="ja-JP" altLang="ja-JP" sz="900" dirty="0">
                <a:latin typeface="Noto Sans JP" panose="020B0200000000000000" pitchFamily="50" charset="-128"/>
                <a:ea typeface="Noto Sans JP" panose="020B0200000000000000" pitchFamily="50" charset="-128"/>
              </a:rPr>
              <a:t>、白とマゼンタならば</a:t>
            </a:r>
            <a:r>
              <a:rPr lang="en-US" altLang="ja-JP" sz="900" dirty="0">
                <a:latin typeface="Noto Sans JP" panose="020B0200000000000000" pitchFamily="50" charset="-128"/>
                <a:ea typeface="Noto Sans JP" panose="020B0200000000000000" pitchFamily="50" charset="-128"/>
              </a:rPr>
              <a:t>Contrast</a:t>
            </a:r>
            <a:r>
              <a:rPr lang="ja-JP" altLang="ja-JP" sz="900" dirty="0">
                <a:latin typeface="Noto Sans JP" panose="020B0200000000000000" pitchFamily="50" charset="-128"/>
                <a:ea typeface="Noto Sans JP" panose="020B0200000000000000" pitchFamily="50" charset="-128"/>
              </a:rPr>
              <a:t>と言う風に色に応じた最適なグラデーションを選ぶための項目。</a:t>
            </a:r>
          </a:p>
          <a:p>
            <a:pPr marL="171450" indent="-171450">
              <a:buFont typeface="Arial" panose="020B0604020202020204" pitchFamily="34" charset="0"/>
              <a:buChar char="•"/>
            </a:pPr>
            <a:r>
              <a:rPr lang="ja-JP" altLang="ja-JP" sz="900" dirty="0">
                <a:latin typeface="Noto Sans JP" panose="020B0200000000000000" pitchFamily="50" charset="-128"/>
                <a:ea typeface="Noto Sans JP" panose="020B0200000000000000" pitchFamily="50" charset="-128"/>
              </a:rPr>
              <a:t>サイクル数：グラデーションの頻度を変える数。サイクル数はフィラメントが</a:t>
            </a:r>
            <a:r>
              <a:rPr lang="en-US" altLang="ja-JP" sz="900" dirty="0">
                <a:latin typeface="Noto Sans JP" panose="020B0200000000000000" pitchFamily="50" charset="-128"/>
                <a:ea typeface="Noto Sans JP" panose="020B0200000000000000" pitchFamily="50" charset="-128"/>
              </a:rPr>
              <a:t>A</a:t>
            </a:r>
            <a:r>
              <a:rPr lang="ja-JP" altLang="ja-JP" sz="900" dirty="0">
                <a:latin typeface="Noto Sans JP" panose="020B0200000000000000" pitchFamily="50" charset="-128"/>
                <a:ea typeface="Noto Sans JP" panose="020B0200000000000000" pitchFamily="50" charset="-128"/>
              </a:rPr>
              <a:t>→</a:t>
            </a:r>
            <a:r>
              <a:rPr lang="en-US" altLang="ja-JP" sz="900" dirty="0">
                <a:latin typeface="Noto Sans JP" panose="020B0200000000000000" pitchFamily="50" charset="-128"/>
                <a:ea typeface="Noto Sans JP" panose="020B0200000000000000" pitchFamily="50" charset="-128"/>
              </a:rPr>
              <a:t>B</a:t>
            </a:r>
            <a:r>
              <a:rPr lang="ja-JP" altLang="ja-JP" sz="900" dirty="0">
                <a:latin typeface="Noto Sans JP" panose="020B0200000000000000" pitchFamily="50" charset="-128"/>
                <a:ea typeface="Noto Sans JP" panose="020B0200000000000000" pitchFamily="50" charset="-128"/>
              </a:rPr>
              <a:t>→</a:t>
            </a:r>
            <a:r>
              <a:rPr lang="en-US" altLang="ja-JP" sz="900" dirty="0">
                <a:latin typeface="Noto Sans JP" panose="020B0200000000000000" pitchFamily="50" charset="-128"/>
                <a:ea typeface="Noto Sans JP" panose="020B0200000000000000" pitchFamily="50" charset="-128"/>
              </a:rPr>
              <a:t>A</a:t>
            </a:r>
            <a:r>
              <a:rPr lang="ja-JP" altLang="ja-JP" sz="900" dirty="0">
                <a:latin typeface="Noto Sans JP" panose="020B0200000000000000" pitchFamily="50" charset="-128"/>
                <a:ea typeface="Noto Sans JP" panose="020B0200000000000000" pitchFamily="50" charset="-128"/>
              </a:rPr>
              <a:t>と変化して戻ることを</a:t>
            </a:r>
            <a:r>
              <a:rPr lang="en-US" altLang="ja-JP" sz="900" dirty="0">
                <a:latin typeface="Noto Sans JP" panose="020B0200000000000000" pitchFamily="50" charset="-128"/>
                <a:ea typeface="Noto Sans JP" panose="020B0200000000000000" pitchFamily="50" charset="-128"/>
              </a:rPr>
              <a:t>1</a:t>
            </a:r>
            <a:r>
              <a:rPr lang="ja-JP" altLang="ja-JP" sz="900" dirty="0">
                <a:latin typeface="Noto Sans JP" panose="020B0200000000000000" pitchFamily="50" charset="-128"/>
                <a:ea typeface="Noto Sans JP" panose="020B0200000000000000" pitchFamily="50" charset="-128"/>
              </a:rPr>
              <a:t>回と数える。</a:t>
            </a:r>
          </a:p>
          <a:p>
            <a:endParaRPr lang="ja-JP" altLang="ja-JP" sz="600" dirty="0">
              <a:latin typeface="Noto Sans JP" panose="020B0200000000000000" pitchFamily="50" charset="-128"/>
              <a:ea typeface="Noto Sans JP" panose="020B0200000000000000" pitchFamily="50" charset="-128"/>
            </a:endParaRPr>
          </a:p>
          <a:p>
            <a:r>
              <a:rPr lang="ja-JP" altLang="ja-JP" sz="1000" dirty="0">
                <a:latin typeface="Noto Sans JP" panose="020B0200000000000000" pitchFamily="50" charset="-128"/>
                <a:ea typeface="Noto Sans JP" panose="020B0200000000000000" pitchFamily="50" charset="-128"/>
              </a:rPr>
              <a:t>以下はシアンとマゼンタの速い周期の</a:t>
            </a:r>
            <a:r>
              <a:rPr lang="en-US" altLang="ja-JP" sz="1000" dirty="0">
                <a:latin typeface="Jost Medium" pitchFamily="2" charset="0"/>
                <a:ea typeface="Jost Medium" pitchFamily="2" charset="0"/>
              </a:rPr>
              <a:t>Gradient Filament</a:t>
            </a:r>
            <a:r>
              <a:rPr lang="ja-JP" altLang="ja-JP" sz="1000" dirty="0">
                <a:latin typeface="Noto Sans JP" panose="020B0200000000000000" pitchFamily="50" charset="-128"/>
                <a:ea typeface="Noto Sans JP" panose="020B0200000000000000" pitchFamily="50" charset="-128"/>
              </a:rPr>
              <a:t>を作る場合の例です。</a:t>
            </a:r>
          </a:p>
          <a:p>
            <a:r>
              <a:rPr lang="ja-JP" altLang="ja-JP" sz="1000" dirty="0">
                <a:latin typeface="Noto Sans JP" panose="020B0200000000000000" pitchFamily="50" charset="-128"/>
                <a:ea typeface="Noto Sans JP" panose="020B0200000000000000" pitchFamily="50" charset="-128"/>
              </a:rPr>
              <a:t>周期はモデルサイズとサイクル数に影響されます。そのため、</a:t>
            </a:r>
            <a:r>
              <a:rPr lang="en-US" altLang="ja-JP" sz="1000" dirty="0">
                <a:latin typeface="Noto Sans JP" panose="020B0200000000000000" pitchFamily="50" charset="-128"/>
                <a:ea typeface="Noto Sans JP" panose="020B0200000000000000" pitchFamily="50" charset="-128"/>
              </a:rPr>
              <a:t>S4</a:t>
            </a:r>
            <a:r>
              <a:rPr lang="ja-JP" altLang="ja-JP" sz="1000" dirty="0">
                <a:latin typeface="Noto Sans JP" panose="020B0200000000000000" pitchFamily="50" charset="-128"/>
                <a:ea typeface="Noto Sans JP" panose="020B0200000000000000" pitchFamily="50" charset="-128"/>
              </a:rPr>
              <a:t>のモデルを選び、サイクル数は</a:t>
            </a:r>
            <a:r>
              <a:rPr lang="en-US" altLang="ja-JP" sz="1000" dirty="0">
                <a:latin typeface="Noto Sans JP" panose="020B0200000000000000" pitchFamily="50" charset="-128"/>
                <a:ea typeface="Noto Sans JP" panose="020B0200000000000000" pitchFamily="50" charset="-128"/>
              </a:rPr>
              <a:t>4</a:t>
            </a:r>
            <a:r>
              <a:rPr lang="ja-JP" altLang="ja-JP" sz="1000" dirty="0">
                <a:latin typeface="Noto Sans JP" panose="020B0200000000000000" pitchFamily="50" charset="-128"/>
                <a:ea typeface="Noto Sans JP" panose="020B0200000000000000" pitchFamily="50" charset="-128"/>
              </a:rPr>
              <a:t>サイクルを選ぶこととします。また、色相の離れた組合せなので</a:t>
            </a:r>
            <a:r>
              <a:rPr lang="en-US" altLang="ja-JP" sz="1000" dirty="0">
                <a:latin typeface="Noto Sans JP" panose="020B0200000000000000" pitchFamily="50" charset="-128"/>
                <a:ea typeface="Noto Sans JP" panose="020B0200000000000000" pitchFamily="50" charset="-128"/>
              </a:rPr>
              <a:t>Vivid</a:t>
            </a:r>
            <a:r>
              <a:rPr lang="ja-JP" altLang="ja-JP" sz="1000" dirty="0">
                <a:latin typeface="Noto Sans JP" panose="020B0200000000000000" pitchFamily="50" charset="-128"/>
                <a:ea typeface="Noto Sans JP" panose="020B0200000000000000" pitchFamily="50" charset="-128"/>
              </a:rPr>
              <a:t>カーブを選びます。</a:t>
            </a:r>
            <a:endParaRPr kumimoji="1" lang="ja-JP" altLang="en-US" sz="1000" b="1" dirty="0">
              <a:latin typeface="Noto Sans JP" panose="020B0200000000000000" pitchFamily="50" charset="-128"/>
              <a:ea typeface="Noto Sans JP" panose="020B0200000000000000" pitchFamily="50" charset="-128"/>
            </a:endParaRPr>
          </a:p>
        </p:txBody>
      </p:sp>
      <p:sp>
        <p:nvSpPr>
          <p:cNvPr id="33" name="テキスト ボックス 32">
            <a:extLst>
              <a:ext uri="{FF2B5EF4-FFF2-40B4-BE49-F238E27FC236}">
                <a16:creationId xmlns:a16="http://schemas.microsoft.com/office/drawing/2014/main" id="{0DB96898-46F2-88D2-EE3F-2E94A450D09E}"/>
              </a:ext>
            </a:extLst>
          </p:cNvPr>
          <p:cNvSpPr txBox="1"/>
          <p:nvPr/>
        </p:nvSpPr>
        <p:spPr>
          <a:xfrm>
            <a:off x="675778" y="3740062"/>
            <a:ext cx="5642222" cy="246221"/>
          </a:xfrm>
          <a:prstGeom prst="rect">
            <a:avLst/>
          </a:prstGeom>
          <a:noFill/>
        </p:spPr>
        <p:txBody>
          <a:bodyPr wrap="square" rtlCol="0">
            <a:spAutoFit/>
          </a:bodyPr>
          <a:lstStyle/>
          <a:p>
            <a:r>
              <a:rPr lang="ja-JP" altLang="ja-JP" sz="1000" dirty="0">
                <a:latin typeface="Noto Sans JP" panose="020B0200000000000000" pitchFamily="50" charset="-128"/>
                <a:ea typeface="Noto Sans JP" panose="020B0200000000000000" pitchFamily="50" charset="-128"/>
              </a:rPr>
              <a:t>以下は</a:t>
            </a:r>
            <a:r>
              <a:rPr lang="en-US" altLang="ja-JP" sz="1000" dirty="0">
                <a:latin typeface="Jost Medium" pitchFamily="2" charset="0"/>
                <a:ea typeface="Jost Medium" pitchFamily="2" charset="0"/>
              </a:rPr>
              <a:t>Gradient Filament</a:t>
            </a:r>
            <a:r>
              <a:rPr lang="ja-JP" altLang="ja-JP" sz="1000" dirty="0">
                <a:latin typeface="Noto Sans JP" panose="020B0200000000000000" pitchFamily="50" charset="-128"/>
                <a:ea typeface="Noto Sans JP" panose="020B0200000000000000" pitchFamily="50" charset="-128"/>
              </a:rPr>
              <a:t>のモデル構成です。</a:t>
            </a:r>
            <a:endParaRPr lang="en-US" altLang="ja-JP" sz="1000" dirty="0">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CC060F9D-607C-DC4D-2AB0-478E9D4C214A}"/>
              </a:ext>
            </a:extLst>
          </p:cNvPr>
          <p:cNvSpPr txBox="1"/>
          <p:nvPr/>
        </p:nvSpPr>
        <p:spPr>
          <a:xfrm>
            <a:off x="778114" y="7827027"/>
            <a:ext cx="1250663" cy="338554"/>
          </a:xfrm>
          <a:prstGeom prst="rect">
            <a:avLst/>
          </a:prstGeom>
          <a:noFill/>
        </p:spPr>
        <p:txBody>
          <a:bodyPr wrap="none" rtlCol="0">
            <a:spAutoFit/>
          </a:bodyPr>
          <a:lstStyle/>
          <a:p>
            <a:r>
              <a:rPr lang="en-US" altLang="ja-JP" sz="1600" dirty="0">
                <a:latin typeface="Noto Sans JP" panose="020B0200000000000000" pitchFamily="50" charset="-128"/>
                <a:ea typeface="Noto Sans JP" panose="020B0200000000000000" pitchFamily="50" charset="-128"/>
              </a:rPr>
              <a:t>6.</a:t>
            </a:r>
            <a:r>
              <a:rPr lang="ja-JP" altLang="en-US" sz="1600" dirty="0">
                <a:latin typeface="Noto Sans JP" panose="020B0200000000000000" pitchFamily="50" charset="-128"/>
                <a:ea typeface="Noto Sans JP" panose="020B0200000000000000" pitchFamily="50" charset="-128"/>
              </a:rPr>
              <a:t> 更新履歴</a:t>
            </a:r>
            <a:endParaRPr kumimoji="1" lang="ja-JP" altLang="en-US" b="1" dirty="0">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F3A15847-4F45-B874-2D55-94CA19DB93C8}"/>
              </a:ext>
            </a:extLst>
          </p:cNvPr>
          <p:cNvSpPr txBox="1"/>
          <p:nvPr/>
        </p:nvSpPr>
        <p:spPr>
          <a:xfrm>
            <a:off x="638323" y="8116825"/>
            <a:ext cx="5649491" cy="646331"/>
          </a:xfrm>
          <a:prstGeom prst="rect">
            <a:avLst/>
          </a:prstGeom>
          <a:noFill/>
        </p:spPr>
        <p:txBody>
          <a:bodyPr wrap="square" rtlCol="0">
            <a:spAutoFit/>
          </a:bodyPr>
          <a:lstStyle/>
          <a:p>
            <a:r>
              <a:rPr lang="en-US" altLang="ja-JP" sz="900" dirty="0">
                <a:latin typeface="Noto Sans JP" panose="020B0200000000000000" pitchFamily="50" charset="-128"/>
                <a:ea typeface="Noto Sans JP" panose="020B0200000000000000" pitchFamily="50" charset="-128"/>
              </a:rPr>
              <a:t>Ver.1.00  2026-07-02  </a:t>
            </a:r>
            <a:r>
              <a:rPr lang="ja-JP" altLang="en-US" sz="900" dirty="0">
                <a:latin typeface="Noto Sans JP" panose="020B0200000000000000" pitchFamily="50" charset="-128"/>
                <a:ea typeface="Noto Sans JP" panose="020B0200000000000000" pitchFamily="50" charset="-128"/>
              </a:rPr>
              <a:t>初版発行</a:t>
            </a:r>
            <a:endParaRPr lang="en-US" altLang="ja-JP" sz="900" dirty="0">
              <a:latin typeface="Noto Sans JP" panose="020B0200000000000000" pitchFamily="50" charset="-128"/>
              <a:ea typeface="Noto Sans JP" panose="020B0200000000000000" pitchFamily="50" charset="-128"/>
            </a:endParaRPr>
          </a:p>
          <a:p>
            <a:r>
              <a:rPr lang="en-US" altLang="ja-JP" sz="900" dirty="0">
                <a:latin typeface="Noto Sans JP" panose="020B0200000000000000" pitchFamily="50" charset="-128"/>
                <a:ea typeface="Noto Sans JP" panose="020B0200000000000000" pitchFamily="50" charset="-128"/>
              </a:rPr>
              <a:t>Ver.1.10  2026-07-22  </a:t>
            </a:r>
            <a:r>
              <a:rPr lang="ja-JP" altLang="en-US" sz="900" dirty="0">
                <a:latin typeface="Noto Sans JP" panose="020B0200000000000000" pitchFamily="50" charset="-128"/>
                <a:ea typeface="Noto Sans JP" panose="020B0200000000000000" pitchFamily="50" charset="-128"/>
              </a:rPr>
              <a:t>統一デザイン反映</a:t>
            </a:r>
            <a:endParaRPr lang="en-US" altLang="ja-JP" sz="900" dirty="0">
              <a:latin typeface="Noto Sans JP" panose="020B0200000000000000" pitchFamily="50" charset="-128"/>
              <a:ea typeface="Noto Sans JP" panose="020B0200000000000000" pitchFamily="50" charset="-128"/>
            </a:endParaRPr>
          </a:p>
          <a:p>
            <a:r>
              <a:rPr lang="en-US" altLang="ja-JP" sz="900" dirty="0">
                <a:latin typeface="Noto Sans JP" panose="020B0200000000000000" pitchFamily="50" charset="-128"/>
                <a:ea typeface="Noto Sans JP" panose="020B0200000000000000" pitchFamily="50" charset="-128"/>
              </a:rPr>
              <a:t>Ver.1.11  2026-09-16</a:t>
            </a:r>
            <a:r>
              <a:rPr lang="ja-JP" altLang="en-US" sz="900" dirty="0">
                <a:latin typeface="Noto Sans JP" panose="020B0200000000000000" pitchFamily="50" charset="-128"/>
                <a:ea typeface="Noto Sans JP" panose="020B0200000000000000" pitchFamily="50" charset="-128"/>
              </a:rPr>
              <a:t>  ブランド用書体の適用</a:t>
            </a:r>
            <a:endParaRPr lang="en-US" altLang="ja-JP" sz="900" dirty="0">
              <a:latin typeface="Noto Sans JP" panose="020B0200000000000000" pitchFamily="50" charset="-128"/>
              <a:ea typeface="Noto Sans JP" panose="020B0200000000000000" pitchFamily="50" charset="-128"/>
            </a:endParaRPr>
          </a:p>
          <a:p>
            <a:endParaRPr kumimoji="1" lang="ja-JP" altLang="en-US" sz="900" b="1" dirty="0">
              <a:latin typeface="Noto Sans JP" panose="020B0200000000000000" pitchFamily="50" charset="-128"/>
              <a:ea typeface="Noto Sans JP" panose="020B0200000000000000" pitchFamily="50" charset="-128"/>
            </a:endParaRPr>
          </a:p>
        </p:txBody>
      </p:sp>
      <p:pic>
        <p:nvPicPr>
          <p:cNvPr id="3" name="図 2">
            <a:extLst>
              <a:ext uri="{FF2B5EF4-FFF2-40B4-BE49-F238E27FC236}">
                <a16:creationId xmlns:a16="http://schemas.microsoft.com/office/drawing/2014/main" id="{4BF04565-5226-1F5F-DD5D-F631A526DF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000" y="2606243"/>
            <a:ext cx="5795580" cy="1026465"/>
          </a:xfrm>
          <a:prstGeom prst="rect">
            <a:avLst/>
          </a:prstGeom>
          <a:noFill/>
          <a:extLst>
            <a:ext uri="{909E8E84-426E-40DD-AFC4-6F175D3DCCD1}">
              <a14:hiddenFill xmlns:a14="http://schemas.microsoft.com/office/drawing/2010/main">
                <a:solidFill>
                  <a:srgbClr val="FFFFFF"/>
                </a:solidFill>
              </a14:hiddenFill>
            </a:ext>
          </a:extLst>
        </p:spPr>
      </p:pic>
      <p:pic>
        <p:nvPicPr>
          <p:cNvPr id="4" name="図 3">
            <a:extLst>
              <a:ext uri="{FF2B5EF4-FFF2-40B4-BE49-F238E27FC236}">
                <a16:creationId xmlns:a16="http://schemas.microsoft.com/office/drawing/2014/main" id="{7BCF3122-2983-5DBA-026D-2DB5C966BA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2121" y="4021991"/>
            <a:ext cx="4913757" cy="3747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205699"/>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363</TotalTime>
  <Words>1425</Words>
  <Application>Microsoft Office PowerPoint</Application>
  <PresentationFormat>画面に合わせる (4:3)</PresentationFormat>
  <Paragraphs>83</Paragraphs>
  <Slides>7</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7</vt:i4>
      </vt:variant>
    </vt:vector>
  </HeadingPairs>
  <TitlesOfParts>
    <vt:vector size="14" baseType="lpstr">
      <vt:lpstr>Noto Sans JP</vt:lpstr>
      <vt:lpstr>Aptos</vt:lpstr>
      <vt:lpstr>Aptos Display</vt:lpstr>
      <vt:lpstr>Arial</vt:lpstr>
      <vt:lpstr>Jost Medium</vt:lpstr>
      <vt:lpstr>Jost SemiBold</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MAKOTO YAZAKI (矢﨑 誠)</dc:creator>
  <cp:lastModifiedBy>MAKOTO YAZAKI (矢﨑 誠)</cp:lastModifiedBy>
  <cp:revision>25</cp:revision>
  <cp:lastPrinted>2026-08-16T13:12:35Z</cp:lastPrinted>
  <dcterms:created xsi:type="dcterms:W3CDTF">2026-07-22T02:46:18Z</dcterms:created>
  <dcterms:modified xsi:type="dcterms:W3CDTF">2026-09-16T07:49:24Z</dcterms:modified>
</cp:coreProperties>
</file>