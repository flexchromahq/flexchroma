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5" r:id="rId6"/>
  </p:sldIdLst>
  <p:sldSz cx="6858000" cy="9144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5E5"/>
    <a:srgbClr val="6200E8"/>
    <a:srgbClr val="EE00B0"/>
    <a:srgbClr val="0086D6"/>
    <a:srgbClr val="FF00FF"/>
    <a:srgbClr val="AE00F4"/>
    <a:srgbClr val="5800E1"/>
    <a:srgbClr val="EC00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78" autoAdjust="0"/>
    <p:restoredTop sz="94660"/>
  </p:normalViewPr>
  <p:slideViewPr>
    <p:cSldViewPr snapToGrid="0">
      <p:cViewPr>
        <p:scale>
          <a:sx n="150" d="100"/>
          <a:sy n="150" d="100"/>
        </p:scale>
        <p:origin x="4291" y="-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1936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556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8264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5338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8540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606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8455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1763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067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0933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7239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132294-360C-4425-B294-91EF6E97A591}" type="datetimeFigureOut">
              <a:rPr kumimoji="1" lang="ja-JP" altLang="en-US" smtClean="0"/>
              <a:t>2026/8/16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419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AA41A86-A2F3-1D06-7116-45400082F3B6}"/>
              </a:ext>
            </a:extLst>
          </p:cNvPr>
          <p:cNvSpPr/>
          <p:nvPr/>
        </p:nvSpPr>
        <p:spPr>
          <a:xfrm>
            <a:off x="33951" y="45268"/>
            <a:ext cx="6790099" cy="9053465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7CD271A-34A9-3E4B-032F-15C70AF19889}"/>
              </a:ext>
            </a:extLst>
          </p:cNvPr>
          <p:cNvSpPr/>
          <p:nvPr/>
        </p:nvSpPr>
        <p:spPr>
          <a:xfrm>
            <a:off x="16975" y="0"/>
            <a:ext cx="6858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73915448-3941-BA60-2C94-241A97D6CAC9}"/>
              </a:ext>
            </a:extLst>
          </p:cNvPr>
          <p:cNvGrpSpPr/>
          <p:nvPr/>
        </p:nvGrpSpPr>
        <p:grpSpPr>
          <a:xfrm>
            <a:off x="0" y="0"/>
            <a:ext cx="6865269" cy="9144001"/>
            <a:chOff x="0" y="0"/>
            <a:chExt cx="6865269" cy="9144001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552EEC23-A78A-14A0-56DD-8CB91A02DD2F}"/>
                </a:ext>
              </a:extLst>
            </p:cNvPr>
            <p:cNvSpPr/>
            <p:nvPr/>
          </p:nvSpPr>
          <p:spPr>
            <a:xfrm>
              <a:off x="0" y="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733F6922-5537-D3C9-1E45-625FD880C031}"/>
                </a:ext>
              </a:extLst>
            </p:cNvPr>
            <p:cNvSpPr/>
            <p:nvPr/>
          </p:nvSpPr>
          <p:spPr>
            <a:xfrm>
              <a:off x="0" y="871200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F3EA9AD3-66B2-9EA5-5711-3C6A318F5512}"/>
                </a:ext>
              </a:extLst>
            </p:cNvPr>
            <p:cNvSpPr/>
            <p:nvPr/>
          </p:nvSpPr>
          <p:spPr>
            <a:xfrm>
              <a:off x="0" y="1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705123BF-B9A2-835D-6FE4-689D9F62F382}"/>
                </a:ext>
              </a:extLst>
            </p:cNvPr>
            <p:cNvSpPr/>
            <p:nvPr/>
          </p:nvSpPr>
          <p:spPr>
            <a:xfrm>
              <a:off x="6325269" y="0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340CDC6-D787-7B25-2307-F3BA1042D402}"/>
              </a:ext>
            </a:extLst>
          </p:cNvPr>
          <p:cNvSpPr/>
          <p:nvPr/>
        </p:nvSpPr>
        <p:spPr>
          <a:xfrm>
            <a:off x="539999" y="431999"/>
            <a:ext cx="5785269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F25BF82-13EE-2D0B-D376-F101E332C733}"/>
              </a:ext>
            </a:extLst>
          </p:cNvPr>
          <p:cNvSpPr/>
          <p:nvPr/>
        </p:nvSpPr>
        <p:spPr>
          <a:xfrm>
            <a:off x="554538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8BCCC25-0C62-4E5D-0486-3F637C4A1C59}"/>
              </a:ext>
            </a:extLst>
          </p:cNvPr>
          <p:cNvSpPr/>
          <p:nvPr/>
        </p:nvSpPr>
        <p:spPr>
          <a:xfrm>
            <a:off x="3734844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CFE29C1-D44C-58E2-5EDB-51A8D3EC840E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57412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540A8-5932-22C2-7D48-A0EA57C30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D9029B2-D1D6-26F4-0BA3-DE439C520D10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B3C0006-8C0E-711B-ECD8-45CF7F1D1609}"/>
              </a:ext>
            </a:extLst>
          </p:cNvPr>
          <p:cNvSpPr/>
          <p:nvPr/>
        </p:nvSpPr>
        <p:spPr>
          <a:xfrm>
            <a:off x="7269" y="0"/>
            <a:ext cx="6858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C59FD50-8143-8A52-2646-26C8BDBFFDD3}"/>
              </a:ext>
            </a:extLst>
          </p:cNvPr>
          <p:cNvGrpSpPr/>
          <p:nvPr/>
        </p:nvGrpSpPr>
        <p:grpSpPr>
          <a:xfrm>
            <a:off x="0" y="0"/>
            <a:ext cx="6865269" cy="9144001"/>
            <a:chOff x="0" y="0"/>
            <a:chExt cx="6865269" cy="9144001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46770B46-C072-DF34-BD8D-2065F41808D5}"/>
                </a:ext>
              </a:extLst>
            </p:cNvPr>
            <p:cNvSpPr/>
            <p:nvPr/>
          </p:nvSpPr>
          <p:spPr>
            <a:xfrm>
              <a:off x="0" y="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C3E27AFA-EFCD-0428-55DA-15697DE6456A}"/>
                </a:ext>
              </a:extLst>
            </p:cNvPr>
            <p:cNvSpPr/>
            <p:nvPr/>
          </p:nvSpPr>
          <p:spPr>
            <a:xfrm>
              <a:off x="0" y="871200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C16363EA-88CD-F1FE-3650-7B24149569AE}"/>
                </a:ext>
              </a:extLst>
            </p:cNvPr>
            <p:cNvSpPr/>
            <p:nvPr/>
          </p:nvSpPr>
          <p:spPr>
            <a:xfrm>
              <a:off x="0" y="1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6E68F704-A898-98C2-EE85-8B817126B2F6}"/>
                </a:ext>
              </a:extLst>
            </p:cNvPr>
            <p:cNvSpPr/>
            <p:nvPr/>
          </p:nvSpPr>
          <p:spPr>
            <a:xfrm>
              <a:off x="6325269" y="0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F960D99-6370-5724-453C-20AA9AC92D12}"/>
              </a:ext>
            </a:extLst>
          </p:cNvPr>
          <p:cNvSpPr/>
          <p:nvPr/>
        </p:nvSpPr>
        <p:spPr>
          <a:xfrm>
            <a:off x="554538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08601A0-5532-E890-C737-AF5B225E91D8}"/>
              </a:ext>
            </a:extLst>
          </p:cNvPr>
          <p:cNvSpPr/>
          <p:nvPr/>
        </p:nvSpPr>
        <p:spPr>
          <a:xfrm>
            <a:off x="3734844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CCFBEBF-78FF-8FF9-3487-B087FB4F1A56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B06514E-2962-A9E0-36A8-FFA8ABD714B3}"/>
              </a:ext>
            </a:extLst>
          </p:cNvPr>
          <p:cNvSpPr txBox="1"/>
          <p:nvPr/>
        </p:nvSpPr>
        <p:spPr>
          <a:xfrm>
            <a:off x="931020" y="840586"/>
            <a:ext cx="50381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dirty="0">
                <a:latin typeface="Segoe UI Semibold" panose="020B0702040204020203" pitchFamily="34" charset="0"/>
                <a:ea typeface="IBM Plex Sans JP" panose="020B0503050203000203" pitchFamily="50" charset="-128"/>
                <a:cs typeface="Segoe UI Semibold" panose="020B0702040204020203" pitchFamily="34" charset="0"/>
              </a:rPr>
              <a:t>FlexChroma™</a:t>
            </a:r>
            <a:r>
              <a:rPr lang="en-US" altLang="ja-JP" sz="3200" b="1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 Tour-Guide</a:t>
            </a:r>
            <a:endParaRPr kumimoji="1" lang="ja-JP" altLang="en-US" sz="3200" b="1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86E89BA8-E7B2-7AB3-7267-37838D435E76}"/>
              </a:ext>
            </a:extLst>
          </p:cNvPr>
          <p:cNvSpPr/>
          <p:nvPr/>
        </p:nvSpPr>
        <p:spPr>
          <a:xfrm>
            <a:off x="566175" y="2834255"/>
            <a:ext cx="204669" cy="20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B797E49-CA37-4B2A-5187-03EC3007B3C7}"/>
              </a:ext>
            </a:extLst>
          </p:cNvPr>
          <p:cNvSpPr txBox="1"/>
          <p:nvPr/>
        </p:nvSpPr>
        <p:spPr>
          <a:xfrm>
            <a:off x="770844" y="2766370"/>
            <a:ext cx="1742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1. </a:t>
            </a:r>
            <a:r>
              <a:rPr lang="en-US" altLang="ja-JP" sz="2000" dirty="0" err="1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Einleitung</a:t>
            </a:r>
            <a:endParaRPr kumimoji="1" lang="ja-JP" altLang="en-US" sz="20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E5F4AF3-4FAB-E906-2281-AF56CB9A9F5F}"/>
              </a:ext>
            </a:extLst>
          </p:cNvPr>
          <p:cNvSpPr txBox="1"/>
          <p:nvPr/>
        </p:nvSpPr>
        <p:spPr>
          <a:xfrm>
            <a:off x="668508" y="3189310"/>
            <a:ext cx="5649491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ja-JP" sz="1050" dirty="0">
                <a:latin typeface="Segoe UI Semibold" panose="020B0702040204020203" pitchFamily="34" charset="0"/>
                <a:ea typeface="IBM Plex Sans JP" panose="020B0503050203000203" pitchFamily="50" charset="-128"/>
                <a:cs typeface="Segoe UI Semibold" panose="020B0702040204020203" pitchFamily="34" charset="0"/>
              </a:rPr>
              <a:t>FlexChroma</a:t>
            </a:r>
            <a:r>
              <a:rPr lang="de-DE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  <a:cs typeface="Segoe UI Semibold" panose="020B0702040204020203" pitchFamily="34" charset="0"/>
              </a:rPr>
              <a:t> umfasst Modelle zur Herstellung eigener Filamente aus handelsüblichen Materialien. </a:t>
            </a:r>
          </a:p>
          <a:p>
            <a:r>
              <a:rPr lang="de-DE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  <a:cs typeface="Segoe UI Semibold" panose="020B0702040204020203" pitchFamily="34" charset="0"/>
              </a:rPr>
              <a:t>Das System unterteilt sich in verschiedene Serien für unterschiedliche Einsatzzwecke. Jede Serie bietet mehrere Modelle, Profile und Druckplatten, abgestimmt auf Größe und Anwendung.</a:t>
            </a:r>
            <a:endParaRPr kumimoji="1" lang="ja-JP" altLang="en-US" sz="1050" b="1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64F690EF-7932-B480-4E0E-878C474B7FC9}"/>
              </a:ext>
            </a:extLst>
          </p:cNvPr>
          <p:cNvSpPr/>
          <p:nvPr/>
        </p:nvSpPr>
        <p:spPr>
          <a:xfrm>
            <a:off x="561095" y="4184875"/>
            <a:ext cx="204669" cy="20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DE03A10-2964-5391-2223-CBCA00D23411}"/>
              </a:ext>
            </a:extLst>
          </p:cNvPr>
          <p:cNvSpPr txBox="1"/>
          <p:nvPr/>
        </p:nvSpPr>
        <p:spPr>
          <a:xfrm>
            <a:off x="770844" y="4127150"/>
            <a:ext cx="33890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2. </a:t>
            </a:r>
            <a:r>
              <a:rPr lang="en-US" altLang="ja-JP" sz="2000" dirty="0" err="1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Auswahl</a:t>
            </a:r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 </a:t>
            </a:r>
            <a:r>
              <a:rPr lang="en-US" altLang="ja-JP" sz="2000" dirty="0" err="1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eines</a:t>
            </a:r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 </a:t>
            </a:r>
            <a:r>
              <a:rPr lang="en-US" altLang="ja-JP" sz="2000" dirty="0" err="1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Modells</a:t>
            </a:r>
            <a:endParaRPr kumimoji="1" lang="ja-JP" altLang="en-US" sz="24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96C8996-A004-2B6F-419A-B5C7EEF88FAF}"/>
              </a:ext>
            </a:extLst>
          </p:cNvPr>
          <p:cNvSpPr txBox="1"/>
          <p:nvPr/>
        </p:nvSpPr>
        <p:spPr>
          <a:xfrm>
            <a:off x="661239" y="4528574"/>
            <a:ext cx="564949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Folgen Sie zuerst diesem kurzen Auswahlprozess, um die richtigen Daten herunterzuladen und zu drucken.</a:t>
            </a:r>
            <a:endParaRPr kumimoji="1" lang="ja-JP" altLang="en-US" sz="1050" b="1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BF7D3BD-1EF8-AC81-756A-94B848B80E13}"/>
              </a:ext>
            </a:extLst>
          </p:cNvPr>
          <p:cNvSpPr txBox="1"/>
          <p:nvPr/>
        </p:nvSpPr>
        <p:spPr>
          <a:xfrm>
            <a:off x="661238" y="6181807"/>
            <a:ext cx="565676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ja-JP" sz="105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Wählen Sie zuerst die gewünschte Filamentart aus, wenn Sie sich für ein Modell entscheiden.</a:t>
            </a:r>
            <a:endParaRPr lang="en-US" altLang="ja-JP" sz="105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1B3E5E8-6526-8E6B-29D9-D104B66A6233}"/>
              </a:ext>
            </a:extLst>
          </p:cNvPr>
          <p:cNvSpPr txBox="1"/>
          <p:nvPr/>
        </p:nvSpPr>
        <p:spPr>
          <a:xfrm>
            <a:off x="770843" y="6606004"/>
            <a:ext cx="55544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de-DE" altLang="ja-JP" sz="10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Wählen Sie eine Serie: Mischfilament für Mischfarben, Farbverlaufsfilament für Farbwechsel.</a:t>
            </a:r>
          </a:p>
          <a:p>
            <a:pPr marL="228600" indent="-228600">
              <a:buAutoNum type="arabicPeriod"/>
            </a:pPr>
            <a:r>
              <a:rPr lang="de-DE" altLang="ja-JP" sz="10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Wählen Sie eine Modellgröße: Nutzen Sie ein S4-Modell für kleine Objekte oder ein M1-Modell für größere Drucke, die etwa 70 g Filament benötigen.</a:t>
            </a:r>
            <a:r>
              <a:rPr lang="en-US" altLang="ja-JP" sz="10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     requiring around 70g of filament.</a:t>
            </a:r>
          </a:p>
          <a:p>
            <a:pPr marL="228600" indent="-228600">
              <a:buAutoNum type="arabicPeriod"/>
            </a:pPr>
            <a:r>
              <a:rPr lang="de-DE" altLang="ja-JP" sz="10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Profil und Druckplatte auswählen: Entscheiden Sie sich für die Druckplatte, die zu Ihrem gewünschten Mischungsverhältnis oder Muster passt.</a:t>
            </a:r>
          </a:p>
          <a:p>
            <a:pPr marL="228600" indent="-228600">
              <a:buAutoNum type="arabicPeriod"/>
            </a:pPr>
            <a:r>
              <a:rPr lang="de-DE" altLang="ja-JP" sz="10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4. Filamente zuweisen und slicen: Nutzen Sie Filamente mit identischem oder ähnlichem Material, führen Sie die Zuweisung durch, slicen Sie das Modell und beachten Sie vor dem Druck die Druckhinweise.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5EE1833-E36C-633A-2CB5-AC9A3262046E}"/>
              </a:ext>
            </a:extLst>
          </p:cNvPr>
          <p:cNvSpPr txBox="1"/>
          <p:nvPr/>
        </p:nvSpPr>
        <p:spPr>
          <a:xfrm>
            <a:off x="770842" y="8270172"/>
            <a:ext cx="54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 dirty="0">
                <a:latin typeface="IBM Plex Sans JP Light" panose="020B0403050203000203" pitchFamily="50" charset="-128"/>
                <a:ea typeface="IBM Plex Sans JP Light" panose="020B0403050203000203" pitchFamily="50" charset="-128"/>
              </a:rPr>
              <a:t>*</a:t>
            </a:r>
            <a:r>
              <a:rPr lang="de-DE" altLang="ja-JP" sz="900" dirty="0">
                <a:latin typeface="IBM Plex Sans JP Light" panose="020B0403050203000203" pitchFamily="50" charset="-128"/>
                <a:ea typeface="IBM Plex Sans JP Light" panose="020B0403050203000203" pitchFamily="50" charset="-128"/>
              </a:rPr>
              <a:t>Hinweis: Der Begriff „Profil“ steht in FlexChroma für eine Einteilung nach Verwendungszweck, nicht für abweichende Druckeinstellungen.</a:t>
            </a:r>
            <a:endParaRPr kumimoji="1" lang="ja-JP" altLang="en-US" sz="900" b="1" dirty="0">
              <a:latin typeface="IBM Plex Sans JP Light" panose="020B0403050203000203" pitchFamily="50" charset="-128"/>
              <a:ea typeface="IBM Plex Sans JP Light" panose="020B0403050203000203" pitchFamily="50" charset="-128"/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8F15D30C-9810-6554-3F9D-C666664BC62E}"/>
              </a:ext>
            </a:extLst>
          </p:cNvPr>
          <p:cNvGrpSpPr/>
          <p:nvPr/>
        </p:nvGrpSpPr>
        <p:grpSpPr>
          <a:xfrm>
            <a:off x="1042026" y="441445"/>
            <a:ext cx="4781214" cy="377792"/>
            <a:chOff x="1042026" y="430737"/>
            <a:chExt cx="4781214" cy="377792"/>
          </a:xfrm>
        </p:grpSpPr>
        <p:sp>
          <p:nvSpPr>
            <p:cNvPr id="3" name="四角形: 上の 2 つの角を丸める 2">
              <a:extLst>
                <a:ext uri="{FF2B5EF4-FFF2-40B4-BE49-F238E27FC236}">
                  <a16:creationId xmlns:a16="http://schemas.microsoft.com/office/drawing/2014/main" id="{3A18D7FF-2AB7-9784-CFCF-AD9569D61BBD}"/>
                </a:ext>
              </a:extLst>
            </p:cNvPr>
            <p:cNvSpPr/>
            <p:nvPr/>
          </p:nvSpPr>
          <p:spPr>
            <a:xfrm>
              <a:off x="1042026" y="430737"/>
              <a:ext cx="4781214" cy="377792"/>
            </a:xfrm>
            <a:prstGeom prst="round2SameRect">
              <a:avLst>
                <a:gd name="adj1" fmla="val 50000"/>
                <a:gd name="adj2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四角形: 上の 2 つの角を丸める 3">
              <a:extLst>
                <a:ext uri="{FF2B5EF4-FFF2-40B4-BE49-F238E27FC236}">
                  <a16:creationId xmlns:a16="http://schemas.microsoft.com/office/drawing/2014/main" id="{A7264CEB-0E02-D992-7F98-46154D03A20F}"/>
                </a:ext>
              </a:extLst>
            </p:cNvPr>
            <p:cNvSpPr/>
            <p:nvPr/>
          </p:nvSpPr>
          <p:spPr>
            <a:xfrm>
              <a:off x="1042026" y="697920"/>
              <a:ext cx="4781214" cy="110609"/>
            </a:xfrm>
            <a:prstGeom prst="round2SameRect">
              <a:avLst>
                <a:gd name="adj1" fmla="val 50000"/>
                <a:gd name="adj2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1E64D689-16FA-4459-27D6-5C841CAA4722}"/>
              </a:ext>
            </a:extLst>
          </p:cNvPr>
          <p:cNvGrpSpPr/>
          <p:nvPr/>
        </p:nvGrpSpPr>
        <p:grpSpPr>
          <a:xfrm rot="10800000">
            <a:off x="1042026" y="2224673"/>
            <a:ext cx="4781214" cy="377792"/>
            <a:chOff x="1042026" y="430737"/>
            <a:chExt cx="4781214" cy="377792"/>
          </a:xfrm>
        </p:grpSpPr>
        <p:sp>
          <p:nvSpPr>
            <p:cNvPr id="28" name="四角形: 上の 2 つの角を丸める 27">
              <a:extLst>
                <a:ext uri="{FF2B5EF4-FFF2-40B4-BE49-F238E27FC236}">
                  <a16:creationId xmlns:a16="http://schemas.microsoft.com/office/drawing/2014/main" id="{F8DF8492-C361-427B-2DE1-AE4499E917C5}"/>
                </a:ext>
              </a:extLst>
            </p:cNvPr>
            <p:cNvSpPr/>
            <p:nvPr/>
          </p:nvSpPr>
          <p:spPr>
            <a:xfrm>
              <a:off x="1042026" y="430737"/>
              <a:ext cx="4781214" cy="377792"/>
            </a:xfrm>
            <a:prstGeom prst="round2SameRect">
              <a:avLst>
                <a:gd name="adj1" fmla="val 50000"/>
                <a:gd name="adj2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四角形: 上の 2 つの角を丸める 29">
              <a:extLst>
                <a:ext uri="{FF2B5EF4-FFF2-40B4-BE49-F238E27FC236}">
                  <a16:creationId xmlns:a16="http://schemas.microsoft.com/office/drawing/2014/main" id="{B525C316-F63D-33F0-D18C-D441893CBA9D}"/>
                </a:ext>
              </a:extLst>
            </p:cNvPr>
            <p:cNvSpPr/>
            <p:nvPr/>
          </p:nvSpPr>
          <p:spPr>
            <a:xfrm>
              <a:off x="1042026" y="697920"/>
              <a:ext cx="4781214" cy="110609"/>
            </a:xfrm>
            <a:prstGeom prst="round2SameRect">
              <a:avLst>
                <a:gd name="adj1" fmla="val 50000"/>
                <a:gd name="adj2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5D7F160-5868-F96D-EF8B-282D37A34400}"/>
              </a:ext>
            </a:extLst>
          </p:cNvPr>
          <p:cNvSpPr txBox="1"/>
          <p:nvPr/>
        </p:nvSpPr>
        <p:spPr>
          <a:xfrm>
            <a:off x="1515655" y="1444411"/>
            <a:ext cx="3498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- FlexChroma </a:t>
            </a:r>
            <a:r>
              <a:rPr lang="en-US" altLang="ja-JP" sz="1600" dirty="0" err="1">
                <a:latin typeface="IBM Plex Sans JP" panose="020B0503050203000203" pitchFamily="50" charset="-128"/>
                <a:ea typeface="IBM Plex Sans JP" panose="020B0503050203000203" pitchFamily="50" charset="-128"/>
              </a:rPr>
              <a:t>Dokumentenarchiv</a:t>
            </a:r>
            <a:r>
              <a:rPr lang="en-US" altLang="ja-JP" sz="16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 -</a:t>
            </a:r>
            <a:endParaRPr kumimoji="1" lang="ja-JP" altLang="en-US" sz="160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CF6AA1D-A904-DA76-F915-872BDAEB9106}"/>
              </a:ext>
            </a:extLst>
          </p:cNvPr>
          <p:cNvSpPr txBox="1"/>
          <p:nvPr/>
        </p:nvSpPr>
        <p:spPr>
          <a:xfrm>
            <a:off x="2381276" y="1883364"/>
            <a:ext cx="1904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Ver.1.00  2026.8.17</a:t>
            </a:r>
            <a:endParaRPr kumimoji="1" lang="ja-JP" altLang="en-US" sz="140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5FEF8571-1486-2FFA-A673-735CBD3CA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753" y="4976889"/>
            <a:ext cx="5791515" cy="112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5273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0173C-59A2-2037-D73D-0E215B313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0A76A69-7EBA-24AD-3805-2A372CFEEAE8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B787233-FA7E-25C9-AFC8-77DD3B8699E6}"/>
              </a:ext>
            </a:extLst>
          </p:cNvPr>
          <p:cNvSpPr/>
          <p:nvPr/>
        </p:nvSpPr>
        <p:spPr>
          <a:xfrm>
            <a:off x="7269" y="0"/>
            <a:ext cx="6858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5EE023F3-4FCC-103D-2599-E4E8CA7BF60A}"/>
              </a:ext>
            </a:extLst>
          </p:cNvPr>
          <p:cNvGrpSpPr/>
          <p:nvPr/>
        </p:nvGrpSpPr>
        <p:grpSpPr>
          <a:xfrm>
            <a:off x="0" y="0"/>
            <a:ext cx="6865269" cy="9144001"/>
            <a:chOff x="0" y="0"/>
            <a:chExt cx="6865269" cy="9144001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824B2131-6CC4-0BFA-B748-D810A3423268}"/>
                </a:ext>
              </a:extLst>
            </p:cNvPr>
            <p:cNvSpPr/>
            <p:nvPr/>
          </p:nvSpPr>
          <p:spPr>
            <a:xfrm>
              <a:off x="0" y="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A4011FAB-63C2-178C-29DE-33DA96F47618}"/>
                </a:ext>
              </a:extLst>
            </p:cNvPr>
            <p:cNvSpPr/>
            <p:nvPr/>
          </p:nvSpPr>
          <p:spPr>
            <a:xfrm>
              <a:off x="0" y="871200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42F3C5EA-2AFD-33E4-549C-0F84BFE77136}"/>
                </a:ext>
              </a:extLst>
            </p:cNvPr>
            <p:cNvSpPr/>
            <p:nvPr/>
          </p:nvSpPr>
          <p:spPr>
            <a:xfrm>
              <a:off x="0" y="1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F3FA60BD-81FF-4E70-C88D-182A05D73C49}"/>
                </a:ext>
              </a:extLst>
            </p:cNvPr>
            <p:cNvSpPr/>
            <p:nvPr/>
          </p:nvSpPr>
          <p:spPr>
            <a:xfrm>
              <a:off x="6325269" y="0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F94DBC3-EEDB-BBD1-A314-ABB30EC10D4A}"/>
              </a:ext>
            </a:extLst>
          </p:cNvPr>
          <p:cNvSpPr/>
          <p:nvPr/>
        </p:nvSpPr>
        <p:spPr>
          <a:xfrm>
            <a:off x="554537" y="452468"/>
            <a:ext cx="5756193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47E6663-8146-0675-09E7-BA77AF348350}"/>
              </a:ext>
            </a:extLst>
          </p:cNvPr>
          <p:cNvSpPr/>
          <p:nvPr/>
        </p:nvSpPr>
        <p:spPr>
          <a:xfrm>
            <a:off x="554538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95B28A9-13D1-5C87-BC7B-361DB6DEDF54}"/>
              </a:ext>
            </a:extLst>
          </p:cNvPr>
          <p:cNvSpPr/>
          <p:nvPr/>
        </p:nvSpPr>
        <p:spPr>
          <a:xfrm>
            <a:off x="3734844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65E0D04-137D-61B6-CDB3-C9B389BF921F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598BECD0-FE21-7197-76A9-A35DBF75C26D}"/>
              </a:ext>
            </a:extLst>
          </p:cNvPr>
          <p:cNvSpPr/>
          <p:nvPr/>
        </p:nvSpPr>
        <p:spPr>
          <a:xfrm>
            <a:off x="566175" y="667742"/>
            <a:ext cx="204669" cy="20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1228AC35-8F16-7C9A-87A7-5D5AF44B4A45}"/>
              </a:ext>
            </a:extLst>
          </p:cNvPr>
          <p:cNvSpPr/>
          <p:nvPr/>
        </p:nvSpPr>
        <p:spPr>
          <a:xfrm>
            <a:off x="566175" y="2431390"/>
            <a:ext cx="204669" cy="20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E721B25-AF01-358E-3AF5-DD53E680BEA4}"/>
              </a:ext>
            </a:extLst>
          </p:cNvPr>
          <p:cNvSpPr txBox="1"/>
          <p:nvPr/>
        </p:nvSpPr>
        <p:spPr>
          <a:xfrm>
            <a:off x="770844" y="610017"/>
            <a:ext cx="26132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3. FlexChroma HUB</a:t>
            </a:r>
            <a:endParaRPr kumimoji="1" lang="ja-JP" altLang="en-US" sz="24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4E1C011-7C36-5F21-4954-43ED394E75BA}"/>
              </a:ext>
            </a:extLst>
          </p:cNvPr>
          <p:cNvSpPr txBox="1"/>
          <p:nvPr/>
        </p:nvSpPr>
        <p:spPr>
          <a:xfrm>
            <a:off x="668508" y="950188"/>
            <a:ext cx="56494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ja-JP" sz="10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Der FlexChroma-Hub ist der zentrale Einstiegspunkt auf MakerWorld und bietet Zugang zu allen Serien und externen Portalen. </a:t>
            </a:r>
            <a:r>
              <a:rPr lang="de-DE" altLang="ja-JP" sz="1000" b="1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Wenn Sie sich unsicher sind, wo Sie beginnen sollen, öffnen Sie am besten zuerst dieses Modell.</a:t>
            </a:r>
            <a:endParaRPr kumimoji="1" lang="ja-JP" altLang="en-US" sz="500" b="1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2FB48DC-10F4-2185-6930-78B6977A0BD2}"/>
              </a:ext>
            </a:extLst>
          </p:cNvPr>
          <p:cNvSpPr txBox="1"/>
          <p:nvPr/>
        </p:nvSpPr>
        <p:spPr>
          <a:xfrm>
            <a:off x="770844" y="2376072"/>
            <a:ext cx="2252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4. </a:t>
            </a:r>
            <a:r>
              <a:rPr lang="en-US" altLang="ja-JP" sz="2000" dirty="0" err="1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Mischfilament</a:t>
            </a:r>
            <a:endParaRPr kumimoji="1" lang="ja-JP" altLang="en-US" sz="28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3844719-2CDC-AB32-6FBF-9DC0B5690794}"/>
              </a:ext>
            </a:extLst>
          </p:cNvPr>
          <p:cNvSpPr txBox="1"/>
          <p:nvPr/>
        </p:nvSpPr>
        <p:spPr>
          <a:xfrm>
            <a:off x="668509" y="2755723"/>
            <a:ext cx="564222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ja-JP" sz="10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Die Mischfilament Serie bildet das grundlegendste Sortiment von FlexChroma. Sie ermöglicht es Ihnen, zwei Filamente in verschiedenen Verhältnissen zu mischen, um Ihre eigene individuelle Farbe zu kreieren. </a:t>
            </a:r>
          </a:p>
          <a:p>
            <a:r>
              <a:rPr lang="de-DE" altLang="ja-JP" sz="1000" b="1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Jedes Modell deckt dabei Mischungsverhältnisse von 50 % bis 99,5 % ab. Für Werte unter 50 % tauschen Sie einfach Filament A und Filament B aus.</a:t>
            </a:r>
          </a:p>
          <a:p>
            <a:endParaRPr lang="de-DE" altLang="ja-JP" sz="600" b="1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de-DE" altLang="ja-JP" sz="10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Beispiel: Um ein Filament mit 25 % Cyan gemischt in Gelb zu erstellen, lesen Sie den Wert der Druckplatte als Verhältnis von Filament A ab, interpretieren diesen als 75 % Gelb und slicen das Modell entsprechend.</a:t>
            </a:r>
            <a:endParaRPr kumimoji="1" lang="ja-JP" altLang="en-US" sz="1000" b="1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FB90F5E-7734-F19F-FF8C-E8AC00A4C515}"/>
              </a:ext>
            </a:extLst>
          </p:cNvPr>
          <p:cNvSpPr txBox="1"/>
          <p:nvPr/>
        </p:nvSpPr>
        <p:spPr>
          <a:xfrm>
            <a:off x="668508" y="5238214"/>
            <a:ext cx="56422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ja-JP" sz="10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Nachfolgend finden Sie die Modellkonfiguration für das Mischfilament.</a:t>
            </a:r>
            <a:endParaRPr lang="en-US" altLang="ja-JP" sz="100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F83BB04-23DF-68CC-BDC8-9BD411641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670" y="1480826"/>
            <a:ext cx="3650659" cy="88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C11234F8-B8C6-7032-4E4D-D11E24DEF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75" y="4181191"/>
            <a:ext cx="5418647" cy="95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64385281-3A23-321F-F0DF-BA2B5EED2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036" y="5488984"/>
            <a:ext cx="4677923" cy="3078959"/>
          </a:xfrm>
          <a:prstGeom prst="rect">
            <a:avLst/>
          </a:prstGeom>
        </p:spPr>
      </p:pic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6506BC18-1D26-FA5C-3670-B0FA468F7228}"/>
              </a:ext>
            </a:extLst>
          </p:cNvPr>
          <p:cNvSpPr/>
          <p:nvPr/>
        </p:nvSpPr>
        <p:spPr>
          <a:xfrm>
            <a:off x="653971" y="4160341"/>
            <a:ext cx="3552269" cy="155211"/>
          </a:xfrm>
          <a:prstGeom prst="rect">
            <a:avLst/>
          </a:prstGeom>
          <a:solidFill>
            <a:srgbClr val="FFFF00">
              <a:alpha val="29000"/>
            </a:srgb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962BF9B-89DE-A4D5-4284-0C46265CF301}"/>
              </a:ext>
            </a:extLst>
          </p:cNvPr>
          <p:cNvSpPr/>
          <p:nvPr/>
        </p:nvSpPr>
        <p:spPr>
          <a:xfrm>
            <a:off x="2826270" y="4314142"/>
            <a:ext cx="639699" cy="155211"/>
          </a:xfrm>
          <a:prstGeom prst="rect">
            <a:avLst/>
          </a:prstGeom>
          <a:solidFill>
            <a:srgbClr val="FFFF00">
              <a:alpha val="29000"/>
            </a:srgb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897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23065-C738-1975-C61A-347A71E91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6991F79-EF9D-214D-22CC-3EE4375C1316}"/>
              </a:ext>
            </a:extLst>
          </p:cNvPr>
          <p:cNvSpPr/>
          <p:nvPr/>
        </p:nvSpPr>
        <p:spPr>
          <a:xfrm>
            <a:off x="51086" y="45268"/>
            <a:ext cx="6790099" cy="9053465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DCDB3DB-81C6-2500-386E-779A7602240D}"/>
              </a:ext>
            </a:extLst>
          </p:cNvPr>
          <p:cNvSpPr/>
          <p:nvPr/>
        </p:nvSpPr>
        <p:spPr>
          <a:xfrm>
            <a:off x="17051" y="5531"/>
            <a:ext cx="6858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809260A-E3A9-A10F-64B4-276376DBA937}"/>
              </a:ext>
            </a:extLst>
          </p:cNvPr>
          <p:cNvGrpSpPr/>
          <p:nvPr/>
        </p:nvGrpSpPr>
        <p:grpSpPr>
          <a:xfrm>
            <a:off x="0" y="0"/>
            <a:ext cx="6865269" cy="9144001"/>
            <a:chOff x="0" y="0"/>
            <a:chExt cx="6865269" cy="9144001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1013BF5E-61A6-7F01-BF6F-0C6BB497C24C}"/>
                </a:ext>
              </a:extLst>
            </p:cNvPr>
            <p:cNvSpPr/>
            <p:nvPr/>
          </p:nvSpPr>
          <p:spPr>
            <a:xfrm>
              <a:off x="0" y="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981A98E8-4943-C462-95B6-FEF1CE8411FB}"/>
                </a:ext>
              </a:extLst>
            </p:cNvPr>
            <p:cNvSpPr/>
            <p:nvPr/>
          </p:nvSpPr>
          <p:spPr>
            <a:xfrm>
              <a:off x="0" y="871200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634534E-96BD-2796-50AA-D46B14258839}"/>
                </a:ext>
              </a:extLst>
            </p:cNvPr>
            <p:cNvSpPr/>
            <p:nvPr/>
          </p:nvSpPr>
          <p:spPr>
            <a:xfrm>
              <a:off x="0" y="1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98BDDABE-AF21-FAFC-C17E-390C8B630108}"/>
                </a:ext>
              </a:extLst>
            </p:cNvPr>
            <p:cNvSpPr/>
            <p:nvPr/>
          </p:nvSpPr>
          <p:spPr>
            <a:xfrm>
              <a:off x="6325269" y="0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31BB991-A1A7-FAE2-CB87-73D2777505EE}"/>
              </a:ext>
            </a:extLst>
          </p:cNvPr>
          <p:cNvSpPr/>
          <p:nvPr/>
        </p:nvSpPr>
        <p:spPr>
          <a:xfrm>
            <a:off x="554537" y="452468"/>
            <a:ext cx="5756193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3AFA6C5-4BF2-A033-32A4-BECDD4F86FD4}"/>
              </a:ext>
            </a:extLst>
          </p:cNvPr>
          <p:cNvSpPr/>
          <p:nvPr/>
        </p:nvSpPr>
        <p:spPr>
          <a:xfrm>
            <a:off x="554538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B6597B8-6C80-13D9-C7AF-67EB68F224A8}"/>
              </a:ext>
            </a:extLst>
          </p:cNvPr>
          <p:cNvSpPr/>
          <p:nvPr/>
        </p:nvSpPr>
        <p:spPr>
          <a:xfrm>
            <a:off x="3734844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F623625-2DCF-7634-93D4-9344D0B367F8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7D25B49B-E1C7-7FE3-F262-C6D12AEF1C2E}"/>
              </a:ext>
            </a:extLst>
          </p:cNvPr>
          <p:cNvSpPr/>
          <p:nvPr/>
        </p:nvSpPr>
        <p:spPr>
          <a:xfrm>
            <a:off x="566175" y="677902"/>
            <a:ext cx="204669" cy="20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8078D51-1E2C-A979-AB68-98E18890C6F1}"/>
              </a:ext>
            </a:extLst>
          </p:cNvPr>
          <p:cNvSpPr txBox="1"/>
          <p:nvPr/>
        </p:nvSpPr>
        <p:spPr>
          <a:xfrm>
            <a:off x="770844" y="610017"/>
            <a:ext cx="3167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5. </a:t>
            </a:r>
            <a:r>
              <a:rPr lang="en-US" altLang="ja-JP" sz="2000" dirty="0" err="1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Farbverlaufsfilament</a:t>
            </a:r>
            <a:r>
              <a:rPr lang="en-US" altLang="ja-JP" sz="20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 </a:t>
            </a:r>
            <a:endParaRPr kumimoji="1" lang="ja-JP" altLang="en-US" sz="2400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17BFD2F-556D-35B9-3D3B-9934FD82183A}"/>
              </a:ext>
            </a:extLst>
          </p:cNvPr>
          <p:cNvSpPr txBox="1"/>
          <p:nvPr/>
        </p:nvSpPr>
        <p:spPr>
          <a:xfrm>
            <a:off x="675778" y="4572000"/>
            <a:ext cx="56422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The following is the model configuration for Gradient Filament.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E2D4FDB-94FA-C5AC-1B21-C26CC02FA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22" y="4877621"/>
            <a:ext cx="5250024" cy="3684061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F436DDF-1FC5-E203-1F1E-B570A467D825}"/>
              </a:ext>
            </a:extLst>
          </p:cNvPr>
          <p:cNvSpPr txBox="1"/>
          <p:nvPr/>
        </p:nvSpPr>
        <p:spPr>
          <a:xfrm>
            <a:off x="668508" y="950456"/>
            <a:ext cx="5649491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ja-JP" sz="10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Die Farbverlaufsfilament Serie bietet mehrere farbwechselnde Profile und Druckplatten mit unterschiedlichen Zyklusanzahlen. Die Details variieren je nach Modell. Bitte beachten Sie daher die Beschreibung des jeweiligen Modells.</a:t>
            </a:r>
          </a:p>
          <a:p>
            <a:endParaRPr lang="en-US" altLang="ja-JP" sz="100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altLang="ja-JP" sz="10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Farbkurve: Einstellungen basierend auf Farbkombinationen. Diese Option ermöglicht es Ihnen, den optimalen Verlauf für jede Farbe auszuwählen – zum Beispiel „Lebendig“ für Cyan und Gelb oder „Kontrast“ für Weiß und Magenta.</a:t>
            </a:r>
          </a:p>
          <a:p>
            <a:endParaRPr lang="en-US" altLang="ja-JP" sz="60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altLang="ja-JP" sz="10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Zyklusanzahl: Die Zahl, welche die Häufigkeit des Verlaufs bestimmt. Als ein Zyklus zählt ein vollständiger Durchlauf, in dem das Filament von A nach B nach A und wieder zurück wechselt.</a:t>
            </a:r>
          </a:p>
          <a:p>
            <a:endParaRPr lang="en-US" altLang="ja-JP" sz="100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  <a:p>
            <a:r>
              <a:rPr lang="de-DE" altLang="ja-JP" sz="10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Beispiel: Um ein schnell wechselndes Farbverlaufsfilament mit Cyan und Magenta zu erstellen, wählen Sie ein S4 Modell, entscheiden sich für eine 4 Zyklus Druckplatte und nutzen aufgrund des hohen Farbkontrasts das Profil mit der Kurve Lebendig.</a:t>
            </a:r>
            <a:endParaRPr kumimoji="1" lang="ja-JP" altLang="en-US" sz="1000" b="1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63C3F19-8BB1-2978-7629-7FE974EF107A}"/>
              </a:ext>
            </a:extLst>
          </p:cNvPr>
          <p:cNvSpPr/>
          <p:nvPr/>
        </p:nvSpPr>
        <p:spPr>
          <a:xfrm>
            <a:off x="651694" y="4561958"/>
            <a:ext cx="3972422" cy="261160"/>
          </a:xfrm>
          <a:prstGeom prst="rect">
            <a:avLst/>
          </a:prstGeom>
          <a:solidFill>
            <a:srgbClr val="FFFF00">
              <a:alpha val="29000"/>
            </a:srgb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879F7825-F971-CC58-5D17-AC17F8F80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00" y="3389793"/>
            <a:ext cx="5785268" cy="1071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B7B6A6A-784E-C95D-5C1C-D3E01A87387C}"/>
              </a:ext>
            </a:extLst>
          </p:cNvPr>
          <p:cNvSpPr/>
          <p:nvPr/>
        </p:nvSpPr>
        <p:spPr>
          <a:xfrm>
            <a:off x="515917" y="3384262"/>
            <a:ext cx="3817324" cy="189800"/>
          </a:xfrm>
          <a:prstGeom prst="rect">
            <a:avLst/>
          </a:prstGeom>
          <a:solidFill>
            <a:srgbClr val="FFFF00">
              <a:alpha val="29000"/>
            </a:srgb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</a:t>
            </a:r>
            <a:endParaRPr kumimoji="1" lang="ja-JP" altLang="en-US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B25DF2A-9142-9320-9502-25F8F983DAA6}"/>
              </a:ext>
            </a:extLst>
          </p:cNvPr>
          <p:cNvSpPr/>
          <p:nvPr/>
        </p:nvSpPr>
        <p:spPr>
          <a:xfrm>
            <a:off x="3609637" y="3999383"/>
            <a:ext cx="1612603" cy="472381"/>
          </a:xfrm>
          <a:prstGeom prst="rect">
            <a:avLst/>
          </a:prstGeom>
          <a:solidFill>
            <a:srgbClr val="FFFF00">
              <a:alpha val="29000"/>
            </a:srgb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0189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3C8C7-89F2-A94E-7AE8-9C887FB06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BFD9E26-596F-2011-FBE1-A1903F5B53C7}"/>
              </a:ext>
            </a:extLst>
          </p:cNvPr>
          <p:cNvSpPr/>
          <p:nvPr/>
        </p:nvSpPr>
        <p:spPr>
          <a:xfrm>
            <a:off x="51086" y="45268"/>
            <a:ext cx="6790099" cy="9053465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EF1218F-F1B3-05A2-4973-43F9783E40FF}"/>
              </a:ext>
            </a:extLst>
          </p:cNvPr>
          <p:cNvSpPr/>
          <p:nvPr/>
        </p:nvSpPr>
        <p:spPr>
          <a:xfrm>
            <a:off x="17051" y="5531"/>
            <a:ext cx="6858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A090BDEB-6B52-CBA6-0B35-95E9A7FB9262}"/>
              </a:ext>
            </a:extLst>
          </p:cNvPr>
          <p:cNvGrpSpPr/>
          <p:nvPr/>
        </p:nvGrpSpPr>
        <p:grpSpPr>
          <a:xfrm>
            <a:off x="0" y="0"/>
            <a:ext cx="6865269" cy="9144001"/>
            <a:chOff x="0" y="0"/>
            <a:chExt cx="6865269" cy="9144001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651A178C-FF5E-949F-8F5B-64390BD61530}"/>
                </a:ext>
              </a:extLst>
            </p:cNvPr>
            <p:cNvSpPr/>
            <p:nvPr/>
          </p:nvSpPr>
          <p:spPr>
            <a:xfrm>
              <a:off x="0" y="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0152D3AF-6FBD-6AE4-015F-6DE247DE7A68}"/>
                </a:ext>
              </a:extLst>
            </p:cNvPr>
            <p:cNvSpPr/>
            <p:nvPr/>
          </p:nvSpPr>
          <p:spPr>
            <a:xfrm>
              <a:off x="0" y="871200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8DE08037-68E8-2936-43CC-32EB2FE9D9F9}"/>
                </a:ext>
              </a:extLst>
            </p:cNvPr>
            <p:cNvSpPr/>
            <p:nvPr/>
          </p:nvSpPr>
          <p:spPr>
            <a:xfrm>
              <a:off x="0" y="1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EC91F1F0-5A4A-5676-DD78-20A7D0AFFA95}"/>
                </a:ext>
              </a:extLst>
            </p:cNvPr>
            <p:cNvSpPr/>
            <p:nvPr/>
          </p:nvSpPr>
          <p:spPr>
            <a:xfrm>
              <a:off x="6325269" y="0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AB0EAAB-5276-A6E3-A021-21246EBDE68F}"/>
              </a:ext>
            </a:extLst>
          </p:cNvPr>
          <p:cNvSpPr/>
          <p:nvPr/>
        </p:nvSpPr>
        <p:spPr>
          <a:xfrm>
            <a:off x="554537" y="452468"/>
            <a:ext cx="5756193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6C8B53A-D491-E224-F099-718526CCC672}"/>
              </a:ext>
            </a:extLst>
          </p:cNvPr>
          <p:cNvSpPr/>
          <p:nvPr/>
        </p:nvSpPr>
        <p:spPr>
          <a:xfrm>
            <a:off x="554538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8C97F63-617D-5B0B-66C2-00B8674BC71D}"/>
              </a:ext>
            </a:extLst>
          </p:cNvPr>
          <p:cNvSpPr/>
          <p:nvPr/>
        </p:nvSpPr>
        <p:spPr>
          <a:xfrm>
            <a:off x="3734844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90DDA51-B1AE-20A7-A699-251D7682CB62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6374B802-2C7D-61EC-FB1C-193F664D3C7B}"/>
              </a:ext>
            </a:extLst>
          </p:cNvPr>
          <p:cNvSpPr/>
          <p:nvPr/>
        </p:nvSpPr>
        <p:spPr>
          <a:xfrm>
            <a:off x="546348" y="817076"/>
            <a:ext cx="204669" cy="20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BC6D4FE-402E-B8B5-1423-80EA899F669B}"/>
              </a:ext>
            </a:extLst>
          </p:cNvPr>
          <p:cNvSpPr txBox="1"/>
          <p:nvPr/>
        </p:nvSpPr>
        <p:spPr>
          <a:xfrm>
            <a:off x="778114" y="784294"/>
            <a:ext cx="1991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6. Update </a:t>
            </a:r>
            <a:r>
              <a:rPr lang="en-US" altLang="ja-JP" sz="1600" dirty="0" err="1">
                <a:latin typeface="IBM Plex Sans JP SemiBold" panose="020B0703050203000203" pitchFamily="50" charset="-128"/>
                <a:ea typeface="IBM Plex Sans JP SemiBold" panose="020B0703050203000203" pitchFamily="50" charset="-128"/>
              </a:rPr>
              <a:t>Historie</a:t>
            </a:r>
            <a:endParaRPr kumimoji="1" lang="ja-JP" altLang="en-US" b="1" dirty="0">
              <a:latin typeface="IBM Plex Sans JP SemiBold" panose="020B0703050203000203" pitchFamily="50" charset="-128"/>
              <a:ea typeface="IBM Plex Sans JP SemiBold" panose="020B0703050203000203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32A2A4DF-78D0-3AE6-5C01-95CD744AB7F1}"/>
              </a:ext>
            </a:extLst>
          </p:cNvPr>
          <p:cNvSpPr txBox="1"/>
          <p:nvPr/>
        </p:nvSpPr>
        <p:spPr>
          <a:xfrm>
            <a:off x="638323" y="1115240"/>
            <a:ext cx="56494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 dirty="0">
                <a:latin typeface="IBM Plex Sans JP" panose="020B0503050203000203" pitchFamily="50" charset="-128"/>
                <a:ea typeface="IBM Plex Sans JP" panose="020B0503050203000203" pitchFamily="50" charset="-128"/>
              </a:rPr>
              <a:t>Ver.1.00  2026-08-17  Erste Version </a:t>
            </a:r>
            <a:r>
              <a:rPr lang="en-US" altLang="ja-JP" sz="900" dirty="0" err="1">
                <a:latin typeface="IBM Plex Sans JP" panose="020B0503050203000203" pitchFamily="50" charset="-128"/>
                <a:ea typeface="IBM Plex Sans JP" panose="020B0503050203000203" pitchFamily="50" charset="-128"/>
              </a:rPr>
              <a:t>veröffentlicht</a:t>
            </a:r>
            <a:endParaRPr lang="en-US" altLang="ja-JP" sz="900" dirty="0">
              <a:latin typeface="IBM Plex Sans JP" panose="020B0503050203000203" pitchFamily="50" charset="-128"/>
              <a:ea typeface="IBM Plex Sans JP" panose="020B0503050203000203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7320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321</TotalTime>
  <Words>539</Words>
  <Application>Microsoft Office PowerPoint</Application>
  <PresentationFormat>画面に合わせる (4:3)</PresentationFormat>
  <Paragraphs>40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3" baseType="lpstr">
      <vt:lpstr>IBM Plex Sans JP</vt:lpstr>
      <vt:lpstr>IBM Plex Sans JP Light</vt:lpstr>
      <vt:lpstr>IBM Plex Sans JP SemiBold</vt:lpstr>
      <vt:lpstr>Aptos</vt:lpstr>
      <vt:lpstr>Aptos Display</vt:lpstr>
      <vt:lpstr>Arial</vt:lpstr>
      <vt:lpstr>Segoe UI Semibold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MAKOTO YAZAKI (矢﨑 誠)</dc:creator>
  <cp:lastModifiedBy>誠 矢崎</cp:lastModifiedBy>
  <cp:revision>17</cp:revision>
  <cp:lastPrinted>2026-08-08T00:03:10Z</cp:lastPrinted>
  <dcterms:created xsi:type="dcterms:W3CDTF">2026-07-22T02:46:18Z</dcterms:created>
  <dcterms:modified xsi:type="dcterms:W3CDTF">2026-08-16T07:39:35Z</dcterms:modified>
</cp:coreProperties>
</file>