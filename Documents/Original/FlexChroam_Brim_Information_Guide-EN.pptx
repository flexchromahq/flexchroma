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6858000" cy="9144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5E5"/>
    <a:srgbClr val="6200E8"/>
    <a:srgbClr val="EE00B0"/>
    <a:srgbClr val="0086D6"/>
    <a:srgbClr val="FF00FF"/>
    <a:srgbClr val="AE00F4"/>
    <a:srgbClr val="5800E1"/>
    <a:srgbClr val="EC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78" autoAdjust="0"/>
    <p:restoredTop sz="94660"/>
  </p:normalViewPr>
  <p:slideViewPr>
    <p:cSldViewPr snapToGrid="0">
      <p:cViewPr>
        <p:scale>
          <a:sx n="66" d="100"/>
          <a:sy n="66" d="100"/>
        </p:scale>
        <p:origin x="37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193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556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826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338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54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60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845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76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6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93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23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32294-360C-4425-B294-91EF6E97A591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19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A41A86-A2F3-1D06-7116-45400082F3B6}"/>
              </a:ext>
            </a:extLst>
          </p:cNvPr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CD271A-34A9-3E4B-032F-15C70AF19889}"/>
              </a:ext>
            </a:extLst>
          </p:cNvPr>
          <p:cNvSpPr/>
          <p:nvPr/>
        </p:nvSpPr>
        <p:spPr>
          <a:xfrm>
            <a:off x="16975" y="0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3915448-3941-BA60-2C94-241A97D6CAC9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52EEC23-A78A-14A0-56DD-8CB91A02DD2F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33F6922-5537-D3C9-1E45-625FD880C031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3EA9AD3-66B2-9EA5-5711-3C6A318F5512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05123BF-B9A2-835D-6FE4-689D9F62F382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40CDC6-D787-7B25-2307-F3BA1042D402}"/>
              </a:ext>
            </a:extLst>
          </p:cNvPr>
          <p:cNvSpPr/>
          <p:nvPr/>
        </p:nvSpPr>
        <p:spPr>
          <a:xfrm>
            <a:off x="539999" y="431999"/>
            <a:ext cx="5785269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F25BF82-13EE-2D0B-D376-F101E332C733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8BCCC25-0C62-4E5D-0486-3F637C4A1C59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FE29C1-D44C-58E2-5EDB-51A8D3EC840E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741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40A8-5932-22C2-7D48-A0EA57C3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D9029B2-D1D6-26F4-0BA3-DE439C520D1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3C0006-8C0E-711B-ECD8-45CF7F1D1609}"/>
              </a:ext>
            </a:extLst>
          </p:cNvPr>
          <p:cNvSpPr/>
          <p:nvPr/>
        </p:nvSpPr>
        <p:spPr>
          <a:xfrm>
            <a:off x="7269" y="0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C59FD50-8143-8A52-2646-26C8BDBFFDD3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6770B46-C072-DF34-BD8D-2065F41808D5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C3E27AFA-EFCD-0428-55DA-15697DE6456A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16363EA-88CD-F1FE-3650-7B24149569AE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E68F704-A898-98C2-EE85-8B817126B2F6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F960D99-6370-5724-453C-20AA9AC92D12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08601A0-5532-E890-C737-AF5B225E91D8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CFBEBF-78FF-8FF9-3487-B087FB4F1A56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06514E-2962-A9E0-36A8-FFA8ABD714B3}"/>
              </a:ext>
            </a:extLst>
          </p:cNvPr>
          <p:cNvSpPr txBox="1"/>
          <p:nvPr/>
        </p:nvSpPr>
        <p:spPr>
          <a:xfrm>
            <a:off x="646571" y="840586"/>
            <a:ext cx="56441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latin typeface="Segoe UI Semibold" panose="020B0702040204020203" pitchFamily="34" charset="0"/>
                <a:ea typeface="IBM Plex Sans JP" panose="020B0503050203000203" pitchFamily="50" charset="-128"/>
                <a:cs typeface="Segoe UI Semibold" panose="020B0702040204020203" pitchFamily="34" charset="0"/>
              </a:rPr>
              <a:t>FlexChroma™</a:t>
            </a:r>
            <a:r>
              <a:rPr lang="en-US" altLang="ja-JP" sz="3200" b="1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</a:t>
            </a:r>
            <a:r>
              <a:rPr lang="en-US" altLang="ja-JP" sz="2900" b="1" dirty="0">
                <a:latin typeface="+mj-ea"/>
                <a:ea typeface="+mj-ea"/>
              </a:rPr>
              <a:t>Brim Info Guide</a:t>
            </a:r>
            <a:endParaRPr lang="ja-JP" altLang="ja-JP" sz="2900" dirty="0">
              <a:latin typeface="+mj-ea"/>
              <a:ea typeface="+mj-ea"/>
            </a:endParaRPr>
          </a:p>
          <a:p>
            <a:endParaRPr kumimoji="1" lang="ja-JP" altLang="en-US" sz="32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6E89BA8-E7B2-7AB3-7267-37838D435E76}"/>
              </a:ext>
            </a:extLst>
          </p:cNvPr>
          <p:cNvSpPr/>
          <p:nvPr/>
        </p:nvSpPr>
        <p:spPr>
          <a:xfrm>
            <a:off x="566175" y="3069491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797E49-CA37-4B2A-5187-03EC3007B3C7}"/>
              </a:ext>
            </a:extLst>
          </p:cNvPr>
          <p:cNvSpPr txBox="1"/>
          <p:nvPr/>
        </p:nvSpPr>
        <p:spPr>
          <a:xfrm>
            <a:off x="770844" y="3001606"/>
            <a:ext cx="2055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1. Introduction</a:t>
            </a:r>
            <a:endParaRPr kumimoji="1" lang="ja-JP" altLang="en-US" sz="20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E5F4AF3-4FAB-E906-2281-AF56CB9A9F5F}"/>
              </a:ext>
            </a:extLst>
          </p:cNvPr>
          <p:cNvSpPr txBox="1"/>
          <p:nvPr/>
        </p:nvSpPr>
        <p:spPr>
          <a:xfrm>
            <a:off x="668508" y="3424546"/>
            <a:ext cx="564949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FlexChroma™ </a:t>
            </a:r>
            <a:r>
              <a:rPr lang="en-US" altLang="ja-JP" sz="1050" dirty="0"/>
              <a:t>models create custom filament by combining commercially available filaments.</a:t>
            </a:r>
            <a:endParaRPr lang="ja-JP" altLang="ja-JP" sz="1050" dirty="0"/>
          </a:p>
          <a:p>
            <a:r>
              <a:rPr lang="en-US" altLang="ja-JP" sz="1050" dirty="0"/>
              <a:t>Information is displayed on the brim so that the specifications of each printed filament can be identified easily.</a:t>
            </a:r>
            <a:endParaRPr lang="ja-JP" altLang="ja-JP" sz="1050" dirty="0"/>
          </a:p>
          <a:p>
            <a:r>
              <a:rPr lang="en-US" altLang="ja-JP" sz="1050" dirty="0"/>
              <a:t>This guide explains how to interpret that information.</a:t>
            </a:r>
          </a:p>
          <a:p>
            <a:endParaRPr lang="ja-JP" altLang="ja-JP" sz="105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64F690EF-7932-B480-4E0E-878C474B7FC9}"/>
              </a:ext>
            </a:extLst>
          </p:cNvPr>
          <p:cNvSpPr/>
          <p:nvPr/>
        </p:nvSpPr>
        <p:spPr>
          <a:xfrm>
            <a:off x="566175" y="4679629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DE03A10-2964-5391-2223-CBCA00D23411}"/>
              </a:ext>
            </a:extLst>
          </p:cNvPr>
          <p:cNvSpPr txBox="1"/>
          <p:nvPr/>
        </p:nvSpPr>
        <p:spPr>
          <a:xfrm>
            <a:off x="770844" y="4611744"/>
            <a:ext cx="2888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2. </a:t>
            </a:r>
            <a:r>
              <a:rPr lang="en-US" altLang="ja-JP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Functions of the Brim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6C8996-A004-2B6F-419A-B5C7EEF88FAF}"/>
              </a:ext>
            </a:extLst>
          </p:cNvPr>
          <p:cNvSpPr txBox="1"/>
          <p:nvPr/>
        </p:nvSpPr>
        <p:spPr>
          <a:xfrm>
            <a:off x="661239" y="5034684"/>
            <a:ext cx="5649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brim serves two purposes: improving bed adhesion and displaying filament information.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Because the available space on the brim is limited, abbreviations are used to display the filament information.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8F15D30C-9810-6554-3F9D-C666664BC62E}"/>
              </a:ext>
            </a:extLst>
          </p:cNvPr>
          <p:cNvGrpSpPr/>
          <p:nvPr/>
        </p:nvGrpSpPr>
        <p:grpSpPr>
          <a:xfrm>
            <a:off x="750110" y="431920"/>
            <a:ext cx="5365047" cy="377792"/>
            <a:chOff x="1042026" y="430737"/>
            <a:chExt cx="4781214" cy="377792"/>
          </a:xfrm>
        </p:grpSpPr>
        <p:sp>
          <p:nvSpPr>
            <p:cNvPr id="3" name="四角形: 上の 2 つの角を丸める 2">
              <a:extLst>
                <a:ext uri="{FF2B5EF4-FFF2-40B4-BE49-F238E27FC236}">
                  <a16:creationId xmlns:a16="http://schemas.microsoft.com/office/drawing/2014/main" id="{3A18D7FF-2AB7-9784-CFCF-AD9569D61BBD}"/>
                </a:ext>
              </a:extLst>
            </p:cNvPr>
            <p:cNvSpPr/>
            <p:nvPr/>
          </p:nvSpPr>
          <p:spPr>
            <a:xfrm>
              <a:off x="1042026" y="430737"/>
              <a:ext cx="4781214" cy="377792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四角形: 上の 2 つの角を丸める 3">
              <a:extLst>
                <a:ext uri="{FF2B5EF4-FFF2-40B4-BE49-F238E27FC236}">
                  <a16:creationId xmlns:a16="http://schemas.microsoft.com/office/drawing/2014/main" id="{A7264CEB-0E02-D992-7F98-46154D03A20F}"/>
                </a:ext>
              </a:extLst>
            </p:cNvPr>
            <p:cNvSpPr/>
            <p:nvPr/>
          </p:nvSpPr>
          <p:spPr>
            <a:xfrm>
              <a:off x="1042026" y="697920"/>
              <a:ext cx="4781214" cy="110609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E64D689-16FA-4459-27D6-5C841CAA4722}"/>
              </a:ext>
            </a:extLst>
          </p:cNvPr>
          <p:cNvGrpSpPr/>
          <p:nvPr/>
        </p:nvGrpSpPr>
        <p:grpSpPr>
          <a:xfrm rot="10800000">
            <a:off x="750108" y="2224673"/>
            <a:ext cx="5365048" cy="377792"/>
            <a:chOff x="1042026" y="430737"/>
            <a:chExt cx="4781214" cy="377792"/>
          </a:xfrm>
        </p:grpSpPr>
        <p:sp>
          <p:nvSpPr>
            <p:cNvPr id="28" name="四角形: 上の 2 つの角を丸める 27">
              <a:extLst>
                <a:ext uri="{FF2B5EF4-FFF2-40B4-BE49-F238E27FC236}">
                  <a16:creationId xmlns:a16="http://schemas.microsoft.com/office/drawing/2014/main" id="{F8DF8492-C361-427B-2DE1-AE4499E917C5}"/>
                </a:ext>
              </a:extLst>
            </p:cNvPr>
            <p:cNvSpPr/>
            <p:nvPr/>
          </p:nvSpPr>
          <p:spPr>
            <a:xfrm>
              <a:off x="1042026" y="430737"/>
              <a:ext cx="4781214" cy="377792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四角形: 上の 2 つの角を丸める 29">
              <a:extLst>
                <a:ext uri="{FF2B5EF4-FFF2-40B4-BE49-F238E27FC236}">
                  <a16:creationId xmlns:a16="http://schemas.microsoft.com/office/drawing/2014/main" id="{B525C316-F63D-33F0-D18C-D441893CBA9D}"/>
                </a:ext>
              </a:extLst>
            </p:cNvPr>
            <p:cNvSpPr/>
            <p:nvPr/>
          </p:nvSpPr>
          <p:spPr>
            <a:xfrm>
              <a:off x="1042026" y="697920"/>
              <a:ext cx="4781214" cy="110609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5D7F160-5868-F96D-EF8B-282D37A34400}"/>
              </a:ext>
            </a:extLst>
          </p:cNvPr>
          <p:cNvSpPr txBox="1"/>
          <p:nvPr/>
        </p:nvSpPr>
        <p:spPr>
          <a:xfrm>
            <a:off x="1515655" y="1424613"/>
            <a:ext cx="3826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- Let's Decode the Brim Information -</a:t>
            </a:r>
            <a:endParaRPr kumimoji="1" lang="ja-JP" altLang="en-US" sz="16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CF6AA1D-A904-DA76-F915-872BDAEB9106}"/>
              </a:ext>
            </a:extLst>
          </p:cNvPr>
          <p:cNvSpPr txBox="1"/>
          <p:nvPr/>
        </p:nvSpPr>
        <p:spPr>
          <a:xfrm>
            <a:off x="2381276" y="1883364"/>
            <a:ext cx="1904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Ver.1.10  2026.7.24</a:t>
            </a:r>
            <a:endParaRPr kumimoji="1" lang="ja-JP" altLang="en-US" sz="14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pic>
        <p:nvPicPr>
          <p:cNvPr id="11" name="図 10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B823D001-C359-6574-9A43-CEDFA59D0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51" y="5860779"/>
            <a:ext cx="5036095" cy="1716479"/>
          </a:xfrm>
          <a:prstGeom prst="rect">
            <a:avLst/>
          </a:prstGeom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DC7AD387-195B-3AEE-4170-3AAAAA4FCDE1}"/>
              </a:ext>
            </a:extLst>
          </p:cNvPr>
          <p:cNvSpPr/>
          <p:nvPr/>
        </p:nvSpPr>
        <p:spPr>
          <a:xfrm>
            <a:off x="591768" y="7676931"/>
            <a:ext cx="153771" cy="153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F37168B-6F6B-F3E5-D6D9-41C2E265E305}"/>
              </a:ext>
            </a:extLst>
          </p:cNvPr>
          <p:cNvSpPr txBox="1"/>
          <p:nvPr/>
        </p:nvSpPr>
        <p:spPr>
          <a:xfrm>
            <a:off x="668507" y="7625755"/>
            <a:ext cx="5649492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00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  Meaning of the Text</a:t>
            </a:r>
          </a:p>
          <a:p>
            <a:endParaRPr lang="ja-JP" altLang="ja-JP" sz="600" dirty="0">
              <a:latin typeface="IBM Plex Sans JP Medium" panose="020B0603050203000203" pitchFamily="50" charset="-128"/>
              <a:ea typeface="IBM Plex Sans JP Medium" panose="020B06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inside brim identifies the filament series and family (size).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outside brim displays the specifications selected for that series.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527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173C-59A2-2037-D73D-0E215B31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A76A69-7EBA-24AD-3805-2A372CFEEAE8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787233-FA7E-25C9-AFC8-77DD3B8699E6}"/>
              </a:ext>
            </a:extLst>
          </p:cNvPr>
          <p:cNvSpPr/>
          <p:nvPr/>
        </p:nvSpPr>
        <p:spPr>
          <a:xfrm>
            <a:off x="7269" y="0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EE023F3-4FCC-103D-2599-E4E8CA7BF60A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24B2131-6CC4-0BFA-B748-D810A3423268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4011FAB-63C2-178C-29DE-33DA96F47618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2F3C5EA-2AFD-33E4-549C-0F84BFE77136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3FA60BD-81FF-4E70-C88D-182A05D73C49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F94DBC3-EEDB-BBD1-A314-ABB30EC10D4A}"/>
              </a:ext>
            </a:extLst>
          </p:cNvPr>
          <p:cNvSpPr/>
          <p:nvPr/>
        </p:nvSpPr>
        <p:spPr>
          <a:xfrm>
            <a:off x="554537" y="423893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E6663-8146-0675-09E7-BA77AF348350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5B28A9-13D1-5C87-BC7B-361DB6DEDF54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65E0D04-137D-61B6-CDB3-C9B389BF921F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98BECD0-FE21-7197-76A9-A35DBF75C26D}"/>
              </a:ext>
            </a:extLst>
          </p:cNvPr>
          <p:cNvSpPr/>
          <p:nvPr/>
        </p:nvSpPr>
        <p:spPr>
          <a:xfrm>
            <a:off x="566175" y="2527150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1228AC35-8F16-7C9A-87A7-5D5AF44B4A45}"/>
              </a:ext>
            </a:extLst>
          </p:cNvPr>
          <p:cNvSpPr/>
          <p:nvPr/>
        </p:nvSpPr>
        <p:spPr>
          <a:xfrm>
            <a:off x="566175" y="5989159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721B25-AF01-358E-3AF5-DD53E680BEA4}"/>
              </a:ext>
            </a:extLst>
          </p:cNvPr>
          <p:cNvSpPr txBox="1"/>
          <p:nvPr/>
        </p:nvSpPr>
        <p:spPr>
          <a:xfrm>
            <a:off x="770844" y="2461623"/>
            <a:ext cx="36054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3. </a:t>
            </a:r>
            <a:r>
              <a:rPr lang="en-US" altLang="ja-JP" b="1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Information for Each Series</a:t>
            </a:r>
            <a:endParaRPr lang="ja-JP" altLang="ja-JP" b="1" dirty="0">
              <a:latin typeface="IBM Plex Sans JP Medium" panose="020B0603050203000203" pitchFamily="50" charset="-128"/>
              <a:ea typeface="IBM Plex Sans JP Medium" panose="020B0603050203000203" pitchFamily="50" charset="-128"/>
            </a:endParaRPr>
          </a:p>
          <a:p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4E1C011-7C36-5F21-4954-43ED394E75BA}"/>
              </a:ext>
            </a:extLst>
          </p:cNvPr>
          <p:cNvSpPr txBox="1"/>
          <p:nvPr/>
        </p:nvSpPr>
        <p:spPr>
          <a:xfrm>
            <a:off x="668508" y="2838257"/>
            <a:ext cx="564949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The previous section explained the basic structure of the brim information. The text displayed on the brim varies by series.</a:t>
            </a:r>
            <a:r>
              <a:rPr lang="ja-JP" altLang="en-US" sz="1050" dirty="0"/>
              <a:t> </a:t>
            </a:r>
            <a:r>
              <a:rPr lang="en-US" altLang="ja-JP" sz="1050" dirty="0"/>
              <a:t>The information used for each series is summarized below.</a:t>
            </a:r>
            <a:endParaRPr lang="ja-JP" altLang="ja-JP" sz="105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FB48DC-10F4-2185-6930-78B6977A0BD2}"/>
              </a:ext>
            </a:extLst>
          </p:cNvPr>
          <p:cNvSpPr txBox="1"/>
          <p:nvPr/>
        </p:nvSpPr>
        <p:spPr>
          <a:xfrm>
            <a:off x="770844" y="5937603"/>
            <a:ext cx="23791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4. Blend Filament</a:t>
            </a:r>
            <a:endParaRPr kumimoji="1" lang="ja-JP" altLang="en-US" sz="28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3844719-2CDC-AB32-6FBF-9DC0B5690794}"/>
              </a:ext>
            </a:extLst>
          </p:cNvPr>
          <p:cNvSpPr txBox="1"/>
          <p:nvPr/>
        </p:nvSpPr>
        <p:spPr>
          <a:xfrm>
            <a:off x="668509" y="6317254"/>
            <a:ext cx="564222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Blend Filament combines two filaments at different mixing ratios to create new colors.</a:t>
            </a:r>
            <a:endParaRPr lang="ja-JP" altLang="ja-JP" sz="1050" dirty="0"/>
          </a:p>
          <a:p>
            <a:r>
              <a:rPr lang="en-US" altLang="ja-JP" sz="1050" dirty="0"/>
              <a:t>Because its structure is simpler than that of the other series, less information is required and the outside brim contains only one row of text.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[Inside Brim]</a:t>
            </a:r>
            <a:endParaRPr lang="ja-JP" altLang="ja-JP" sz="1050" dirty="0"/>
          </a:p>
          <a:p>
            <a:r>
              <a:rPr lang="en-US" altLang="ja-JP" sz="1050" dirty="0"/>
              <a:t>The series abbreviation </a:t>
            </a:r>
            <a:r>
              <a:rPr lang="ja-JP" altLang="ja-JP" sz="1050" dirty="0"/>
              <a:t>“</a:t>
            </a:r>
            <a:r>
              <a:rPr lang="en-US" altLang="ja-JP" sz="1050" dirty="0"/>
              <a:t>BL</a:t>
            </a:r>
            <a:r>
              <a:rPr lang="ja-JP" altLang="ja-JP" sz="1050" dirty="0"/>
              <a:t>”</a:t>
            </a:r>
            <a:r>
              <a:rPr lang="en-US" altLang="ja-JP" sz="1050" dirty="0"/>
              <a:t> is followed by </a:t>
            </a:r>
            <a:r>
              <a:rPr lang="ja-JP" altLang="ja-JP" sz="1050" dirty="0"/>
              <a:t>“</a:t>
            </a:r>
            <a:r>
              <a:rPr lang="en-US" altLang="ja-JP" sz="1050" dirty="0"/>
              <a:t>/</a:t>
            </a:r>
            <a:r>
              <a:rPr lang="ja-JP" altLang="ja-JP" sz="1050" dirty="0"/>
              <a:t>”</a:t>
            </a:r>
            <a:r>
              <a:rPr lang="en-US" altLang="ja-JP" sz="1050" dirty="0"/>
              <a:t> and the size name. On early models, the series abbreviation and </a:t>
            </a:r>
            <a:r>
              <a:rPr lang="ja-JP" altLang="ja-JP" sz="1050" dirty="0"/>
              <a:t>“</a:t>
            </a:r>
            <a:r>
              <a:rPr lang="en-US" altLang="ja-JP" sz="1050" dirty="0"/>
              <a:t>/</a:t>
            </a:r>
            <a:r>
              <a:rPr lang="ja-JP" altLang="ja-JP" sz="1050" dirty="0"/>
              <a:t>”</a:t>
            </a:r>
            <a:r>
              <a:rPr lang="en-US" altLang="ja-JP" sz="1050" dirty="0"/>
              <a:t> are omitted.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dirty="0"/>
              <a:t>Example:      BL/M4       (indicates a Blend Filament M4 model</a:t>
            </a:r>
            <a:endParaRPr lang="ja-JP" altLang="ja-JP" sz="105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EF00DE-7394-584D-9FEA-22CAB1D32E20}"/>
              </a:ext>
            </a:extLst>
          </p:cNvPr>
          <p:cNvSpPr txBox="1"/>
          <p:nvPr/>
        </p:nvSpPr>
        <p:spPr>
          <a:xfrm>
            <a:off x="675777" y="695060"/>
            <a:ext cx="5649492" cy="151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00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 Meaning of the Colors</a:t>
            </a:r>
          </a:p>
          <a:p>
            <a:endParaRPr lang="ja-JP" altLang="ja-JP" sz="600" dirty="0">
              <a:latin typeface="IBM Plex Sans JP Medium" panose="020B0603050203000203" pitchFamily="50" charset="-128"/>
              <a:ea typeface="IBM Plex Sans JP Medium" panose="020B06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color of the outside brim indicates the base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color of the inside brim has no specific meaning.</a:t>
            </a:r>
            <a:b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</a:b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text in the upper row of the outside brim indicates the second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text color in the lower row indicates the third color when one is used; otherwise, it indicates the second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text color on the inside brim indicates the fourth color when one is used; otherwise, it indicates the second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8A5206C3-D090-B866-2D1B-476D535F0B22}"/>
              </a:ext>
            </a:extLst>
          </p:cNvPr>
          <p:cNvSpPr/>
          <p:nvPr/>
        </p:nvSpPr>
        <p:spPr>
          <a:xfrm>
            <a:off x="591768" y="758160"/>
            <a:ext cx="153771" cy="153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98190741-6416-98A0-5F7E-FDFF83069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7" y="3445655"/>
            <a:ext cx="5649492" cy="217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AD8FF02-996C-B50C-878E-A8A026ECC40A}"/>
              </a:ext>
            </a:extLst>
          </p:cNvPr>
          <p:cNvSpPr/>
          <p:nvPr/>
        </p:nvSpPr>
        <p:spPr>
          <a:xfrm>
            <a:off x="1430887" y="7568448"/>
            <a:ext cx="629752" cy="26279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97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3065-C738-1975-C61A-347A71E9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6991F79-EF9D-214D-22CC-3EE4375C1316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DCDB3DB-81C6-2500-386E-779A7602240D}"/>
              </a:ext>
            </a:extLst>
          </p:cNvPr>
          <p:cNvSpPr/>
          <p:nvPr/>
        </p:nvSpPr>
        <p:spPr>
          <a:xfrm>
            <a:off x="41024" y="5531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809260A-E3A9-A10F-64B4-276376DBA937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013BF5E-61A6-7F01-BF6F-0C6BB497C24C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81A98E8-4943-C462-95B6-FEF1CE8411FB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634534E-96BD-2796-50AA-D46B14258839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8BDDABE-AF21-FAFC-C17E-390C8B630108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31BB991-A1A7-FAE2-CB87-73D2777505EE}"/>
              </a:ext>
            </a:extLst>
          </p:cNvPr>
          <p:cNvSpPr/>
          <p:nvPr/>
        </p:nvSpPr>
        <p:spPr>
          <a:xfrm>
            <a:off x="554537" y="423893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AFA6C5-4BF2-A033-32A4-BECDD4F86FD4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6597B8-6C80-13D9-C7AF-67EB68F224A8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F623625-2DCF-7634-93D4-9344D0B367F8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D25B49B-E1C7-7FE3-F262-C6D12AEF1C2E}"/>
              </a:ext>
            </a:extLst>
          </p:cNvPr>
          <p:cNvSpPr/>
          <p:nvPr/>
        </p:nvSpPr>
        <p:spPr>
          <a:xfrm>
            <a:off x="566175" y="3453618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8078D51-1E2C-A979-AB68-98E18890C6F1}"/>
              </a:ext>
            </a:extLst>
          </p:cNvPr>
          <p:cNvSpPr txBox="1"/>
          <p:nvPr/>
        </p:nvSpPr>
        <p:spPr>
          <a:xfrm>
            <a:off x="770844" y="3414308"/>
            <a:ext cx="2675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4-1. Blend Color Checker</a:t>
            </a:r>
            <a:endParaRPr kumimoji="1" lang="ja-JP" altLang="en-US" sz="16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974243A-BE39-3111-BDC0-1688AF9439B9}"/>
              </a:ext>
            </a:extLst>
          </p:cNvPr>
          <p:cNvSpPr txBox="1"/>
          <p:nvPr/>
        </p:nvSpPr>
        <p:spPr>
          <a:xfrm>
            <a:off x="668508" y="3803395"/>
            <a:ext cx="56494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/>
              <a:t>[Inside Brim]</a:t>
            </a:r>
            <a:endParaRPr lang="ja-JP" altLang="ja-JP" sz="1050" dirty="0"/>
          </a:p>
          <a:p>
            <a:r>
              <a:rPr lang="en-US" altLang="ja-JP" sz="1050" dirty="0"/>
              <a:t>The series abbreviation “BL” is followed by “/” and the tool abbreviation “T1.”</a:t>
            </a:r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dirty="0"/>
              <a:t>Example:   BL/T1    indicates a Blend Color Checker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[Outside Brim]</a:t>
            </a:r>
            <a:r>
              <a:rPr lang="en-US" altLang="ja-JP" sz="1050" dirty="0"/>
              <a:t> </a:t>
            </a:r>
            <a:endParaRPr lang="ja-JP" altLang="ja-JP" sz="1050" dirty="0"/>
          </a:p>
          <a:p>
            <a:r>
              <a:rPr lang="en-US" altLang="ja-JP" sz="1050" dirty="0"/>
              <a:t>There are two types of Blend Filament models: Standard and Detail. The identification details for each are shown in the table below..</a:t>
            </a:r>
            <a:endParaRPr lang="ja-JP" altLang="ja-JP" sz="1050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8F1D8EF-7938-6929-7B79-B67CAE3FD6D5}"/>
              </a:ext>
            </a:extLst>
          </p:cNvPr>
          <p:cNvGrpSpPr/>
          <p:nvPr/>
        </p:nvGrpSpPr>
        <p:grpSpPr>
          <a:xfrm>
            <a:off x="880208" y="525495"/>
            <a:ext cx="5307282" cy="2485553"/>
            <a:chOff x="-167676" y="0"/>
            <a:chExt cx="5796409" cy="2714625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5B42B7EC-D2A1-2C5D-3C9F-1ED69DAAF0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67676" y="1589453"/>
              <a:ext cx="2809875" cy="1114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859C7347-1EE1-EBE5-EC69-B335431D44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8857" y="0"/>
              <a:ext cx="2809876" cy="2714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BE1B42-ADB0-F4B8-0908-8E1538B5FF87}"/>
              </a:ext>
            </a:extLst>
          </p:cNvPr>
          <p:cNvSpPr txBox="1"/>
          <p:nvPr/>
        </p:nvSpPr>
        <p:spPr>
          <a:xfrm>
            <a:off x="604254" y="675403"/>
            <a:ext cx="3053345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/>
              <a:t>[Outside Brim]</a:t>
            </a:r>
            <a:r>
              <a:rPr lang="en-US" altLang="ja-JP" sz="1050" dirty="0"/>
              <a:t> </a:t>
            </a:r>
            <a:endParaRPr lang="ja-JP" altLang="ja-JP" sz="1050" dirty="0"/>
          </a:p>
          <a:p>
            <a:r>
              <a:rPr lang="en-US" altLang="ja-JP" sz="1050" dirty="0"/>
              <a:t>The proportion of the base color is shown</a:t>
            </a:r>
            <a:endParaRPr lang="ja-JP" altLang="ja-JP" sz="1050" dirty="0"/>
          </a:p>
          <a:p>
            <a:r>
              <a:rPr lang="en-US" altLang="ja-JP" sz="1050" dirty="0"/>
              <a:t> as a percentage.</a:t>
            </a:r>
          </a:p>
          <a:p>
            <a:endParaRPr lang="ja-JP" altLang="ja-JP" sz="1050" dirty="0"/>
          </a:p>
          <a:p>
            <a:r>
              <a:rPr lang="en-US" altLang="ja-JP" sz="1050" dirty="0"/>
              <a:t>Example:   75%   in blue text on a yellow brim</a:t>
            </a:r>
          </a:p>
          <a:p>
            <a:endParaRPr lang="ja-JP" altLang="ja-JP" sz="500" dirty="0"/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Indicates a mixing ratio of 75% yellow and 25% blue</a:t>
            </a:r>
            <a:endParaRPr lang="ja-JP" altLang="ja-JP" sz="12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13796715-1B76-A927-685B-71090FA7B0B1}"/>
              </a:ext>
            </a:extLst>
          </p:cNvPr>
          <p:cNvSpPr/>
          <p:nvPr/>
        </p:nvSpPr>
        <p:spPr>
          <a:xfrm>
            <a:off x="564568" y="6179296"/>
            <a:ext cx="204669" cy="1860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97E7E8-B266-9144-C532-CC79E1F60388}"/>
              </a:ext>
            </a:extLst>
          </p:cNvPr>
          <p:cNvSpPr txBox="1"/>
          <p:nvPr/>
        </p:nvSpPr>
        <p:spPr>
          <a:xfrm>
            <a:off x="769237" y="6101245"/>
            <a:ext cx="2739853" cy="363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5. Gradient Filament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74743F2-CCD5-7CE7-CED9-214B4C0C9DB6}"/>
              </a:ext>
            </a:extLst>
          </p:cNvPr>
          <p:cNvSpPr txBox="1"/>
          <p:nvPr/>
        </p:nvSpPr>
        <p:spPr>
          <a:xfrm>
            <a:off x="666901" y="6545170"/>
            <a:ext cx="5649491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Gradient Filament provides multiple color curves for different color combinations, with models available in different cycle counts. Each model also has a recommended insertion direction.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Because more information is required, the outside brim contains two rows of text.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 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b="1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[Inside Brim]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series abbreviation 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“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GR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”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is followed by 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“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/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”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and the size name. On early models, the series abbreviation and 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“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/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”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are omitted.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notation follows the same format as Blend Filament.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 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Example:   GR/S4b   indicates a Gradient Filament S4 Beta model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392BA458-994B-8B86-08BE-A2A16E1FB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240" y="5211453"/>
            <a:ext cx="2529840" cy="69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23C394D-165C-151B-F41A-2D271E15F6FA}"/>
              </a:ext>
            </a:extLst>
          </p:cNvPr>
          <p:cNvSpPr/>
          <p:nvPr/>
        </p:nvSpPr>
        <p:spPr>
          <a:xfrm>
            <a:off x="1313590" y="1325805"/>
            <a:ext cx="431638" cy="20496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D234B248-4D2B-198F-57CB-70FA28EDD745}"/>
              </a:ext>
            </a:extLst>
          </p:cNvPr>
          <p:cNvSpPr/>
          <p:nvPr/>
        </p:nvSpPr>
        <p:spPr>
          <a:xfrm>
            <a:off x="1387793" y="4277252"/>
            <a:ext cx="474802" cy="22546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F2FA860-6F66-CA61-94C3-080A2C182AAA}"/>
              </a:ext>
            </a:extLst>
          </p:cNvPr>
          <p:cNvSpPr/>
          <p:nvPr/>
        </p:nvSpPr>
        <p:spPr>
          <a:xfrm>
            <a:off x="1400634" y="8133468"/>
            <a:ext cx="574510" cy="22546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18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08E2-64BB-0F2E-8F93-F06B97F2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11BB0BA-82B8-3D38-7943-239D5BA1C861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3CCC98-4B36-D84B-868C-F64023CB9B24}"/>
              </a:ext>
            </a:extLst>
          </p:cNvPr>
          <p:cNvSpPr/>
          <p:nvPr/>
        </p:nvSpPr>
        <p:spPr>
          <a:xfrm>
            <a:off x="6064" y="-3583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F925CF9-96D9-1901-FFFF-ECF59D5ABDFB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2FE3E8C-32C8-904C-A13C-3522386A913E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23AB99B-BC12-4B42-20A9-F13C262D05AB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27D234E-E329-F759-3CA4-84653942F012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3CD25F55-676E-8F0B-F269-7F58D622752B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D1A7C2A-60A4-049E-218E-8AC600A50DB5}"/>
              </a:ext>
            </a:extLst>
          </p:cNvPr>
          <p:cNvSpPr/>
          <p:nvPr/>
        </p:nvSpPr>
        <p:spPr>
          <a:xfrm>
            <a:off x="554537" y="423893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F99E805-CCC7-FC66-82FB-C65C90C5E96C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DE3B256-DF81-3DBB-FD1A-0CC45C9B93E6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3C15218-C8E3-59EF-E09F-F81D558EA473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2FE2702E-8683-69CA-EF72-20137A496C1E}"/>
              </a:ext>
            </a:extLst>
          </p:cNvPr>
          <p:cNvSpPr/>
          <p:nvPr/>
        </p:nvSpPr>
        <p:spPr>
          <a:xfrm>
            <a:off x="546348" y="7301051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10BDA97-80A1-59F8-7B84-C8DEA06E919B}"/>
              </a:ext>
            </a:extLst>
          </p:cNvPr>
          <p:cNvSpPr txBox="1"/>
          <p:nvPr/>
        </p:nvSpPr>
        <p:spPr>
          <a:xfrm>
            <a:off x="778114" y="7219472"/>
            <a:ext cx="2733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7. Handling the Brim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12F0039-3435-1D7B-0532-CC97331F8630}"/>
              </a:ext>
            </a:extLst>
          </p:cNvPr>
          <p:cNvSpPr txBox="1"/>
          <p:nvPr/>
        </p:nvSpPr>
        <p:spPr>
          <a:xfrm>
            <a:off x="676426" y="7599215"/>
            <a:ext cx="564949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The brim is not required when using the filament, so remove it before use.</a:t>
            </a:r>
            <a:endParaRPr lang="ja-JP" altLang="ja-JP" sz="1050" dirty="0"/>
          </a:p>
          <a:p>
            <a:r>
              <a:rPr lang="en-US" altLang="ja-JP" sz="1050" dirty="0"/>
              <a:t>Because the brim identifies the specifications used to print the filament, we recommend leaving it attached during storage when the filament will not be used immediately.</a:t>
            </a:r>
            <a:endParaRPr lang="ja-JP" altLang="ja-JP" sz="1050" dirty="0"/>
          </a:p>
          <a:p>
            <a:endParaRPr kumimoji="1" lang="ja-JP" altLang="en-US" sz="105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A42F8189-ED86-2F61-850D-01F13BCB47C8}"/>
              </a:ext>
            </a:extLst>
          </p:cNvPr>
          <p:cNvSpPr/>
          <p:nvPr/>
        </p:nvSpPr>
        <p:spPr>
          <a:xfrm>
            <a:off x="564568" y="4135478"/>
            <a:ext cx="204669" cy="1860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F82A7D5-B446-9FEA-6FE0-2A5661670739}"/>
              </a:ext>
            </a:extLst>
          </p:cNvPr>
          <p:cNvSpPr txBox="1"/>
          <p:nvPr/>
        </p:nvSpPr>
        <p:spPr>
          <a:xfrm>
            <a:off x="769237" y="4076477"/>
            <a:ext cx="3060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6. New Series Preview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351E00A-C52B-AB6C-E169-0681CBCBBB41}"/>
              </a:ext>
            </a:extLst>
          </p:cNvPr>
          <p:cNvSpPr txBox="1"/>
          <p:nvPr/>
        </p:nvSpPr>
        <p:spPr>
          <a:xfrm>
            <a:off x="666901" y="4520402"/>
            <a:ext cx="5649491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New Series Preview models provide a preview of an upcoming series.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[Inside Brim]</a:t>
            </a:r>
            <a:endParaRPr lang="ja-JP" altLang="ja-JP" sz="1050" dirty="0"/>
          </a:p>
          <a:p>
            <a:r>
              <a:rPr lang="en-US" altLang="ja-JP" sz="1050" dirty="0"/>
              <a:t>Only the series abbreviation </a:t>
            </a:r>
            <a:r>
              <a:rPr lang="ja-JP" altLang="ja-JP" sz="1050" dirty="0"/>
              <a:t>“</a:t>
            </a:r>
            <a:r>
              <a:rPr lang="en-US" altLang="ja-JP" sz="1050" dirty="0"/>
              <a:t>Prev</a:t>
            </a:r>
            <a:r>
              <a:rPr lang="ja-JP" altLang="ja-JP" sz="1050" dirty="0"/>
              <a:t>”</a:t>
            </a:r>
            <a:r>
              <a:rPr lang="en-US" altLang="ja-JP" sz="1050" dirty="0"/>
              <a:t> is displayed.</a:t>
            </a:r>
            <a:endParaRPr lang="ja-JP" altLang="ja-JP" sz="1050" dirty="0"/>
          </a:p>
          <a:p>
            <a:r>
              <a:rPr lang="en-US" altLang="ja-JP" sz="1050" dirty="0"/>
              <a:t>The notation follows the same format as Blend Filament.</a:t>
            </a:r>
          </a:p>
          <a:p>
            <a:endParaRPr lang="ja-JP" altLang="ja-JP" sz="1050" dirty="0"/>
          </a:p>
          <a:p>
            <a:r>
              <a:rPr lang="en-US" altLang="ja-JP" sz="1050" dirty="0"/>
              <a:t>Example:    Prev     indicates a New Series Preview model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[Outside Brim]</a:t>
            </a:r>
            <a:endParaRPr lang="ja-JP" altLang="ja-JP" sz="1050" dirty="0"/>
          </a:p>
          <a:p>
            <a:r>
              <a:rPr lang="en-US" altLang="ja-JP" sz="1050" dirty="0"/>
              <a:t>There is no fixed notation. A new series preview model is created to build anticipation for the “new series.” As a result, a hint is displayed on the outer brim.</a:t>
            </a:r>
          </a:p>
          <a:p>
            <a:endParaRPr lang="ja-JP" altLang="ja-JP" sz="1050" dirty="0"/>
          </a:p>
          <a:p>
            <a:r>
              <a:rPr lang="en-US" altLang="ja-JP" sz="1050" dirty="0"/>
              <a:t>Example:    GRD     is a clue to the answer: “gradient filament.”</a:t>
            </a:r>
            <a:endParaRPr lang="ja-JP" altLang="ja-JP" sz="1050" dirty="0"/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.</a:t>
            </a:r>
            <a:endParaRPr kumimoji="1" lang="ja-JP" altLang="en-US" sz="105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97B7001-C1C5-9B03-4CF4-E055D2FCB7EA}"/>
              </a:ext>
            </a:extLst>
          </p:cNvPr>
          <p:cNvSpPr txBox="1"/>
          <p:nvPr/>
        </p:nvSpPr>
        <p:spPr>
          <a:xfrm>
            <a:off x="666901" y="638958"/>
            <a:ext cx="5649491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/>
              <a:t>[Outside Brim]</a:t>
            </a:r>
            <a:endParaRPr lang="ja-JP" altLang="ja-JP" sz="1050" dirty="0"/>
          </a:p>
          <a:p>
            <a:r>
              <a:rPr lang="en-US" altLang="ja-JP" sz="1050" dirty="0"/>
              <a:t>The upper row displays </a:t>
            </a:r>
            <a:r>
              <a:rPr lang="ja-JP" altLang="ja-JP" sz="1050" dirty="0"/>
              <a:t>“</a:t>
            </a:r>
            <a:r>
              <a:rPr lang="en-US" altLang="ja-JP" sz="1050" dirty="0"/>
              <a:t>IN</a:t>
            </a:r>
            <a:r>
              <a:rPr lang="ja-JP" altLang="ja-JP" sz="1050" dirty="0"/>
              <a:t>→”</a:t>
            </a:r>
            <a:r>
              <a:rPr lang="en-US" altLang="ja-JP" sz="1050" dirty="0"/>
              <a:t> to indicate the recommended insertion direction. The lower row displays the color-curve abbreviation, followed by </a:t>
            </a:r>
            <a:r>
              <a:rPr lang="ja-JP" altLang="ja-JP" sz="1050" dirty="0"/>
              <a:t>“</a:t>
            </a:r>
            <a:r>
              <a:rPr lang="en-US" altLang="ja-JP" sz="1050" dirty="0"/>
              <a:t>/</a:t>
            </a:r>
            <a:r>
              <a:rPr lang="ja-JP" altLang="ja-JP" sz="1050" dirty="0"/>
              <a:t>”</a:t>
            </a:r>
            <a:r>
              <a:rPr lang="en-US" altLang="ja-JP" sz="1050" dirty="0"/>
              <a:t> and the cycle count.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dirty="0"/>
              <a:t>                                 IN</a:t>
            </a:r>
            <a:r>
              <a:rPr lang="ja-JP" altLang="ja-JP" sz="1050" dirty="0"/>
              <a:t>→</a:t>
            </a:r>
          </a:p>
          <a:p>
            <a:r>
              <a:rPr lang="en-US" altLang="ja-JP" sz="1050" dirty="0"/>
              <a:t>                       Vvd/.5cyc </a:t>
            </a:r>
          </a:p>
          <a:p>
            <a:endParaRPr lang="en-US" altLang="ja-JP" sz="500" dirty="0"/>
          </a:p>
          <a:p>
            <a:r>
              <a:rPr lang="en-US" altLang="ja-JP" sz="1050" dirty="0"/>
              <a:t>The arrow indicates the insertion direction, and the lower row indicates a 0.5-cycle gradient using the Vivid color curve.</a:t>
            </a:r>
            <a:endParaRPr lang="ja-JP" altLang="ja-JP" sz="105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7564FEE-0A96-8F23-9C16-9CDDA7A3A223}"/>
              </a:ext>
            </a:extLst>
          </p:cNvPr>
          <p:cNvSpPr txBox="1"/>
          <p:nvPr/>
        </p:nvSpPr>
        <p:spPr>
          <a:xfrm>
            <a:off x="676426" y="1351707"/>
            <a:ext cx="8030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Example: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BC1B064-2468-A774-21BE-F451B9B8697F}"/>
              </a:ext>
            </a:extLst>
          </p:cNvPr>
          <p:cNvSpPr/>
          <p:nvPr/>
        </p:nvSpPr>
        <p:spPr>
          <a:xfrm>
            <a:off x="1431438" y="1267051"/>
            <a:ext cx="838200" cy="42322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AAF058C-FD3E-6BBC-B2DF-73A789326596}"/>
              </a:ext>
            </a:extLst>
          </p:cNvPr>
          <p:cNvGrpSpPr/>
          <p:nvPr/>
        </p:nvGrpSpPr>
        <p:grpSpPr>
          <a:xfrm>
            <a:off x="560196" y="2159462"/>
            <a:ext cx="5756193" cy="1642545"/>
            <a:chOff x="0" y="0"/>
            <a:chExt cx="6069081" cy="1818034"/>
          </a:xfrm>
        </p:grpSpPr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308CA542-1A94-C336-03A2-2D6BCFB3A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2673" y="1"/>
              <a:ext cx="1994038" cy="18180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11EB9214-9DC5-EC7E-2212-0B183590A8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567"/>
              <a:ext cx="1955938" cy="66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B43E992A-A261-9D9E-48B7-5D91836D03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043" y="0"/>
              <a:ext cx="1994038" cy="1367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0CF2F5BD-BB35-99E9-D810-F107F64A22FA}"/>
              </a:ext>
            </a:extLst>
          </p:cNvPr>
          <p:cNvSpPr/>
          <p:nvPr/>
        </p:nvSpPr>
        <p:spPr>
          <a:xfrm>
            <a:off x="1377396" y="5475209"/>
            <a:ext cx="473142" cy="217183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D2F248C6-732E-F246-9789-16BA4A36409C}"/>
              </a:ext>
            </a:extLst>
          </p:cNvPr>
          <p:cNvSpPr/>
          <p:nvPr/>
        </p:nvSpPr>
        <p:spPr>
          <a:xfrm>
            <a:off x="1386410" y="6438387"/>
            <a:ext cx="473142" cy="217183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425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435A-1DB2-0A5F-2908-99E2008E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FE1337C-5CB0-6BC8-1ACF-A4B40149AA68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47951DD-9DAC-4D69-9240-B3C3E1020ABA}"/>
              </a:ext>
            </a:extLst>
          </p:cNvPr>
          <p:cNvSpPr/>
          <p:nvPr/>
        </p:nvSpPr>
        <p:spPr>
          <a:xfrm>
            <a:off x="6064" y="-3583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7EF55BD-89D6-366B-8A96-4C5F63AF9003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7C00CF0-7984-589D-506A-F1D0C0BEBCE8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4229915-0650-459F-3496-BAC6A10BEADF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92C7A15-DF9A-61BB-9D21-04C1328B807A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693BE04-B0B0-4816-FECD-63D586AD4D20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C5D7C16-827F-D094-CC54-3B0A7A1139DC}"/>
              </a:ext>
            </a:extLst>
          </p:cNvPr>
          <p:cNvSpPr/>
          <p:nvPr/>
        </p:nvSpPr>
        <p:spPr>
          <a:xfrm>
            <a:off x="554537" y="423893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FEA0324-1190-D193-5F51-6411C010485F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A6C373B-32B4-859D-09F3-24920C3955FF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E8A7B1-E418-280D-D81D-735F8288BDFC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B1A42344-6D13-74F0-C5D9-0938D6B4117A}"/>
              </a:ext>
            </a:extLst>
          </p:cNvPr>
          <p:cNvSpPr/>
          <p:nvPr/>
        </p:nvSpPr>
        <p:spPr>
          <a:xfrm>
            <a:off x="546348" y="881507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8E81EC9-78A2-F271-80C9-0ACA26B50828}"/>
              </a:ext>
            </a:extLst>
          </p:cNvPr>
          <p:cNvSpPr txBox="1"/>
          <p:nvPr/>
        </p:nvSpPr>
        <p:spPr>
          <a:xfrm>
            <a:off x="778114" y="810625"/>
            <a:ext cx="2356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8. Update History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52D00B5-32D2-7FDF-0C0B-D046C2053A4E}"/>
              </a:ext>
            </a:extLst>
          </p:cNvPr>
          <p:cNvSpPr txBox="1"/>
          <p:nvPr/>
        </p:nvSpPr>
        <p:spPr>
          <a:xfrm>
            <a:off x="638323" y="1179671"/>
            <a:ext cx="56494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Ver.1.00  2026-07-21  First Edition Published</a:t>
            </a:r>
          </a:p>
          <a:p>
            <a:r>
              <a:rPr lang="en-US" altLang="ja-JP" sz="9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Ver.1.10  2026-07-24  Revisions for Integrated Design</a:t>
            </a:r>
          </a:p>
          <a:p>
            <a:endParaRPr kumimoji="1" lang="ja-JP" altLang="en-US" sz="9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6081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51CF-0398-ECB1-B8DA-4FCBBEA5F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C26A390-56A4-41DC-AB1E-BF6101A0529F}"/>
              </a:ext>
            </a:extLst>
          </p:cNvPr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フリーフォーム: 図形 37">
            <a:extLst>
              <a:ext uri="{FF2B5EF4-FFF2-40B4-BE49-F238E27FC236}">
                <a16:creationId xmlns:a16="http://schemas.microsoft.com/office/drawing/2014/main" id="{981337C9-A70D-DD0F-37D9-D25FD275A643}"/>
              </a:ext>
            </a:extLst>
          </p:cNvPr>
          <p:cNvSpPr/>
          <p:nvPr/>
        </p:nvSpPr>
        <p:spPr>
          <a:xfrm>
            <a:off x="-2" y="0"/>
            <a:ext cx="6858000" cy="9144000"/>
          </a:xfrm>
          <a:custGeom>
            <a:avLst/>
            <a:gdLst>
              <a:gd name="connsiteX0" fmla="*/ 3734846 w 6858000"/>
              <a:gd name="connsiteY0" fmla="*/ 8661917 h 9144000"/>
              <a:gd name="connsiteX1" fmla="*/ 3734846 w 6858000"/>
              <a:gd name="connsiteY1" fmla="*/ 8715917 h 9144000"/>
              <a:gd name="connsiteX2" fmla="*/ 6326846 w 6858000"/>
              <a:gd name="connsiteY2" fmla="*/ 8715917 h 9144000"/>
              <a:gd name="connsiteX3" fmla="*/ 6326846 w 6858000"/>
              <a:gd name="connsiteY3" fmla="*/ 8661917 h 9144000"/>
              <a:gd name="connsiteX4" fmla="*/ 554540 w 6858000"/>
              <a:gd name="connsiteY4" fmla="*/ 8661917 h 9144000"/>
              <a:gd name="connsiteX5" fmla="*/ 554540 w 6858000"/>
              <a:gd name="connsiteY5" fmla="*/ 8715917 h 9144000"/>
              <a:gd name="connsiteX6" fmla="*/ 3146540 w 6858000"/>
              <a:gd name="connsiteY6" fmla="*/ 8715917 h 9144000"/>
              <a:gd name="connsiteX7" fmla="*/ 3146540 w 6858000"/>
              <a:gd name="connsiteY7" fmla="*/ 8661917 h 9144000"/>
              <a:gd name="connsiteX8" fmla="*/ 668655 w 6858000"/>
              <a:gd name="connsiteY8" fmla="*/ 7690274 h 9144000"/>
              <a:gd name="connsiteX9" fmla="*/ 605113 w 6858000"/>
              <a:gd name="connsiteY9" fmla="*/ 7753816 h 9144000"/>
              <a:gd name="connsiteX10" fmla="*/ 668655 w 6858000"/>
              <a:gd name="connsiteY10" fmla="*/ 7817358 h 9144000"/>
              <a:gd name="connsiteX11" fmla="*/ 732197 w 6858000"/>
              <a:gd name="connsiteY11" fmla="*/ 7753816 h 9144000"/>
              <a:gd name="connsiteX12" fmla="*/ 668655 w 6858000"/>
              <a:gd name="connsiteY12" fmla="*/ 7690274 h 9144000"/>
              <a:gd name="connsiteX13" fmla="*/ 668512 w 6858000"/>
              <a:gd name="connsiteY13" fmla="*/ 4679629 h 9144000"/>
              <a:gd name="connsiteX14" fmla="*/ 566177 w 6858000"/>
              <a:gd name="connsiteY14" fmla="*/ 4781964 h 9144000"/>
              <a:gd name="connsiteX15" fmla="*/ 668512 w 6858000"/>
              <a:gd name="connsiteY15" fmla="*/ 4884299 h 9144000"/>
              <a:gd name="connsiteX16" fmla="*/ 770847 w 6858000"/>
              <a:gd name="connsiteY16" fmla="*/ 4781964 h 9144000"/>
              <a:gd name="connsiteX17" fmla="*/ 668512 w 6858000"/>
              <a:gd name="connsiteY17" fmla="*/ 4679629 h 9144000"/>
              <a:gd name="connsiteX18" fmla="*/ 668512 w 6858000"/>
              <a:gd name="connsiteY18" fmla="*/ 3069491 h 9144000"/>
              <a:gd name="connsiteX19" fmla="*/ 566177 w 6858000"/>
              <a:gd name="connsiteY19" fmla="*/ 3171826 h 9144000"/>
              <a:gd name="connsiteX20" fmla="*/ 668512 w 6858000"/>
              <a:gd name="connsiteY20" fmla="*/ 3274161 h 9144000"/>
              <a:gd name="connsiteX21" fmla="*/ 770847 w 6858000"/>
              <a:gd name="connsiteY21" fmla="*/ 3171826 h 9144000"/>
              <a:gd name="connsiteX22" fmla="*/ 668512 w 6858000"/>
              <a:gd name="connsiteY22" fmla="*/ 3069491 h 9144000"/>
              <a:gd name="connsiteX23" fmla="*/ 6115158 w 6858000"/>
              <a:gd name="connsiteY23" fmla="*/ 2279977 h 9144000"/>
              <a:gd name="connsiteX24" fmla="*/ 6059853 w 6858000"/>
              <a:gd name="connsiteY24" fmla="*/ 2335282 h 9144000"/>
              <a:gd name="connsiteX25" fmla="*/ 805414 w 6858000"/>
              <a:gd name="connsiteY25" fmla="*/ 2335282 h 9144000"/>
              <a:gd name="connsiteX26" fmla="*/ 766308 w 6858000"/>
              <a:gd name="connsiteY26" fmla="*/ 2319083 h 9144000"/>
              <a:gd name="connsiteX27" fmla="*/ 750110 w 6858000"/>
              <a:gd name="connsiteY27" fmla="*/ 2279979 h 9144000"/>
              <a:gd name="connsiteX28" fmla="*/ 750110 w 6858000"/>
              <a:gd name="connsiteY28" fmla="*/ 2413569 h 9144000"/>
              <a:gd name="connsiteX29" fmla="*/ 939006 w 6858000"/>
              <a:gd name="connsiteY29" fmla="*/ 2602465 h 9144000"/>
              <a:gd name="connsiteX30" fmla="*/ 5926262 w 6858000"/>
              <a:gd name="connsiteY30" fmla="*/ 2602465 h 9144000"/>
              <a:gd name="connsiteX31" fmla="*/ 6115158 w 6858000"/>
              <a:gd name="connsiteY31" fmla="*/ 2413569 h 9144000"/>
              <a:gd name="connsiteX32" fmla="*/ 939008 w 6858000"/>
              <a:gd name="connsiteY32" fmla="*/ 431920 h 9144000"/>
              <a:gd name="connsiteX33" fmla="*/ 750112 w 6858000"/>
              <a:gd name="connsiteY33" fmla="*/ 620816 h 9144000"/>
              <a:gd name="connsiteX34" fmla="*/ 750112 w 6858000"/>
              <a:gd name="connsiteY34" fmla="*/ 754408 h 9144000"/>
              <a:gd name="connsiteX35" fmla="*/ 805417 w 6858000"/>
              <a:gd name="connsiteY35" fmla="*/ 699103 h 9144000"/>
              <a:gd name="connsiteX36" fmla="*/ 6059855 w 6858000"/>
              <a:gd name="connsiteY36" fmla="*/ 699103 h 9144000"/>
              <a:gd name="connsiteX37" fmla="*/ 6098962 w 6858000"/>
              <a:gd name="connsiteY37" fmla="*/ 715302 h 9144000"/>
              <a:gd name="connsiteX38" fmla="*/ 6115159 w 6858000"/>
              <a:gd name="connsiteY38" fmla="*/ 754406 h 9144000"/>
              <a:gd name="connsiteX39" fmla="*/ 6115159 w 6858000"/>
              <a:gd name="connsiteY39" fmla="*/ 620816 h 9144000"/>
              <a:gd name="connsiteX40" fmla="*/ 5926263 w 6858000"/>
              <a:gd name="connsiteY40" fmla="*/ 431920 h 9144000"/>
              <a:gd name="connsiteX41" fmla="*/ 0 w 6858000"/>
              <a:gd name="connsiteY41" fmla="*/ 0 h 9144000"/>
              <a:gd name="connsiteX42" fmla="*/ 6858000 w 6858000"/>
              <a:gd name="connsiteY42" fmla="*/ 0 h 9144000"/>
              <a:gd name="connsiteX43" fmla="*/ 6858000 w 6858000"/>
              <a:gd name="connsiteY43" fmla="*/ 9144000 h 9144000"/>
              <a:gd name="connsiteX44" fmla="*/ 0 w 6858000"/>
              <a:gd name="connsiteY44" fmla="*/ 9144000 h 91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858000" h="9144000">
                <a:moveTo>
                  <a:pt x="3734846" y="8661917"/>
                </a:moveTo>
                <a:lnTo>
                  <a:pt x="3734846" y="8715917"/>
                </a:lnTo>
                <a:lnTo>
                  <a:pt x="6326846" y="8715917"/>
                </a:lnTo>
                <a:lnTo>
                  <a:pt x="6326846" y="8661917"/>
                </a:lnTo>
                <a:close/>
                <a:moveTo>
                  <a:pt x="554540" y="8661917"/>
                </a:moveTo>
                <a:lnTo>
                  <a:pt x="554540" y="8715917"/>
                </a:lnTo>
                <a:lnTo>
                  <a:pt x="3146540" y="8715917"/>
                </a:lnTo>
                <a:lnTo>
                  <a:pt x="3146540" y="8661917"/>
                </a:lnTo>
                <a:close/>
                <a:moveTo>
                  <a:pt x="668655" y="7690274"/>
                </a:moveTo>
                <a:cubicBezTo>
                  <a:pt x="633562" y="7690274"/>
                  <a:pt x="605113" y="7718723"/>
                  <a:pt x="605113" y="7753816"/>
                </a:cubicBezTo>
                <a:cubicBezTo>
                  <a:pt x="605113" y="7788909"/>
                  <a:pt x="633562" y="7817358"/>
                  <a:pt x="668655" y="7817358"/>
                </a:cubicBezTo>
                <a:cubicBezTo>
                  <a:pt x="703748" y="7817358"/>
                  <a:pt x="732197" y="7788909"/>
                  <a:pt x="732197" y="7753816"/>
                </a:cubicBezTo>
                <a:cubicBezTo>
                  <a:pt x="732197" y="7718723"/>
                  <a:pt x="703748" y="7690274"/>
                  <a:pt x="668655" y="7690274"/>
                </a:cubicBezTo>
                <a:close/>
                <a:moveTo>
                  <a:pt x="668512" y="4679629"/>
                </a:moveTo>
                <a:cubicBezTo>
                  <a:pt x="611994" y="4679629"/>
                  <a:pt x="566177" y="4725446"/>
                  <a:pt x="566177" y="4781964"/>
                </a:cubicBezTo>
                <a:cubicBezTo>
                  <a:pt x="566177" y="4838482"/>
                  <a:pt x="611994" y="4884299"/>
                  <a:pt x="668512" y="4884299"/>
                </a:cubicBezTo>
                <a:cubicBezTo>
                  <a:pt x="725030" y="4884299"/>
                  <a:pt x="770847" y="4838482"/>
                  <a:pt x="770847" y="4781964"/>
                </a:cubicBezTo>
                <a:cubicBezTo>
                  <a:pt x="770847" y="4725446"/>
                  <a:pt x="725030" y="4679629"/>
                  <a:pt x="668512" y="4679629"/>
                </a:cubicBezTo>
                <a:close/>
                <a:moveTo>
                  <a:pt x="668512" y="3069491"/>
                </a:moveTo>
                <a:cubicBezTo>
                  <a:pt x="611994" y="3069491"/>
                  <a:pt x="566177" y="3115308"/>
                  <a:pt x="566177" y="3171826"/>
                </a:cubicBezTo>
                <a:cubicBezTo>
                  <a:pt x="566177" y="3228344"/>
                  <a:pt x="611994" y="3274161"/>
                  <a:pt x="668512" y="3274161"/>
                </a:cubicBezTo>
                <a:cubicBezTo>
                  <a:pt x="725030" y="3274161"/>
                  <a:pt x="770847" y="3228344"/>
                  <a:pt x="770847" y="3171826"/>
                </a:cubicBezTo>
                <a:cubicBezTo>
                  <a:pt x="770847" y="3115308"/>
                  <a:pt x="725030" y="3069491"/>
                  <a:pt x="668512" y="3069491"/>
                </a:cubicBezTo>
                <a:close/>
                <a:moveTo>
                  <a:pt x="6115158" y="2279977"/>
                </a:moveTo>
                <a:cubicBezTo>
                  <a:pt x="6115158" y="2310521"/>
                  <a:pt x="6090397" y="2335282"/>
                  <a:pt x="6059853" y="2335282"/>
                </a:cubicBezTo>
                <a:lnTo>
                  <a:pt x="805414" y="2335282"/>
                </a:lnTo>
                <a:cubicBezTo>
                  <a:pt x="790142" y="2335282"/>
                  <a:pt x="776316" y="2329092"/>
                  <a:pt x="766308" y="2319083"/>
                </a:cubicBezTo>
                <a:lnTo>
                  <a:pt x="750110" y="2279979"/>
                </a:lnTo>
                <a:lnTo>
                  <a:pt x="750110" y="2413569"/>
                </a:lnTo>
                <a:cubicBezTo>
                  <a:pt x="750110" y="2517893"/>
                  <a:pt x="834682" y="2602465"/>
                  <a:pt x="939006" y="2602465"/>
                </a:cubicBezTo>
                <a:lnTo>
                  <a:pt x="5926262" y="2602465"/>
                </a:lnTo>
                <a:cubicBezTo>
                  <a:pt x="6030586" y="2602465"/>
                  <a:pt x="6115158" y="2517893"/>
                  <a:pt x="6115158" y="2413569"/>
                </a:cubicBezTo>
                <a:close/>
                <a:moveTo>
                  <a:pt x="939008" y="431920"/>
                </a:moveTo>
                <a:cubicBezTo>
                  <a:pt x="834684" y="431920"/>
                  <a:pt x="750112" y="516492"/>
                  <a:pt x="750112" y="620816"/>
                </a:cubicBezTo>
                <a:lnTo>
                  <a:pt x="750112" y="754408"/>
                </a:lnTo>
                <a:cubicBezTo>
                  <a:pt x="750112" y="723864"/>
                  <a:pt x="774873" y="699103"/>
                  <a:pt x="805417" y="699103"/>
                </a:cubicBezTo>
                <a:lnTo>
                  <a:pt x="6059855" y="699103"/>
                </a:lnTo>
                <a:cubicBezTo>
                  <a:pt x="6075127" y="699103"/>
                  <a:pt x="6088953" y="705293"/>
                  <a:pt x="6098962" y="715302"/>
                </a:cubicBezTo>
                <a:lnTo>
                  <a:pt x="6115159" y="754406"/>
                </a:lnTo>
                <a:lnTo>
                  <a:pt x="6115159" y="620816"/>
                </a:lnTo>
                <a:cubicBezTo>
                  <a:pt x="6115159" y="516492"/>
                  <a:pt x="6030587" y="431920"/>
                  <a:pt x="5926263" y="431920"/>
                </a:cubicBez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9886238-8DC6-034A-5BE5-737CABC5484D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62BB3A-9026-22CB-9F5C-DCC1993D5DC2}"/>
              </a:ext>
            </a:extLst>
          </p:cNvPr>
          <p:cNvSpPr txBox="1"/>
          <p:nvPr/>
        </p:nvSpPr>
        <p:spPr>
          <a:xfrm>
            <a:off x="646571" y="840586"/>
            <a:ext cx="56104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latin typeface="Segoe UI Semibold" panose="020B0702040204020203" pitchFamily="34" charset="0"/>
                <a:ea typeface="IBM Plex Sans JP" panose="020B0503050203000203" pitchFamily="50" charset="-128"/>
                <a:cs typeface="Segoe UI Semibold" panose="020B0702040204020203" pitchFamily="34" charset="0"/>
              </a:rPr>
              <a:t>FlexChroma™</a:t>
            </a:r>
            <a:r>
              <a:rPr lang="en-US" altLang="ja-JP" sz="3200" b="1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</a:t>
            </a:r>
            <a:r>
              <a:rPr lang="en-US" altLang="ja-JP" sz="2900" b="1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Brim Info Guide</a:t>
            </a:r>
            <a:endParaRPr lang="ja-JP" altLang="ja-JP" sz="29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  <a:p>
            <a:endParaRPr kumimoji="1" lang="ja-JP" altLang="en-US" sz="32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E30E46-D9E8-7A28-BA96-0822D24D59D5}"/>
              </a:ext>
            </a:extLst>
          </p:cNvPr>
          <p:cNvSpPr txBox="1"/>
          <p:nvPr/>
        </p:nvSpPr>
        <p:spPr>
          <a:xfrm>
            <a:off x="770844" y="3001606"/>
            <a:ext cx="2055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1. Introduction</a:t>
            </a:r>
            <a:endParaRPr kumimoji="1" lang="ja-JP" altLang="en-US" sz="20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5BF4DD6-F421-85F3-CDD4-831D890EC6A8}"/>
              </a:ext>
            </a:extLst>
          </p:cNvPr>
          <p:cNvSpPr txBox="1"/>
          <p:nvPr/>
        </p:nvSpPr>
        <p:spPr>
          <a:xfrm>
            <a:off x="668508" y="3424546"/>
            <a:ext cx="564949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FlexChroma™ </a:t>
            </a:r>
            <a:r>
              <a:rPr lang="en-US" altLang="ja-JP" sz="1050" dirty="0"/>
              <a:t>models create custom filament by combining commercially available filaments.</a:t>
            </a:r>
            <a:endParaRPr lang="ja-JP" altLang="ja-JP" sz="1050" dirty="0"/>
          </a:p>
          <a:p>
            <a:r>
              <a:rPr lang="en-US" altLang="ja-JP" sz="1050" dirty="0"/>
              <a:t>Information is displayed on the brim so that the specifications of each printed filament can be identified easily.</a:t>
            </a:r>
            <a:endParaRPr lang="ja-JP" altLang="ja-JP" sz="1050" dirty="0"/>
          </a:p>
          <a:p>
            <a:r>
              <a:rPr lang="en-US" altLang="ja-JP" sz="1050" dirty="0"/>
              <a:t>This guide explains how to interpret that information.</a:t>
            </a:r>
          </a:p>
          <a:p>
            <a:endParaRPr lang="ja-JP" altLang="ja-JP" sz="105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05063D3-81CF-B09D-241F-3016BEE02F2C}"/>
              </a:ext>
            </a:extLst>
          </p:cNvPr>
          <p:cNvSpPr txBox="1"/>
          <p:nvPr/>
        </p:nvSpPr>
        <p:spPr>
          <a:xfrm>
            <a:off x="770844" y="4611744"/>
            <a:ext cx="2888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2. </a:t>
            </a:r>
            <a:r>
              <a:rPr lang="en-US" altLang="ja-JP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Functions of the Brim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3E3D56B-0669-5DAF-6CF1-0AD3AD7CFF35}"/>
              </a:ext>
            </a:extLst>
          </p:cNvPr>
          <p:cNvSpPr txBox="1"/>
          <p:nvPr/>
        </p:nvSpPr>
        <p:spPr>
          <a:xfrm>
            <a:off x="661239" y="5034684"/>
            <a:ext cx="5649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brim serves two purposes: improving bed adhesion and displaying filament information.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Because the available space on the brim is limited, abbreviations are used to display the filament information.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BF4F5CF-DD63-39C3-3346-D8F7C8246095}"/>
              </a:ext>
            </a:extLst>
          </p:cNvPr>
          <p:cNvSpPr txBox="1"/>
          <p:nvPr/>
        </p:nvSpPr>
        <p:spPr>
          <a:xfrm>
            <a:off x="1515655" y="1424613"/>
            <a:ext cx="3826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- Let's Decode the Brim Information -</a:t>
            </a:r>
            <a:endParaRPr kumimoji="1" lang="ja-JP" altLang="en-US" sz="16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2BD3D47-C9D5-1CB5-2693-C91D04549DA8}"/>
              </a:ext>
            </a:extLst>
          </p:cNvPr>
          <p:cNvSpPr txBox="1"/>
          <p:nvPr/>
        </p:nvSpPr>
        <p:spPr>
          <a:xfrm>
            <a:off x="2381276" y="1883364"/>
            <a:ext cx="1904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Ver.1.10  2026.7.24</a:t>
            </a:r>
            <a:endParaRPr kumimoji="1" lang="ja-JP" altLang="en-US" sz="14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pic>
        <p:nvPicPr>
          <p:cNvPr id="11" name="図 10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FDF9D92C-7583-3D43-68BB-C8214597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51" y="5860779"/>
            <a:ext cx="5036095" cy="1716479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A7BFAF3-BF82-8ABB-1227-8419629274D9}"/>
              </a:ext>
            </a:extLst>
          </p:cNvPr>
          <p:cNvSpPr txBox="1"/>
          <p:nvPr/>
        </p:nvSpPr>
        <p:spPr>
          <a:xfrm>
            <a:off x="668507" y="7625755"/>
            <a:ext cx="5649492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00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  Meaning of the Text</a:t>
            </a:r>
          </a:p>
          <a:p>
            <a:endParaRPr lang="ja-JP" altLang="ja-JP" sz="600" dirty="0">
              <a:latin typeface="IBM Plex Sans JP Medium" panose="020B0603050203000203" pitchFamily="50" charset="-128"/>
              <a:ea typeface="IBM Plex Sans JP Medium" panose="020B06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inside brim identifies the filament series and family (size).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outside brim displays the specifications selected for that series.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627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AE53-3197-51F5-F5AC-3A97CB99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280F7EC-56FD-1847-2915-DEA4BD88EC81}"/>
              </a:ext>
            </a:extLst>
          </p:cNvPr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6EFDAD9C-BBC1-96D1-91CB-116292E7776D}"/>
              </a:ext>
            </a:extLst>
          </p:cNvPr>
          <p:cNvSpPr/>
          <p:nvPr/>
        </p:nvSpPr>
        <p:spPr>
          <a:xfrm>
            <a:off x="22693" y="0"/>
            <a:ext cx="6858000" cy="9144000"/>
          </a:xfrm>
          <a:custGeom>
            <a:avLst/>
            <a:gdLst>
              <a:gd name="connsiteX0" fmla="*/ 3712151 w 6858000"/>
              <a:gd name="connsiteY0" fmla="*/ 8661917 h 9144000"/>
              <a:gd name="connsiteX1" fmla="*/ 3712151 w 6858000"/>
              <a:gd name="connsiteY1" fmla="*/ 8715917 h 9144000"/>
              <a:gd name="connsiteX2" fmla="*/ 6304151 w 6858000"/>
              <a:gd name="connsiteY2" fmla="*/ 8715917 h 9144000"/>
              <a:gd name="connsiteX3" fmla="*/ 6304151 w 6858000"/>
              <a:gd name="connsiteY3" fmla="*/ 8661917 h 9144000"/>
              <a:gd name="connsiteX4" fmla="*/ 531845 w 6858000"/>
              <a:gd name="connsiteY4" fmla="*/ 8661917 h 9144000"/>
              <a:gd name="connsiteX5" fmla="*/ 531845 w 6858000"/>
              <a:gd name="connsiteY5" fmla="*/ 8715917 h 9144000"/>
              <a:gd name="connsiteX6" fmla="*/ 3123845 w 6858000"/>
              <a:gd name="connsiteY6" fmla="*/ 8715917 h 9144000"/>
              <a:gd name="connsiteX7" fmla="*/ 3123845 w 6858000"/>
              <a:gd name="connsiteY7" fmla="*/ 8661917 h 9144000"/>
              <a:gd name="connsiteX8" fmla="*/ 645817 w 6858000"/>
              <a:gd name="connsiteY8" fmla="*/ 5989159 h 9144000"/>
              <a:gd name="connsiteX9" fmla="*/ 543482 w 6858000"/>
              <a:gd name="connsiteY9" fmla="*/ 6091494 h 9144000"/>
              <a:gd name="connsiteX10" fmla="*/ 645817 w 6858000"/>
              <a:gd name="connsiteY10" fmla="*/ 6193829 h 9144000"/>
              <a:gd name="connsiteX11" fmla="*/ 748152 w 6858000"/>
              <a:gd name="connsiteY11" fmla="*/ 6091494 h 9144000"/>
              <a:gd name="connsiteX12" fmla="*/ 645817 w 6858000"/>
              <a:gd name="connsiteY12" fmla="*/ 5989159 h 9144000"/>
              <a:gd name="connsiteX13" fmla="*/ 645817 w 6858000"/>
              <a:gd name="connsiteY13" fmla="*/ 2527150 h 9144000"/>
              <a:gd name="connsiteX14" fmla="*/ 543482 w 6858000"/>
              <a:gd name="connsiteY14" fmla="*/ 2629485 h 9144000"/>
              <a:gd name="connsiteX15" fmla="*/ 645817 w 6858000"/>
              <a:gd name="connsiteY15" fmla="*/ 2731820 h 9144000"/>
              <a:gd name="connsiteX16" fmla="*/ 748152 w 6858000"/>
              <a:gd name="connsiteY16" fmla="*/ 2629485 h 9144000"/>
              <a:gd name="connsiteX17" fmla="*/ 645817 w 6858000"/>
              <a:gd name="connsiteY17" fmla="*/ 2527150 h 9144000"/>
              <a:gd name="connsiteX18" fmla="*/ 645960 w 6858000"/>
              <a:gd name="connsiteY18" fmla="*/ 771503 h 9144000"/>
              <a:gd name="connsiteX19" fmla="*/ 582418 w 6858000"/>
              <a:gd name="connsiteY19" fmla="*/ 835045 h 9144000"/>
              <a:gd name="connsiteX20" fmla="*/ 645960 w 6858000"/>
              <a:gd name="connsiteY20" fmla="*/ 898587 h 9144000"/>
              <a:gd name="connsiteX21" fmla="*/ 709502 w 6858000"/>
              <a:gd name="connsiteY21" fmla="*/ 835045 h 9144000"/>
              <a:gd name="connsiteX22" fmla="*/ 645960 w 6858000"/>
              <a:gd name="connsiteY22" fmla="*/ 771503 h 9144000"/>
              <a:gd name="connsiteX23" fmla="*/ 531844 w 6858000"/>
              <a:gd name="connsiteY23" fmla="*/ 423893 h 9144000"/>
              <a:gd name="connsiteX24" fmla="*/ 531844 w 6858000"/>
              <a:gd name="connsiteY24" fmla="*/ 477893 h 9144000"/>
              <a:gd name="connsiteX25" fmla="*/ 6288037 w 6858000"/>
              <a:gd name="connsiteY25" fmla="*/ 477893 h 9144000"/>
              <a:gd name="connsiteX26" fmla="*/ 6288037 w 6858000"/>
              <a:gd name="connsiteY26" fmla="*/ 423893 h 9144000"/>
              <a:gd name="connsiteX27" fmla="*/ 0 w 6858000"/>
              <a:gd name="connsiteY27" fmla="*/ 0 h 9144000"/>
              <a:gd name="connsiteX28" fmla="*/ 6858000 w 6858000"/>
              <a:gd name="connsiteY28" fmla="*/ 0 h 9144000"/>
              <a:gd name="connsiteX29" fmla="*/ 6858000 w 6858000"/>
              <a:gd name="connsiteY29" fmla="*/ 9144000 h 9144000"/>
              <a:gd name="connsiteX30" fmla="*/ 0 w 6858000"/>
              <a:gd name="connsiteY30" fmla="*/ 9144000 h 91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858000" h="9144000">
                <a:moveTo>
                  <a:pt x="3712151" y="8661917"/>
                </a:moveTo>
                <a:lnTo>
                  <a:pt x="3712151" y="8715917"/>
                </a:lnTo>
                <a:lnTo>
                  <a:pt x="6304151" y="8715917"/>
                </a:lnTo>
                <a:lnTo>
                  <a:pt x="6304151" y="8661917"/>
                </a:lnTo>
                <a:close/>
                <a:moveTo>
                  <a:pt x="531845" y="8661917"/>
                </a:moveTo>
                <a:lnTo>
                  <a:pt x="531845" y="8715917"/>
                </a:lnTo>
                <a:lnTo>
                  <a:pt x="3123845" y="8715917"/>
                </a:lnTo>
                <a:lnTo>
                  <a:pt x="3123845" y="8661917"/>
                </a:lnTo>
                <a:close/>
                <a:moveTo>
                  <a:pt x="645817" y="5989159"/>
                </a:moveTo>
                <a:cubicBezTo>
                  <a:pt x="589299" y="5989159"/>
                  <a:pt x="543482" y="6034976"/>
                  <a:pt x="543482" y="6091494"/>
                </a:cubicBezTo>
                <a:cubicBezTo>
                  <a:pt x="543482" y="6148012"/>
                  <a:pt x="589299" y="6193829"/>
                  <a:pt x="645817" y="6193829"/>
                </a:cubicBezTo>
                <a:cubicBezTo>
                  <a:pt x="702335" y="6193829"/>
                  <a:pt x="748152" y="6148012"/>
                  <a:pt x="748152" y="6091494"/>
                </a:cubicBezTo>
                <a:cubicBezTo>
                  <a:pt x="748152" y="6034976"/>
                  <a:pt x="702335" y="5989159"/>
                  <a:pt x="645817" y="5989159"/>
                </a:cubicBezTo>
                <a:close/>
                <a:moveTo>
                  <a:pt x="645817" y="2527150"/>
                </a:moveTo>
                <a:cubicBezTo>
                  <a:pt x="589299" y="2527150"/>
                  <a:pt x="543482" y="2572967"/>
                  <a:pt x="543482" y="2629485"/>
                </a:cubicBezTo>
                <a:cubicBezTo>
                  <a:pt x="543482" y="2686003"/>
                  <a:pt x="589299" y="2731820"/>
                  <a:pt x="645817" y="2731820"/>
                </a:cubicBezTo>
                <a:cubicBezTo>
                  <a:pt x="702335" y="2731820"/>
                  <a:pt x="748152" y="2686003"/>
                  <a:pt x="748152" y="2629485"/>
                </a:cubicBezTo>
                <a:cubicBezTo>
                  <a:pt x="748152" y="2572967"/>
                  <a:pt x="702335" y="2527150"/>
                  <a:pt x="645817" y="2527150"/>
                </a:cubicBezTo>
                <a:close/>
                <a:moveTo>
                  <a:pt x="645960" y="771503"/>
                </a:moveTo>
                <a:cubicBezTo>
                  <a:pt x="610867" y="771503"/>
                  <a:pt x="582418" y="799952"/>
                  <a:pt x="582418" y="835045"/>
                </a:cubicBezTo>
                <a:cubicBezTo>
                  <a:pt x="582418" y="870138"/>
                  <a:pt x="610867" y="898587"/>
                  <a:pt x="645960" y="898587"/>
                </a:cubicBezTo>
                <a:cubicBezTo>
                  <a:pt x="681053" y="898587"/>
                  <a:pt x="709502" y="870138"/>
                  <a:pt x="709502" y="835045"/>
                </a:cubicBezTo>
                <a:cubicBezTo>
                  <a:pt x="709502" y="799952"/>
                  <a:pt x="681053" y="771503"/>
                  <a:pt x="645960" y="771503"/>
                </a:cubicBezTo>
                <a:close/>
                <a:moveTo>
                  <a:pt x="531844" y="423893"/>
                </a:moveTo>
                <a:lnTo>
                  <a:pt x="531844" y="477893"/>
                </a:lnTo>
                <a:lnTo>
                  <a:pt x="6288037" y="477893"/>
                </a:lnTo>
                <a:lnTo>
                  <a:pt x="6288037" y="423893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B8824E-F062-84FF-3BF5-ABE8A6B42D84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DD42BA-D5E2-614F-58E2-DBCA36A83A3F}"/>
              </a:ext>
            </a:extLst>
          </p:cNvPr>
          <p:cNvSpPr txBox="1"/>
          <p:nvPr/>
        </p:nvSpPr>
        <p:spPr>
          <a:xfrm>
            <a:off x="770844" y="2461623"/>
            <a:ext cx="36054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3. </a:t>
            </a:r>
            <a:r>
              <a:rPr lang="en-US" altLang="ja-JP" b="1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Information for Each Series</a:t>
            </a:r>
            <a:endParaRPr lang="ja-JP" altLang="ja-JP" b="1" dirty="0">
              <a:latin typeface="IBM Plex Sans JP Medium" panose="020B0603050203000203" pitchFamily="50" charset="-128"/>
              <a:ea typeface="IBM Plex Sans JP Medium" panose="020B0603050203000203" pitchFamily="50" charset="-128"/>
            </a:endParaRPr>
          </a:p>
          <a:p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382E90F-A6FF-09BB-2C3B-3DA9D5EB4FC8}"/>
              </a:ext>
            </a:extLst>
          </p:cNvPr>
          <p:cNvSpPr txBox="1"/>
          <p:nvPr/>
        </p:nvSpPr>
        <p:spPr>
          <a:xfrm>
            <a:off x="668508" y="2838257"/>
            <a:ext cx="564949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The previous section explained the basic structure of the brim information. The text displayed on the brim varies by series.</a:t>
            </a:r>
            <a:r>
              <a:rPr lang="ja-JP" altLang="en-US" sz="1050" dirty="0"/>
              <a:t> </a:t>
            </a:r>
            <a:r>
              <a:rPr lang="en-US" altLang="ja-JP" sz="1050" dirty="0"/>
              <a:t>The information used for each series is summarized below.</a:t>
            </a:r>
            <a:endParaRPr lang="ja-JP" altLang="ja-JP" sz="105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3365BE-05F6-C7C2-8045-93138E209CD2}"/>
              </a:ext>
            </a:extLst>
          </p:cNvPr>
          <p:cNvSpPr txBox="1"/>
          <p:nvPr/>
        </p:nvSpPr>
        <p:spPr>
          <a:xfrm>
            <a:off x="770844" y="5937603"/>
            <a:ext cx="23791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4. Blend Filament</a:t>
            </a:r>
            <a:endParaRPr kumimoji="1" lang="ja-JP" altLang="en-US" sz="28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D65A55F-A76D-C56F-D72C-93CDCBB5474C}"/>
              </a:ext>
            </a:extLst>
          </p:cNvPr>
          <p:cNvSpPr txBox="1"/>
          <p:nvPr/>
        </p:nvSpPr>
        <p:spPr>
          <a:xfrm>
            <a:off x="668509" y="6317254"/>
            <a:ext cx="564222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Blend Filament combines two filaments at different mixing ratios to create new colors.</a:t>
            </a:r>
            <a:endParaRPr lang="ja-JP" altLang="ja-JP" sz="1050" dirty="0"/>
          </a:p>
          <a:p>
            <a:r>
              <a:rPr lang="en-US" altLang="ja-JP" sz="1050" dirty="0"/>
              <a:t>Because its structure is simpler than that of the other series, less information is required and the outside brim contains only one row of text.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[Inside Brim]</a:t>
            </a:r>
            <a:endParaRPr lang="ja-JP" altLang="ja-JP" sz="1050" dirty="0"/>
          </a:p>
          <a:p>
            <a:r>
              <a:rPr lang="en-US" altLang="ja-JP" sz="1050" dirty="0"/>
              <a:t>The series abbreviation </a:t>
            </a:r>
            <a:r>
              <a:rPr lang="ja-JP" altLang="ja-JP" sz="1050" dirty="0"/>
              <a:t>“</a:t>
            </a:r>
            <a:r>
              <a:rPr lang="en-US" altLang="ja-JP" sz="1050" dirty="0"/>
              <a:t>BL</a:t>
            </a:r>
            <a:r>
              <a:rPr lang="ja-JP" altLang="ja-JP" sz="1050" dirty="0"/>
              <a:t>”</a:t>
            </a:r>
            <a:r>
              <a:rPr lang="en-US" altLang="ja-JP" sz="1050" dirty="0"/>
              <a:t> is followed by </a:t>
            </a:r>
            <a:r>
              <a:rPr lang="ja-JP" altLang="ja-JP" sz="1050" dirty="0"/>
              <a:t>“</a:t>
            </a:r>
            <a:r>
              <a:rPr lang="en-US" altLang="ja-JP" sz="1050" dirty="0"/>
              <a:t>/</a:t>
            </a:r>
            <a:r>
              <a:rPr lang="ja-JP" altLang="ja-JP" sz="1050" dirty="0"/>
              <a:t>”</a:t>
            </a:r>
            <a:r>
              <a:rPr lang="en-US" altLang="ja-JP" sz="1050" dirty="0"/>
              <a:t> and the size name. On early models, the series abbreviation and </a:t>
            </a:r>
            <a:r>
              <a:rPr lang="ja-JP" altLang="ja-JP" sz="1050" dirty="0"/>
              <a:t>“</a:t>
            </a:r>
            <a:r>
              <a:rPr lang="en-US" altLang="ja-JP" sz="1050" dirty="0"/>
              <a:t>/</a:t>
            </a:r>
            <a:r>
              <a:rPr lang="ja-JP" altLang="ja-JP" sz="1050" dirty="0"/>
              <a:t>”</a:t>
            </a:r>
            <a:r>
              <a:rPr lang="en-US" altLang="ja-JP" sz="1050" dirty="0"/>
              <a:t> are omitted.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dirty="0"/>
              <a:t>Example:      BL/M4       (indicates a Blend Filament M4 model</a:t>
            </a:r>
            <a:endParaRPr lang="ja-JP" altLang="ja-JP" sz="105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6C4594-F2E4-DBE9-894F-0D3ED3A36470}"/>
              </a:ext>
            </a:extLst>
          </p:cNvPr>
          <p:cNvSpPr txBox="1"/>
          <p:nvPr/>
        </p:nvSpPr>
        <p:spPr>
          <a:xfrm>
            <a:off x="675777" y="695060"/>
            <a:ext cx="5649492" cy="151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300" dirty="0">
                <a:latin typeface="IBM Plex Sans JP Medium" panose="020B0603050203000203" pitchFamily="50" charset="-128"/>
                <a:ea typeface="IBM Plex Sans JP Medium" panose="020B0603050203000203" pitchFamily="50" charset="-128"/>
              </a:rPr>
              <a:t> Meaning of the Colors</a:t>
            </a:r>
          </a:p>
          <a:p>
            <a:endParaRPr lang="ja-JP" altLang="ja-JP" sz="600" dirty="0">
              <a:latin typeface="IBM Plex Sans JP Medium" panose="020B0603050203000203" pitchFamily="50" charset="-128"/>
              <a:ea typeface="IBM Plex Sans JP Medium" panose="020B06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color of the outside brim indicates the base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color of the inside brim has no specific meaning.</a:t>
            </a:r>
            <a:b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</a:b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text in the upper row of the outside brim indicates the second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text color in the lower row indicates the third color when one is used; otherwise, it indicates the second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text color on the inside brim indicates the fourth color when one is used; otherwise, it indicates the second color.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5CE6B34B-3129-7E18-E373-85976D8AC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7" y="3445655"/>
            <a:ext cx="5649492" cy="217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8CD35FD-0954-EC42-FA0A-49725D8C52D0}"/>
              </a:ext>
            </a:extLst>
          </p:cNvPr>
          <p:cNvSpPr/>
          <p:nvPr/>
        </p:nvSpPr>
        <p:spPr>
          <a:xfrm>
            <a:off x="1430887" y="7568448"/>
            <a:ext cx="629752" cy="262791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765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1221-D070-F60B-97FA-39842C82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738AD72-79AE-F480-6AB6-F4E41E6E01FC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フリーフォーム: 図形 27">
            <a:extLst>
              <a:ext uri="{FF2B5EF4-FFF2-40B4-BE49-F238E27FC236}">
                <a16:creationId xmlns:a16="http://schemas.microsoft.com/office/drawing/2014/main" id="{70EDE523-7B51-2F1D-BAC0-9544AFBD942D}"/>
              </a:ext>
            </a:extLst>
          </p:cNvPr>
          <p:cNvSpPr/>
          <p:nvPr/>
        </p:nvSpPr>
        <p:spPr>
          <a:xfrm>
            <a:off x="-16815" y="5531"/>
            <a:ext cx="6858000" cy="9144000"/>
          </a:xfrm>
          <a:custGeom>
            <a:avLst/>
            <a:gdLst>
              <a:gd name="connsiteX0" fmla="*/ 3751659 w 6858000"/>
              <a:gd name="connsiteY0" fmla="*/ 8656386 h 9144000"/>
              <a:gd name="connsiteX1" fmla="*/ 3751659 w 6858000"/>
              <a:gd name="connsiteY1" fmla="*/ 8710386 h 9144000"/>
              <a:gd name="connsiteX2" fmla="*/ 6343659 w 6858000"/>
              <a:gd name="connsiteY2" fmla="*/ 8710386 h 9144000"/>
              <a:gd name="connsiteX3" fmla="*/ 6343659 w 6858000"/>
              <a:gd name="connsiteY3" fmla="*/ 8656386 h 9144000"/>
              <a:gd name="connsiteX4" fmla="*/ 571353 w 6858000"/>
              <a:gd name="connsiteY4" fmla="*/ 8656386 h 9144000"/>
              <a:gd name="connsiteX5" fmla="*/ 571353 w 6858000"/>
              <a:gd name="connsiteY5" fmla="*/ 8710386 h 9144000"/>
              <a:gd name="connsiteX6" fmla="*/ 3163353 w 6858000"/>
              <a:gd name="connsiteY6" fmla="*/ 8710386 h 9144000"/>
              <a:gd name="connsiteX7" fmla="*/ 3163353 w 6858000"/>
              <a:gd name="connsiteY7" fmla="*/ 8656386 h 9144000"/>
              <a:gd name="connsiteX8" fmla="*/ 683718 w 6858000"/>
              <a:gd name="connsiteY8" fmla="*/ 6173765 h 9144000"/>
              <a:gd name="connsiteX9" fmla="*/ 581383 w 6858000"/>
              <a:gd name="connsiteY9" fmla="*/ 6266797 h 9144000"/>
              <a:gd name="connsiteX10" fmla="*/ 683718 w 6858000"/>
              <a:gd name="connsiteY10" fmla="*/ 6359829 h 9144000"/>
              <a:gd name="connsiteX11" fmla="*/ 786053 w 6858000"/>
              <a:gd name="connsiteY11" fmla="*/ 6266797 h 9144000"/>
              <a:gd name="connsiteX12" fmla="*/ 683718 w 6858000"/>
              <a:gd name="connsiteY12" fmla="*/ 6173765 h 9144000"/>
              <a:gd name="connsiteX13" fmla="*/ 685325 w 6858000"/>
              <a:gd name="connsiteY13" fmla="*/ 3448087 h 9144000"/>
              <a:gd name="connsiteX14" fmla="*/ 582990 w 6858000"/>
              <a:gd name="connsiteY14" fmla="*/ 3550422 h 9144000"/>
              <a:gd name="connsiteX15" fmla="*/ 685325 w 6858000"/>
              <a:gd name="connsiteY15" fmla="*/ 3652757 h 9144000"/>
              <a:gd name="connsiteX16" fmla="*/ 787660 w 6858000"/>
              <a:gd name="connsiteY16" fmla="*/ 3550422 h 9144000"/>
              <a:gd name="connsiteX17" fmla="*/ 685325 w 6858000"/>
              <a:gd name="connsiteY17" fmla="*/ 3448087 h 9144000"/>
              <a:gd name="connsiteX18" fmla="*/ 571352 w 6858000"/>
              <a:gd name="connsiteY18" fmla="*/ 418362 h 9144000"/>
              <a:gd name="connsiteX19" fmla="*/ 571352 w 6858000"/>
              <a:gd name="connsiteY19" fmla="*/ 472362 h 9144000"/>
              <a:gd name="connsiteX20" fmla="*/ 6327545 w 6858000"/>
              <a:gd name="connsiteY20" fmla="*/ 472362 h 9144000"/>
              <a:gd name="connsiteX21" fmla="*/ 6327545 w 6858000"/>
              <a:gd name="connsiteY21" fmla="*/ 418362 h 9144000"/>
              <a:gd name="connsiteX22" fmla="*/ 0 w 6858000"/>
              <a:gd name="connsiteY22" fmla="*/ 0 h 9144000"/>
              <a:gd name="connsiteX23" fmla="*/ 6858000 w 6858000"/>
              <a:gd name="connsiteY23" fmla="*/ 0 h 9144000"/>
              <a:gd name="connsiteX24" fmla="*/ 6858000 w 6858000"/>
              <a:gd name="connsiteY24" fmla="*/ 9144000 h 9144000"/>
              <a:gd name="connsiteX25" fmla="*/ 0 w 6858000"/>
              <a:gd name="connsiteY25" fmla="*/ 9144000 h 91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858000" h="9144000">
                <a:moveTo>
                  <a:pt x="3751659" y="8656386"/>
                </a:moveTo>
                <a:lnTo>
                  <a:pt x="3751659" y="8710386"/>
                </a:lnTo>
                <a:lnTo>
                  <a:pt x="6343659" y="8710386"/>
                </a:lnTo>
                <a:lnTo>
                  <a:pt x="6343659" y="8656386"/>
                </a:lnTo>
                <a:close/>
                <a:moveTo>
                  <a:pt x="571353" y="8656386"/>
                </a:moveTo>
                <a:lnTo>
                  <a:pt x="571353" y="8710386"/>
                </a:lnTo>
                <a:lnTo>
                  <a:pt x="3163353" y="8710386"/>
                </a:lnTo>
                <a:lnTo>
                  <a:pt x="3163353" y="8656386"/>
                </a:lnTo>
                <a:close/>
                <a:moveTo>
                  <a:pt x="683718" y="6173765"/>
                </a:moveTo>
                <a:cubicBezTo>
                  <a:pt x="627200" y="6173765"/>
                  <a:pt x="581383" y="6215417"/>
                  <a:pt x="581383" y="6266797"/>
                </a:cubicBezTo>
                <a:cubicBezTo>
                  <a:pt x="581383" y="6318177"/>
                  <a:pt x="627200" y="6359829"/>
                  <a:pt x="683718" y="6359829"/>
                </a:cubicBezTo>
                <a:cubicBezTo>
                  <a:pt x="740236" y="6359829"/>
                  <a:pt x="786053" y="6318177"/>
                  <a:pt x="786053" y="6266797"/>
                </a:cubicBezTo>
                <a:cubicBezTo>
                  <a:pt x="786053" y="6215417"/>
                  <a:pt x="740236" y="6173765"/>
                  <a:pt x="683718" y="6173765"/>
                </a:cubicBezTo>
                <a:close/>
                <a:moveTo>
                  <a:pt x="685325" y="3448087"/>
                </a:moveTo>
                <a:cubicBezTo>
                  <a:pt x="628807" y="3448087"/>
                  <a:pt x="582990" y="3493904"/>
                  <a:pt x="582990" y="3550422"/>
                </a:cubicBezTo>
                <a:cubicBezTo>
                  <a:pt x="582990" y="3606940"/>
                  <a:pt x="628807" y="3652757"/>
                  <a:pt x="685325" y="3652757"/>
                </a:cubicBezTo>
                <a:cubicBezTo>
                  <a:pt x="741843" y="3652757"/>
                  <a:pt x="787660" y="3606940"/>
                  <a:pt x="787660" y="3550422"/>
                </a:cubicBezTo>
                <a:cubicBezTo>
                  <a:pt x="787660" y="3493904"/>
                  <a:pt x="741843" y="3448087"/>
                  <a:pt x="685325" y="3448087"/>
                </a:cubicBezTo>
                <a:close/>
                <a:moveTo>
                  <a:pt x="571352" y="418362"/>
                </a:moveTo>
                <a:lnTo>
                  <a:pt x="571352" y="472362"/>
                </a:lnTo>
                <a:lnTo>
                  <a:pt x="6327545" y="472362"/>
                </a:lnTo>
                <a:lnTo>
                  <a:pt x="6327545" y="418362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1D8411F-632E-1724-6601-22777FB668A7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F82BB9A-2D8E-E10D-306B-6797547EE6A1}"/>
              </a:ext>
            </a:extLst>
          </p:cNvPr>
          <p:cNvSpPr txBox="1"/>
          <p:nvPr/>
        </p:nvSpPr>
        <p:spPr>
          <a:xfrm>
            <a:off x="770844" y="3414308"/>
            <a:ext cx="2675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4-1. Blend Color Checker</a:t>
            </a:r>
            <a:endParaRPr kumimoji="1" lang="ja-JP" altLang="en-US" sz="16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51F6914-7921-66A8-3E13-44BA0FB09F66}"/>
              </a:ext>
            </a:extLst>
          </p:cNvPr>
          <p:cNvSpPr txBox="1"/>
          <p:nvPr/>
        </p:nvSpPr>
        <p:spPr>
          <a:xfrm>
            <a:off x="668508" y="3803395"/>
            <a:ext cx="56494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/>
              <a:t>[Inside Brim]</a:t>
            </a:r>
            <a:endParaRPr lang="ja-JP" altLang="ja-JP" sz="1050" dirty="0"/>
          </a:p>
          <a:p>
            <a:r>
              <a:rPr lang="en-US" altLang="ja-JP" sz="1050" dirty="0"/>
              <a:t>The series abbreviation “BL” is followed by “/” and the tool abbreviation “T1.”</a:t>
            </a:r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dirty="0"/>
              <a:t>Example:   BL/T1    indicates a Blend Color Checker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[Outside Brim]</a:t>
            </a:r>
            <a:r>
              <a:rPr lang="en-US" altLang="ja-JP" sz="1050" dirty="0"/>
              <a:t> </a:t>
            </a:r>
            <a:endParaRPr lang="ja-JP" altLang="ja-JP" sz="1050" dirty="0"/>
          </a:p>
          <a:p>
            <a:r>
              <a:rPr lang="en-US" altLang="ja-JP" sz="1050" dirty="0"/>
              <a:t>There are two types of Blend Filament models: Standard and Detail. The identification details for each are shown in the table below..</a:t>
            </a:r>
            <a:endParaRPr lang="ja-JP" altLang="ja-JP" sz="1050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B95CB7D-C9A1-C282-C883-CA63783D2040}"/>
              </a:ext>
            </a:extLst>
          </p:cNvPr>
          <p:cNvGrpSpPr/>
          <p:nvPr/>
        </p:nvGrpSpPr>
        <p:grpSpPr>
          <a:xfrm>
            <a:off x="880208" y="525495"/>
            <a:ext cx="5307282" cy="2485553"/>
            <a:chOff x="-167676" y="0"/>
            <a:chExt cx="5796409" cy="2714625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6DFAFE69-7BC3-7DDD-0A69-5BBBC70BC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67676" y="1589453"/>
              <a:ext cx="2809875" cy="1114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A0C40B52-F660-7642-F392-C87CE1EAD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8857" y="0"/>
              <a:ext cx="2809876" cy="2714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971FB4-0D48-986A-57DD-FB7E90C921EA}"/>
              </a:ext>
            </a:extLst>
          </p:cNvPr>
          <p:cNvSpPr txBox="1"/>
          <p:nvPr/>
        </p:nvSpPr>
        <p:spPr>
          <a:xfrm>
            <a:off x="604254" y="675403"/>
            <a:ext cx="3053345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/>
              <a:t>[Outside Brim]</a:t>
            </a:r>
            <a:r>
              <a:rPr lang="en-US" altLang="ja-JP" sz="1050" dirty="0"/>
              <a:t> </a:t>
            </a:r>
            <a:endParaRPr lang="ja-JP" altLang="ja-JP" sz="1050" dirty="0"/>
          </a:p>
          <a:p>
            <a:r>
              <a:rPr lang="en-US" altLang="ja-JP" sz="1050" dirty="0"/>
              <a:t>The proportion of the base color is shown</a:t>
            </a:r>
            <a:endParaRPr lang="ja-JP" altLang="ja-JP" sz="1050" dirty="0"/>
          </a:p>
          <a:p>
            <a:r>
              <a:rPr lang="en-US" altLang="ja-JP" sz="1050" dirty="0"/>
              <a:t> as a percentage.</a:t>
            </a:r>
          </a:p>
          <a:p>
            <a:endParaRPr lang="ja-JP" altLang="ja-JP" sz="1050" dirty="0"/>
          </a:p>
          <a:p>
            <a:r>
              <a:rPr lang="en-US" altLang="ja-JP" sz="1050" dirty="0"/>
              <a:t>Example:   75%   in blue text on a yellow brim</a:t>
            </a:r>
          </a:p>
          <a:p>
            <a:endParaRPr lang="ja-JP" altLang="ja-JP" sz="500" dirty="0"/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Indicates a mixing ratio of 75% yellow and 25% blue</a:t>
            </a:r>
            <a:endParaRPr lang="ja-JP" altLang="ja-JP" sz="12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D9BD2F7-D3ED-3470-CE81-B6545EAFD9AB}"/>
              </a:ext>
            </a:extLst>
          </p:cNvPr>
          <p:cNvSpPr txBox="1"/>
          <p:nvPr/>
        </p:nvSpPr>
        <p:spPr>
          <a:xfrm>
            <a:off x="769237" y="6101245"/>
            <a:ext cx="2739853" cy="363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5. Gradient Filament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3A3C48B-1831-538A-18AC-46E6A1F0ACB9}"/>
              </a:ext>
            </a:extLst>
          </p:cNvPr>
          <p:cNvSpPr txBox="1"/>
          <p:nvPr/>
        </p:nvSpPr>
        <p:spPr>
          <a:xfrm>
            <a:off x="666901" y="6545170"/>
            <a:ext cx="5649491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Gradient Filament provides multiple color curves for different color combinations, with models available in different cycle counts. Each model also has a recommended insertion direction.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Because more information is required, the outside brim contains two rows of text.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 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b="1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[Inside Brim]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series abbreviation 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“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GR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”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is followed by 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“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/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”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and the size name. On early models, the series abbreviation and 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“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/</a:t>
            </a:r>
            <a:r>
              <a:rPr lang="ja-JP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”</a:t>
            </a:r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are omitted.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notation follows the same format as Blend Filament.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 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Example:   GR/S4b   indicates a Gradient Filament S4 Beta model</a:t>
            </a:r>
            <a:endParaRPr lang="ja-JP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34620BAE-5A33-42BF-C983-D8CA1B8EE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240" y="5211453"/>
            <a:ext cx="2529840" cy="69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C16D40C-24D3-3287-D247-A052BE32334D}"/>
              </a:ext>
            </a:extLst>
          </p:cNvPr>
          <p:cNvSpPr/>
          <p:nvPr/>
        </p:nvSpPr>
        <p:spPr>
          <a:xfrm>
            <a:off x="1313590" y="1325805"/>
            <a:ext cx="431638" cy="20496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E414A0A-BC59-F140-BCC0-7D708D0A8396}"/>
              </a:ext>
            </a:extLst>
          </p:cNvPr>
          <p:cNvSpPr/>
          <p:nvPr/>
        </p:nvSpPr>
        <p:spPr>
          <a:xfrm>
            <a:off x="1387793" y="4277252"/>
            <a:ext cx="474802" cy="22546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258AAB7-5E49-3B01-1412-ED6C1F2E1B27}"/>
              </a:ext>
            </a:extLst>
          </p:cNvPr>
          <p:cNvSpPr/>
          <p:nvPr/>
        </p:nvSpPr>
        <p:spPr>
          <a:xfrm>
            <a:off x="1400634" y="8133468"/>
            <a:ext cx="574510" cy="22546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22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AC50F-3E42-172C-0796-DE2C020D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FADCB90-0E60-8589-A53B-33AAC1053D83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CD8BD63B-0025-932C-078D-87264C94ECC1}"/>
              </a:ext>
            </a:extLst>
          </p:cNvPr>
          <p:cNvSpPr/>
          <p:nvPr/>
        </p:nvSpPr>
        <p:spPr>
          <a:xfrm>
            <a:off x="6064" y="-3583"/>
            <a:ext cx="6858000" cy="9144000"/>
          </a:xfrm>
          <a:custGeom>
            <a:avLst/>
            <a:gdLst>
              <a:gd name="connsiteX0" fmla="*/ 3728780 w 6858000"/>
              <a:gd name="connsiteY0" fmla="*/ 8665500 h 9144000"/>
              <a:gd name="connsiteX1" fmla="*/ 3728780 w 6858000"/>
              <a:gd name="connsiteY1" fmla="*/ 8719500 h 9144000"/>
              <a:gd name="connsiteX2" fmla="*/ 6320780 w 6858000"/>
              <a:gd name="connsiteY2" fmla="*/ 8719500 h 9144000"/>
              <a:gd name="connsiteX3" fmla="*/ 6320780 w 6858000"/>
              <a:gd name="connsiteY3" fmla="*/ 8665500 h 9144000"/>
              <a:gd name="connsiteX4" fmla="*/ 548474 w 6858000"/>
              <a:gd name="connsiteY4" fmla="*/ 8665500 h 9144000"/>
              <a:gd name="connsiteX5" fmla="*/ 548474 w 6858000"/>
              <a:gd name="connsiteY5" fmla="*/ 8719500 h 9144000"/>
              <a:gd name="connsiteX6" fmla="*/ 3140474 w 6858000"/>
              <a:gd name="connsiteY6" fmla="*/ 8719500 h 9144000"/>
              <a:gd name="connsiteX7" fmla="*/ 3140474 w 6858000"/>
              <a:gd name="connsiteY7" fmla="*/ 8665500 h 9144000"/>
              <a:gd name="connsiteX8" fmla="*/ 642619 w 6858000"/>
              <a:gd name="connsiteY8" fmla="*/ 7304634 h 9144000"/>
              <a:gd name="connsiteX9" fmla="*/ 540284 w 6858000"/>
              <a:gd name="connsiteY9" fmla="*/ 7406969 h 9144000"/>
              <a:gd name="connsiteX10" fmla="*/ 642619 w 6858000"/>
              <a:gd name="connsiteY10" fmla="*/ 7509304 h 9144000"/>
              <a:gd name="connsiteX11" fmla="*/ 744954 w 6858000"/>
              <a:gd name="connsiteY11" fmla="*/ 7406969 h 9144000"/>
              <a:gd name="connsiteX12" fmla="*/ 642619 w 6858000"/>
              <a:gd name="connsiteY12" fmla="*/ 7304634 h 9144000"/>
              <a:gd name="connsiteX13" fmla="*/ 660839 w 6858000"/>
              <a:gd name="connsiteY13" fmla="*/ 4167636 h 9144000"/>
              <a:gd name="connsiteX14" fmla="*/ 558504 w 6858000"/>
              <a:gd name="connsiteY14" fmla="*/ 4260668 h 9144000"/>
              <a:gd name="connsiteX15" fmla="*/ 660839 w 6858000"/>
              <a:gd name="connsiteY15" fmla="*/ 4353700 h 9144000"/>
              <a:gd name="connsiteX16" fmla="*/ 763174 w 6858000"/>
              <a:gd name="connsiteY16" fmla="*/ 4260668 h 9144000"/>
              <a:gd name="connsiteX17" fmla="*/ 660839 w 6858000"/>
              <a:gd name="connsiteY17" fmla="*/ 4167636 h 9144000"/>
              <a:gd name="connsiteX18" fmla="*/ 548473 w 6858000"/>
              <a:gd name="connsiteY18" fmla="*/ 427476 h 9144000"/>
              <a:gd name="connsiteX19" fmla="*/ 548473 w 6858000"/>
              <a:gd name="connsiteY19" fmla="*/ 481476 h 9144000"/>
              <a:gd name="connsiteX20" fmla="*/ 6304666 w 6858000"/>
              <a:gd name="connsiteY20" fmla="*/ 481476 h 9144000"/>
              <a:gd name="connsiteX21" fmla="*/ 6304666 w 6858000"/>
              <a:gd name="connsiteY21" fmla="*/ 427476 h 9144000"/>
              <a:gd name="connsiteX22" fmla="*/ 0 w 6858000"/>
              <a:gd name="connsiteY22" fmla="*/ 0 h 9144000"/>
              <a:gd name="connsiteX23" fmla="*/ 6858000 w 6858000"/>
              <a:gd name="connsiteY23" fmla="*/ 0 h 9144000"/>
              <a:gd name="connsiteX24" fmla="*/ 6858000 w 6858000"/>
              <a:gd name="connsiteY24" fmla="*/ 9144000 h 9144000"/>
              <a:gd name="connsiteX25" fmla="*/ 0 w 6858000"/>
              <a:gd name="connsiteY25" fmla="*/ 9144000 h 91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858000" h="9144000">
                <a:moveTo>
                  <a:pt x="3728780" y="8665500"/>
                </a:moveTo>
                <a:lnTo>
                  <a:pt x="3728780" y="8719500"/>
                </a:lnTo>
                <a:lnTo>
                  <a:pt x="6320780" y="8719500"/>
                </a:lnTo>
                <a:lnTo>
                  <a:pt x="6320780" y="8665500"/>
                </a:lnTo>
                <a:close/>
                <a:moveTo>
                  <a:pt x="548474" y="8665500"/>
                </a:moveTo>
                <a:lnTo>
                  <a:pt x="548474" y="8719500"/>
                </a:lnTo>
                <a:lnTo>
                  <a:pt x="3140474" y="8719500"/>
                </a:lnTo>
                <a:lnTo>
                  <a:pt x="3140474" y="8665500"/>
                </a:lnTo>
                <a:close/>
                <a:moveTo>
                  <a:pt x="642619" y="7304634"/>
                </a:moveTo>
                <a:cubicBezTo>
                  <a:pt x="586101" y="7304634"/>
                  <a:pt x="540284" y="7350451"/>
                  <a:pt x="540284" y="7406969"/>
                </a:cubicBezTo>
                <a:cubicBezTo>
                  <a:pt x="540284" y="7463487"/>
                  <a:pt x="586101" y="7509304"/>
                  <a:pt x="642619" y="7509304"/>
                </a:cubicBezTo>
                <a:cubicBezTo>
                  <a:pt x="699137" y="7509304"/>
                  <a:pt x="744954" y="7463487"/>
                  <a:pt x="744954" y="7406969"/>
                </a:cubicBezTo>
                <a:cubicBezTo>
                  <a:pt x="744954" y="7350451"/>
                  <a:pt x="699137" y="7304634"/>
                  <a:pt x="642619" y="7304634"/>
                </a:cubicBezTo>
                <a:close/>
                <a:moveTo>
                  <a:pt x="660839" y="4167636"/>
                </a:moveTo>
                <a:cubicBezTo>
                  <a:pt x="604321" y="4167636"/>
                  <a:pt x="558504" y="4209288"/>
                  <a:pt x="558504" y="4260668"/>
                </a:cubicBezTo>
                <a:cubicBezTo>
                  <a:pt x="558504" y="4312048"/>
                  <a:pt x="604321" y="4353700"/>
                  <a:pt x="660839" y="4353700"/>
                </a:cubicBezTo>
                <a:cubicBezTo>
                  <a:pt x="717357" y="4353700"/>
                  <a:pt x="763174" y="4312048"/>
                  <a:pt x="763174" y="4260668"/>
                </a:cubicBezTo>
                <a:cubicBezTo>
                  <a:pt x="763174" y="4209288"/>
                  <a:pt x="717357" y="4167636"/>
                  <a:pt x="660839" y="4167636"/>
                </a:cubicBezTo>
                <a:close/>
                <a:moveTo>
                  <a:pt x="548473" y="427476"/>
                </a:moveTo>
                <a:lnTo>
                  <a:pt x="548473" y="481476"/>
                </a:lnTo>
                <a:lnTo>
                  <a:pt x="6304666" y="481476"/>
                </a:lnTo>
                <a:lnTo>
                  <a:pt x="6304666" y="427476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5768B96-14B0-47AE-9FFC-10A00F188885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3FD9251-2F29-93F4-BE92-62A2153ADD4B}"/>
              </a:ext>
            </a:extLst>
          </p:cNvPr>
          <p:cNvSpPr txBox="1"/>
          <p:nvPr/>
        </p:nvSpPr>
        <p:spPr>
          <a:xfrm>
            <a:off x="778114" y="7238522"/>
            <a:ext cx="2733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7. Handling the Brim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1486C70-8D6D-57DC-3121-C2C4076C45B7}"/>
              </a:ext>
            </a:extLst>
          </p:cNvPr>
          <p:cNvSpPr txBox="1"/>
          <p:nvPr/>
        </p:nvSpPr>
        <p:spPr>
          <a:xfrm>
            <a:off x="676426" y="7618265"/>
            <a:ext cx="564949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The brim is not required when using the filament, so remove it before use.</a:t>
            </a:r>
            <a:endParaRPr lang="ja-JP" altLang="ja-JP" sz="1050" dirty="0"/>
          </a:p>
          <a:p>
            <a:r>
              <a:rPr lang="en-US" altLang="ja-JP" sz="1050" dirty="0"/>
              <a:t>Because the brim identifies the specifications used to print the filament, we recommend leaving it attached during storage when the filament will not be used immediately.</a:t>
            </a:r>
            <a:endParaRPr lang="ja-JP" altLang="ja-JP" sz="1050" dirty="0"/>
          </a:p>
          <a:p>
            <a:endParaRPr kumimoji="1" lang="ja-JP" altLang="en-US" sz="105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2A649D-1BDD-9DF5-64A3-2B7E1AA90717}"/>
              </a:ext>
            </a:extLst>
          </p:cNvPr>
          <p:cNvSpPr txBox="1"/>
          <p:nvPr/>
        </p:nvSpPr>
        <p:spPr>
          <a:xfrm>
            <a:off x="769237" y="4105052"/>
            <a:ext cx="3060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6. New Series Preview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3E0CE5-FBA4-DC41-DE98-8000E5CD2740}"/>
              </a:ext>
            </a:extLst>
          </p:cNvPr>
          <p:cNvSpPr txBox="1"/>
          <p:nvPr/>
        </p:nvSpPr>
        <p:spPr>
          <a:xfrm>
            <a:off x="666901" y="4548977"/>
            <a:ext cx="5649491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New Series Preview models provide a preview of an upcoming series.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[Inside Brim]</a:t>
            </a:r>
            <a:endParaRPr lang="ja-JP" altLang="ja-JP" sz="1050" dirty="0"/>
          </a:p>
          <a:p>
            <a:r>
              <a:rPr lang="en-US" altLang="ja-JP" sz="1050" dirty="0"/>
              <a:t>Only the series abbreviation </a:t>
            </a:r>
            <a:r>
              <a:rPr lang="ja-JP" altLang="ja-JP" sz="1050" dirty="0"/>
              <a:t>“</a:t>
            </a:r>
            <a:r>
              <a:rPr lang="en-US" altLang="ja-JP" sz="1050" dirty="0"/>
              <a:t>Prev</a:t>
            </a:r>
            <a:r>
              <a:rPr lang="ja-JP" altLang="ja-JP" sz="1050" dirty="0"/>
              <a:t>”</a:t>
            </a:r>
            <a:r>
              <a:rPr lang="en-US" altLang="ja-JP" sz="1050" dirty="0"/>
              <a:t> is displayed.</a:t>
            </a:r>
            <a:endParaRPr lang="ja-JP" altLang="ja-JP" sz="1050" dirty="0"/>
          </a:p>
          <a:p>
            <a:r>
              <a:rPr lang="en-US" altLang="ja-JP" sz="1050" dirty="0"/>
              <a:t>The notation follows the same format as Blend Filament.</a:t>
            </a:r>
          </a:p>
          <a:p>
            <a:endParaRPr lang="ja-JP" altLang="ja-JP" sz="1050" dirty="0"/>
          </a:p>
          <a:p>
            <a:r>
              <a:rPr lang="en-US" altLang="ja-JP" sz="1050" dirty="0"/>
              <a:t>Example:    Prev     indicates a New Series Preview model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b="1" dirty="0"/>
              <a:t>[Outside Brim]</a:t>
            </a:r>
            <a:endParaRPr lang="ja-JP" altLang="ja-JP" sz="1050" dirty="0"/>
          </a:p>
          <a:p>
            <a:r>
              <a:rPr lang="en-US" altLang="ja-JP" sz="1050" dirty="0"/>
              <a:t>There is no fixed notation. A new series preview model is created to build anticipation for the “new series.” As a result, a hint is displayed on the outer brim.</a:t>
            </a:r>
          </a:p>
          <a:p>
            <a:endParaRPr lang="ja-JP" altLang="ja-JP" sz="1050" dirty="0"/>
          </a:p>
          <a:p>
            <a:r>
              <a:rPr lang="en-US" altLang="ja-JP" sz="1050" dirty="0"/>
              <a:t>Example:    GRD     is a clue to the answer: “gradient filament.”</a:t>
            </a:r>
            <a:endParaRPr lang="ja-JP" altLang="ja-JP" sz="1050" dirty="0"/>
          </a:p>
          <a:p>
            <a:r>
              <a:rPr lang="en-US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.</a:t>
            </a:r>
            <a:endParaRPr kumimoji="1" lang="ja-JP" altLang="en-US" sz="105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4E2B30-0A51-218E-0B04-DF2ECDB23CDA}"/>
              </a:ext>
            </a:extLst>
          </p:cNvPr>
          <p:cNvSpPr txBox="1"/>
          <p:nvPr/>
        </p:nvSpPr>
        <p:spPr>
          <a:xfrm>
            <a:off x="666901" y="638958"/>
            <a:ext cx="5649491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/>
              <a:t>[Outside Brim]</a:t>
            </a:r>
            <a:endParaRPr lang="ja-JP" altLang="ja-JP" sz="1050" dirty="0"/>
          </a:p>
          <a:p>
            <a:r>
              <a:rPr lang="en-US" altLang="ja-JP" sz="1050" dirty="0"/>
              <a:t>The upper row displays </a:t>
            </a:r>
            <a:r>
              <a:rPr lang="ja-JP" altLang="ja-JP" sz="1050" dirty="0"/>
              <a:t>“</a:t>
            </a:r>
            <a:r>
              <a:rPr lang="en-US" altLang="ja-JP" sz="1050" dirty="0"/>
              <a:t>IN</a:t>
            </a:r>
            <a:r>
              <a:rPr lang="ja-JP" altLang="ja-JP" sz="1050" dirty="0"/>
              <a:t>→”</a:t>
            </a:r>
            <a:r>
              <a:rPr lang="en-US" altLang="ja-JP" sz="1050" dirty="0"/>
              <a:t> to indicate the recommended insertion direction. The lower row displays the color-curve abbreviation, followed by </a:t>
            </a:r>
            <a:r>
              <a:rPr lang="ja-JP" altLang="ja-JP" sz="1050" dirty="0"/>
              <a:t>“</a:t>
            </a:r>
            <a:r>
              <a:rPr lang="en-US" altLang="ja-JP" sz="1050" dirty="0"/>
              <a:t>/</a:t>
            </a:r>
            <a:r>
              <a:rPr lang="ja-JP" altLang="ja-JP" sz="1050" dirty="0"/>
              <a:t>”</a:t>
            </a:r>
            <a:r>
              <a:rPr lang="en-US" altLang="ja-JP" sz="1050" dirty="0"/>
              <a:t> and the cycle count.</a:t>
            </a:r>
            <a:endParaRPr lang="ja-JP" altLang="ja-JP" sz="1050" dirty="0"/>
          </a:p>
          <a:p>
            <a:r>
              <a:rPr lang="en-US" altLang="ja-JP" sz="1050" dirty="0"/>
              <a:t> </a:t>
            </a:r>
            <a:endParaRPr lang="ja-JP" altLang="ja-JP" sz="1050" dirty="0"/>
          </a:p>
          <a:p>
            <a:r>
              <a:rPr lang="en-US" altLang="ja-JP" sz="1050" dirty="0"/>
              <a:t>                                 IN</a:t>
            </a:r>
            <a:r>
              <a:rPr lang="ja-JP" altLang="ja-JP" sz="1050" dirty="0"/>
              <a:t>→</a:t>
            </a:r>
          </a:p>
          <a:p>
            <a:r>
              <a:rPr lang="en-US" altLang="ja-JP" sz="1050" dirty="0"/>
              <a:t>                       Vvd/.5cyc </a:t>
            </a:r>
          </a:p>
          <a:p>
            <a:endParaRPr lang="en-US" altLang="ja-JP" sz="500" dirty="0"/>
          </a:p>
          <a:p>
            <a:r>
              <a:rPr lang="en-US" altLang="ja-JP" sz="1050" dirty="0"/>
              <a:t>The arrow indicates the insertion direction, and the lower row indicates a 0.5-cycle gradient using the Vivid color curve.</a:t>
            </a:r>
            <a:endParaRPr lang="ja-JP" altLang="ja-JP" sz="105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DD6AF65-7D69-7606-1199-E9A1C405CC51}"/>
              </a:ext>
            </a:extLst>
          </p:cNvPr>
          <p:cNvSpPr txBox="1"/>
          <p:nvPr/>
        </p:nvSpPr>
        <p:spPr>
          <a:xfrm>
            <a:off x="676426" y="1351707"/>
            <a:ext cx="8030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Example: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3E3179BC-32F8-DF3B-5EE0-A7C5768B5BF9}"/>
              </a:ext>
            </a:extLst>
          </p:cNvPr>
          <p:cNvSpPr/>
          <p:nvPr/>
        </p:nvSpPr>
        <p:spPr>
          <a:xfrm>
            <a:off x="1431438" y="1267051"/>
            <a:ext cx="838200" cy="42322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926A7AB8-F12B-0F06-AC54-BE021A9EE69A}"/>
              </a:ext>
            </a:extLst>
          </p:cNvPr>
          <p:cNvGrpSpPr/>
          <p:nvPr/>
        </p:nvGrpSpPr>
        <p:grpSpPr>
          <a:xfrm>
            <a:off x="560196" y="2159462"/>
            <a:ext cx="5756193" cy="1642545"/>
            <a:chOff x="0" y="0"/>
            <a:chExt cx="6069081" cy="1818034"/>
          </a:xfrm>
        </p:grpSpPr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81C64E7F-E37C-6FD3-2537-0B4A67ABAD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2673" y="1"/>
              <a:ext cx="1994038" cy="18180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CBF991A3-CAC5-A5E9-A75F-9BB6A31A74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567"/>
              <a:ext cx="1955938" cy="66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9AF4DA5C-F753-F2FE-C634-02A722C02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043" y="0"/>
              <a:ext cx="1994038" cy="1367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6724157-9506-4D36-B199-93E25A15A590}"/>
              </a:ext>
            </a:extLst>
          </p:cNvPr>
          <p:cNvSpPr/>
          <p:nvPr/>
        </p:nvSpPr>
        <p:spPr>
          <a:xfrm>
            <a:off x="1377396" y="5503784"/>
            <a:ext cx="473142" cy="217183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F24E8398-35F4-C7D8-B908-3EC407A94D1D}"/>
              </a:ext>
            </a:extLst>
          </p:cNvPr>
          <p:cNvSpPr/>
          <p:nvPr/>
        </p:nvSpPr>
        <p:spPr>
          <a:xfrm>
            <a:off x="1386410" y="6466962"/>
            <a:ext cx="473142" cy="217183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654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2B43-93C0-5C98-14CC-5BD7AF60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685A258-70C7-2326-C33B-6E3D2DBF736F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3BC60EC1-2CF0-0FF8-5C92-B1FA48BD05DC}"/>
              </a:ext>
            </a:extLst>
          </p:cNvPr>
          <p:cNvSpPr/>
          <p:nvPr/>
        </p:nvSpPr>
        <p:spPr>
          <a:xfrm>
            <a:off x="6064" y="-3583"/>
            <a:ext cx="6858000" cy="9144000"/>
          </a:xfrm>
          <a:custGeom>
            <a:avLst/>
            <a:gdLst>
              <a:gd name="connsiteX0" fmla="*/ 3728780 w 6858000"/>
              <a:gd name="connsiteY0" fmla="*/ 8665500 h 9144000"/>
              <a:gd name="connsiteX1" fmla="*/ 3728780 w 6858000"/>
              <a:gd name="connsiteY1" fmla="*/ 8719500 h 9144000"/>
              <a:gd name="connsiteX2" fmla="*/ 6320780 w 6858000"/>
              <a:gd name="connsiteY2" fmla="*/ 8719500 h 9144000"/>
              <a:gd name="connsiteX3" fmla="*/ 6320780 w 6858000"/>
              <a:gd name="connsiteY3" fmla="*/ 8665500 h 9144000"/>
              <a:gd name="connsiteX4" fmla="*/ 548474 w 6858000"/>
              <a:gd name="connsiteY4" fmla="*/ 8665500 h 9144000"/>
              <a:gd name="connsiteX5" fmla="*/ 548474 w 6858000"/>
              <a:gd name="connsiteY5" fmla="*/ 8719500 h 9144000"/>
              <a:gd name="connsiteX6" fmla="*/ 3140474 w 6858000"/>
              <a:gd name="connsiteY6" fmla="*/ 8719500 h 9144000"/>
              <a:gd name="connsiteX7" fmla="*/ 3140474 w 6858000"/>
              <a:gd name="connsiteY7" fmla="*/ 8665500 h 9144000"/>
              <a:gd name="connsiteX8" fmla="*/ 642619 w 6858000"/>
              <a:gd name="connsiteY8" fmla="*/ 885090 h 9144000"/>
              <a:gd name="connsiteX9" fmla="*/ 540284 w 6858000"/>
              <a:gd name="connsiteY9" fmla="*/ 987425 h 9144000"/>
              <a:gd name="connsiteX10" fmla="*/ 642619 w 6858000"/>
              <a:gd name="connsiteY10" fmla="*/ 1089760 h 9144000"/>
              <a:gd name="connsiteX11" fmla="*/ 744954 w 6858000"/>
              <a:gd name="connsiteY11" fmla="*/ 987425 h 9144000"/>
              <a:gd name="connsiteX12" fmla="*/ 642619 w 6858000"/>
              <a:gd name="connsiteY12" fmla="*/ 885090 h 9144000"/>
              <a:gd name="connsiteX13" fmla="*/ 548473 w 6858000"/>
              <a:gd name="connsiteY13" fmla="*/ 427476 h 9144000"/>
              <a:gd name="connsiteX14" fmla="*/ 548473 w 6858000"/>
              <a:gd name="connsiteY14" fmla="*/ 481476 h 9144000"/>
              <a:gd name="connsiteX15" fmla="*/ 6304666 w 6858000"/>
              <a:gd name="connsiteY15" fmla="*/ 481476 h 9144000"/>
              <a:gd name="connsiteX16" fmla="*/ 6304666 w 6858000"/>
              <a:gd name="connsiteY16" fmla="*/ 427476 h 9144000"/>
              <a:gd name="connsiteX17" fmla="*/ 0 w 6858000"/>
              <a:gd name="connsiteY17" fmla="*/ 0 h 9144000"/>
              <a:gd name="connsiteX18" fmla="*/ 6858000 w 6858000"/>
              <a:gd name="connsiteY18" fmla="*/ 0 h 9144000"/>
              <a:gd name="connsiteX19" fmla="*/ 6858000 w 6858000"/>
              <a:gd name="connsiteY19" fmla="*/ 9144000 h 9144000"/>
              <a:gd name="connsiteX20" fmla="*/ 0 w 6858000"/>
              <a:gd name="connsiteY20" fmla="*/ 9144000 h 91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858000" h="9144000">
                <a:moveTo>
                  <a:pt x="3728780" y="8665500"/>
                </a:moveTo>
                <a:lnTo>
                  <a:pt x="3728780" y="8719500"/>
                </a:lnTo>
                <a:lnTo>
                  <a:pt x="6320780" y="8719500"/>
                </a:lnTo>
                <a:lnTo>
                  <a:pt x="6320780" y="8665500"/>
                </a:lnTo>
                <a:close/>
                <a:moveTo>
                  <a:pt x="548474" y="8665500"/>
                </a:moveTo>
                <a:lnTo>
                  <a:pt x="548474" y="8719500"/>
                </a:lnTo>
                <a:lnTo>
                  <a:pt x="3140474" y="8719500"/>
                </a:lnTo>
                <a:lnTo>
                  <a:pt x="3140474" y="8665500"/>
                </a:lnTo>
                <a:close/>
                <a:moveTo>
                  <a:pt x="642619" y="885090"/>
                </a:moveTo>
                <a:cubicBezTo>
                  <a:pt x="586101" y="885090"/>
                  <a:pt x="540284" y="930907"/>
                  <a:pt x="540284" y="987425"/>
                </a:cubicBezTo>
                <a:cubicBezTo>
                  <a:pt x="540284" y="1043943"/>
                  <a:pt x="586101" y="1089760"/>
                  <a:pt x="642619" y="1089760"/>
                </a:cubicBezTo>
                <a:cubicBezTo>
                  <a:pt x="699137" y="1089760"/>
                  <a:pt x="744954" y="1043943"/>
                  <a:pt x="744954" y="987425"/>
                </a:cubicBezTo>
                <a:cubicBezTo>
                  <a:pt x="744954" y="930907"/>
                  <a:pt x="699137" y="885090"/>
                  <a:pt x="642619" y="885090"/>
                </a:cubicBezTo>
                <a:close/>
                <a:moveTo>
                  <a:pt x="548473" y="427476"/>
                </a:moveTo>
                <a:lnTo>
                  <a:pt x="548473" y="481476"/>
                </a:lnTo>
                <a:lnTo>
                  <a:pt x="6304666" y="481476"/>
                </a:lnTo>
                <a:lnTo>
                  <a:pt x="6304666" y="427476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BC27B5C-187D-77B1-E821-56D7D9FA42BD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4FECE98-11B5-BBEF-64D5-08524FCACD56}"/>
              </a:ext>
            </a:extLst>
          </p:cNvPr>
          <p:cNvSpPr txBox="1"/>
          <p:nvPr/>
        </p:nvSpPr>
        <p:spPr>
          <a:xfrm>
            <a:off x="778114" y="810625"/>
            <a:ext cx="2356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8. Update History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2E4AEFA-C68E-C603-41CE-3780E5B98125}"/>
              </a:ext>
            </a:extLst>
          </p:cNvPr>
          <p:cNvSpPr txBox="1"/>
          <p:nvPr/>
        </p:nvSpPr>
        <p:spPr>
          <a:xfrm>
            <a:off x="638323" y="1179671"/>
            <a:ext cx="56494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Ver.1.00  2026-07-21  First Edition Published</a:t>
            </a:r>
          </a:p>
          <a:p>
            <a:r>
              <a:rPr lang="en-US" altLang="ja-JP" sz="9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Ver.1.10  2026-07-24  Revisions for Integrated Design</a:t>
            </a:r>
          </a:p>
          <a:p>
            <a:endParaRPr kumimoji="1" lang="ja-JP" altLang="en-US" sz="9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42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IBM Plex Sans JP SemiBold"/>
        <a:ea typeface="IBM Plex Sans JP SemiBold"/>
        <a:cs typeface=""/>
      </a:majorFont>
      <a:minorFont>
        <a:latin typeface="IBM Plex Sans JP"/>
        <a:ea typeface="IBM Plex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</TotalTime>
  <Words>1619</Words>
  <Application>Microsoft Office PowerPoint</Application>
  <PresentationFormat>画面に合わせる (4:3)</PresentationFormat>
  <Paragraphs>175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IBM Plex Sans JP</vt:lpstr>
      <vt:lpstr>IBM Plex Sans JP Medium</vt:lpstr>
      <vt:lpstr>IBM Plex Sans JP SemiBold</vt:lpstr>
      <vt:lpstr>Arial</vt:lpstr>
      <vt:lpstr>Segoe UI Semibold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MAKOTO YAZAKI (矢﨑 誠)</dc:creator>
  <cp:lastModifiedBy>MAKOTO YAZAKI (矢﨑 誠)</cp:lastModifiedBy>
  <cp:revision>17</cp:revision>
  <cp:lastPrinted>2026-07-24T02:03:48Z</cp:lastPrinted>
  <dcterms:created xsi:type="dcterms:W3CDTF">2026-07-22T02:46:18Z</dcterms:created>
  <dcterms:modified xsi:type="dcterms:W3CDTF">2026-07-24T02:14:56Z</dcterms:modified>
</cp:coreProperties>
</file>